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boundaries</a:t>
            </a:r>
          </a:p>
          <a:p/>
          <a:p>
            <a:r>
              <a:t>  Security matters in a monolith too, but microservices add many more boundaries.</a:t>
            </a:r>
          </a:p>
          <a:p/>
          <a:p>
            <a:r>
              <a:t>  Instead of client, application and database, a request passes through the gateway, Order, Payment, Inventory and Shipping services, external APIs and a message broker.</a:t>
            </a:r>
          </a:p>
          <a:p/>
          <a:p>
            <a:r>
              <a:t>- Questions at every step</a:t>
            </a:r>
          </a:p>
          <a:p/>
          <a:p>
            <a:r>
              <a:t>  Every interaction raises questions.</a:t>
            </a:r>
          </a:p>
          <a:p/>
          <a:p>
            <a:r>
              <a:t>  Who is calling?</a:t>
            </a:r>
          </a:p>
          <a:p/>
          <a:p>
            <a:r>
              <a:t>  Can they do this operation?</a:t>
            </a:r>
          </a:p>
          <a:p/>
          <a:p>
            <a:r>
              <a:t>  Can we trust the token?</a:t>
            </a:r>
          </a:p>
          <a:p/>
          <a:p>
            <a:r>
              <a:t>  Is the request valid and the connection encrypted?</a:t>
            </a:r>
          </a:p>
          <a:p/>
          <a:p>
            <a:r>
              <a:t>  Is a secret exposed, and can we audit what happened?</a:t>
            </a:r>
          </a:p>
          <a:p/>
          <a:p>
            <a:r>
              <a:t>- The principle</a:t>
            </a:r>
          </a:p>
          <a:p/>
          <a:p>
            <a:r>
              <a:t>  Security is not a feature placed in front of the system.</a:t>
            </a:r>
          </a:p>
          <a:p/>
          <a:p>
            <a:r>
              <a:t>  It is a cross-cutting concern across every service, identity, API, deployment and data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explain microservices security challenges, apply Zero Trust, and separate authentication from authorization.</a:t>
            </a:r>
          </a:p>
          <a:p/>
          <a:p>
            <a:r>
              <a:t>  They should explain OAuth 2.0, OpenID Connect, common flows and JWT claims, and protect Spring Boot APIs.</a:t>
            </a:r>
          </a:p>
          <a:p/>
          <a:p>
            <a:r>
              <a:t>  They should integrate Keycloak or Microsoft Entra ID and secure service-to-service calls.</a:t>
            </a:r>
          </a:p>
          <a:p/>
          <a:p>
            <a:r>
              <a:t>  They should also manage secrets, apply API security controls, add security to CI/CD, and support audit and compliance.</a:t>
            </a:r>
          </a:p>
          <a:p/>
          <a:p>
            <a:r>
              <a:t>- Five sections</a:t>
            </a:r>
          </a:p>
          <a:p/>
          <a:p>
            <a:r>
              <a:t>  Section 1 is foundations: identity, trust, authentication and authorization.</a:t>
            </a:r>
          </a:p>
          <a:p/>
          <a:p>
            <a:r>
              <a:t>  Section 2 is OAuth2 and OIDC: identity provider, token, protected API.</a:t>
            </a:r>
          </a:p>
          <a:p/>
          <a:p>
            <a:r>
              <a:t>  Section 3 is distributed security, where users, services, agents, MCP servers and CI/CD workloads all need identities.</a:t>
            </a:r>
          </a:p>
          <a:p/>
          <a:p>
            <a:r>
              <a:t>  Section 4 is secrets and APIs.</a:t>
            </a:r>
          </a:p>
          <a:p/>
          <a:p>
            <a:r>
              <a:t>  Section 5 is continuous security from code to runtime and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Authentication</a:t>
            </a:r>
          </a:p>
          <a:p/>
          <a:p>
            <a:r>
              <a:t>  Proving who a caller is.</a:t>
            </a:r>
          </a:p>
          <a:p/>
          <a:p>
            <a:r>
              <a:t>- Authorization</a:t>
            </a:r>
          </a:p>
          <a:p/>
          <a:p>
            <a:r>
              <a:t>  Deciding what an authenticated caller is allowed to do.</a:t>
            </a:r>
          </a:p>
          <a:p/>
          <a:p>
            <a:r>
              <a:t>- Zero Trust</a:t>
            </a:r>
          </a:p>
          <a:p/>
          <a:p>
            <a:r>
              <a:t>  Never trust a request because of its network location — verify every one.</a:t>
            </a:r>
          </a:p>
          <a:p/>
          <a:p>
            <a:r>
              <a:t>- OAuth 2.0</a:t>
            </a:r>
          </a:p>
          <a:p/>
          <a:p>
            <a:r>
              <a:t>  A standard for granting limited, token-based access without sharing passwords.</a:t>
            </a:r>
          </a:p>
          <a:p/>
          <a:p>
            <a:r>
              <a:t>- OpenID Connect</a:t>
            </a:r>
          </a:p>
          <a:p/>
          <a:p>
            <a:r>
              <a:t>  An identity layer on OAuth 2.0 that tells the application who signed in.</a:t>
            </a:r>
          </a:p>
          <a:p/>
          <a:p>
            <a:r>
              <a:t>- JSON Web Token</a:t>
            </a:r>
          </a:p>
          <a:p/>
          <a:p>
            <a:r>
              <a:t>  A signed token carrying claims such as subject, issuer, audience and scopes.</a:t>
            </a:r>
          </a:p>
          <a:p/>
          <a:p>
            <a:r>
              <a:t>- Scope</a:t>
            </a:r>
          </a:p>
          <a:p/>
          <a:p>
            <a:r>
              <a:t>  A permission in a token, such as accounts.read, that limits what the caller may do.</a:t>
            </a:r>
          </a:p>
          <a:p/>
          <a:p>
            <a:r>
              <a:t>- Secret</a:t>
            </a:r>
          </a:p>
          <a:p/>
          <a:p>
            <a:r>
              <a:t>  A sensitive value, such as a password or key, kept out of code and injected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AI is Artificial Intelligence; API is Application Programming Interface; CI is Continuous Integration; CI/CD is Continuous Integration / Continuous Delivery; CORS is Cross-Origin Resource Sharing; DB is Database; DTO is Data Transfer Object; HMAC is Hash-based Message Authentication Code; HTTP is HyperText Transfer Protocol; HTTPS is HyperText Transfer Protocol Secure; ID is Identifier; IdP is Identity Provider; JWKS is JSON Web Key Set; JWT is JSON Web Token; MCP is Model Context Protocol; MDC is Mapped Diagnostic Context; mTLS is Mutual Transport Layer Security; OAuth is Open Authorization; OIDC is OpenID Connect; PKCE is Proof Key for Code Exchange; RBAC is Role-Based Access Control; SAST is Static Application Security Testing; SBOM is Software Bill of Materials; SQL is Structured Query Language; TLS is Transport Layer Security; URL is Uniform Resource Locator; WAF is Web Application Firewall.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11</a:t>
            </a:r>
          </a:p>
          <a:p/>
          <a:p>
            <a:r>
              <a:t>  Module 11 introduced per-tool scopes and identity propagation.</a:t>
            </a:r>
          </a:p>
          <a:p/>
          <a:p>
            <a:r>
              <a:t>  Module 12 explains the identity system underneath them.</a:t>
            </a:r>
          </a:p>
          <a:p/>
          <a:p>
            <a:r>
              <a:t>- The path</a:t>
            </a:r>
          </a:p>
          <a:p/>
          <a:p>
            <a:r>
              <a:t>  Foundations, OAuth2 and OIDC, distributed security, secrets and APIs, then continuous security and audit.</a:t>
            </a:r>
          </a:p>
          <a:p/>
          <a:p>
            <a:r>
              <a:t>- Two examples</a:t>
            </a:r>
          </a:p>
          <a:p/>
          <a:p>
            <a:r>
              <a:t>  The slides use the order platform.</a:t>
            </a:r>
          </a:p>
          <a:p/>
          <a:p>
            <a:r>
              <a:t>  Exercise 3.2 and Lab 3 secure the banking Account and Transaction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More services mean more network hops, more credentials and more ways in.</a:t>
            </a:r>
          </a:p>
          <a:p/>
          <a:p>
            <a:r>
              <a:t>  The mindset has to change before the tools.</a:t>
            </a:r>
          </a:p>
          <a:p/>
          <a:p>
            <a:r>
              <a:t>- What this part covers</a:t>
            </a:r>
          </a:p>
          <a:p/>
          <a:p>
            <a:r>
              <a:t>  The larger attack surface, Zero Trust, and the difference between proving identity and granting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trust boundaries</a:t>
            </a:r>
          </a:p>
          <a:p/>
          <a:p>
            <a:r>
              <a:t>  Microservices increase the number of trust boundaries.</a:t>
            </a:r>
          </a:p>
          <a:p/>
          <a:p>
            <a:r>
              <a:t>  One checkout request might pass through the gateway, Order, Payment, Inventory and Shipping services.</a:t>
            </a:r>
          </a:p>
          <a:p/>
          <a:p>
            <a:r>
              <a:t>- Questions at each hop</a:t>
            </a:r>
          </a:p>
          <a:p/>
          <a:p>
            <a:r>
              <a:t>  At each hop, ask who started this request and which identity is being used.</a:t>
            </a:r>
          </a:p>
          <a:p/>
          <a:p>
            <a:r>
              <a:t>  Ask what permissions are needed and whether the downstream service can trust it.</a:t>
            </a:r>
          </a:p>
          <a:p/>
          <a:p>
            <a:r>
              <a:t>- More credentials</a:t>
            </a:r>
          </a:p>
          <a:p/>
          <a:p>
            <a:r>
              <a:t>  Distributed systems also have more credentials: user tokens, service credentials, database passwords, certificates, cloud credentials, API keys and CI/CD credentials.</a:t>
            </a:r>
          </a:p>
          <a:p/>
          <a:p>
            <a:r>
              <a:t>- The takeaway</a:t>
            </a:r>
          </a:p>
          <a:p/>
          <a:p>
            <a:r>
              <a:t>  Microservices security is mostly about identity, controlled trust, and protecting the interactions between independently deployed parts.</a:t>
            </a:r>
          </a:p>
          <a:p/>
          <a:p>
            <a:r>
              <a:t>- What the diagram shows</a:t>
            </a:r>
          </a:p>
          <a:p/>
          <a:p>
            <a:r>
              <a:t>  A monolith with few trust boundaries next to microservices with a gateway, Order, Payment, Inventory, messaging and external APIs.</a:t>
            </a:r>
          </a:p>
          <a:p/>
          <a:p>
            <a:r>
              <a:t>- Key point</a:t>
            </a:r>
          </a:p>
          <a:p/>
          <a:p>
            <a:r>
              <a:t>  More services mean more boundaries to protect.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ideas</a:t>
            </a:r>
          </a:p>
          <a:p/>
          <a:p>
            <a:r>
              <a:t>  Zero Trust has three core ideas: verify explicitly, use least privilege, and assume breach, meaning plan as if an attacker is already inside.</a:t>
            </a:r>
          </a:p>
          <a:p/>
          <a:p>
            <a:r>
              <a:t>- Old thinking is dangerous</a:t>
            </a:r>
          </a:p>
          <a:p/>
          <a:p>
            <a:r>
              <a:t>  Traditional thinking assumed that inside the network meant trusted.</a:t>
            </a:r>
          </a:p>
          <a:p/>
          <a:p>
            <a:r>
              <a:t>  That is dangerous today.</a:t>
            </a:r>
          </a:p>
          <a:p/>
          <a:p>
            <a:r>
              <a:t>  An attacker who compromises one workload should not automatically reach every other service.</a:t>
            </a:r>
          </a:p>
          <a:p/>
          <a:p>
            <a:r>
              <a:t>- An example</a:t>
            </a:r>
          </a:p>
          <a:p/>
          <a:p>
            <a:r>
              <a:t>  The Inventory Service should not automatically be able to refund payments, delete customers or change authentication settings.</a:t>
            </a:r>
          </a:p>
          <a:p/>
          <a:p>
            <a:r>
              <a:t>  Running in the same OpenShift cluster doesn't grant that.</a:t>
            </a:r>
          </a:p>
          <a:p/>
          <a:p>
            <a:r>
              <a:t>- What trust is based on</a:t>
            </a:r>
          </a:p>
          <a:p/>
          <a:p>
            <a:r>
              <a:t>  Trust comes from identity, context, permission, policy and the request itself, not network location.</a:t>
            </a:r>
          </a:p>
          <a:p/>
          <a:p>
            <a:r>
              <a:t>  Every request is identified, authenticated, authorized and validated.</a:t>
            </a:r>
          </a:p>
          <a:p/>
          <a:p>
            <a:r>
              <a:t>  It runs with the minimum access required and is audited.</a:t>
            </a:r>
          </a:p>
          <a:p/>
          <a:p>
            <a:r>
              <a:t>- The phrase to remember</a:t>
            </a:r>
          </a:p>
          <a:p/>
          <a:p>
            <a:r>
              <a:t>  Authenticate the identity, authorize the action, and minimize the permissions.</a:t>
            </a:r>
          </a:p>
          <a:p/>
          <a:p>
            <a:r>
              <a:t>- What the diagram shows</a:t>
            </a:r>
          </a:p>
          <a:p/>
          <a:p>
            <a:r>
              <a:t>  A request identified, authenticated, authorized, validated, executed with least privilege and audited.</a:t>
            </a:r>
          </a:p>
          <a:p/>
          <a:p>
            <a:r>
              <a:t>- Key point</a:t>
            </a:r>
          </a:p>
          <a:p/>
          <a:p>
            <a:r>
              <a:t>  Every request earns trust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Authentication</a:t>
            </a:r>
          </a:p>
          <a:p/>
          <a:p>
            <a:r>
              <a:t>  Authentication answers: who is the caller?</a:t>
            </a:r>
          </a:p>
          <a:p/>
          <a:p>
            <a:r>
              <a:t>  Examples are a password with MFA, an OIDC login, a client certificate, a workload credential or a signed access token.</a:t>
            </a:r>
          </a:p>
          <a:p/>
          <a:p>
            <a:r>
              <a:t>- Authorization</a:t>
            </a:r>
          </a:p>
          <a:p/>
          <a:p>
            <a:r>
              <a:t>  Authorization answers: what may this identity do?</a:t>
            </a:r>
          </a:p>
          <a:p/>
          <a:p>
            <a:r>
              <a:t>  A customer can view their own order, and a support agent can view customer orders.</a:t>
            </a:r>
          </a:p>
          <a:p/>
          <a:p>
            <a:r>
              <a:t>  Payment support can issue certain refunds, and an administrator can manage configuration.</a:t>
            </a:r>
          </a:p>
          <a:p/>
          <a:p>
            <a:r>
              <a:t>- Order matters</a:t>
            </a:r>
          </a:p>
          <a:p/>
          <a:p>
            <a:r>
              <a:t>  Authentication establishes identity first.</a:t>
            </a:r>
          </a:p>
          <a:p/>
          <a:p>
            <a:r>
              <a:t>  Authorization evaluates permission after that.</a:t>
            </a:r>
          </a:p>
          <a:p/>
          <a:p>
            <a:r>
              <a:t>- Not unlimited access</a:t>
            </a:r>
          </a:p>
          <a:p/>
          <a:p>
            <a:r>
              <a:t>  Successful authentication does not mean unlimited access.</a:t>
            </a:r>
          </a:p>
          <a:p/>
          <a:p>
            <a:r>
              <a:t>  A valid token doesn't mean the user can read any customer's order.</a:t>
            </a:r>
          </a:p>
          <a:p/>
          <a:p>
            <a:r>
              <a:t>  That needs authorization against the actual resource.</a:t>
            </a:r>
          </a:p>
          <a:p/>
          <a:p>
            <a:r>
              <a:t>- What the diagram shows</a:t>
            </a:r>
          </a:p>
          <a:p/>
          <a:p>
            <a:r>
              <a:t>  Two side-by-side flows: “Who are you?” and “What may you do?”.</a:t>
            </a:r>
          </a:p>
          <a:p/>
          <a:p>
            <a:r>
              <a:t>- Key point</a:t>
            </a:r>
          </a:p>
          <a:p/>
          <a:p>
            <a:r>
              <a:t>  Authentication first; authorization for every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- 401 cases</a:t>
            </a:r>
          </a:p>
          <a:p/>
          <a:p>
            <a:r>
              <a:t>  Missing, expired or untrusted tokens fail authentication, so the answer is 401.</a:t>
            </a:r>
          </a:p>
          <a:p/>
          <a:p>
            <a:r>
              <a:t>- 403 cases</a:t>
            </a:r>
          </a:p>
          <a:p/>
          <a:p>
            <a:r>
              <a:t>  A valid token without the right scope, or for someone who doesn't own the account, fails authorization.</a:t>
            </a:r>
          </a:p>
          <a:p/>
          <a:p>
            <a:r>
              <a:t>  Some APIs return 404 to avoid revealing the account exists.</a:t>
            </a:r>
          </a:p>
          <a:p/>
          <a:p>
            <a:r>
              <a:t>- Logging</a:t>
            </a:r>
          </a:p>
          <a:p/>
          <a:p>
            <a:r>
              <a:t>  Record the subject, resource and decision, but never the Authorization header or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OAuth2 and OIDC are how almost every enterprise system hands out and checks access today.</a:t>
            </a:r>
          </a:p>
          <a:p/>
          <a:p>
            <a:r>
              <a:t>- What comes next</a:t>
            </a:r>
          </a:p>
          <a:p/>
          <a:p>
            <a:r>
              <a:t>  The protocols, the recommended login flow, token anatomy, Spring Security validation, authorization rules and two identity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authorization framework</a:t>
            </a:r>
          </a:p>
          <a:p/>
          <a:p>
            <a:r>
              <a:t>  OAuth 2.0 is mainly an authorization framework for granting controlled access to protected resources.</a:t>
            </a:r>
          </a:p>
          <a:p/>
          <a:p>
            <a:r>
              <a:t>  Microsoft describes it as giving limited access using tokens instead of sharing the owner's credentials with every client.</a:t>
            </a:r>
          </a:p>
          <a:p/>
          <a:p>
            <a:r>
              <a:t>- The roles</a:t>
            </a:r>
          </a:p>
          <a:p/>
          <a:p>
            <a:r>
              <a:t>  The resource owner is the customer.</a:t>
            </a:r>
          </a:p>
          <a:p/>
          <a:p>
            <a:r>
              <a:t>  The client is the shopping application.</a:t>
            </a:r>
          </a:p>
          <a:p/>
          <a:p>
            <a:r>
              <a:t>  The authorization server is the identity provider.</a:t>
            </a:r>
          </a:p>
          <a:p/>
          <a:p>
            <a:r>
              <a:t>  The resource server is the Order API.</a:t>
            </a:r>
          </a:p>
          <a:p/>
          <a:p>
            <a:r>
              <a:t>  The access token carries the permission between them.</a:t>
            </a:r>
          </a:p>
          <a:p/>
          <a:p>
            <a:r>
              <a:t>- No passwords to the API</a:t>
            </a:r>
          </a:p>
          <a:p/>
          <a:p>
            <a:r>
              <a:t>  The shopping app does not send a username and password to the Order API.</a:t>
            </a:r>
          </a:p>
          <a:p/>
          <a:p>
            <a:r>
              <a:t>  It sends an Authorization header with a Bearer access token, and the API validates that token.</a:t>
            </a:r>
          </a:p>
          <a:p/>
          <a:p>
            <a:r>
              <a:t>- Scopes</a:t>
            </a:r>
          </a:p>
          <a:p/>
          <a:p>
            <a:r>
              <a:t>  OAuth allows controlled permissions such as orders.read, orders.write and payments.read, instead of one unrestricted credential.</a:t>
            </a:r>
          </a:p>
          <a:p/>
          <a:p>
            <a:r>
              <a:t>- What the diagram shows</a:t>
            </a:r>
          </a:p>
          <a:p/>
          <a:p>
            <a:r>
              <a:t>  The resource owner, client, authorization server, access token and resource server.</a:t>
            </a:r>
          </a:p>
          <a:p/>
          <a:p>
            <a:r>
              <a:t>- Key point</a:t>
            </a:r>
          </a:p>
          <a:p/>
          <a:p>
            <a:r>
              <a:t>  Clients get limited, token-based access — never passwords.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identity layer</a:t>
            </a:r>
          </a:p>
          <a:p/>
          <a:p>
            <a:r>
              <a:t>  OpenID Connect, or OIDC, adds an identity and authentication layer on top of OAuth 2.0.</a:t>
            </a:r>
          </a:p>
          <a:p/>
          <a:p>
            <a:r>
              <a:t>  OAuth mainly answers: can this client access this resource?</a:t>
            </a:r>
          </a:p>
          <a:p/>
          <a:p>
            <a:r>
              <a:t>  OIDC adds: who authenticated?</a:t>
            </a:r>
          </a:p>
          <a:p/>
          <a:p>
            <a:r>
              <a:t>- The ID token</a:t>
            </a:r>
          </a:p>
          <a:p/>
          <a:p>
            <a:r>
              <a:t>  After a successful login, the client may receive an ID token.</a:t>
            </a:r>
          </a:p>
          <a:p/>
          <a:p>
            <a:r>
              <a:t>  It can include claims like sub, name, preferred_username and email, depending on the provider and requested claims.</a:t>
            </a:r>
          </a:p>
          <a:p/>
          <a:p>
            <a:r>
              <a:t>- Two different tokens</a:t>
            </a:r>
          </a:p>
          <a:p/>
          <a:p>
            <a:r>
              <a:t>  The ID token gives identity information to the client.</a:t>
            </a:r>
          </a:p>
          <a:p/>
          <a:p>
            <a:r>
              <a:t>  The access token authorizes calls to an API.</a:t>
            </a:r>
          </a:p>
          <a:p/>
          <a:p>
            <a:r>
              <a:t>  Microsoft's identity platform separates access tokens, ID tokens and refresh tokens in the same way.</a:t>
            </a:r>
          </a:p>
          <a:p/>
          <a:p>
            <a:r>
              <a:t>- The rule</a:t>
            </a:r>
          </a:p>
          <a:p/>
          <a:p>
            <a:r>
              <a:t>  Don't send the ID token as the normal credential for your backend API.</a:t>
            </a:r>
          </a:p>
          <a:p/>
          <a:p>
            <a:r>
              <a:t>  APIs generally expect an access token intended for that resource.</a:t>
            </a:r>
          </a:p>
          <a:p/>
          <a:p>
            <a:r>
              <a:t>- What the diagram shows</a:t>
            </a:r>
          </a:p>
          <a:p/>
          <a:p>
            <a:r>
              <a:t>  A user signing in through the identity provider and the client receiving an ID token, distinguished from the access token.</a:t>
            </a:r>
          </a:p>
          <a:p/>
          <a:p>
            <a:r>
              <a:t>- Key point</a:t>
            </a:r>
          </a:p>
          <a:p/>
          <a:p>
            <a:r>
              <a:t>  ID tokens are for the client; access tokens are for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Side by side</a:t>
            </a:r>
          </a:p>
          <a:p/>
          <a:p>
            <a:r>
              <a:t>  OAuth 2.0 is about authorization: what can this application access?</a:t>
            </a:r>
          </a:p>
          <a:p/>
          <a:p>
            <a:r>
              <a:t>  OpenID Connect is about authentication and identity: who signed in?</a:t>
            </a:r>
          </a:p>
          <a:p/>
          <a:p>
            <a:r>
              <a:t>  OIDC is built on top of OAuth 2.0.</a:t>
            </a:r>
          </a:p>
          <a:p/>
          <a:p>
            <a:r>
              <a:t>- A login example</a:t>
            </a:r>
          </a:p>
          <a:p/>
          <a:p>
            <a:r>
              <a:t>  A user signs in to the e-commerce app.</a:t>
            </a:r>
          </a:p>
          <a:p/>
          <a:p>
            <a:r>
              <a:t>  OIDC tells the app that this user successfully authenticated.</a:t>
            </a:r>
          </a:p>
          <a:p/>
          <a:p>
            <a:r>
              <a:t>  OAuth gives the app an access token that might allow orders.read, and the app calls GET /orders/1001 with it.</a:t>
            </a:r>
          </a:p>
          <a:p/>
          <a:p>
            <a:r>
              <a:t>- Two tokens, two purposes</a:t>
            </a:r>
          </a:p>
          <a:p/>
          <a:p>
            <a:r>
              <a:t>  One login session can involve both an ID token and an access token, but they serve different purposes.</a:t>
            </a:r>
          </a:p>
          <a:p/>
          <a:p>
            <a:r>
              <a:t>- What the diagram shows</a:t>
            </a:r>
          </a:p>
          <a:p/>
          <a:p>
            <a:r>
              <a:t>  The authorization path next to the authentication and identity path, with OIDC built on OAuth2.</a:t>
            </a:r>
          </a:p>
          <a:p/>
          <a:p>
            <a:r>
              <a:t>- Key point</a:t>
            </a:r>
          </a:p>
          <a:p/>
          <a:p>
            <a:r>
              <a:t>  OIDC adds identity on top of OAuth2.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flow</a:t>
            </a:r>
          </a:p>
          <a:p/>
          <a:p>
            <a:r>
              <a:t>  The user opens the application, which redirects them to an identity provider such as Keycloak or Microsoft Entra ID.</a:t>
            </a:r>
          </a:p>
          <a:p/>
          <a:p>
            <a:r>
              <a:t>  The user authenticates, and the client receives the right tokens.</a:t>
            </a:r>
          </a:p>
          <a:p/>
          <a:p>
            <a:r>
              <a:t>- Calling the API</a:t>
            </a:r>
          </a:p>
          <a:p/>
          <a:p>
            <a:r>
              <a:t>  The client sends the access token in the Authorization header as a Bearer token.</a:t>
            </a:r>
          </a:p>
          <a:p/>
          <a:p>
            <a:r>
              <a:t>  The API verifies the token instead of asking for the user's password.</a:t>
            </a:r>
          </a:p>
          <a:p/>
          <a:p>
            <a:r>
              <a:t>- Gateway and services</a:t>
            </a:r>
          </a:p>
          <a:p/>
          <a:p>
            <a:r>
              <a:t>  The gateway may do an initial validation.</a:t>
            </a:r>
          </a:p>
          <a:p/>
          <a:p>
            <a:r>
              <a:t>  But each microservice should still enforce authorization for its own business operations.</a:t>
            </a:r>
          </a:p>
          <a:p/>
          <a:p>
            <a:r>
              <a:t>- Avoid this design</a:t>
            </a:r>
          </a:p>
          <a:p/>
          <a:p>
            <a:r>
              <a:t>  Don't build a system where the gateway validates the token and every backend service then trusts everything.</a:t>
            </a:r>
          </a:p>
          <a:p/>
          <a:p>
            <a:r>
              <a:t>  Prefer defense in depth, meaning several layers of protection.</a:t>
            </a:r>
          </a:p>
          <a:p/>
          <a:p>
            <a:r>
              <a:t>- What the diagram shows</a:t>
            </a:r>
          </a:p>
          <a:p/>
          <a:p>
            <a:r>
              <a:t>  A user and client getting a token from Keycloak or Entra ID, then calling the API gateway and Spring Boot services.</a:t>
            </a:r>
          </a:p>
          <a:p/>
          <a:p>
            <a:r>
              <a:t>- Key point</a:t>
            </a:r>
          </a:p>
          <a:p/>
          <a:p>
            <a:r>
              <a:t>  The identity provider issues tokens; every service enforces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recommended flow</a:t>
            </a:r>
          </a:p>
          <a:p/>
          <a:p>
            <a:r>
              <a:t>  The Authorization Code flow is widely used for interactive apps.</a:t>
            </a:r>
          </a:p>
          <a:p/>
          <a:p>
            <a:r>
              <a:t>  Microsoft currently recommends it with PKCE for single-page apps, mobile and desktop apps, and server-based web apps.</a:t>
            </a:r>
          </a:p>
          <a:p/>
          <a:p>
            <a:r>
              <a:t>- The steps</a:t>
            </a:r>
          </a:p>
          <a:p/>
          <a:p>
            <a:r>
              <a:t>  The user opens the client, which redirects to the authorization endpoint with a code challenge.</a:t>
            </a:r>
          </a:p>
          <a:p/>
          <a:p>
            <a:r>
              <a:t>  The user logs in, and the client receives an authorization code.</a:t>
            </a:r>
          </a:p>
          <a:p/>
          <a:p>
            <a:r>
              <a:t>  The client exchanges the code plus the code verifier at the token endpoint, receives an access token, and calls the API.</a:t>
            </a:r>
          </a:p>
          <a:p/>
          <a:p>
            <a:r>
              <a:t>- PKCE in simple terms</a:t>
            </a:r>
          </a:p>
          <a:p/>
          <a:p>
            <a:r>
              <a:t>  PKCE stands for Proof Key for Code Exchange.</a:t>
            </a:r>
          </a:p>
          <a:p/>
          <a:p>
            <a:r>
              <a:t>  The client creates a secret code_verifier and derives a code_challenge from it, which it sends when authorization starts.</a:t>
            </a:r>
          </a:p>
          <a:p/>
          <a:p>
            <a:r>
              <a:t>  When exchanging the code, it proves it has the verifier.</a:t>
            </a:r>
          </a:p>
          <a:p/>
          <a:p>
            <a:r>
              <a:t>  So a stolen authorization code alone is useless.</a:t>
            </a:r>
          </a:p>
          <a:p/>
          <a:p>
            <a:r>
              <a:t>  Keycloak also supports PKCE for OIDC clients.</a:t>
            </a:r>
          </a:p>
          <a:p/>
          <a:p>
            <a:r>
              <a:t>- Avoid older flows</a:t>
            </a:r>
          </a:p>
          <a:p/>
          <a:p>
            <a:r>
              <a:t>  Current Keycloak guidance says not to use the password or direct grant, and not to use the implicit flow.</a:t>
            </a:r>
          </a:p>
          <a:p/>
          <a:p>
            <a:r>
              <a:t>  Users should sign in at the identity provider; the application shouldn't collect or store their password.</a:t>
            </a:r>
          </a:p>
          <a:p/>
          <a:p>
            <a:r>
              <a:t>- What the diagram shows</a:t>
            </a:r>
          </a:p>
          <a:p/>
          <a:p>
            <a:r>
              <a:t>  The client sending the user to authorize, receiving a code, then exchanging code plus verifier for an access token.</a:t>
            </a:r>
          </a:p>
          <a:p/>
          <a:p>
            <a:r>
              <a:t>- Key point</a:t>
            </a:r>
          </a:p>
          <a:p/>
          <a:p>
            <a:r>
              <a:t>  A stolen code is useless without the verifier.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 JWT is</a:t>
            </a:r>
          </a:p>
          <a:p/>
          <a:p>
            <a:r>
              <a:t>  JWT stands for JSON Web Token.</a:t>
            </a:r>
          </a:p>
          <a:p/>
          <a:p>
            <a:r>
              <a:t>  Many identity platforms issue access tokens in this format, including Microsoft's identity platform.</a:t>
            </a:r>
          </a:p>
          <a:p/>
          <a:p>
            <a:r>
              <a:t>- Three parts</a:t>
            </a:r>
          </a:p>
          <a:p/>
          <a:p>
            <a:r>
              <a:t>  The header describes metadata such as the signing algorithm.</a:t>
            </a:r>
          </a:p>
          <a:p/>
          <a:p>
            <a:r>
              <a:t>  The payload contains claims, like sub user-123, aud order-api, scope orders.read and an exp expiry time.</a:t>
            </a:r>
          </a:p>
          <a:p/>
          <a:p>
            <a:r>
              <a:t>  The signature lets the API verify that a trusted issuer signed it and nobody changed it.</a:t>
            </a:r>
          </a:p>
          <a:p/>
          <a:p>
            <a:r>
              <a:t>- Common claims</a:t>
            </a:r>
          </a:p>
          <a:p/>
          <a:p>
            <a:r>
              <a:t>  iss is the issuer, sub the subject, and aud the intended audience.</a:t>
            </a:r>
          </a:p>
          <a:p/>
          <a:p>
            <a:r>
              <a:t>  exp is the expiry and iat is when it was issued.</a:t>
            </a:r>
          </a:p>
          <a:p/>
          <a:p>
            <a:r>
              <a:t>  scope and roles carry permissions.</a:t>
            </a:r>
          </a:p>
          <a:p/>
          <a:p>
            <a:r>
              <a:t>- Encoded, not encrypted</a:t>
            </a:r>
          </a:p>
          <a:p/>
          <a:p>
            <a:r>
              <a:t>  JWT payloads are normally encoded, not encrypted.</a:t>
            </a:r>
          </a:p>
          <a:p/>
          <a:p>
            <a:r>
              <a:t>  Anyone holding the token can often decode the claims.</a:t>
            </a:r>
          </a:p>
          <a:p/>
          <a:p>
            <a:r>
              <a:t>  So never put passwords, secrets, private keys or unnecessary sensitive data in token claims.</a:t>
            </a:r>
          </a:p>
          <a:p/>
          <a:p>
            <a:r>
              <a:t>- What the diagram shows</a:t>
            </a:r>
          </a:p>
          <a:p/>
          <a:p>
            <a:r>
              <a:t>  Header, payload and signature, with claims such as iss, sub, aud, exp, scope and roles.</a:t>
            </a:r>
          </a:p>
          <a:p/>
          <a:p>
            <a:r>
              <a:t>- Key point</a:t>
            </a:r>
          </a:p>
          <a:p/>
          <a:p>
            <a:r>
              <a:t>  A JWT is signed and encoded — not encrypted.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Don't trust appearances</a:t>
            </a:r>
          </a:p>
          <a:p/>
          <a:p>
            <a:r>
              <a:t>  A token should not be trusted just because it looks like a JWT.</a:t>
            </a:r>
          </a:p>
          <a:p/>
          <a:p>
            <a:r>
              <a:t>  Spring Security's resource-server support validates tokens from a trusted issuer.</a:t>
            </a:r>
          </a:p>
          <a:p/>
          <a:p>
            <a:r>
              <a:t>- The checks</a:t>
            </a:r>
          </a:p>
          <a:p/>
          <a:p>
            <a:r>
              <a:t>  The signature must come from the expected identity provider, and the issuer (iss) must be trusted.</a:t>
            </a:r>
          </a:p>
          <a:p/>
          <a:p>
            <a:r>
              <a:t>  The token must not be expired (exp), and the audience (aud) must be this API.</a:t>
            </a:r>
          </a:p>
          <a:p/>
          <a:p>
            <a:r>
              <a:t>  Finally it must carry the scopes or roles the operation needs.</a:t>
            </a:r>
          </a:p>
          <a:p/>
          <a:p>
            <a:r>
              <a:t>- Configuration</a:t>
            </a:r>
          </a:p>
          <a:p/>
          <a:p>
            <a:r>
              <a:t>  In Spring Boot, you usually configure the resource server with the issuer URI.</a:t>
            </a:r>
          </a:p>
          <a:p/>
          <a:p>
            <a:r>
              <a:t>  It can then discover the keys and endpoints it needs.</a:t>
            </a:r>
          </a:p>
          <a:p/>
          <a:p>
            <a:r>
              <a:t>- 401 versus 403</a:t>
            </a:r>
          </a:p>
          <a:p/>
          <a:p>
            <a:r>
              <a:t>  401 Unauthorized usually means authentication is missing or invalid.</a:t>
            </a:r>
          </a:p>
          <a:p/>
          <a:p>
            <a:r>
              <a:t>  403 Forbidden means the identity is known but lacks permission.</a:t>
            </a:r>
          </a:p>
          <a:p/>
          <a:p>
            <a:r>
              <a:t>  This difference helps a lot when troubleshooting.</a:t>
            </a:r>
          </a:p>
          <a:p/>
          <a:p>
            <a:r>
              <a:t>- The rule</a:t>
            </a:r>
          </a:p>
          <a:p/>
          <a:p>
            <a:r>
              <a:t>  A JWT existing does not mean the JWT is trusted.</a:t>
            </a:r>
          </a:p>
          <a:p/>
          <a:p>
            <a:r>
              <a:t>  It must be validated.</a:t>
            </a:r>
          </a:p>
          <a:p/>
          <a:p>
            <a:r>
              <a:t>- What the diagram shows</a:t>
            </a:r>
          </a:p>
          <a:p/>
          <a:p>
            <a:r>
              <a:t>  A bearer token checked by Spring Security for signature, issuer, audience, expiry and roles or scopes, ending in 401, 403 or the controller.</a:t>
            </a:r>
          </a:p>
          <a:p/>
          <a:p>
            <a:r>
              <a:t>- Key point</a:t>
            </a:r>
          </a:p>
          <a:p/>
          <a:p>
            <a:r>
              <a:t>  Validate everything before trusting a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Configuration</a:t>
            </a:r>
          </a:p>
          <a:p/>
          <a:p>
            <a:r>
              <a:t>  issuer-uri tells Spring where to find the signing keys.</a:t>
            </a:r>
          </a:p>
          <a:p/>
          <a:p>
            <a:r>
              <a:t>  audiences rejects tokens issued for a different API.</a:t>
            </a:r>
          </a:p>
          <a:p/>
          <a:p>
            <a:r>
              <a:t>- The filter chain</a:t>
            </a:r>
          </a:p>
          <a:p/>
          <a:p>
            <a:r>
              <a:t>  Health stays public for OpenShift probes.</a:t>
            </a:r>
          </a:p>
          <a:p/>
          <a:p>
            <a:r>
              <a:t>  Reading accounts needs accounts.read; changing them needs accounts.write.</a:t>
            </a:r>
          </a:p>
          <a:p/>
          <a:p>
            <a:r>
              <a:t>- CSRF and sessions</a:t>
            </a:r>
          </a:p>
          <a:p/>
          <a:p>
            <a:r>
              <a:t>  A stateless API authenticated by bearer tokens doesn't use cookies, so CSRF protection can be disabled and no session is created.</a:t>
            </a:r>
          </a:p>
          <a:p/>
          <a:p>
            <a:r>
              <a:t>- Responses</a:t>
            </a:r>
          </a:p>
          <a:p/>
          <a:p>
            <a:r>
              <a:t>  A missing or invalid token gives 401.</a:t>
            </a:r>
          </a:p>
          <a:p/>
          <a:p>
            <a:r>
              <a:t>  A valid token without the scope gives 403.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Claims, scopes, roles</a:t>
            </a:r>
          </a:p>
          <a:p/>
          <a:p>
            <a:r>
              <a:t>  A claim is a statement about the token or identity, such as sub, tenant or department.</a:t>
            </a:r>
          </a:p>
          <a:p/>
          <a:p>
            <a:r>
              <a:t>  A scope usually represents delegated access, such as orders.read.</a:t>
            </a:r>
          </a:p>
          <a:p/>
          <a:p>
            <a:r>
              <a:t>  A role supports role-based authorization, such as SUPPORT.</a:t>
            </a:r>
          </a:p>
          <a:p/>
          <a:p>
            <a:r>
              <a:t>- Mapping operations</a:t>
            </a:r>
          </a:p>
          <a:p/>
          <a:p>
            <a:r>
              <a:t>  GET /orders/{id} needs orders.read.</a:t>
            </a:r>
          </a:p>
          <a:p/>
          <a:p>
            <a:r>
              <a:t>  POST /orders and cancelling an order need orders.write.</a:t>
            </a:r>
          </a:p>
          <a:p/>
          <a:p>
            <a:r>
              <a:t>  POST /payments/{id}/refund needs payment.refund.</a:t>
            </a:r>
          </a:p>
          <a:p/>
          <a:p>
            <a:r>
              <a:t>- Avoid broad roles</a:t>
            </a:r>
          </a:p>
          <a:p/>
          <a:p>
            <a:r>
              <a:t>  Don't give ordinary services SUPER_ADMIN because it's easier.</a:t>
            </a:r>
          </a:p>
          <a:p/>
          <a:p>
            <a:r>
              <a:t>  Prefer narrow permissions like ORDER_READ, ORDER_CANCEL, PAYMENT_READ and PAYMENT_REFUND where appropriate.</a:t>
            </a:r>
          </a:p>
          <a:p/>
          <a:p>
            <a:r>
              <a:t>- Least privilege</a:t>
            </a:r>
          </a:p>
          <a:p/>
          <a:p>
            <a:r>
              <a:t>  Give the smallest permission that is needed.</a:t>
            </a:r>
          </a:p>
          <a:p/>
          <a:p>
            <a:r>
              <a:t>- What the diagram shows</a:t>
            </a:r>
          </a:p>
          <a:p/>
          <a:p>
            <a:r>
              <a:t>  A token split into claims, scopes and roles, mapped to protected endpoints.</a:t>
            </a:r>
          </a:p>
          <a:p/>
          <a:p>
            <a:r>
              <a:t>- Key point</a:t>
            </a:r>
          </a:p>
          <a:p/>
          <a:p>
            <a:r>
              <a:t>  Map each operation to the narrowest permission that allows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The scope check alone lets any customer with accounts.read read any account just by changing the ID.</a:t>
            </a:r>
          </a:p>
          <a:p/>
          <a:p>
            <a:r>
              <a:t>- The fix</a:t>
            </a:r>
          </a:p>
          <a:p/>
          <a:p>
            <a:r>
              <a:t>  The service loads the account and compares its owner with the token subject.</a:t>
            </a:r>
          </a:p>
          <a:p/>
          <a:p>
            <a:r>
              <a:t>  Tellers are allowed by role.</a:t>
            </a:r>
          </a:p>
          <a:p/>
          <a:p>
            <a:r>
              <a:t>- Why here</a:t>
            </a:r>
          </a:p>
          <a:p/>
          <a:p>
            <a:r>
              <a:t>  Only the service knows who owns the account, so this check can't live in the gateway.</a:t>
            </a:r>
          </a:p>
          <a:p/>
          <a:p>
            <a:r>
              <a:t>- Response choice</a:t>
            </a:r>
          </a:p>
          <a:p/>
          <a:p>
            <a:r>
              <a:t>  Some APIs return 404 instead of 403 so they don't reveal that the account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Use the worksheet in labs/day-03/exercises.</a:t>
            </a:r>
          </a:p>
          <a:p/>
          <a:p>
            <a:r>
              <a:t>- The matrix</a:t>
            </a:r>
          </a:p>
          <a:p/>
          <a:p>
            <a:r>
              <a:t>  Each role maps to scopes, and each endpoint to a required scope.</a:t>
            </a:r>
          </a:p>
          <a:p/>
          <a:p>
            <a:r>
              <a:t>  Missing tokens give 401; wrong scopes give 403.</a:t>
            </a:r>
          </a:p>
          <a:p/>
          <a:p>
            <a:r>
              <a:t>- Propagation and logging</a:t>
            </a:r>
          </a:p>
          <a:p/>
          <a:p>
            <a:r>
              <a:t>  Transaction Service forwards the caller's JWT to Account Service.</a:t>
            </a:r>
          </a:p>
          <a:p/>
          <a:p>
            <a:r>
              <a:t>  Tokens and claims are never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Keycloak is</a:t>
            </a:r>
          </a:p>
          <a:p/>
          <a:p>
            <a:r>
              <a:t>  Keycloak is an identity and access management platform that supports OpenID Connect and OAuth 2.0.</a:t>
            </a:r>
          </a:p>
          <a:p/>
          <a:p>
            <a:r>
              <a:t>- Core concepts</a:t>
            </a:r>
          </a:p>
          <a:p/>
          <a:p>
            <a:r>
              <a:t>  A realm is a logical security domain, for example ecommerce.</a:t>
            </a:r>
          </a:p>
          <a:p/>
          <a:p>
            <a:r>
              <a:t>  A client is a registered application or service, like web-store, order-service or payment-service.</a:t>
            </a:r>
          </a:p>
          <a:p/>
          <a:p>
            <a:r>
              <a:t>  Users are human identities, and roles hold authorization structures.</a:t>
            </a:r>
          </a:p>
          <a:p/>
          <a:p>
            <a:r>
              <a:t>  Service accounts are machine identities for confidential clients.</a:t>
            </a:r>
          </a:p>
          <a:p/>
          <a:p>
            <a:r>
              <a:t>- Discovery</a:t>
            </a:r>
          </a:p>
          <a:p/>
          <a:p>
            <a:r>
              <a:t>  Keycloak publishes standard OIDC endpoints through a realm discovery document at /realms/{realm}/.well-known/openid-configuration.</a:t>
            </a:r>
          </a:p>
          <a:p/>
          <a:p>
            <a:r>
              <a:t>  It lists the authorization, token, user-info and key endpoints.</a:t>
            </a:r>
          </a:p>
          <a:p/>
          <a:p>
            <a:r>
              <a:t>- Spring integration</a:t>
            </a:r>
          </a:p>
          <a:p/>
          <a:p>
            <a:r>
              <a:t>  The Spring application can use the issuer information instead of hard-coding every endpoint.</a:t>
            </a:r>
          </a:p>
          <a:p/>
          <a:p>
            <a:r>
              <a:t>- What the diagram shows</a:t>
            </a:r>
          </a:p>
          <a:p/>
          <a:p>
            <a:r>
              <a:t>  A realm with clients, users and roles issuing tokens to the gateway and Spring Boot resource servers.</a:t>
            </a:r>
          </a:p>
          <a:p/>
          <a:p>
            <a:r>
              <a:t>- Key point</a:t>
            </a:r>
          </a:p>
          <a:p/>
          <a:p>
            <a:r>
              <a:t>  Keycloak concepts become standard OIDC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name change</a:t>
            </a:r>
          </a:p>
          <a:p/>
          <a:p>
            <a:r>
              <a:t>  Microsoft Entra ID is the current name for Azure Active Directory.</a:t>
            </a:r>
          </a:p>
          <a:p/>
          <a:p>
            <a:r>
              <a:t>  Learners may still see Azure AD in older material.</a:t>
            </a:r>
          </a:p>
          <a:p/>
          <a:p>
            <a:r>
              <a:t>- App registrations</a:t>
            </a:r>
          </a:p>
          <a:p/>
          <a:p>
            <a:r>
              <a:t>  Applications using the Microsoft identity platform are usually represented by app registrations.</a:t>
            </a:r>
          </a:p>
          <a:p/>
          <a:p>
            <a:r>
              <a:t>  A registration sets identifiers and settings like the application or client ID and redirect URIs.</a:t>
            </a:r>
          </a:p>
          <a:p/>
          <a:p>
            <a:r>
              <a:t>- Key concepts</a:t>
            </a:r>
          </a:p>
          <a:p/>
          <a:p>
            <a:r>
              <a:t>  Other concepts are the tenant, scopes, app roles and the service principal, which is the app's identity in a tenant.</a:t>
            </a:r>
          </a:p>
          <a:p/>
          <a:p>
            <a:r>
              <a:t>- An example</a:t>
            </a:r>
          </a:p>
          <a:p/>
          <a:p>
            <a:r>
              <a:t>  A web application has a client ID.</a:t>
            </a:r>
          </a:p>
          <a:p/>
          <a:p>
            <a:r>
              <a:t>  The Order API exposes a permission called Orders.Read, and the client requests it.</a:t>
            </a:r>
          </a:p>
          <a:p/>
          <a:p>
            <a:r>
              <a:t>  Entra ID issues an access token, and Spring Boot validates it and applies authorization.</a:t>
            </a:r>
          </a:p>
          <a:p/>
          <a:p>
            <a:r>
              <a:t>- Stay portable</a:t>
            </a:r>
          </a:p>
          <a:p/>
          <a:p>
            <a:r>
              <a:t>  Keycloak or Entra ID both speak OIDC and OAuth 2.0 to Spring Security.</a:t>
            </a:r>
          </a:p>
          <a:p/>
          <a:p>
            <a:r>
              <a:t>  Rely on standards so your services aren't tightly tied to one provider.</a:t>
            </a:r>
          </a:p>
          <a:p/>
          <a:p>
            <a:r>
              <a:t>- What the diagram shows</a:t>
            </a:r>
          </a:p>
          <a:p/>
          <a:p>
            <a:r>
              <a:t>  A tenant and app registration issuing OAuth2 and OIDC tokens to the gateway and a Spring Boot API.</a:t>
            </a:r>
          </a:p>
          <a:p/>
          <a:p>
            <a:r>
              <a:t>- Key point</a:t>
            </a:r>
          </a:p>
          <a:p/>
          <a:p>
            <a:r>
              <a:t>  Entra ID issues standard tokens Spring Boot validates.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Most calls in a microservice system are service to service.</a:t>
            </a:r>
          </a:p>
          <a:p/>
          <a:p>
            <a:r>
              <a:t>  They need identity too.</a:t>
            </a:r>
          </a:p>
          <a:p/>
          <a:p>
            <a:r>
              <a:t>- What comes next</a:t>
            </a:r>
          </a:p>
          <a:p/>
          <a:p>
            <a:r>
              <a:t>  Machine tokens, gateway responsibilities and workload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machine acting as itself</a:t>
            </a:r>
          </a:p>
          <a:p/>
          <a:p>
            <a:r>
              <a:t>  The Client Credentials flow is for an application acting on its own behalf, not for an interactive user.</a:t>
            </a:r>
          </a:p>
          <a:p/>
          <a:p>
            <a:r>
              <a:t>  Keycloak documents it for services getting access as themselves.</a:t>
            </a:r>
          </a:p>
          <a:p/>
          <a:p>
            <a:r>
              <a:t>- An example</a:t>
            </a:r>
          </a:p>
          <a:p/>
          <a:p>
            <a:r>
              <a:t>  The Order Service needs to create a payment.</a:t>
            </a:r>
          </a:p>
          <a:p/>
          <a:p>
            <a:r>
              <a:t>  It gets its own service token from the identity provider and calls the Payment Service.</a:t>
            </a:r>
          </a:p>
          <a:p/>
          <a:p>
            <a:r>
              <a:t>  Batch processors calling the Inventory Service work the same way.</a:t>
            </a:r>
          </a:p>
          <a:p/>
          <a:p>
            <a:r>
              <a:t>- It matters for audit</a:t>
            </a:r>
          </a:p>
          <a:p/>
          <a:p>
            <a:r>
              <a:t>  The token represents the Order Service, not John the customer.</a:t>
            </a:r>
          </a:p>
          <a:p/>
          <a:p>
            <a:r>
              <a:t>  That distinction matters when you audit who did what.</a:t>
            </a:r>
          </a:p>
          <a:p/>
          <a:p>
            <a:r>
              <a:t>- Least privilege</a:t>
            </a:r>
          </a:p>
          <a:p/>
          <a:p>
            <a:r>
              <a:t>  The Order Service token might allow payment.create and payment.read, but not payment.refund.</a:t>
            </a:r>
          </a:p>
          <a:p/>
          <a:p>
            <a:r>
              <a:t>  Give service identities the minimum scopes.</a:t>
            </a:r>
          </a:p>
          <a:p/>
          <a:p>
            <a:r>
              <a:t>  Never issue broad administrator credentials just because service-to-service authentication feels inconvenient.</a:t>
            </a:r>
          </a:p>
          <a:p/>
          <a:p>
            <a:r>
              <a:t>- The rule</a:t>
            </a:r>
          </a:p>
          <a:p/>
          <a:p>
            <a:r>
              <a:t>  Users need user identities.</a:t>
            </a:r>
          </a:p>
          <a:p/>
          <a:p>
            <a:r>
              <a:t>  Services need workload identities.</a:t>
            </a:r>
          </a:p>
          <a:p/>
          <a:p>
            <a:r>
              <a:t>  Never reuse human credentials for backend services.</a:t>
            </a:r>
          </a:p>
          <a:p/>
          <a:p>
            <a:r>
              <a:t>- What the diagram shows</a:t>
            </a:r>
          </a:p>
          <a:p/>
          <a:p>
            <a:r>
              <a:t>  Order Service getting a service access token from the identity provider to call Payment Service.</a:t>
            </a:r>
          </a:p>
          <a:p/>
          <a:p>
            <a:r>
              <a:t>- Key point</a:t>
            </a:r>
          </a:p>
          <a:p/>
          <a:p>
            <a:r>
              <a:t>  Services authenticate as themselves with narrow scopes.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Registration</a:t>
            </a:r>
          </a:p>
          <a:p/>
          <a:p>
            <a:r>
              <a:t>  Order Service is a client of the identity provider with the client credentials grant and one narrow scope.</a:t>
            </a:r>
          </a:p>
          <a:p/>
          <a:p>
            <a:r>
              <a:t>- Interceptor</a:t>
            </a:r>
          </a:p>
          <a:p/>
          <a:p>
            <a:r>
              <a:t>  OAuth2ClientHttpRequestInterceptor, in Spring Security 6.4 and later, obtains a token, caches it and adds it to each request.</a:t>
            </a:r>
          </a:p>
          <a:p/>
          <a:p>
            <a:r>
              <a:t>- On the other side</a:t>
            </a:r>
          </a:p>
          <a:p/>
          <a:p>
            <a:r>
              <a:t>  Payment Service validates the token like any other and requires the payments.authorize scope.</a:t>
            </a:r>
          </a:p>
          <a:p/>
          <a:p>
            <a:r>
              <a:t>- Two patterns</a:t>
            </a:r>
          </a:p>
          <a:p/>
          <a:p>
            <a:r>
              <a:t>  Use client credentials when a service acts for itself.</a:t>
            </a:r>
          </a:p>
          <a:p/>
          <a:p>
            <a:r>
              <a:t>  Forward the user's token, as Lab 3 does, when the downstream service must know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strong enforcement point</a:t>
            </a:r>
          </a:p>
          <a:p/>
          <a:p>
            <a:r>
              <a:t>  The gateway can terminate TLS, encrypting external traffic, and reject obviously invalid tokens.</a:t>
            </a:r>
          </a:p>
          <a:p/>
          <a:p>
            <a:r>
              <a:t>  It can rate-limit excessive requests and use a web application firewall against malicious HTTP traffic.</a:t>
            </a:r>
          </a:p>
          <a:p/>
          <a:p>
            <a:r>
              <a:t>  It also routes only to exposed services and centralizes logging.</a:t>
            </a:r>
          </a:p>
          <a:p/>
          <a:p>
            <a:r>
              <a:t>- Not enough alone</a:t>
            </a:r>
          </a:p>
          <a:p/>
          <a:p>
            <a:r>
              <a:t>  Don't teach that the gateway is enough by itself.</a:t>
            </a:r>
          </a:p>
          <a:p/>
          <a:p>
            <a:r>
              <a:t>  The bad pattern is: the gateway validated the request, so the backend trusts everything.</a:t>
            </a:r>
          </a:p>
          <a:p/>
          <a:p>
            <a:r>
              <a:t>  The better pattern is gateway protection plus service authorization.</a:t>
            </a:r>
          </a:p>
          <a:p/>
          <a:p>
            <a:r>
              <a:t>- Why</a:t>
            </a:r>
          </a:p>
          <a:p/>
          <a:p>
            <a:r>
              <a:t>  Backend calls may come from other services, internal jobs, messaging, administrative processes or agent and MCP workloads.</a:t>
            </a:r>
          </a:p>
          <a:p/>
          <a:p>
            <a:r>
              <a:t>  Not all of them go through the gateway.</a:t>
            </a:r>
          </a:p>
          <a:p/>
          <a:p>
            <a:r>
              <a:t>- What the diagram shows</a:t>
            </a:r>
          </a:p>
          <a:p/>
          <a:p>
            <a:r>
              <a:t>  Internet traffic through an API gateway and WAF with TLS, token checks, rate limiting, routing and audit, then to services.</a:t>
            </a:r>
          </a:p>
          <a:p/>
          <a:p>
            <a:r>
              <a:t>- Key point</a:t>
            </a:r>
          </a:p>
          <a:p/>
          <a:p>
            <a:r>
              <a:t>  Protect the edge — and still authorize in each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Users aren't the only identities</a:t>
            </a:r>
          </a:p>
          <a:p/>
          <a:p>
            <a:r>
              <a:t>  A microservices environment has many machine identities.</a:t>
            </a:r>
          </a:p>
          <a:p/>
          <a:p>
            <a:r>
              <a:t>  They include the Order, Payment and Inventory services, MCP servers, background workers, CI/CD pipelines and AI agents.</a:t>
            </a:r>
          </a:p>
          <a:p/>
          <a:p>
            <a:r>
              <a:t>- An example</a:t>
            </a:r>
          </a:p>
          <a:p/>
          <a:p>
            <a:r>
              <a:t>  The Order Service calls the Payment Service using its workload identity and an access token.</a:t>
            </a:r>
          </a:p>
          <a:p/>
          <a:p>
            <a:r>
              <a:t>  The Payment Service validates the token, sees the caller is order-service, and checks whether it may call POST /payments.</a:t>
            </a:r>
          </a:p>
          <a:p/>
          <a:p>
            <a:r>
              <a:t>- Service-level least privilege</a:t>
            </a:r>
          </a:p>
          <a:p/>
          <a:p>
            <a:r>
              <a:t>  Don't let the Order Service call the refund endpoint unless that capability is genuinely required.</a:t>
            </a:r>
          </a:p>
          <a:p/>
          <a:p>
            <a:r>
              <a:t>- Link to Modules 10 and 11</a:t>
            </a:r>
          </a:p>
          <a:p/>
          <a:p>
            <a:r>
              <a:t>  AI agents, MCP servers and microservices are all machine identities.</a:t>
            </a:r>
          </a:p>
          <a:p/>
          <a:p>
            <a:r>
              <a:t>  Each should get only the permissions it needs.</a:t>
            </a:r>
          </a:p>
          <a:p/>
          <a:p>
            <a:r>
              <a:t>- What the diagram shows</a:t>
            </a:r>
          </a:p>
          <a:p/>
          <a:p>
            <a:r>
              <a:t>  Order Service using its workload identity to get an access token and call Payment Service, which checks the scope.</a:t>
            </a:r>
          </a:p>
          <a:p/>
          <a:p>
            <a:r>
              <a:t>- Key point</a:t>
            </a:r>
          </a:p>
          <a:p/>
          <a:p>
            <a:r>
              <a:t>  Every workload has its own identity and least-privilege scopes.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 leaked database password or broken authorization check is how many real breaches start.</a:t>
            </a:r>
          </a:p>
          <a:p/>
          <a:p>
            <a:r>
              <a:t>- What comes next</a:t>
            </a:r>
          </a:p>
          <a:p/>
          <a:p>
            <a:r>
              <a:t>  Secret handling, OpenShift delivery, a leak hunt, API hardening and threat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counts as a secret</a:t>
            </a:r>
          </a:p>
          <a:p/>
          <a:p>
            <a:r>
              <a:t>  Secrets include passwords, API keys, client secrets, certificates and private keys, database credentials and cloud credentials.</a:t>
            </a:r>
          </a:p>
          <a:p/>
          <a:p>
            <a:r>
              <a:t>- Where they don't belong</a:t>
            </a:r>
          </a:p>
          <a:p/>
          <a:p>
            <a:r>
              <a:t>  Never put secrets in source code, Git, a Dockerfile, a container image, public configuration or logs.</a:t>
            </a:r>
          </a:p>
          <a:p/>
          <a:p>
            <a:r>
              <a:t>  Is application.yml a secure place for a password?</a:t>
            </a:r>
          </a:p>
          <a:p/>
          <a:p>
            <a:r>
              <a:t>  No. If a datasource password is committed, it's exposed.</a:t>
            </a:r>
          </a:p>
          <a:p/>
          <a:p>
            <a:r>
              <a:t>- Images remember</a:t>
            </a:r>
          </a:p>
          <a:p/>
          <a:p>
            <a:r>
              <a:t>  A line like ENV DB_PASSWORD in a Dockerfile bakes the secret into the image and its history.</a:t>
            </a:r>
          </a:p>
          <a:p/>
          <a:p>
            <a:r>
              <a:t>- A proper process</a:t>
            </a:r>
          </a:p>
          <a:p/>
          <a:p>
            <a:r>
              <a:t>  The application should get secrets at runtime from a secrets management system.</a:t>
            </a:r>
          </a:p>
          <a:p/>
          <a:p>
            <a:r>
              <a:t>  The process covers storage, access, distribution, rotation, expiry, auditing and revocation.</a:t>
            </a:r>
          </a:p>
          <a:p/>
          <a:p>
            <a:r>
              <a:t>- Config versus secret</a:t>
            </a:r>
          </a:p>
          <a:p/>
          <a:p>
            <a:r>
              <a:t>  Normal configuration like SERVER_PORT=8080 is fine.</a:t>
            </a:r>
          </a:p>
          <a:p/>
          <a:p>
            <a:r>
              <a:t>  A DATABASE_PASSWORD is a secret and needs stronger protection.</a:t>
            </a:r>
          </a:p>
          <a:p/>
          <a:p>
            <a:r>
              <a:t>- What the diagram shows</a:t>
            </a:r>
          </a:p>
          <a:p/>
          <a:p>
            <a:r>
              <a:t>  Secrets in Git, Dockerfiles and config next to runtime injection from a secret-management system.</a:t>
            </a:r>
          </a:p>
          <a:p/>
          <a:p>
            <a:r>
              <a:t>- Key point</a:t>
            </a:r>
          </a:p>
          <a:p/>
          <a:p>
            <a:r>
              <a:t>  Inject secrets at runtime; never store them with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OpenShift Secrets</a:t>
            </a:r>
          </a:p>
          <a:p/>
          <a:p>
            <a:r>
              <a:t>  OpenShift supports Kubernetes-style secrets for workloads, such as database credentials, TLS certificates and API credentials.</a:t>
            </a:r>
          </a:p>
          <a:p/>
          <a:p>
            <a:r>
              <a:t>  A secret reaches the pod as an environment variable or a mounted file.</a:t>
            </a:r>
          </a:p>
          <a:p/>
          <a:p>
            <a:r>
              <a:t>- Delivery, not strategy</a:t>
            </a:r>
          </a:p>
          <a:p/>
          <a:p>
            <a:r>
              <a:t>  An OpenShift Secret is an access-controlled delivery mechanism.</a:t>
            </a:r>
          </a:p>
          <a:p/>
          <a:p>
            <a:r>
              <a:t>  It doesn't remove the need for a broader secrets-management strategy.</a:t>
            </a:r>
          </a:p>
          <a:p/>
          <a:p>
            <a:r>
              <a:t>- External managers</a:t>
            </a:r>
          </a:p>
          <a:p/>
          <a:p>
            <a:r>
              <a:t>  Red Hat notes that dedicated external secret managers add centralized auditing, monitoring and control.</a:t>
            </a:r>
          </a:p>
          <a:p/>
          <a:p>
            <a:r>
              <a:t>  The application reaches them using its workload identity.</a:t>
            </a:r>
          </a:p>
          <a:p/>
          <a:p>
            <a:r>
              <a:t>- Good practices</a:t>
            </a:r>
          </a:p>
          <a:p/>
          <a:p>
            <a:r>
              <a:t>  Separate secrets by environment, and limit which service accounts can read them.</a:t>
            </a:r>
          </a:p>
          <a:p/>
          <a:p>
            <a:r>
              <a:t>  Rotate secrets, never log them, and prefer short-lived credentials.</a:t>
            </a:r>
          </a:p>
          <a:p/>
          <a:p>
            <a:r>
              <a:t>  Use external vaults when appropriate.</a:t>
            </a:r>
          </a:p>
          <a:p/>
          <a:p>
            <a:r>
              <a:t>- Link to Module 8</a:t>
            </a:r>
          </a:p>
          <a:p/>
          <a:p>
            <a:r>
              <a:t>  The same image runs in DEV, TEST and PROD, with different secrets supplied at runtime.</a:t>
            </a:r>
          </a:p>
          <a:p/>
          <a:p>
            <a:r>
              <a:t>- What the diagram shows</a:t>
            </a:r>
          </a:p>
          <a:p/>
          <a:p>
            <a:r>
              <a:t>  A secret store feeding an OpenShift Secret, delivered to the pod as an environment variable or mounted file.</a:t>
            </a:r>
          </a:p>
          <a:p/>
          <a:p>
            <a:r>
              <a:t>- Key point</a:t>
            </a:r>
          </a:p>
          <a:p/>
          <a:p>
            <a:r>
              <a:t>  Deliver secrets at runtime with tight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mount</a:t>
            </a:r>
          </a:p>
          <a:p/>
          <a:p>
            <a:r>
              <a:t>  The Secret becomes read-only files under /etc/secrets inside the pod, visible only to that container.</a:t>
            </a:r>
          </a:p>
          <a:p/>
          <a:p>
            <a:r>
              <a:t>- configtree</a:t>
            </a:r>
          </a:p>
          <a:p/>
          <a:p>
            <a:r>
              <a:t>  spring.config.import with configtree turns each file into a property, so the datasource password needs no environment variable.</a:t>
            </a:r>
          </a:p>
          <a:p/>
          <a:p>
            <a:r>
              <a:t>- Why files</a:t>
            </a:r>
          </a:p>
          <a:p/>
          <a:p>
            <a:r>
              <a:t>  Environment variables can leak through crash dumps, debug endpoints and child processes.</a:t>
            </a:r>
          </a:p>
          <a:p/>
          <a:p>
            <a:r>
              <a:t>  Files are easier to restrict.</a:t>
            </a:r>
          </a:p>
          <a:p/>
          <a:p>
            <a:r>
              <a:t>- Rotation</a:t>
            </a:r>
          </a:p>
          <a:p/>
          <a:p>
            <a:r>
              <a:t>  When the Secret is updated, the mounted files change; the application may still need a restart to reload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Git and images</a:t>
            </a:r>
          </a:p>
          <a:p/>
          <a:p>
            <a:r>
              <a:t>  The API key is in Git history and the password is in an image layer.</a:t>
            </a:r>
          </a:p>
          <a:p/>
          <a:p>
            <a:r>
              <a:t>  Both are readable by anyone with repository or registry access.</a:t>
            </a:r>
          </a:p>
          <a:p/>
          <a:p>
            <a:r>
              <a:t>- Logs and CI</a:t>
            </a:r>
          </a:p>
          <a:p/>
          <a:p>
            <a:r>
              <a:t>  Logging request headers exposes Authorization values, and echoing a token prints it into CI logs.</a:t>
            </a:r>
          </a:p>
          <a:p/>
          <a:p>
            <a:r>
              <a:t>- Rotation</a:t>
            </a:r>
          </a:p>
          <a:p/>
          <a:p>
            <a:r>
              <a:t>  Removing the value isn't enough — every exposed credential must be rotated.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HTTPS and identity</a:t>
            </a:r>
          </a:p>
          <a:p/>
          <a:p>
            <a:r>
              <a:t>  Use HTTPS everywhere; never send access tokens over plain HTTP in production.</a:t>
            </a:r>
          </a:p>
          <a:p/>
          <a:p>
            <a:r>
              <a:t>  Authenticate callers so you know the user or service.</a:t>
            </a:r>
          </a:p>
          <a:p/>
          <a:p>
            <a:r>
              <a:t>  Authorize every sensitive action, not just whether a token exists.</a:t>
            </a:r>
          </a:p>
          <a:p/>
          <a:p>
            <a:r>
              <a:t>- Validate and rate-limit</a:t>
            </a:r>
          </a:p>
          <a:p/>
          <a:p>
            <a:r>
              <a:t>  Validate every input: path variables, request parameters, request bodies and headers.</a:t>
            </a:r>
          </a:p>
          <a:p/>
          <a:p>
            <a:r>
              <a:t>  Rate-limit to protect against brute force, abuse, cost amplification and resource exhaustion.</a:t>
            </a:r>
          </a:p>
          <a:p/>
          <a:p>
            <a:r>
              <a:t>- Safe errors</a:t>
            </a:r>
          </a:p>
          <a:p/>
          <a:p>
            <a:r>
              <a:t>  Avoid verbose errors like a raw SQLException naming a card_number column.</a:t>
            </a:r>
          </a:p>
          <a:p/>
          <a:p>
            <a:r>
              <a:t>  Return something like code PAYMENT_PROCESSING_ERROR and 'Unable to process payment'.</a:t>
            </a:r>
          </a:p>
          <a:p/>
          <a:p>
            <a:r>
              <a:t>  Keep the internal details in secure logs.</a:t>
            </a:r>
          </a:p>
          <a:p/>
          <a:p>
            <a:r>
              <a:t>- CORS and monitoring</a:t>
            </a:r>
          </a:p>
          <a:p/>
          <a:p>
            <a:r>
              <a:t>  CORS is a browser security policy, not an authentication mechanism, so don't allow everything without understanding why.</a:t>
            </a:r>
          </a:p>
          <a:p/>
          <a:p>
            <a:r>
              <a:t>  And monitor: security controls without visibility are hard to evaluate.</a:t>
            </a:r>
          </a:p>
          <a:p/>
          <a:p>
            <a:r>
              <a:t>- What the diagram shows</a:t>
            </a:r>
          </a:p>
          <a:p/>
          <a:p>
            <a:r>
              <a:t>  HTTPS, authentication, authorization, input validation, rate limiting, safe errors, CORS and headers, and monitoring as layers.</a:t>
            </a:r>
          </a:p>
          <a:p/>
          <a:p>
            <a:r>
              <a:t>- Key point</a:t>
            </a:r>
          </a:p>
          <a:p/>
          <a:p>
            <a:r>
              <a:t>  Many layers, each catching what the others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Six threats and controls</a:t>
            </a:r>
          </a:p>
          <a:p/>
          <a:p>
            <a:r>
              <a:t>  Broken authorization needs per-resource checks, and injection needs validation and safe persistence.</a:t>
            </a:r>
          </a:p>
          <a:p/>
          <a:p>
            <a:r>
              <a:t>  Token theft needs TLS and careful token handling.</a:t>
            </a:r>
          </a:p>
          <a:p/>
          <a:p>
            <a:r>
              <a:t>  Excessive data exposure needs DTOs and minimal responses.</a:t>
            </a:r>
          </a:p>
          <a:p/>
          <a:p>
            <a:r>
              <a:t>  API abuse needs rate limiting, and misconfiguration needs secure defaults and automation.</a:t>
            </a:r>
          </a:p>
          <a:p/>
          <a:p>
            <a:r>
              <a:t>- Object-level authorization</a:t>
            </a:r>
          </a:p>
          <a:p/>
          <a:p>
            <a:r>
              <a:t>  Take GET /orders/1001.</a:t>
            </a:r>
          </a:p>
          <a:p/>
          <a:p>
            <a:r>
              <a:t>  A user has a valid token, but does that let them view order 1001?</a:t>
            </a:r>
          </a:p>
          <a:p/>
          <a:p>
            <a:r>
              <a:t>  No. The app must check whether the order belongs to this user, or whether the user has support permission.</a:t>
            </a:r>
          </a:p>
          <a:p/>
          <a:p>
            <a:r>
              <a:t>- Refunds need more</a:t>
            </a:r>
          </a:p>
          <a:p/>
          <a:p>
            <a:r>
              <a:t>  POST /payments/501/refund needs more than an authenticated user.</a:t>
            </a:r>
          </a:p>
          <a:p/>
          <a:p>
            <a:r>
              <a:t>  It may require the payment.refund scope, a role, and business constraints.</a:t>
            </a:r>
          </a:p>
          <a:p/>
          <a:p>
            <a:r>
              <a:t>- Excessive data exposure</a:t>
            </a:r>
          </a:p>
          <a:p/>
          <a:p>
            <a:r>
              <a:t>  Don't return a whole persistence entity that contains internal fields.</a:t>
            </a:r>
          </a:p>
          <a:p/>
          <a:p>
            <a:r>
              <a:t>  Map OrderEntity to an OrderResponseDTO that includes only what the client needs.</a:t>
            </a:r>
          </a:p>
          <a:p/>
          <a:p>
            <a:r>
              <a:t>- What the diagram shows</a:t>
            </a:r>
          </a:p>
          <a:p/>
          <a:p>
            <a:r>
              <a:t>  Threats — broken authorization, injection, token theft, data exposure, abuse, misconfiguration — each mapped to a control.</a:t>
            </a:r>
          </a:p>
          <a:p/>
          <a:p>
            <a:r>
              <a:t>- Key point</a:t>
            </a:r>
          </a:p>
          <a:p/>
          <a:p>
            <a:r>
              <a:t>  Every common threat has a known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Authorization and exposure</a:t>
            </a:r>
          </a:p>
          <a:p/>
          <a:p>
            <a:r>
              <a:t>  Ownership checks belong in the service.</a:t>
            </a:r>
          </a:p>
          <a:p/>
          <a:p>
            <a:r>
              <a:t>  Responses expose only masked, necessary fields.</a:t>
            </a:r>
          </a:p>
          <a:p/>
          <a:p>
            <a:r>
              <a:t>- Abuse and errors</a:t>
            </a:r>
          </a:p>
          <a:p/>
          <a:p>
            <a:r>
              <a:t>  Rate limits sit at the gateway.</a:t>
            </a:r>
          </a:p>
          <a:p/>
          <a:p>
            <a:r>
              <a:t>  Error handlers return safe codes and log details internally.</a:t>
            </a:r>
          </a:p>
          <a:p/>
          <a:p>
            <a:r>
              <a:t>- Money and browsers</a:t>
            </a:r>
          </a:p>
          <a:p/>
          <a:p>
            <a:r>
              <a:t>  Idempotency keys stop duplicate transfers.</a:t>
            </a:r>
          </a:p>
          <a:p/>
          <a:p>
            <a:r>
              <a:t>  CORS lists only trusted origins.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In banking, security has to be demonstrated with evidence, and it has to stay true after every release.</a:t>
            </a:r>
          </a:p>
          <a:p/>
          <a:p>
            <a:r>
              <a:t>- What comes next</a:t>
            </a:r>
          </a:p>
          <a:p/>
          <a:p>
            <a:r>
              <a:t>  Audit events, security in the pipeline, and the architecture that ties it all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audit path</a:t>
            </a:r>
          </a:p>
          <a:p/>
          <a:p>
            <a:r>
              <a:t>  A security event becomes a structured audit log in a central log platform.</a:t>
            </a:r>
          </a:p>
          <a:p/>
          <a:p>
            <a:r>
              <a:t>  That drives detection and alerts, supports investigation, and becomes compliance evidence.</a:t>
            </a:r>
          </a:p>
          <a:p/>
          <a:p>
            <a:r>
              <a:t>- What to log</a:t>
            </a:r>
          </a:p>
          <a:p/>
          <a:p>
            <a:r>
              <a:t>  Log authentication failures, authorization failures, sensitive operations, role changes, refunds, secret access and admin actions.</a:t>
            </a:r>
          </a:p>
          <a:p/>
          <a:p>
            <a:r>
              <a:t>- What never to log</a:t>
            </a:r>
          </a:p>
          <a:p/>
          <a:p>
            <a:r>
              <a:t>  Never log passwords, access tokens, refresh tokens, private keys, raw secrets or unnecessary sensitive data.</a:t>
            </a:r>
          </a:p>
          <a:p/>
          <a:p>
            <a:r>
              <a:t>- Application log versus audit event</a:t>
            </a:r>
          </a:p>
          <a:p/>
          <a:p>
            <a:r>
              <a:t>  An application log says 'Payment API responded in 120 milliseconds'.</a:t>
            </a:r>
          </a:p>
          <a:p/>
          <a:p>
            <a:r>
              <a:t>  An audit event says 'user support-42 refunded payment 501 for 75 dollars at 14:32 UTC'.</a:t>
            </a:r>
          </a:p>
          <a:p/>
          <a:p>
            <a:r>
              <a:t>  Useful audit fields are timestamp, actor, action, resource, result, correlation ID and source.</a:t>
            </a:r>
          </a:p>
          <a:p/>
          <a:p>
            <a:r>
              <a:t>- Compliance</a:t>
            </a:r>
          </a:p>
          <a:p/>
          <a:p>
            <a:r>
              <a:t>  Compliance often means proving who accessed or changed data, who approved an action, and when.</a:t>
            </a:r>
          </a:p>
          <a:p/>
          <a:p>
            <a:r>
              <a:t>  It needs evidence, not just good intentions.</a:t>
            </a:r>
          </a:p>
          <a:p/>
          <a:p>
            <a:r>
              <a:t>  So security must be observable.</a:t>
            </a:r>
          </a:p>
          <a:p/>
          <a:p>
            <a:r>
              <a:t>- What the diagram shows</a:t>
            </a:r>
          </a:p>
          <a:p/>
          <a:p>
            <a:r>
              <a:t>  A security event written as a structured audit log, centralized, detected and alerted, investigated and kept as compliance evidence.</a:t>
            </a:r>
          </a:p>
          <a:p/>
          <a:p>
            <a:r>
              <a:t>- Key point</a:t>
            </a:r>
          </a:p>
          <a:p/>
          <a:p>
            <a:r>
              <a:t>  Security must be observable and provable.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logger</a:t>
            </a:r>
          </a:p>
          <a:p/>
          <a:p>
            <a:r>
              <a:t>  A dedicated security.audit logger can be routed to tamper-resistant storage with longer retention.</a:t>
            </a:r>
          </a:p>
          <a:p/>
          <a:p>
            <a:r>
              <a:t>- The fields</a:t>
            </a:r>
          </a:p>
          <a:p/>
          <a:p>
            <a:r>
              <a:t>  Actor, client, masked resource, decision and correlation ID answer who did what, to which object, with what outcome.</a:t>
            </a:r>
          </a:p>
          <a:p/>
          <a:p>
            <a:r>
              <a:t>- Denials</a:t>
            </a:r>
          </a:p>
          <a:p/>
          <a:p>
            <a:r>
              <a:t>  Denied attempts reveal probing and misuse, so they're recorded too.</a:t>
            </a:r>
          </a:p>
          <a:p/>
          <a:p>
            <a:r>
              <a:t>- Compliance</a:t>
            </a:r>
          </a:p>
          <a:p/>
          <a:p>
            <a:r>
              <a:t>  These events become the evidence auditors ask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 early</a:t>
            </a:r>
          </a:p>
          <a:p/>
          <a:p>
            <a:r>
              <a:t>  Connect directly to Module 7.</a:t>
            </a:r>
          </a:p>
          <a:p/>
          <a:p>
            <a:r>
              <a:t>  Security should start in development, not the day before production.</a:t>
            </a:r>
          </a:p>
          <a:p/>
          <a:p>
            <a:r>
              <a:t>  The pipeline runs from developer and Git, through secret scanning, SAST, dependency scanning, build and test.</a:t>
            </a:r>
          </a:p>
          <a:p/>
          <a:p>
            <a:r>
              <a:t>  Then come the container build, image scanning, a policy gate, the registry, OpenShift and runtime monitoring.</a:t>
            </a:r>
          </a:p>
          <a:p/>
          <a:p>
            <a:r>
              <a:t>- Before commit and in CI</a:t>
            </a:r>
          </a:p>
          <a:p/>
          <a:p>
            <a:r>
              <a:t>  Secret scanning catches credentials accidentally committed to Git, and secure code review looks for weaknesses.</a:t>
            </a:r>
          </a:p>
          <a:p/>
          <a:p>
            <a:r>
              <a:t>  In CI, SAST, meaning static analysis, finds classes of code weaknesses.</a:t>
            </a:r>
          </a:p>
          <a:p/>
          <a:p>
            <a:r>
              <a:t>  Dependency scanning matters because a Spring Boot app has hundreds of transitive dependencies.</a:t>
            </a:r>
          </a:p>
          <a:p/>
          <a:p>
            <a:r>
              <a:t>- Container and deployment</a:t>
            </a:r>
          </a:p>
          <a:p/>
          <a:p>
            <a:r>
              <a:t>  Scan the base OS packages, Java runtime, dependencies and image configuration.</a:t>
            </a:r>
          </a:p>
          <a:p/>
          <a:p>
            <a:r>
              <a:t>  A policy gate might block deployment when there's a critical vulnerability.</a:t>
            </a:r>
          </a:p>
          <a:p/>
          <a:p>
            <a:r>
              <a:t>  Deploy with least privilege and secret injection.</a:t>
            </a:r>
          </a:p>
          <a:p/>
          <a:p>
            <a:r>
              <a:t>- Runtime and the message</a:t>
            </a:r>
          </a:p>
          <a:p/>
          <a:p>
            <a:r>
              <a:t>  Keep monitoring after deployment with logs, alerts, identity monitoring and vulnerability management.</a:t>
            </a:r>
          </a:p>
          <a:p/>
          <a:p>
            <a:r>
              <a:t>  Secure code alone is not enough.</a:t>
            </a:r>
          </a:p>
          <a:p/>
          <a:p>
            <a:r>
              <a:t>  Security is part of the delivery pipeline, not a final checklist.</a:t>
            </a:r>
          </a:p>
          <a:p/>
          <a:p>
            <a:r>
              <a:t>- What the diagram shows</a:t>
            </a:r>
          </a:p>
          <a:p/>
          <a:p>
            <a:r>
              <a:t>  Developer and Git, secret scan, SAST, dependency scan, build and test, image scan, policy gate, registry, OpenShift and runtime monitoring.</a:t>
            </a:r>
          </a:p>
          <a:p/>
          <a:p>
            <a:r>
              <a:t>- Key point</a:t>
            </a:r>
          </a:p>
          <a:p/>
          <a:p>
            <a:r>
              <a:t>  Security runs through the whole delivery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Transport, identity, tokens</a:t>
            </a:r>
          </a:p>
          <a:p/>
          <a:p>
            <a:r>
              <a:t>  The client uses HTTPS and authenticates with an identity provider, either Keycloak or Microsoft Entra ID.</a:t>
            </a:r>
          </a:p>
          <a:p/>
          <a:p>
            <a:r>
              <a:t>  OAuth and OIDC then issue tokens suited to the client and the resource.</a:t>
            </a:r>
          </a:p>
          <a:p/>
          <a:p>
            <a:r>
              <a:t>- Gateway and services</a:t>
            </a:r>
          </a:p>
          <a:p/>
          <a:p>
            <a:r>
              <a:t>  The gateway applies TLS, token checks, rate limits, routing and WAF controls.</a:t>
            </a:r>
          </a:p>
          <a:p/>
          <a:p>
            <a:r>
              <a:t>  Each Spring Boot service still checks identity, token, permission, input and business rules.</a:t>
            </a:r>
          </a:p>
          <a:p/>
          <a:p>
            <a:r>
              <a:t>- Service identity and data</a:t>
            </a:r>
          </a:p>
          <a:p/>
          <a:p>
            <a:r>
              <a:t>  When the Order Service calls the Payment Service, it uses its own workload identity.</a:t>
            </a:r>
          </a:p>
          <a:p/>
          <a:p>
            <a:r>
              <a:t>  Each service owns its data, and authorization happens before anything reaches persistence.</a:t>
            </a:r>
          </a:p>
          <a:p/>
          <a:p>
            <a:r>
              <a:t>- Secrets, platform, pipeline</a:t>
            </a:r>
          </a:p>
          <a:p/>
          <a:p>
            <a:r>
              <a:t>  Credentials are injected at runtime, never stored in Git, the JAR or the image.</a:t>
            </a:r>
          </a:p>
          <a:p/>
          <a:p>
            <a:r>
              <a:t>  OpenShift adds service accounts, RBAC, secrets, network and platform policies, and resource isolation.</a:t>
            </a:r>
          </a:p>
          <a:p/>
          <a:p>
            <a:r>
              <a:t>  DevSecOps scans code, dependencies, images and deployments continuously.</a:t>
            </a:r>
          </a:p>
          <a:p/>
          <a:p>
            <a:r>
              <a:t>- Audit and the final message</a:t>
            </a:r>
          </a:p>
          <a:p/>
          <a:p>
            <a:r>
              <a:t>  Capture evidence to answer who did what, to which resource, when, whether it was allowed, and what happened.</a:t>
            </a:r>
          </a:p>
          <a:p/>
          <a:p>
            <a:r>
              <a:t>  Secure microservices by establishing explicit identity and trust at every important boundary.</a:t>
            </a:r>
          </a:p>
          <a:p/>
          <a:p>
            <a:r>
              <a:t>  Authenticate users and workloads, and authorize each sensitive operation with least privilege.</a:t>
            </a:r>
          </a:p>
          <a:p/>
          <a:p>
            <a:r>
              <a:t>  Keep secrets out of code and images, scan the supply chain, and keep enough audit evidence.</a:t>
            </a:r>
          </a:p>
          <a:p/>
          <a:p>
            <a:r>
              <a:t>- What the diagram shows</a:t>
            </a:r>
          </a:p>
          <a:p/>
          <a:p>
            <a:r>
              <a:t>  A user over HTTPS, an identity provider issuing tokens, the gateway and WAF, secured Spring Boot services with workload identity, owned databases, OpenShift Secrets and RBAC, DevSecOps and audit.</a:t>
            </a:r>
          </a:p>
          <a:p/>
          <a:p>
            <a:r>
              <a:t>- Key point</a:t>
            </a:r>
          </a:p>
          <a:p/>
          <a:p>
            <a:r>
              <a:t>  Identity and explicit trust at every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behind most security incidents.</a:t>
            </a:r>
          </a:p>
          <a:p/>
          <a:p>
            <a:r>
              <a:t>- Trust</a:t>
            </a:r>
          </a:p>
          <a:p/>
          <a:p>
            <a:r>
              <a:t>  Network location proves nothing, and a valid token still needs scope and ownership checks.</a:t>
            </a:r>
          </a:p>
          <a:p/>
          <a:p>
            <a:r>
              <a:t>- Tokens and secrets</a:t>
            </a:r>
          </a:p>
          <a:p/>
          <a:p>
            <a:r>
              <a:t>  Anyone can decode a JWT, and Kubernetes Secrets are only base64-encoded without access controls and a vault.</a:t>
            </a:r>
          </a:p>
          <a:p/>
          <a:p>
            <a:r>
              <a:t>- Anti-patterns</a:t>
            </a:r>
          </a:p>
          <a:p/>
          <a:p>
            <a:r>
              <a:t>  Committed secrets, broad admin roles, logged headers, legacy grant flows, missing audience checks and unaudited denials.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AuthN vs. AuthZ</a:t>
            </a:r>
          </a:p>
          <a:p/>
          <a:p>
            <a:r>
              <a:t>  Authentication verifies identity; authorization decides allowed actions.</a:t>
            </a:r>
          </a:p>
          <a:p/>
          <a:p>
            <a:r>
              <a:t>- 2. OAuth2</a:t>
            </a:r>
          </a:p>
          <a:p/>
          <a:p>
            <a:r>
              <a:t>  Delegated authorization to protected resources.</a:t>
            </a:r>
          </a:p>
          <a:p/>
          <a:p>
            <a:r>
              <a:t>- 3. OIDC</a:t>
            </a:r>
          </a:p>
          <a:p/>
          <a:p>
            <a:r>
              <a:t>  Authentication and identity information.</a:t>
            </a:r>
          </a:p>
          <a:p/>
          <a:p>
            <a:r>
              <a:t>- 4. JWT</a:t>
            </a:r>
          </a:p>
          <a:p/>
          <a:p>
            <a:r>
              <a:t>  A signed token containing claims.</a:t>
            </a:r>
          </a:p>
          <a:p/>
          <a:p>
            <a:r>
              <a:t>- 5. Claims to validate</a:t>
            </a:r>
          </a:p>
          <a:p/>
          <a:p>
            <a:r>
              <a:t>  Signature, issuer, audience, expiration, and required scopes or roles.</a:t>
            </a:r>
          </a:p>
          <a:p/>
          <a:p>
            <a:r>
              <a:t>- 6. Keycloak</a:t>
            </a:r>
          </a:p>
          <a:p/>
          <a:p>
            <a:r>
              <a:t>  Identity and access management with OAuth2 and OIDC support.</a:t>
            </a:r>
          </a:p>
          <a:p/>
          <a:p>
            <a:r>
              <a:t>- 7. Entra ID</a:t>
            </a:r>
          </a:p>
          <a:p/>
          <a:p>
            <a:r>
              <a:t>  Enterprise identity, single sign-on, app registrations and access control.</a:t>
            </a:r>
          </a:p>
          <a:p/>
          <a:p>
            <a:r>
              <a:t>- 8. Secrets</a:t>
            </a:r>
          </a:p>
          <a:p/>
          <a:p>
            <a:r>
              <a:t>  Code can be copied, logged or exposed; secrets need controlled storage and rotation.</a:t>
            </a:r>
          </a:p>
          <a:p/>
          <a:p>
            <a:r>
              <a:t>- 9. Object-level authorization</a:t>
            </a:r>
          </a:p>
          <a:p/>
          <a:p>
            <a:r>
              <a:t>  Checking the caller may access the specific object, such as one account.</a:t>
            </a:r>
          </a:p>
          <a:p/>
          <a:p>
            <a:r>
              <a:t>- 10. Internal APIs</a:t>
            </a:r>
          </a:p>
          <a:p/>
          <a:p>
            <a:r>
              <a:t>  Compromised services, misconfiguration or unauthorized internal callers can abuse them.</a:t>
            </a:r>
          </a:p>
          <a:p/>
          <a:p>
            <a:r>
              <a:t>- Practical scenario</a:t>
            </a:r>
          </a:p>
          <a:p/>
          <a:p>
            <a:r>
              <a:t>  GET /accounts/5001 with a bearer token: validate signature, issuer, audience and expiry; require accounts.read; check ownership; expired gives 401; log subject and decision, never the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applied Zero Trust, OAuth2 and OIDC, validated tokens, secured service-to-service calls, managed secrets, hardened APIs and made security auditable.</a:t>
            </a:r>
          </a:p>
          <a:p/>
          <a:p>
            <a:r>
              <a:t>- Next</a:t>
            </a:r>
          </a:p>
          <a:p/>
          <a:p>
            <a:r>
              <a:t>  The Capstone brings every module together and asks teams to demonstrate a production-ready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"Authenticate the identity, authorize the action, minimize the permissions."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Security &amp;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Protecting identities, APIs, secrets and microservices.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Zero Trust principles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OAuth 2.0 and OpenID 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Keycloak / Microsoft Entra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JWT access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Service-to-service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Secrets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API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DevSecOps, audit and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Identity, OAuth2/OIDC, secrets, API protection and compliance.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52728"/>
            <a:ext cx="4553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4937760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microservices security challenges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Apply Zero Trust principles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Differentiate authentication and authorization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Explain OAuth 2.0 and OpenID Connect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Understand common OAuth flows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Interpret JWT claims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Protect Spring Boot APIs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Integrate Keycloak or Microsoft Entra ID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Secure service-to-service calls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Manage secrets safely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Apply API security controls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Integrate security into CI/CD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D1282E"/>
                </a:solidFill>
                <a:latin typeface="Nirmala UI"/>
              </a:rPr>
              <a:t>13.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Support auditing and compliance</a:t>
            </a:r>
          </a:p>
        </p:txBody>
      </p:sp>
      <p:sp>
        <p:nvSpPr>
          <p:cNvPr id="8" name="Oval 7"/>
          <p:cNvSpPr/>
          <p:nvPr/>
        </p:nvSpPr>
        <p:spPr>
          <a:xfrm>
            <a:off x="57150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8" y="1243584"/>
            <a:ext cx="56052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FIVE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673352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4728" y="185623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70992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Security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020824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Identity · Trust · Authentication · Authorization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478024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24728" y="2660904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51460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3A9E"/>
                </a:solidFill>
                <a:latin typeface="Nirmala UI"/>
              </a:rPr>
              <a:t>OAuth2 / OIDC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825496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Identity provider → Token → Protected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282696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24728" y="346557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319272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Nirmala UI"/>
              </a:rPr>
              <a:t>Distributed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630168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Users · Services · Agents · MCP servers · CI/CD workloads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4087368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24728" y="4270248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123944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690C"/>
                </a:solidFill>
                <a:latin typeface="Nirmala UI"/>
              </a:rPr>
              <a:t>Secrets and 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4434840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Credentials · Certificates · API keys · Database passwords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4892040"/>
            <a:ext cx="5989320" cy="713232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24728" y="5074920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4928616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Continuous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5239512"/>
            <a:ext cx="5303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Code → Build → Container → Deployment → Runtime → Audit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Security is a cross-cutting concern across every service, identity, API and deployment.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Proving who a caller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Deciding what an authenticated caller is allowed to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Zero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Never trust a request because of its network location — verify every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OAuth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standard for granting limited, token-based access without sharing passwords.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OpenID 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identity layer on OAuth 2.0 that tells the application who signed 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JSON Web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signed token carrying claims such as subject, issuer, audience and scopes.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permission in a token, such as accounts.read, that limits what the caller may 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Secret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sensitive value, such as a password or key, kept out of code and injected at runtime.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8104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02384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52039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306320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55975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810256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 / Continuous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59911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314192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Cross-Origin Resource Sharing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63847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818128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67784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322064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 Transfer Object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71720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HMAC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826000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Hash-based Message Authentication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75656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329936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1344168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1298448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 Secure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1848104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1802384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2352039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2306320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Identity 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2440" y="2855975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JWKS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8008" y="2810256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Web Key 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2440" y="3359911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JWT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8008" y="3314192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Web Token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2440" y="3863847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8008" y="3818128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Model Context Protocol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2440" y="4367784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8008" y="4322064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Mapped Diagnostic Context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2440" y="4871720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mTLS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8008" y="4826000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Mutual Transport Layer Security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82440" y="5375656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OAuth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8008" y="5329936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 Authorization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7680" y="1344168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OIDC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3248" y="1298448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OpenID Connect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7680" y="1848104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PKCE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3248" y="1802384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Proof Key for Code Exchange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7680" y="2352039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RBAC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3248" y="2306320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Role-Based Access Control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7680" y="2855975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3248" y="2810256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Static Application Security Testing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07680" y="3359911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SBOM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23248" y="3314192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Software Bill of Materials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07680" y="3863847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3248" y="3818128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07680" y="4367784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3248" y="4322064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Transport Layer Security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07680" y="4871720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23248" y="4826000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Uniform Resource Locator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07680" y="5375656"/>
            <a:ext cx="1005840" cy="412496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WAF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3248" y="5329936"/>
            <a:ext cx="2462784" cy="50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Web Application Firewall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11 TO MODULE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Users, services, agents and pipelines all call our APIs — secure every one of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1–11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Many services and APIs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Events, gateways and OpenShift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Pipelines holding deploy rights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AI agents calling tools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MCP servers with per-tool scopes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Give every identity, token, secret and API explicit, auditable trust.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12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microservices security differs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OAuth2, OIDC and PKCE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JWT validation, scopes and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Gateways and service identities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Secrets and API protection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4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Audit, logging and compliance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5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DevSecOps and the secure architecture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earlier module created a new identity or boundary — Module 12 secures them all.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SECURITY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Why distributed systems need a different security mindset.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Foundations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OAuth2 / OIDC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Distributed 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Secrets and APIs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Continuous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service exposes an API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Agents and pipelines call those APIs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Tokens and scopes appeared along the 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Why can't we secure microservices the way we secured a monolith?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microservices security is different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Zero Trust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Authentication vs. authorization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401 or 403?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MICROSERVICES SECURITY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larger attack surface, distributed trust, many APIs and identities.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2207"/>
            <a:ext cx="7415783" cy="4167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5359"/>
            <a:ext cx="7269480" cy="402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QUESTIONS AT EVERY HOP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Who is calling?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With which identity?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permission allows it?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Can we prove it later?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More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 passwords, service secrets, tokens and keys — per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TAKEAWAY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Protect every interaction, not just the 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Microservices security is about identity, controlled trust and protecting every interaction.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ZERO TRUST SECURITY FOR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Never trust a request based only on its network location.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95107"/>
            <a:ext cx="7415783" cy="39421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8259"/>
            <a:ext cx="7269480" cy="379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Old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“It's inside our network, so it's safe.”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35936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08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Zero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1696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Verify identity, permission and policy on every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59352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959352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Never trust, always verify.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Trust comes from identity, permission and policy — never from network location alone.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AUTHENTICATION VS.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Who are you? versus what may you do?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6155"/>
            <a:ext cx="7415783" cy="42400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9307"/>
            <a:ext cx="7269480" cy="40937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Proves identity — a valid, unexpired token from a trusted issuer.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Authorization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Decides access — scope, role and ownership of this object.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145280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HTTP tells them apart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474464"/>
            <a:ext cx="3520440" cy="67411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401 Unauthorized  → not authenticated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403 Forbidden     → not allowed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Being authenticated never means being allowed to do everything.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401 OR 403?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Decide the right response for each request to Account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8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GET /api/v1/accounts/ACC-5001 is owned by customer CUST-0007.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3014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 no Authorization header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B expired token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 valid token, scope transactions.read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D valid token, accounts.read, sub CUST-0009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E valid token, accounts.read, sub CUST-0007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F token signed by an unknown issuer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the status code for each request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whether it's authentication or authorization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what gets logged — and what never does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A, B, F → 401 (authentication)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 → 403 (wrong scope)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 → 403 or 404 (not the owner)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914647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 → 200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33527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Log subject and decision — never the token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401 means we don't know who you are; 403 means we know — and the answer is no.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OAUTH2 AND OPENID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Tokens instead of passwords — and how Spring Boot validates them.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Foundations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OAuth2 / OIDC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Distributed 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Secrets and APIs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Continuous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hop can be an attack path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Zero Trust verifies every request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401 is authentication; 403 is authorization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users and clients get tokens — and how does a service trust them?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OAuth 2.0, OIDC and how they differ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architecture and Authorization Code + PKCE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JWTs — and validating them in code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Roles, scopes, claims — and object-level checks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 3.2: JWT roles and scopes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Keycloak and Microsoft Entra 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OAUTH 2.0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Roles, access tokens, scopes and authorization 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01723"/>
            <a:ext cx="7415783" cy="35288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875"/>
            <a:ext cx="7269480" cy="33825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Resource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user who owns the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430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191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006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app acting on the user's behalf.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Authorization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Issues tokens — Keycloak or Entra 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9602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508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Resource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178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Your API, which validates the token.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OAuth 2.0 grants limited access with tokens and scopes — never shared passwords.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OPENID CONNECT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authentication layer, ID token and user identity.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95201"/>
            <a:ext cx="7415783" cy="35419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8353"/>
            <a:ext cx="7269480" cy="33956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ID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Who signed in — read by the client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35936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08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Access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1696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the client may access — sent to APIs.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59352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959352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Never send an ID token to an API as authorization.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OIDC adds identity on top of OAuth 2.0 — ID tokens for clients, access tokens for APIs.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OAUTH2 VS. OPENID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Authorization versus authentication.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14770"/>
            <a:ext cx="7415783" cy="410277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7922"/>
            <a:ext cx="7269480" cy="395647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OAuth 2.0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may this client access?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35936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08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OIDC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1696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Who is the signed-in user?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7734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WHAT OIDC ADDS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12089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openid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412089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55980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UserInfo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455980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Discovery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OIDC answers who signed in; OAuth 2.0 answers what the client may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OAUTH2/OIDC ARCHITECTURE FOR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User → identity provider → token → API gateway →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8681"/>
            <a:ext cx="7415783" cy="375495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1833"/>
            <a:ext cx="7269480" cy="36086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storing passwords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the gateway checking tokens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Internal calls with no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gateway validates and routes; each service still authorizes.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STATELESS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Services validate tokens without calling the IdP.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Clients get tokens from the identity provider; every service still enforces authorization.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AUTHORIZATION CODE FLOW WITH PKCE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recommended interactive user authentication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6507"/>
            <a:ext cx="7415783" cy="375930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9659"/>
            <a:ext cx="7269480" cy="36130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client makes a random secret and sends only its hash.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Code + verifier → token; the server checks they match.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14528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DON'T USE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52018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9275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Implicit flow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8310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80364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Password grant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Authorization Code + PKCE protects the code exchange; stolen codes alone are useless.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UNDERSTANDING JWT ACCESS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Header, payload, signature and claims.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16026"/>
            <a:ext cx="7415783" cy="410026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9178"/>
            <a:ext cx="7269480" cy="3953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decoded payload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76377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"iss": "https://idp.example.com/realms/md287",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"sub": "CUST-0007",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"aud": "account-service",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"exp": 1789472400,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"scope": "accounts.read",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"roles": ["teller"]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51942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351942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ENCODED ≠ ENCRYPTED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Anyone can read the claims — keep secrets 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JWT is signed and encoded — not encrypted — so keep secrets out of its claims.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VALIDATING TOKENS IN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Resource-server validation: signature, issuer, audience and expiry.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71291"/>
            <a:ext cx="7415783" cy="39897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4443"/>
            <a:ext cx="7269480" cy="38434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SPRING CHECKS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Signature from the issuer's keys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iss matches the issuer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aud includes this API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exp not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Scopes and roles decide 403 or the controller.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KEYS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Fetched from the issuer's JWKS endpoint and cached.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Validate signature, issuer, audience, expiry and permissions before trusting any token.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SPRING BOOT RESOURCE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Let Spring Security validate every JWT, then map endpoints to scopes.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77101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security: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oauth2: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resourceserver: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jwt: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issuer-uri: https://idp.example.com/realms/md287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audiences: account-service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Spring fetches the signing keys from the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issuer's discovery document and JWKS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SecurityConfig.java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771013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@Bean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SecurityFilterChain api(HttpSecurity http) throws Exception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return http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.csrf(c -&gt; c.disable())                  // stateless bearer API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.sessionManagement(s -&gt; s.sessionCreationPolicy(STATELESS))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.authorizeHttpRequests(a -&gt; a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.requestMatchers("/actuator/health/**").permitAll()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.requestMatchers(GET, "/api/v1/accounts/**")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  .hasAuthority("SCOPE_accounts.read")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.requestMatchers(POST, "/api/v1/accounts/**")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  .hasAuthority("SCOPE_accounts.write")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.anyRequest().authenticated())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.oauth2ResourceServer(o -&gt; o.jwt(Customizer.withDefaults()))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.build();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2724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8210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issuer-uri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9300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Signature, issuer and expiry are checked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2724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8210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audiences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9300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Tokens minted for other APIs are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2724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68210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Scopes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99300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scope claim becomes SCOPE_ authorities.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Configure the issuer and audience, then map each endpoint to the narrowest scope.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ROLES, SCOPES, AND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Coarse- and fine-grained authorization.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4333"/>
            <a:ext cx="7415783" cy="37636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7485"/>
            <a:ext cx="7269480" cy="36173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the client may do: accounts.read.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26208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810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91968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user's job: teller, ops, readonly.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53968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088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19728"/>
            <a:ext cx="3246120" cy="765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Any fact in the token: sub, tenant, branch.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67656"/>
            <a:ext cx="3520440" cy="9662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67656"/>
            <a:ext cx="3154680" cy="966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AVOID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One broad admin role for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Map each operation to the narrowest scope or role that allows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OBJECT-LEVEL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valid scope isn't enough — check this caller may touch this account.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Only checks the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@GetMapping("/{accountId}")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@PreAuthorize("hasAuthority('SCOPE_accounts.read')")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AccountResponse get(@PathVariable String accountId)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return accounts.find(accountId);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// any customer can read ANY account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// by changing the id in the URL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Checks ownership too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@GetMapping("/{accountId}")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@PreAuthorize("hasAuthority('SCOPE_accounts.read')")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AccountResponse get(@PathVariable String accountId,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     @AuthenticationPrincipal Jwt jwt)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Account account = accounts.find(accountId);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boolean staff = jwt.getClaimAsStringList("roles")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      .contains("teller");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if (!staff &amp;&amp; !account.customerId().equals(jwt.getSubject()))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throw new AccessDeniedException("Not the account owner");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return AccountResponse.from(account);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Broken object-level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top API security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Compare the token subject with the resource owner.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Staff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Allowed by role — and audited.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Authorize the object, not just the endpoint — compare who's asking with who owns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3.2 — SECURE AN ENDPOINT WITH JWT ROLES/SCOPES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3 checkpoint B: roles and scopes on protected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95744" y="1298448"/>
            <a:ext cx="4608576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labs/day-03/exercises/exercise-3.2-jwt-roles-scopes.md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3 secures the banking Account and Transaction services with JWTs issued by issue-jwt.py (HMAC). Keycloak and Entra ID stay lecture-only.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No Bearer token → 401; wrong scope → 403 — not a silent 200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teller: accounts.read/write; ops: transactions + accounts.read; readonly: *.read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86435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809492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Transaction Service forwards the caller's JWT when it GETs Account Service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67969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62483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Never log Authorization headers or JWT claims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scope matrix per role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Testable with issue-jwt.py teller / ops / readonly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401 and 403 in the right places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tokens or claims in logs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scope matrix you can test with issue-jwt.py teller, ops and readonly.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KEYCLOAK ARCHITECTURE AND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Realm, clients, users, roles, tokens and a Spring Boot resource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13586"/>
            <a:ext cx="7415783" cy="41051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6738"/>
            <a:ext cx="7269480" cy="39588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1539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94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An isolated security domain — for example md287.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41862"/>
            <a:ext cx="3520440" cy="111539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672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7622"/>
            <a:ext cx="3246120" cy="694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app or service registered with the realm.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85277"/>
            <a:ext cx="3520440" cy="111539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840141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51037"/>
            <a:ext cx="3246120" cy="694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Realm and client roles mapped into token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5028692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Spring points at the realm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5357876"/>
            <a:ext cx="3520440" cy="4759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issuer-uri: https://keycloak.example.com/realms/md287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Keycloak realms, clients, users and roles become standard OIDC tokens for Spring Boot.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MICROSOFT ENTRA ID (FORMERLY AZURE 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App registration, identity platform, tokens and Spring Boot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05871"/>
            <a:ext cx="7415783" cy="41205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9023"/>
            <a:ext cx="7269480" cy="39742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885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679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Defines the API, its scopes and app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615014"/>
            <a:ext cx="3520440" cy="118855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6987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80774"/>
            <a:ext cx="3246120" cy="7679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Standard OAuth2 and OIDC — with tenant and app-role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931581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Same Spring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260765"/>
            <a:ext cx="3520440" cy="4759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issuer-uri: https://login.microsoftonline.com/&lt;tenant&gt;/v2.0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864777"/>
            <a:ext cx="3520440" cy="96909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864777"/>
            <a:ext cx="3154680" cy="9690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STAY PORTABLE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Code against OAuth2, not one vendor.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Microsoft Entra ID issues standard OAuth2/OIDC tokens that Spring Boot validates.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DISTRIBUTED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Users aren't the only identities — services, agents and pipelines are too.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Foundations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OAuth2 / OIDC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Distributed 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Secrets and APIs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Continuous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OAuth2 issues tokens; OIDC adds identity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Spring validates issuer, audience and expiry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check scopes and 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services, gateways and agents prove who they are to each other?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Client credentials — in code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API gateway security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Service-to-service authentication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CLIENT CREDENTIALS FLOW FOR SERVICE-TO-SERVICE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Machine identities for microservice communication.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90856"/>
            <a:ext cx="7415783" cy="39506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008"/>
            <a:ext cx="7269480" cy="38043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 machine acting as itself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Service authenticates with its own client ID, not a user's.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Least privilege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It gets payments.authorize — not payments.admin.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AUDIT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Logs show which service made each 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Services authenticate as themselves with narrowly scoped tokens.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SERVICE TOKENS WITH CLIENT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Spring fetches, caches and attaches a service token to every outgoing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application.yml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security: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oauth2: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client: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registration: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order-service: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provider: idp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client-id: order-service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client-secret: ${ORDER_CLIENT_SECRET}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authorization-grant-type: client_credentials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scope: payments.authorize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provider: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idp: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issuer-uri: https://idp.example.com/realms/md287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PaymentClientConfig.java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122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@Bean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RestClient paymentClient(RestClient.Builder builder,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             OAuth2AuthorizedClientManager clients)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var oauth = new OAuth2ClientHttpRequestInterceptor(clients);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oauth.setClientRegistrationIdResolver(req -&gt; "order-service");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return builder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.baseUrl("http://payment-service:8080")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.requestInterceptor(oauth)      // adds Bearer token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.build();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// Payment Service requires SCOPE_payments.authorize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From an OpenShift Secret — never in the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Tokens are reused until they expire.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685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7233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 3 instead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0342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Forwards the caller's JWT to keep user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Give each service its own client, narrow scopes and automatic token handling.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GATEWAY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Central protection, routing, throttling and policy — but not the only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56075"/>
            <a:ext cx="7415783" cy="42201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9227"/>
            <a:ext cx="7269480" cy="4073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AT THE EDGE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TLS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WAF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Token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Rate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NOT AT THE GATEWAY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Object ownership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70332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67588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11480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11480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Internal callers can bypass the gateway.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Protect the edge at the gateway and still enforce authorization in every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SERVICE-TO-SERVICE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Machine identity, bearer tokens and workload credentials.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45167"/>
            <a:ext cx="7415783" cy="384198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18319"/>
            <a:ext cx="7269480" cy="36956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Workload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platform gives each pod an identity — no long-lived secret to leak.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service mesh can authenticate both ends of every call.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14528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IDENTITIES TO SECURE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49275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449275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3166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MCP servers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493166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CI/CD jobs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workload authenticates with its own identity and least-privilege scopes.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SECRETS AND API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Keep credentials out of code — and harden every endpoint.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Foundations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OAuth2 / OIDC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Distributed 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Secrets and APIs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Continuous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have their own identities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Gateways protect the edge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still authorize every 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Where do credentials live — and what else protects our APIs?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Secrets management fundamentals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Secrets in OpenShift —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find the secret leaks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API security best practices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Common API threats — with an exercise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SECRETS MANAGEMENT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Why credentials don't belong in code, images or config repositories.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95204"/>
            <a:ext cx="7415783" cy="394191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8356"/>
            <a:ext cx="7269480" cy="37956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WHAT COUNTS AS A SECRET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DB passwords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Client secrets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API keys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Signing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TLS private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Images 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383279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secret in any layer stays in the image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LIFECYCLE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Store, restrict, rotate, audit, revoke.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Secrets need stronger storage, access, rotation and audit than normal configuration.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SECRETS MANAGEMENT IN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Secret injection, environment variables and files, external secret stores.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32161"/>
            <a:ext cx="7415783" cy="40679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5313"/>
            <a:ext cx="7269480" cy="39216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Delivery, not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OpenShift Secrets deliver values; a vault manages and rotates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EXTERNAL MANAGERS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06933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HashiCorp Vault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0676" y="306933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Azure Key Vault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0824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External Secrets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0676" y="350824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CyberArk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00202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00202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RBAC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Only the service account may read its Secret.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Inject secrets at runtime with tight access — never bake them into the image.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MOUNTING SECRETS AS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Files are harder to leak than environment variables — and Spring reads them directly.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Deployment (excerpt)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spec: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template: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spec: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serviceAccountName: account-service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volumes: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- name: db-credentials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secret: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secretName: account-db-secret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containers: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- name: account-service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volumeMounts: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- name: db-credentials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mountPath: /etc/secrets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readOnly: true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application.yml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spring: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config: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import: "optional:configtree:/etc/secrets/"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Secret keys become files, file names become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properties: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  /etc/secrets/spring.datasource.password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    -&gt; spring.datasource.password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never: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  log.info("config: {}", dataSourceProperties);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Read-only 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pod can read, not modify, its secrets.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Spring maps each file to a property.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Updated Secret files appear without rebuilding the image.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Mount secrets read-only at runtime and let Spring read them — never bake or log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FIND THE SECRET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Review a release for places a credential could escape.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release of Payment Service contains: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6316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application-prod.yml: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gateway.api-key: sk_live_9f2c...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Dockerfile: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ENV DB_PASSWORD=Payments#2026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PaymentService.java: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log.info("Calling gateway with {}", headers)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ci.yml: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run: echo $REGISTRY_TOKEN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four leaks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who could see each secret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Fix each one — and decide what to rotate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API key in Git → secret store + rotate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 in image layer → runtime Secret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Headers logged → mask Authorization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Token echoed in CI → masked secrets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Rotate everything already exposed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Anything committed, baked, logged or echoed is exposed — move it to a store, and rotate 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HTTPS, input validation, authorization, CORS, rate limiting and safe errors.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Safe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64109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 "error": "TRANSFER_REJECTED",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"message": "The transfer could not be completed."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3967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 RETURN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27716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7442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Stack traces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0825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0551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SQL details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3934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3660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Internal hostnames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804920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804920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MONEY APIS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need an Idempotency-Key.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Layer the controls: encrypt, authenticate, authorize, validate, limit, respond safely, monitor.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COMMON API SECURITY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Broken authorization, injection, token leakage, data exposure and abuse.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36509"/>
            <a:ext cx="7415783" cy="405930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9661"/>
            <a:ext cx="7269480" cy="391299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Broken object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→ check ownership in the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26208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810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Excessive data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91968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→ DTOs with only needed, masked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53968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088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Token theft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19728"/>
            <a:ext cx="3246120" cy="765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→ short lifetimes, HTTPS, no tokens in logs.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67656"/>
            <a:ext cx="3520440" cy="9662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67656"/>
            <a:ext cx="3154680" cy="966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REFUNDS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need step-up checks and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valid token isn't enough — authorize each object and action, and expose only what's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MAP THREATS TO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Match each finding from a security review to its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Findings from a review of the Transfer API: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Changing accountId shows others' data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Response includes full card number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No limit on POST /transfers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Error returns the SQL statement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Retrying a timeout sends money twice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6 CORS allows any origin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threat behind each finding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the control that fixes it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where the control belongs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Broken object authorization → service check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2 Data exposure → masked DTO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Abuse → rate limit at the gateway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 Info leak → safe error handler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Replay → Idempotency-Key; 6 → allow-list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common threat has a known control — and a right place to enforce it.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5: CONTINUOUS SECURITY AND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Prove security, not just claim it — and keep checking.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Foundations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OAuth2 / OIDC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Distributed security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Secrets and APIs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Continuous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Secrets live in stores, not code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APIs validate, limit and fail safely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Threats map to known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prove to auditors — and ourselves — that controls work every day?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Security logging and audit — in code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DevSecOps and continuous security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secure architecture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SECURITY LOGGING, AUDITING, AND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Audit events, traceability, privacy, retention and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03899"/>
            <a:ext cx="7415783" cy="3924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7051"/>
            <a:ext cx="7269480" cy="3778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AUDIT EVENT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Who — subject and client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— action and resource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Decision — allowed or denied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When, and correlation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 LOG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39242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Tokens, passwords</a:t>
            </a:r>
          </a:p>
        </p:txBody>
      </p:sp>
      <p:sp>
        <p:nvSpPr>
          <p:cNvPr id="18" name="Oval 17"/>
          <p:cNvSpPr/>
          <p:nvPr/>
        </p:nvSpPr>
        <p:spPr>
          <a:xfrm>
            <a:off x="8183880" y="370332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67588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Full card or account numbers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Make security observable: record who did what, to which resource, and when.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WRITING A SECURITY AUDIT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Structured, masked, correlated — and separate from ordinary debug logs.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AuditLogger.java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private static final Logger AUDIT = LoggerFactory.getLogger("security.audit");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void accountFrozen(String accountId, Jwt actor, boolean allowed)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AUDIT.atInfo()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.setMessage("security_audit")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.addKeyValue("event", "ACCOUNT_FREEZE")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.addKeyValue("actor", actor.getSubject())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.addKeyValue("client", actor.getClaimAsString("azp"))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.addKeyValue("accountId", mask(accountId))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.addKeyValue("decision", allowed ? "ALLOWED" : "DENIED")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.addKeyValue("correlationId", MDC.get("correlationId"))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.log();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it produces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"logger": "security.audit",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"event": "ACCOUNT_FREEZE",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"actor": "ops-user-17",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"client": "ops-console",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"accountId": "ACC-***5001",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"decision": "ALLOWED",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"correlationId": "c-9a8e",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"timestamp": "2026-09-18T14:22:11Z"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Dedicated logger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Route audit events to protected, retained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Denials too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Denied attempts are often the most important.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Masked 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Enough to investigate, not enough to misuse.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Emit structured, masked audit events for every sensitive decision — allowed or denied.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DEVSECOPS AND CONTINUOUS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SAST, dependency, secret and image scanning with policy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27812"/>
            <a:ext cx="7415783" cy="38766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964"/>
            <a:ext cx="7269480" cy="37303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Before 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Secret scan and SAST on every pull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Before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Dependency and image scans, SBOM and signature.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At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Admission policies, alerts and regular access reviews.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7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built these gates into the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Scan code, dependencies, images and deployments continuously — the whole supply chain.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SECURE MICROSERVICES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User → IdP → gateway → Spring Boot services → secrets and data → OpenShift →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9553"/>
            <a:ext cx="7415783" cy="42332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705"/>
            <a:ext cx="7269480" cy="40869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PART OF THE MODULE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HTTPS and OIDC login with PKCE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Gateway validates, limits and audits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check scopes and ownership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Workload identities between services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Secrets at runtime; DevSecOps and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Trust identity and policy — never the network.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Security rests on identity and explicit trust at every boundary — not network location.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SECURITY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behind most microservice security incidents.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Inside the network is safe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Zero Trust verifies every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 valid token allows everything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Check scopes and object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JWTs are encrypted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Signed and encoded — anyone can read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 gateway handles authorization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Each service must authorize too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Base64 Secrets are secure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Restrict access and use a vault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Secrets in Git or images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admin role for everything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Logging Authorization headers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Implicit or password grant flows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Skipping audience validation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audit of denied attempts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Authenticate early, authorize close to the action, audit decisions.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Security is explicit trust at every hop — verified, least-privilege and auditable.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Authentication vs. authorization?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OAuth2 primarily used for?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OpenID Connect add to OAuth2?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JWT?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JWT claims should APIs validate?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Keycloak used for?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Microsoft Entra ID used for?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keep secrets out of source code?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object-level authorization?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secure internal APIs too?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12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 larger attack surface to explicit, verified trust at every boundary.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Apply Zero Trust and tell 401 from 403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OAuth2, OIDC, PKCE and client credentials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Validate JWTs and enforce scopes and ownership in Spring Boot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Deliver secrets at runtime and harden APIs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Produce audit evidence and secure the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CAPSTONE — PUTTING IT ALL TOGETHER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all twelve modules fit one platform?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must the final demo prove?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Is the system ready for production?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1–5 services — the capstone connects them end to 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Capstone combines every module into one secure, observable, AI-assisted platform.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