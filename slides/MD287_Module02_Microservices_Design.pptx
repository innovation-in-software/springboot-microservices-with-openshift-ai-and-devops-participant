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concepts to design</a:t>
            </a:r>
          </a:p>
          <a:p/>
          <a:p>
            <a:r>
              <a:t>  Module 1 answered what microservices are and why organizations use them.</a:t>
            </a:r>
          </a:p>
          <a:p/>
          <a:p>
            <a:r>
              <a:t>  Module 2 answers a harder question.</a:t>
            </a:r>
          </a:p>
          <a:p/>
          <a:p>
            <a:r>
              <a:t>  How should we divide a system into services, and how should those services interact?</a:t>
            </a:r>
          </a:p>
          <a:p/>
          <a:p>
            <a:r>
              <a:t>- Many apps is not the same as good design</a:t>
            </a:r>
          </a:p>
          <a:p/>
          <a:p>
            <a:r>
              <a:t>  Creating five Spring Boot applications does not automatically give you a good microservices architecture.</a:t>
            </a:r>
          </a:p>
          <a:p/>
          <a:p>
            <a:r>
              <a:t>  The hard part is deciding what belongs in each service and what data it owns.</a:t>
            </a:r>
          </a:p>
          <a:p/>
          <a:p>
            <a:r>
              <a:t>  You also decide how it exposes functionality, how it communicates, and how independently it can change.</a:t>
            </a:r>
          </a:p>
          <a:p/>
          <a:p>
            <a:r>
              <a:t>- The risk</a:t>
            </a:r>
          </a:p>
          <a:p/>
          <a:p>
            <a:r>
              <a:t>  Poor boundaries can turn microservices into a distributed monolith.</a:t>
            </a:r>
          </a:p>
          <a:p/>
          <a:p>
            <a:r>
              <a:t>  We will see exactly what that means on slide 12.</a:t>
            </a:r>
          </a:p>
          <a:p/>
          <a:p>
            <a:r>
              <a:t>- One storyline</a:t>
            </a:r>
          </a:p>
          <a:p/>
          <a:p>
            <a:r>
              <a:t>  The whole module uses one e-commerce and order-processing example.</a:t>
            </a:r>
          </a:p>
          <a:p/>
          <a:p>
            <a:r>
              <a:t>  We evolve that same architecture from slide to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identify good service boundaries.</a:t>
            </a:r>
          </a:p>
          <a:p/>
          <a:p>
            <a:r>
              <a:t>  They should apply loose coupling and high cohesion, and explain bounded contexts.</a:t>
            </a:r>
          </a:p>
          <a:p/>
          <a:p>
            <a:r>
              <a:t>  They should design RESTful APIs and compare API and messaging integration.</a:t>
            </a:r>
          </a:p>
          <a:p/>
          <a:p>
            <a:r>
              <a:t>  They should select communication strategies and explain stateless and stateful services.</a:t>
            </a:r>
          </a:p>
          <a:p/>
          <a:p>
            <a:r>
              <a:t>- Question 1: where are the boundaries?</a:t>
            </a:r>
          </a:p>
          <a:p/>
          <a:p>
            <a:r>
              <a:t>  For example, should Payment be part of the Order Service, or its own service?</a:t>
            </a:r>
          </a:p>
          <a:p/>
          <a:p>
            <a:r>
              <a:t>- Question 2: how do services communicate?</a:t>
            </a:r>
          </a:p>
          <a:p/>
          <a:p>
            <a:r>
              <a:t>  Should we use REST, gRPC, messaging or events?</a:t>
            </a:r>
          </a:p>
          <a:p/>
          <a:p>
            <a:r>
              <a:t>- Question 3: where does state live?</a:t>
            </a:r>
          </a:p>
          <a:p/>
          <a:p>
            <a:r>
              <a:t>  If several instances of the Order Service are running, can any instance process the next request?</a:t>
            </a:r>
          </a:p>
          <a:p/>
          <a:p>
            <a:r>
              <a:t>- Why these questions matter</a:t>
            </a:r>
          </a:p>
          <a:p/>
          <a:p>
            <a:r>
              <a:t>  The answers decide whether the architecture really supports independent deployment and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Bounded context</a:t>
            </a:r>
          </a:p>
          <a:p/>
          <a:p>
            <a:r>
              <a:t>  A boundary inside which one domain model and its words have one exact meaning.</a:t>
            </a:r>
          </a:p>
          <a:p/>
          <a:p>
            <a:r>
              <a:t>- Loose coupling</a:t>
            </a:r>
          </a:p>
          <a:p/>
          <a:p>
            <a:r>
              <a:t>  Services can change and deploy without forcing changes in other services.</a:t>
            </a:r>
          </a:p>
          <a:p/>
          <a:p>
            <a:r>
              <a:t>- High cohesion</a:t>
            </a:r>
          </a:p>
          <a:p/>
          <a:p>
            <a:r>
              <a:t>  Everything a service contains belongs to the same business purpose.</a:t>
            </a:r>
          </a:p>
          <a:p/>
          <a:p>
            <a:r>
              <a:t>- Strangler fig</a:t>
            </a:r>
          </a:p>
          <a:p/>
          <a:p>
            <a:r>
              <a:t>  Replacing a monolith gradually by moving features, one by one, to new services.</a:t>
            </a:r>
          </a:p>
          <a:p/>
          <a:p>
            <a:r>
              <a:t>- Resource</a:t>
            </a:r>
          </a:p>
          <a:p/>
          <a:p>
            <a:r>
              <a:t>  A thing an API exposes, such as an order, named with a noun in the URL.</a:t>
            </a:r>
          </a:p>
          <a:p/>
          <a:p>
            <a:r>
              <a:t>- Idempotency</a:t>
            </a:r>
          </a:p>
          <a:p/>
          <a:p>
            <a:r>
              <a:t>  Repeating the same request has the same effect as sending it once.</a:t>
            </a:r>
          </a:p>
          <a:p/>
          <a:p>
            <a:r>
              <a:t>- API contract</a:t>
            </a:r>
          </a:p>
          <a:p/>
          <a:p>
            <a:r>
              <a:t>  The agreed request, response and error format that consumers depend on.</a:t>
            </a:r>
          </a:p>
          <a:p/>
          <a:p>
            <a:r>
              <a:t>- Stateless service</a:t>
            </a:r>
          </a:p>
          <a:p/>
          <a:p>
            <a:r>
              <a:t>  A service that keeps no client session in memory, so any instance can handle any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API is Application Programming Interface; BFF is Backend for Frontend; CRUD is Create, Read, Update, Delete; DDD is Domain-Driven Design; DTO is Data Transfer Object; HTTP is HyperText Transfer Protocol; HTTPS is HyperText Transfer Protocol Secure; ID is Identifier; JPA is Jakarta Persistence API; JSON is JavaScript Object Notation; JVM is Java Virtual Machine; REST is Representational State Transfer; RPC is Remote Procedure Call; SQL is Structured Query Language; TLS is Transport Layer Security; URI is Uniform Resource Identifier; URL is Uniform Resource Locator.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1</a:t>
            </a:r>
          </a:p>
          <a:p/>
          <a:p>
            <a:r>
              <a:t>  Module 1 explained why microservices exist and what they cost.</a:t>
            </a:r>
          </a:p>
          <a:p/>
          <a:p>
            <a:r>
              <a:t>  Module 2 is about making concrete design decisions.</a:t>
            </a:r>
          </a:p>
          <a:p/>
          <a:p>
            <a:r>
              <a:t>- The seven-step path</a:t>
            </a:r>
          </a:p>
          <a:p/>
          <a:p>
            <a:r>
              <a:t>  Understand the requirement, find capabilities, define bounded contexts, pick boundaries, design contracts, choose communication and state, then validate.</a:t>
            </a:r>
          </a:p>
          <a:p/>
          <a:p>
            <a:r>
              <a:t>- How the module follows it</a:t>
            </a:r>
          </a:p>
          <a:p/>
          <a:p>
            <a:r>
              <a:t>  Part 1 covers steps 1–4, Part 2 covers contracts, Parts 3 and 4 cover communication and state, and Exercise 1.2 validates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boundaries first</a:t>
            </a:r>
          </a:p>
          <a:p/>
          <a:p>
            <a:r>
              <a:t>  APIs, communication and data all depend on where the boundaries are.</a:t>
            </a:r>
          </a:p>
          <a:p/>
          <a:p>
            <a:r>
              <a:t>  Get them wrong and everything downstream is harder.</a:t>
            </a:r>
          </a:p>
          <a:p/>
          <a:p>
            <a:r>
              <a:t>- What this part covers</a:t>
            </a:r>
          </a:p>
          <a:p/>
          <a:p>
            <a:r>
              <a:t>  We go from the business domain to candidate services, test them with coupling and cohesion, and refine them with Domain-Driven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 with the business</a:t>
            </a:r>
          </a:p>
          <a:p/>
          <a:p>
            <a:r>
              <a:t>  Do not begin by asking how many services we should create.</a:t>
            </a:r>
          </a:p>
          <a:p/>
          <a:p>
            <a:r>
              <a:t>  Begin with the business domain.</a:t>
            </a:r>
          </a:p>
          <a:p/>
          <a:p>
            <a:r>
              <a:t>- What the business does</a:t>
            </a:r>
          </a:p>
          <a:p/>
          <a:p>
            <a:r>
              <a:t>  Suppose we are designing an e-commerce platform.</a:t>
            </a:r>
          </a:p>
          <a:p/>
          <a:p>
            <a:r>
              <a:t>  The business manages customers and maintains products.</a:t>
            </a:r>
          </a:p>
          <a:p/>
          <a:p>
            <a:r>
              <a:t>  It creates orders, processes payments, manages inventory and ships products.</a:t>
            </a:r>
          </a:p>
          <a:p/>
          <a:p>
            <a:r>
              <a:t>- Capabilities become candidates</a:t>
            </a:r>
          </a:p>
          <a:p/>
          <a:p>
            <a:r>
              <a:t>  These business capabilities become candidates for service boundaries.</a:t>
            </a:r>
          </a:p>
          <a:p/>
          <a:p>
            <a:r>
              <a:t>  Order management becomes the Order Service.</a:t>
            </a:r>
          </a:p>
          <a:p/>
          <a:p>
            <a:r>
              <a:t>  Payment processing becomes the Payment Service.</a:t>
            </a:r>
          </a:p>
          <a:p/>
          <a:p>
            <a:r>
              <a:t>  Inventory management becomes the Inventory Service.</a:t>
            </a:r>
          </a:p>
          <a:p/>
          <a:p>
            <a:r>
              <a:t>- Candidates, not final answers</a:t>
            </a:r>
          </a:p>
          <a:p/>
          <a:p>
            <a:r>
              <a:t>  Stress that these are candidate boundaries.</a:t>
            </a:r>
          </a:p>
          <a:p/>
          <a:p>
            <a:r>
              <a:t>  Domain analysis, organizational needs and change patterns decide the final architecture.</a:t>
            </a:r>
          </a:p>
          <a:p/>
          <a:p>
            <a:r>
              <a:t>- What it shows</a:t>
            </a:r>
          </a:p>
          <a:p/>
          <a:p>
            <a:r>
              <a:t>  The e-commerce business domain broken into Customer, Catalog, Order, Payment, Inventory and Shipping.</a:t>
            </a:r>
          </a:p>
          <a:p/>
          <a:p>
            <a:r>
              <a:t>- How to read it</a:t>
            </a:r>
          </a:p>
          <a:p/>
          <a:p>
            <a:r>
              <a:t>  Start with the whole business at the top, then follow it down to the individual capabilities.</a:t>
            </a:r>
          </a:p>
          <a:p/>
          <a:p>
            <a:r>
              <a:t>- Key point</a:t>
            </a:r>
          </a:p>
          <a:p/>
          <a:p>
            <a:r>
              <a:t>  Each business capability is a strong candidate for its own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boundary is</a:t>
            </a:r>
          </a:p>
          <a:p/>
          <a:p>
            <a:r>
              <a:t>  A service boundary defines what belongs inside a service and what stays outside it.</a:t>
            </a:r>
          </a:p>
          <a:p/>
          <a:p>
            <a:r>
              <a:t>  Walk around the six factors on the diagram: business capability, data ownership and change together.</a:t>
            </a:r>
          </a:p>
          <a:p/>
          <a:p>
            <a:r>
              <a:t>  Then team ownership, independent deployment and minimal dependencies.</a:t>
            </a:r>
          </a:p>
          <a:p/>
          <a:p>
            <a:r>
              <a:t>- A good fit</a:t>
            </a:r>
          </a:p>
          <a:p/>
          <a:p>
            <a:r>
              <a:t>  Take the Payment Service.</a:t>
            </a:r>
          </a:p>
          <a:p/>
          <a:p>
            <a:r>
              <a:t>  Authorize payment, capture payment, refund payment and payment status naturally belong together.</a:t>
            </a:r>
          </a:p>
          <a:p/>
          <a:p>
            <a:r>
              <a:t>- A questionable fit</a:t>
            </a:r>
          </a:p>
          <a:p/>
          <a:p>
            <a:r>
              <a:t>  Putting update shipping address inside the Payment Service would be questionable.</a:t>
            </a:r>
          </a:p>
          <a:p/>
          <a:p>
            <a:r>
              <a:t>  Shipping information belongs to another business capability.</a:t>
            </a:r>
          </a:p>
          <a:p/>
          <a:p>
            <a:r>
              <a:t>- The key question</a:t>
            </a:r>
          </a:p>
          <a:p/>
          <a:p>
            <a:r>
              <a:t>  Ask: what functionality changes together?</a:t>
            </a:r>
          </a:p>
          <a:p/>
          <a:p>
            <a:r>
              <a:t>  Things that often change together usually belong together.</a:t>
            </a:r>
          </a:p>
          <a:p/>
          <a:p>
            <a:r>
              <a:t>  Things that need to evolve independently may need separate boundaries.</a:t>
            </a:r>
          </a:p>
          <a:p/>
          <a:p>
            <a:r>
              <a:t>- What it shows</a:t>
            </a:r>
          </a:p>
          <a:p/>
          <a:p>
            <a:r>
              <a:t>  A single service boundary, and everything that belongs inside it.</a:t>
            </a:r>
          </a:p>
          <a:p/>
          <a:p>
            <a:r>
              <a:t>- What's inside</a:t>
            </a:r>
          </a:p>
          <a:p/>
          <a:p>
            <a:r>
              <a:t>  One business capability, the behavior that goes with it, the data it owns, the team that owns it, and its own deployment.</a:t>
            </a:r>
          </a:p>
          <a:p/>
          <a:p>
            <a:r>
              <a:t>- Key point</a:t>
            </a:r>
          </a:p>
          <a:p/>
          <a:p>
            <a:r>
              <a:t>  A good boundary lets one team change and deploy the service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spectrum</a:t>
            </a:r>
          </a:p>
          <a:p/>
          <a:p>
            <a:r>
              <a:t>  Too fine-grained services talk constantly over the network.</a:t>
            </a:r>
          </a:p>
          <a:p/>
          <a:p>
            <a:r>
              <a:t>  Too coarse-grained ones become a distributed monolith.</a:t>
            </a:r>
          </a:p>
          <a:p/>
          <a:p>
            <a:r>
              <a:t>- Right-sized</a:t>
            </a:r>
          </a:p>
          <a:p/>
          <a:p>
            <a:r>
              <a:t>  A right-sized service owns one business capability, is owned by one team, and deploys on its own.</a:t>
            </a:r>
          </a:p>
          <a:p/>
          <a:p>
            <a:r>
              <a:t>- Four questions</a:t>
            </a:r>
          </a:p>
          <a:p/>
          <a:p>
            <a:r>
              <a:t>  Ask which capability and data it owns, which team owns it, and how often it changes and scales.</a:t>
            </a:r>
          </a:p>
          <a:p/>
          <a:p>
            <a:r>
              <a:t>- Warning signs</a:t>
            </a:r>
          </a:p>
          <a:p/>
          <a:p>
            <a:r>
              <a:t>  One feature touching many services, shared tables, services that can't deploy alone, and duplicated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foundational principles</a:t>
            </a:r>
          </a:p>
          <a:p/>
          <a:p>
            <a:r>
              <a:t>  Loose coupling and high cohesion are two foundational design principles for microservices.</a:t>
            </a:r>
          </a:p>
          <a:p/>
          <a:p>
            <a:r>
              <a:t>- High cohesion</a:t>
            </a:r>
          </a:p>
          <a:p/>
          <a:p>
            <a:r>
              <a:t>  Related responsibilities stay together.</a:t>
            </a:r>
          </a:p>
          <a:p/>
          <a:p>
            <a:r>
              <a:t>  The Payment Service holds closely related payment functionality: authorize, capture, refund and payment status.</a:t>
            </a:r>
          </a:p>
          <a:p/>
          <a:p>
            <a:r>
              <a:t>- Loose coupling</a:t>
            </a:r>
          </a:p>
          <a:p/>
          <a:p>
            <a:r>
              <a:t>  Services should know as little as possible about each other's internals.</a:t>
            </a:r>
          </a:p>
          <a:p/>
          <a:p>
            <a:r>
              <a:t>  The Order Service should only know that the Payment Service provides a payment operation through a contract.</a:t>
            </a:r>
          </a:p>
          <a:p/>
          <a:p>
            <a:r>
              <a:t>  It should not need to know Payment's tables, internal Java classes, repository implementation or internal algorithms.</a:t>
            </a:r>
          </a:p>
          <a:p/>
          <a:p>
            <a:r>
              <a:t>- The combination we want</a:t>
            </a:r>
          </a:p>
          <a:p/>
          <a:p>
            <a:r>
              <a:t>  High cohesion inside the service.</a:t>
            </a:r>
          </a:p>
          <a:p/>
          <a:p>
            <a:r>
              <a:t>  Loose coupling between services.</a:t>
            </a:r>
          </a:p>
          <a:p/>
          <a:p>
            <a:r>
              <a:t>- What it shows</a:t>
            </a:r>
          </a:p>
          <a:p/>
          <a:p>
            <a:r>
              <a:t>  Payment Service keeps its related logic together, which is high cohesion.</a:t>
            </a:r>
          </a:p>
          <a:p/>
          <a:p>
            <a:r>
              <a:t>- Between services</a:t>
            </a:r>
          </a:p>
          <a:p/>
          <a:p>
            <a:r>
              <a:t>  Order and Payment talk only through a clean, agreed contract, which is loose coupling.</a:t>
            </a:r>
          </a:p>
          <a:p/>
          <a:p>
            <a:r>
              <a:t>- Key point</a:t>
            </a:r>
          </a:p>
          <a:p/>
          <a:p>
            <a:r>
              <a:t>  Keep related things together inside a service, and keep services loosely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all coupling is the same</a:t>
            </a:r>
          </a:p>
          <a:p/>
          <a:p>
            <a:r>
              <a:t>  Walk through the four kinds of coupling on the slide.</a:t>
            </a:r>
          </a:p>
          <a:p/>
          <a:p>
            <a:r>
              <a:t>- Contract coupling</a:t>
            </a:r>
          </a:p>
          <a:p/>
          <a:p>
            <a:r>
              <a:t>  One service depends on the structure of another service's API.</a:t>
            </a:r>
          </a:p>
          <a:p/>
          <a:p>
            <a:r>
              <a:t>- Data coupling</a:t>
            </a:r>
          </a:p>
          <a:p/>
          <a:p>
            <a:r>
              <a:t>  Several services depend directly on the same database schema.</a:t>
            </a:r>
          </a:p>
          <a:p/>
          <a:p>
            <a:r>
              <a:t>- Temporal coupling</a:t>
            </a:r>
          </a:p>
          <a:p/>
          <a:p>
            <a:r>
              <a:t>  Service A needs Service B to be available at exactly the same time.</a:t>
            </a:r>
          </a:p>
          <a:p/>
          <a:p>
            <a:r>
              <a:t>  For example, Order calls Payment, which calls Inventory, which calls Shipping.</a:t>
            </a:r>
          </a:p>
          <a:p/>
          <a:p>
            <a:r>
              <a:t>  If every service must respond before the order completes, their availability is tightly linked.</a:t>
            </a:r>
          </a:p>
          <a:p/>
          <a:p>
            <a:r>
              <a:t>- Deployment coupling</a:t>
            </a:r>
          </a:p>
          <a:p/>
          <a:p>
            <a:r>
              <a:t>  Changing Service A forces Service B to be redeployed.</a:t>
            </a:r>
          </a:p>
          <a:p/>
          <a:p>
            <a:r>
              <a:t>- The realistic goal</a:t>
            </a:r>
          </a:p>
          <a:p/>
          <a:p>
            <a:r>
              <a:t>  The goal is not zero coupling.</a:t>
            </a:r>
          </a:p>
          <a:p/>
          <a:p>
            <a:r>
              <a:t>  That is unrealistic.</a:t>
            </a:r>
          </a:p>
          <a:p/>
          <a:p>
            <a:r>
              <a:t>  The goal is coupling that is intentional and manageable.</a:t>
            </a:r>
          </a:p>
          <a:p/>
          <a:p>
            <a:r>
              <a:t>- What it shows</a:t>
            </a:r>
          </a:p>
          <a:p/>
          <a:p>
            <a:r>
              <a:t>  Four kinds of coupling around services that interact.</a:t>
            </a:r>
          </a:p>
          <a:p/>
          <a:p>
            <a:r>
              <a:t>- The four types</a:t>
            </a:r>
          </a:p>
          <a:p/>
          <a:p>
            <a:r>
              <a:t>  Contract coupling depends on the API shape.</a:t>
            </a:r>
          </a:p>
          <a:p/>
          <a:p>
            <a:r>
              <a:t>  Data coupling depends on shared data.</a:t>
            </a:r>
          </a:p>
          <a:p/>
          <a:p>
            <a:r>
              <a:t>  Temporal coupling needs the other service to be up at the same time.</a:t>
            </a:r>
          </a:p>
          <a:p/>
          <a:p>
            <a:r>
              <a:t>  Deployment coupling means releasing services together.</a:t>
            </a:r>
          </a:p>
          <a:p/>
          <a:p>
            <a:r>
              <a:t>- Key point</a:t>
            </a:r>
          </a:p>
          <a:p/>
          <a:p>
            <a:r>
              <a:t>  Some coupling is unavoidable, so aim to keep each kind as low as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belongs to Order</a:t>
            </a:r>
          </a:p>
          <a:p/>
          <a:p>
            <a:r>
              <a:t>  Ask what naturally belongs to the Order domain.</a:t>
            </a:r>
          </a:p>
          <a:p/>
          <a:p>
            <a:r>
              <a:t>  Creating an order, adding and removing items, calculating the total, cancelling and tracking status clearly belong together.</a:t>
            </a:r>
          </a:p>
          <a:p/>
          <a:p>
            <a:r>
              <a:t>- What belongs elsewhere</a:t>
            </a:r>
          </a:p>
          <a:p/>
          <a:p>
            <a:r>
              <a:t>  Processing a credit card payment is a different business concern, so it belongs in the Payment Service.</a:t>
            </a:r>
          </a:p>
          <a:p/>
          <a:p>
            <a:r>
              <a:t>  Shipping belongs in the Shipping Service.</a:t>
            </a:r>
          </a:p>
          <a:p/>
          <a:p>
            <a:r>
              <a:t>- Low cohesion</a:t>
            </a:r>
          </a:p>
          <a:p/>
          <a:p>
            <a:r>
              <a:t>  Low cohesion produces services that become random collections of unrelated functionality.</a:t>
            </a:r>
          </a:p>
          <a:p/>
          <a:p>
            <a:r>
              <a:t>- A quick test</a:t>
            </a:r>
          </a:p>
          <a:p/>
          <a:p>
            <a:r>
              <a:t>  A service should have a clear business purpose.</a:t>
            </a:r>
          </a:p>
          <a:p/>
          <a:p>
            <a:r>
              <a:t>  If you cannot describe what a service does in a short sentence, its boundary may be poorly defined.</a:t>
            </a:r>
          </a:p>
          <a:p/>
          <a:p>
            <a:r>
              <a:t>- What it shows</a:t>
            </a:r>
          </a:p>
          <a:p/>
          <a:p>
            <a:r>
              <a:t>  Order Service contains Create Order, Modify Order, Cancel Order and Order Status.</a:t>
            </a:r>
          </a:p>
          <a:p/>
          <a:p>
            <a:r>
              <a:t>- What stays outside</a:t>
            </a:r>
          </a:p>
          <a:p/>
          <a:p>
            <a:r>
              <a:t>  Payment and Shipping logic live in their own services, not inside Order.</a:t>
            </a:r>
          </a:p>
          <a:p/>
          <a:p>
            <a:r>
              <a:t>- Key point</a:t>
            </a:r>
          </a:p>
          <a:p/>
          <a:p>
            <a:r>
              <a:t>  A service should own one closely related set of behavior.</a:t>
            </a:r>
          </a:p>
          <a:p/>
          <a:p>
            <a:r>
              <a:t>- Shared business logic</a:t>
            </a:r>
          </a:p>
          <a:p/>
          <a:p>
            <a:r>
              <a:t>  A library full of business rules looks like reuse, but every service using it must release together when a rule changes.</a:t>
            </a:r>
          </a:p>
          <a:p/>
          <a:p>
            <a:r>
              <a:t>  Keep rules inside the owning service; share only technical utilities.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Just enough DDD</a:t>
            </a:r>
          </a:p>
          <a:p/>
          <a:p>
            <a:r>
              <a:t>  Introduce Domain-Driven Design only as deeply as we need for microservices.</a:t>
            </a:r>
          </a:p>
          <a:p/>
          <a:p>
            <a:r>
              <a:t>  Follow the flow from the real business down to service boundaries.</a:t>
            </a:r>
          </a:p>
          <a:p/>
          <a:p>
            <a:r>
              <a:t>- Domain and subdomains</a:t>
            </a:r>
          </a:p>
          <a:p/>
          <a:p>
            <a:r>
              <a:t>  A domain is the business area we are solving problems for, for example e-commerce.</a:t>
            </a:r>
          </a:p>
          <a:p/>
          <a:p>
            <a:r>
              <a:t>  Subdomains might include ordering, payments, inventory and shipping.</a:t>
            </a:r>
          </a:p>
          <a:p/>
          <a:p>
            <a:r>
              <a:t>- Ubiquitous language</a:t>
            </a:r>
          </a:p>
          <a:p/>
          <a:p>
            <a:r>
              <a:t>  DDD encourages developers and business experts to share one vocabulary.</a:t>
            </a:r>
          </a:p>
          <a:p/>
          <a:p>
            <a:r>
              <a:t>  This is called ubiquitous language.</a:t>
            </a:r>
          </a:p>
          <a:p/>
          <a:p>
            <a:r>
              <a:t>  For example, the word Order should have one clear meaning inside the Ordering context.</a:t>
            </a:r>
          </a:p>
          <a:p/>
          <a:p>
            <a:r>
              <a:t>- Why it matters here</a:t>
            </a:r>
          </a:p>
          <a:p/>
          <a:p>
            <a:r>
              <a:t>  That shared, precise language becomes important when we identify microservice boundaries.</a:t>
            </a:r>
          </a:p>
          <a:p/>
          <a:p>
            <a:r>
              <a:t>- What it shows</a:t>
            </a:r>
          </a:p>
          <a:p/>
          <a:p>
            <a:r>
              <a:t>  The steps Domain-Driven Design takes, from the business down to service boundaries.</a:t>
            </a:r>
          </a:p>
          <a:p/>
          <a:p>
            <a:r>
              <a:t>- The steps</a:t>
            </a:r>
          </a:p>
          <a:p/>
          <a:p>
            <a:r>
              <a:t>  Start with the business domain, split it into subdomains, and build a domain model.</a:t>
            </a:r>
          </a:p>
          <a:p/>
          <a:p>
            <a:r>
              <a:t>  Then define bounded contexts and turn them into candidate service boundaries.</a:t>
            </a:r>
          </a:p>
          <a:p/>
          <a:p>
            <a:r>
              <a:t>- Key point</a:t>
            </a:r>
          </a:p>
          <a:p/>
          <a:p>
            <a:r>
              <a:t>  Service boundaries should come from understanding the business, not from guesswork.</a:t>
            </a:r>
          </a:p>
          <a:p/>
          <a:p>
            <a:r>
              <a:t>- Three kinds of subdomain</a:t>
            </a:r>
          </a:p>
          <a:p/>
          <a:p>
            <a:r>
              <a:t>  Core subdomains are what make the business different, so invest heavily.</a:t>
            </a:r>
          </a:p>
          <a:p/>
          <a:p>
            <a:r>
              <a:t>  Supporting ones are needed but not special.</a:t>
            </a:r>
          </a:p>
          <a:p/>
          <a:p>
            <a:r>
              <a:t>  Generic ones, like email sending, are best bought or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bounded context is</a:t>
            </a:r>
          </a:p>
          <a:p/>
          <a:p>
            <a:r>
              <a:t>  A bounded context sets a boundary.</a:t>
            </a:r>
          </a:p>
          <a:p/>
          <a:p>
            <a:r>
              <a:t>  Inside it, a domain model and its terms have one specific meaning.</a:t>
            </a:r>
          </a:p>
          <a:p/>
          <a:p>
            <a:r>
              <a:t>  The slide shows three: Order, Payment and Shipping, each with its own terms.</a:t>
            </a:r>
          </a:p>
          <a:p/>
          <a:p>
            <a:r>
              <a:t>- Same word, different model</a:t>
            </a:r>
          </a:p>
          <a:p/>
          <a:p>
            <a:r>
              <a:t>  Customer can mean different things in different contexts.</a:t>
            </a:r>
          </a:p>
          <a:p/>
          <a:p>
            <a:r>
              <a:t>  For Ordering, a customer ID and shipping address may be enough.</a:t>
            </a:r>
          </a:p>
          <a:p/>
          <a:p>
            <a:r>
              <a:t>  For Customer Management, name, email, preferences and account status matter.</a:t>
            </a:r>
          </a:p>
          <a:p/>
          <a:p>
            <a:r>
              <a:t>- A big shift</a:t>
            </a:r>
          </a:p>
          <a:p/>
          <a:p>
            <a:r>
              <a:t>  The contexts do not need identical Customer models.</a:t>
            </a:r>
          </a:p>
          <a:p/>
          <a:p>
            <a:r>
              <a:t>  This is a major change from designing one universal enterprise object model.</a:t>
            </a:r>
          </a:p>
          <a:p/>
          <a:p>
            <a:r>
              <a:t>- What it shows</a:t>
            </a:r>
          </a:p>
          <a:p/>
          <a:p>
            <a:r>
              <a:t>  Separate bounded contexts for Order, Payment and Shipping.</a:t>
            </a:r>
          </a:p>
          <a:p/>
          <a:p>
            <a:r>
              <a:t>- Own concepts</a:t>
            </a:r>
          </a:p>
          <a:p/>
          <a:p>
            <a:r>
              <a:t>  Each context has its own terms and model.</a:t>
            </a:r>
          </a:p>
          <a:p/>
          <a:p>
            <a:r>
              <a:t>  The same word can mean different things in different contexts.</a:t>
            </a:r>
          </a:p>
          <a:p/>
          <a:p>
            <a:r>
              <a:t>- Key point</a:t>
            </a:r>
          </a:p>
          <a:p/>
          <a:p>
            <a:r>
              <a:t>  A bounded context is a clear boundary where one model and one language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Follow the flow</a:t>
            </a:r>
          </a:p>
          <a:p/>
          <a:p>
            <a:r>
              <a:t>  The business domain gives us bounded contexts.</a:t>
            </a:r>
          </a:p>
          <a:p/>
          <a:p>
            <a:r>
              <a:t>  A bounded context suggests a candidate service boundary.</a:t>
            </a:r>
          </a:p>
          <a:p/>
          <a:p>
            <a:r>
              <a:t>  That service talks to other services through APIs and events.</a:t>
            </a:r>
          </a:p>
          <a:p/>
          <a:p>
            <a:r>
              <a:t>- An important qualification</a:t>
            </a:r>
          </a:p>
          <a:p/>
          <a:p>
            <a:r>
              <a:t>  A bounded context is a domain modeling boundary.</a:t>
            </a:r>
          </a:p>
          <a:p/>
          <a:p>
            <a:r>
              <a:t>  A microservice is an architectural and deployment boundary.</a:t>
            </a:r>
          </a:p>
          <a:p/>
          <a:p>
            <a:r>
              <a:t>  They often line up, but not always one to one.</a:t>
            </a:r>
          </a:p>
          <a:p/>
          <a:p>
            <a:r>
              <a:t>- Examples</a:t>
            </a:r>
          </a:p>
          <a:p/>
          <a:p>
            <a:r>
              <a:t>  The Payment context becoming the Payment Service could be a good fit.</a:t>
            </a:r>
          </a:p>
          <a:p/>
          <a:p>
            <a:r>
              <a:t>  But a large bounded context may eventually need several deployable services.</a:t>
            </a:r>
          </a:p>
          <a:p/>
          <a:p>
            <a:r>
              <a:t>- The message</a:t>
            </a:r>
          </a:p>
          <a:p/>
          <a:p>
            <a:r>
              <a:t>  The business model should inform the architecture.</a:t>
            </a:r>
          </a:p>
          <a:p/>
          <a:p>
            <a:r>
              <a:t>  It should not blindly dictate the number of deployments.</a:t>
            </a:r>
          </a:p>
          <a:p/>
          <a:p>
            <a:r>
              <a:t>- What it shows</a:t>
            </a:r>
          </a:p>
          <a:p/>
          <a:p>
            <a:r>
              <a:t>  A bounded context guiding where a microservice boundary could be.</a:t>
            </a:r>
          </a:p>
          <a:p/>
          <a:p>
            <a:r>
              <a:t>- Not always 1:1</a:t>
            </a:r>
          </a:p>
          <a:p/>
          <a:p>
            <a:r>
              <a:t>  One context might become one service, several services, or share a service, depending on the situation.</a:t>
            </a:r>
          </a:p>
          <a:p/>
          <a:p>
            <a:r>
              <a:t>- Key point</a:t>
            </a:r>
          </a:p>
          <a:p/>
          <a:p>
            <a:r>
              <a:t>  Use bounded contexts as a strong guide, not a strict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Walk the responsibilities</a:t>
            </a:r>
          </a:p>
          <a:p/>
          <a:p>
            <a:r>
              <a:t>  The Customer Service owns customer profiles, contact information and preferences.</a:t>
            </a:r>
          </a:p>
          <a:p/>
          <a:p>
            <a:r>
              <a:t>  The Catalog Service owns product information, descriptions and metadata.</a:t>
            </a:r>
          </a:p>
          <a:p/>
          <a:p>
            <a:r>
              <a:t>  The Order Service owns creating orders, the order lifecycle and order status.</a:t>
            </a:r>
          </a:p>
          <a:p/>
          <a:p>
            <a:r>
              <a:t>- Services connected to Order</a:t>
            </a:r>
          </a:p>
          <a:p/>
          <a:p>
            <a:r>
              <a:t>  The Payment Service owns authorization, capture and refunds.</a:t>
            </a:r>
          </a:p>
          <a:p/>
          <a:p>
            <a:r>
              <a:t>  The Inventory Service owns stock availability, reservations and inventory adjustments.</a:t>
            </a:r>
          </a:p>
          <a:p/>
          <a:p>
            <a:r>
              <a:t>  The Shipping Service owns shipment creation and delivery tracking.</a:t>
            </a:r>
          </a:p>
          <a:p/>
          <a:p>
            <a:r>
              <a:t>- The takeaway</a:t>
            </a:r>
          </a:p>
          <a:p/>
          <a:p>
            <a:r>
              <a:t>  Now learners can see how breaking down the business produces candidate services.</a:t>
            </a:r>
          </a:p>
          <a:p/>
          <a:p>
            <a:r>
              <a:t>- What it shows</a:t>
            </a:r>
          </a:p>
          <a:p/>
          <a:p>
            <a:r>
              <a:t>  Customer, Catalog, Order, Payment, Inventory and Shipping as clearly separate capabilities.</a:t>
            </a:r>
          </a:p>
          <a:p/>
          <a:p>
            <a:r>
              <a:t>- How to use it</a:t>
            </a:r>
          </a:p>
          <a:p/>
          <a:p>
            <a:r>
              <a:t>  This is the same e-commerce example we use throughout the module.</a:t>
            </a:r>
          </a:p>
          <a:p/>
          <a:p>
            <a:r>
              <a:t>- Key point</a:t>
            </a:r>
          </a:p>
          <a:p/>
          <a:p>
            <a:r>
              <a:t>  Clear separation makes ownership and independent change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Expected grouping</a:t>
            </a:r>
          </a:p>
          <a:p/>
          <a:p>
            <a:r>
              <a:t>  Customer: accounts.</a:t>
            </a:r>
          </a:p>
          <a:p/>
          <a:p>
            <a:r>
              <a:t>  Catalog: products.</a:t>
            </a:r>
          </a:p>
          <a:p/>
          <a:p>
            <a:r>
              <a:t>  Order: cart and orders.</a:t>
            </a:r>
          </a:p>
          <a:p/>
          <a:p>
            <a:r>
              <a:t>  Payment: charges and refunds.</a:t>
            </a:r>
          </a:p>
          <a:p/>
          <a:p>
            <a:r>
              <a:t>  Inventory: stock.</a:t>
            </a:r>
          </a:p>
          <a:p/>
          <a:p>
            <a:r>
              <a:t>  Shipping: labels.</a:t>
            </a:r>
          </a:p>
          <a:p/>
          <a:p>
            <a:r>
              <a:t>- Judgment calls</a:t>
            </a:r>
          </a:p>
          <a:p/>
          <a:p>
            <a:r>
              <a:t>  Is the cart part of Order?</a:t>
            </a:r>
          </a:p>
          <a:p/>
          <a:p>
            <a:r>
              <a:t>  Usually yes.</a:t>
            </a:r>
          </a:p>
          <a:p/>
          <a:p>
            <a:r>
              <a:t>  Receipt emails fit a Notification capability.</a:t>
            </a:r>
          </a:p>
          <a:p/>
          <a:p>
            <a:r>
              <a:t>  Fraud checks may be their own service if they change often.</a:t>
            </a:r>
          </a:p>
          <a:p/>
          <a:p>
            <a:r>
              <a:t>- What to listen for</a:t>
            </a:r>
          </a:p>
          <a:p/>
          <a:p>
            <a:r>
              <a:t>  Good answers justify groupings by business capability and owned data, not by technical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idea</a:t>
            </a:r>
          </a:p>
          <a:p/>
          <a:p>
            <a:r>
              <a:t>  Like a strangler fig growing around a tree, new services gradually take over from the monolith.</a:t>
            </a:r>
          </a:p>
          <a:p/>
          <a:p>
            <a:r>
              <a:t>- Four stages</a:t>
            </a:r>
          </a:p>
          <a:p/>
          <a:p>
            <a:r>
              <a:t>  Put a gateway in front, build the new service beside the monolith, route that capability's traffic to it, then remove the old code.</a:t>
            </a:r>
          </a:p>
          <a:p/>
          <a:p>
            <a:r>
              <a:t>- Why it's safe</a:t>
            </a:r>
          </a:p>
          <a:p/>
          <a:p>
            <a:r>
              <a:t>  The monolith keeps serving traffic, and each step can be undone if something goes wrong.</a:t>
            </a:r>
          </a:p>
          <a:p/>
          <a:p>
            <a:r>
              <a:t>- Where to start</a:t>
            </a:r>
          </a:p>
          <a:p/>
          <a:p>
            <a:r>
              <a:t>  Pick a low-risk, high-value capability with clear data ownership.</a:t>
            </a:r>
          </a:p>
          <a:p/>
          <a:p>
            <a:r>
              <a:t>  In the course lab that is Account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It looks like microservices</a:t>
            </a:r>
          </a:p>
          <a:p/>
          <a:p>
            <a:r>
              <a:t>  This design has several applications, so it looks like microservices.</a:t>
            </a:r>
          </a:p>
          <a:p/>
          <a:p>
            <a:r>
              <a:t>  But one request needs five mandatory synchronous calls, from Service A all the way to Service E.</a:t>
            </a:r>
          </a:p>
          <a:p/>
          <a:p>
            <a:r>
              <a:t>- It behaves like a monolith</a:t>
            </a:r>
          </a:p>
          <a:p/>
          <a:p>
            <a:r>
              <a:t>  A change in A forces changes in B and C. Then A, B and C must be deployed together.</a:t>
            </a:r>
          </a:p>
          <a:p/>
          <a:p>
            <a:r>
              <a:t>  Operationally, they behave like one tightly coupled system.</a:t>
            </a:r>
          </a:p>
          <a:p/>
          <a:p>
            <a:r>
              <a:t>  This is called a distributed monolith.</a:t>
            </a:r>
          </a:p>
          <a:p/>
          <a:p>
            <a:r>
              <a:t>- Warning signs</a:t>
            </a:r>
          </a:p>
          <a:p/>
          <a:p>
            <a:r>
              <a:t>  Services must deploy together.</a:t>
            </a:r>
          </a:p>
          <a:p/>
          <a:p>
            <a:r>
              <a:t>  There are too many synchronous calls.</a:t>
            </a:r>
          </a:p>
          <a:p/>
          <a:p>
            <a:r>
              <a:t>  Services share database tables.</a:t>
            </a:r>
          </a:p>
          <a:p/>
          <a:p>
            <a:r>
              <a:t>  One business operation crosses many services.</a:t>
            </a:r>
          </a:p>
          <a:p/>
          <a:p>
            <a:r>
              <a:t>  Changes keep affecting several services.</a:t>
            </a:r>
          </a:p>
          <a:p/>
          <a:p>
            <a:r>
              <a:t>  Services know each other's internal details.</a:t>
            </a:r>
          </a:p>
          <a:p/>
          <a:p>
            <a:r>
              <a:t>- The message</a:t>
            </a:r>
          </a:p>
          <a:p/>
          <a:p>
            <a:r>
              <a:t>  Microservices are about independent evolution, not just separate processes.</a:t>
            </a:r>
          </a:p>
          <a:p/>
          <a:p>
            <a:r>
              <a:t>- What it shows</a:t>
            </a:r>
          </a:p>
          <a:p/>
          <a:p>
            <a:r>
              <a:t>  Service A calls B, which calls C, then D, then E, in one long chain.</a:t>
            </a:r>
          </a:p>
          <a:p/>
          <a:p>
            <a:r>
              <a:t>- The problem</a:t>
            </a:r>
          </a:p>
          <a:p/>
          <a:p>
            <a:r>
              <a:t>  If one service in the chain is slow or down, everything fails, and services must often be released together.</a:t>
            </a:r>
          </a:p>
          <a:p/>
          <a:p>
            <a:r>
              <a:t>- Key point</a:t>
            </a:r>
          </a:p>
          <a:p/>
          <a:p>
            <a:r>
              <a:t>  This is a distributed monolith: all the cost of microservices, without the independence.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Designs 1 and 3</a:t>
            </a:r>
          </a:p>
          <a:p/>
          <a:p>
            <a:r>
              <a:t>  Both reach into another service's database.</a:t>
            </a:r>
          </a:p>
          <a:p/>
          <a:p>
            <a:r>
              <a:t>  That's data coupling; use the owner's API or events instead.</a:t>
            </a:r>
          </a:p>
          <a:p/>
          <a:p>
            <a:r>
              <a:t>- Designs 2 and 4</a:t>
            </a:r>
          </a:p>
          <a:p/>
          <a:p>
            <a:r>
              <a:t>  Both depend only on a contract, either an API or an event, so they are loosely coupled.</a:t>
            </a:r>
          </a:p>
          <a:p/>
          <a:p>
            <a:r>
              <a:t>- Design 5</a:t>
            </a:r>
          </a:p>
          <a:p/>
          <a:p>
            <a:r>
              <a:t>  A shared business-rules library forces both services to release together.</a:t>
            </a:r>
          </a:p>
          <a:p/>
          <a:p>
            <a:r>
              <a:t>  Keep the rule in the service that owns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boundaries to contracts</a:t>
            </a:r>
          </a:p>
          <a:p/>
          <a:p>
            <a:r>
              <a:t>  Once a boundary is clear, the API is how the rest of the system sees the service.</a:t>
            </a:r>
          </a:p>
          <a:p/>
          <a:p>
            <a:r>
              <a:t>- What to watch</a:t>
            </a:r>
          </a:p>
          <a:p/>
          <a:p>
            <a:r>
              <a:t>  Look for how each design choice affects consumers who depend on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REST in microservices</a:t>
            </a:r>
          </a:p>
          <a:p/>
          <a:p>
            <a:r>
              <a:t>  REST is one common way for microservices to communicate synchronously.</a:t>
            </a:r>
          </a:p>
          <a:p/>
          <a:p>
            <a:r>
              <a:t>  In the diagram, the Order Service calls the Payment Service over HTTP.</a:t>
            </a:r>
          </a:p>
          <a:p/>
          <a:p>
            <a:r>
              <a:t>  For example, POST /payments creates a payment and GET /payments/{id} reads one.</a:t>
            </a:r>
          </a:p>
          <a:p/>
          <a:p>
            <a:r>
              <a:t>- Resources</a:t>
            </a:r>
          </a:p>
          <a:p/>
          <a:p>
            <a:r>
              <a:t>  REST models business concepts as resources, such as /orders, /customers, /products and /payments.</a:t>
            </a:r>
          </a:p>
          <a:p/>
          <a:p>
            <a:r>
              <a:t>  Clients work with them using standard HTTP semantics.</a:t>
            </a:r>
          </a:p>
          <a:p/>
          <a:p>
            <a:r>
              <a:t>- REST is not the same as microservices</a:t>
            </a:r>
          </a:p>
          <a:p/>
          <a:p>
            <a:r>
              <a:t>  A microservice does not have to use REST.</a:t>
            </a:r>
          </a:p>
          <a:p/>
          <a:p>
            <a:r>
              <a:t>  And a REST API is not automatically a microservice.</a:t>
            </a:r>
          </a:p>
          <a:p/>
          <a:p>
            <a:r>
              <a:t>- What it shows</a:t>
            </a:r>
          </a:p>
          <a:p/>
          <a:p>
            <a:r>
              <a:t>  Order Service calling Payment Service over HTTP using REST.</a:t>
            </a:r>
          </a:p>
          <a:p/>
          <a:p>
            <a:r>
              <a:t>- Endpoints</a:t>
            </a:r>
          </a:p>
          <a:p/>
          <a:p>
            <a:r>
              <a:t>  The call uses resource-based endpoints, like a payments resource, instead of action names.</a:t>
            </a:r>
          </a:p>
          <a:p/>
          <a:p>
            <a:r>
              <a:t>- Key point</a:t>
            </a:r>
          </a:p>
          <a:p/>
          <a:p>
            <a:r>
              <a:t>  REST is a simple, widely understood way for services to talk synchronously.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Prefer resources and HTTP semantics</a:t>
            </a:r>
          </a:p>
          <a:p/>
          <a:p>
            <a:r>
              <a:t>  REST APIs should generally focus on resources and HTTP methods.</a:t>
            </a:r>
          </a:p>
          <a:p/>
          <a:p>
            <a:r>
              <a:t>  Use nouns like /orders, /payments and /customers.</a:t>
            </a:r>
          </a:p>
          <a:p/>
          <a:p>
            <a:r>
              <a:t>  Do not turn every operation into a verb in the URL.</a:t>
            </a:r>
          </a:p>
          <a:p/>
          <a:p>
            <a:r>
              <a:t>- Avoid endpoint sprawl</a:t>
            </a:r>
          </a:p>
          <a:p/>
          <a:p>
            <a:r>
              <a:t>  Avoid RPC-style endpoints like /getAllOrders, /createNewOrder and /deleteOrderById.</a:t>
            </a:r>
          </a:p>
          <a:p/>
          <a:p>
            <a:r>
              <a:t>  RPC means remote procedure call, where each URL is named like a method.</a:t>
            </a:r>
          </a:p>
          <a:p/>
          <a:p>
            <a:r>
              <a:t>- Read an endpoint aloud</a:t>
            </a:r>
          </a:p>
          <a:p/>
          <a:p>
            <a:r>
              <a:t>  GET /orders/123 means: retrieve the representation of order 123.</a:t>
            </a:r>
          </a:p>
          <a:p/>
          <a:p>
            <a:r>
              <a:t>- Be pragmatic</a:t>
            </a:r>
          </a:p>
          <a:p/>
          <a:p>
            <a:r>
              <a:t>  Real enterprise APIs can include action-style operations where that makes sense.</a:t>
            </a:r>
          </a:p>
          <a:p/>
          <a:p>
            <a:r>
              <a:t>  But resource-oriented design is a strong default.</a:t>
            </a:r>
          </a:p>
          <a:p/>
          <a:p>
            <a:r>
              <a:t>- What it shows</a:t>
            </a:r>
          </a:p>
          <a:p/>
          <a:p>
            <a:r>
              <a:t>  The /orders collection and a single /orders/{id} resource.</a:t>
            </a:r>
          </a:p>
          <a:p/>
          <a:p>
            <a:r>
              <a:t>- Methods</a:t>
            </a:r>
          </a:p>
          <a:p/>
          <a:p>
            <a:r>
              <a:t>  GET reads, POST creates, PATCH updates part of a resource, and DELETE removes it.</a:t>
            </a:r>
          </a:p>
          <a:p/>
          <a:p>
            <a:r>
              <a:t>- Key point</a:t>
            </a:r>
          </a:p>
          <a:p/>
          <a:p>
            <a:r>
              <a:t>  Design URLs around nouns (resources), and let HTTP methods express the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Semantics, not just CRUD</a:t>
            </a:r>
          </a:p>
          <a:p/>
          <a:p>
            <a:r>
              <a:t>  Explain what each method means rather than memorizing CRUD.</a:t>
            </a:r>
          </a:p>
          <a:p/>
          <a:p>
            <a:r>
              <a:t>  GET retrieves information and should not change application state as its intended effect.</a:t>
            </a:r>
          </a:p>
          <a:p/>
          <a:p>
            <a:r>
              <a:t>  POST commonly creates a resource or starts processing defined by the target resource.</a:t>
            </a:r>
          </a:p>
          <a:p/>
          <a:p>
            <a:r>
              <a:t>- PUT, PATCH and DELETE</a:t>
            </a:r>
          </a:p>
          <a:p/>
          <a:p>
            <a:r>
              <a:t>  PUT generally replaces the state of a resource at a known URI.</a:t>
            </a:r>
          </a:p>
          <a:p/>
          <a:p>
            <a:r>
              <a:t>  PATCH partially changes a resource.</a:t>
            </a:r>
          </a:p>
          <a:p/>
          <a:p>
            <a:r>
              <a:t>  DELETE asks for a resource to be removed.</a:t>
            </a:r>
          </a:p>
          <a:p/>
          <a:p>
            <a:r>
              <a:t>- Idempotency</a:t>
            </a:r>
          </a:p>
          <a:p/>
          <a:p>
            <a:r>
              <a:t>  Introduce idempotency.</a:t>
            </a:r>
          </a:p>
          <a:p/>
          <a:p>
            <a:r>
              <a:t>  Repeating PUT /customers/123 with the same data should have the same intended effect as doing it once.</a:t>
            </a:r>
          </a:p>
          <a:p/>
          <a:p>
            <a:r>
              <a:t>  This matters when retries happen in distributed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Safe</a:t>
            </a:r>
          </a:p>
          <a:p/>
          <a:p>
            <a:r>
              <a:t>  A safe method doesn't change server state.</a:t>
            </a:r>
          </a:p>
          <a:p/>
          <a:p>
            <a:r>
              <a:t>  GET is safe, so it can be cached and retried freely.</a:t>
            </a:r>
          </a:p>
          <a:p/>
          <a:p>
            <a:r>
              <a:t>- Idempotent</a:t>
            </a:r>
          </a:p>
          <a:p/>
          <a:p>
            <a:r>
              <a:t>  Repeating an idempotent request has the same effect as doing it once.</a:t>
            </a:r>
          </a:p>
          <a:p/>
          <a:p>
            <a:r>
              <a:t>  PUT and DELETE are idempotent; POST is not.</a:t>
            </a:r>
          </a:p>
          <a:p/>
          <a:p>
            <a:r>
              <a:t>- Idempotency keys</a:t>
            </a:r>
          </a:p>
          <a:p/>
          <a:p>
            <a:r>
              <a:t>  The client sends a unique Idempotency-Key header.</a:t>
            </a:r>
          </a:p>
          <a:p/>
          <a:p>
            <a:r>
              <a:t>  If the server has seen the key, it returns the original result instead of creating a new order.</a:t>
            </a:r>
          </a:p>
          <a:p/>
          <a:p>
            <a:r>
              <a:t>- Why it matters</a:t>
            </a:r>
          </a:p>
          <a:p/>
          <a:p>
            <a:r>
              <a:t>  Networks drop responses and users double-tap.</a:t>
            </a:r>
          </a:p>
          <a:p/>
          <a:p>
            <a:r>
              <a:t>  Without a key, a retry can create two orders or charge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Status codes are part of the contract</a:t>
            </a:r>
          </a:p>
          <a:p/>
          <a:p>
            <a:r>
              <a:t>  An API contract is more than the JSON payload.</a:t>
            </a:r>
          </a:p>
          <a:p/>
          <a:p>
            <a:r>
              <a:t>  HTTP status codes tell the client the outcome of a request.</a:t>
            </a:r>
          </a:p>
          <a:p/>
          <a:p>
            <a:r>
              <a:t>- The three families</a:t>
            </a:r>
          </a:p>
          <a:p/>
          <a:p>
            <a:r>
              <a:t>  2xx means success.</a:t>
            </a:r>
          </a:p>
          <a:p/>
          <a:p>
            <a:r>
              <a:t>  4xx means a problem with the client's request.</a:t>
            </a:r>
          </a:p>
          <a:p/>
          <a:p>
            <a:r>
              <a:t>  5xx means a failure on the server side.</a:t>
            </a:r>
          </a:p>
          <a:p/>
          <a:p>
            <a:r>
              <a:t>- Examples</a:t>
            </a:r>
          </a:p>
          <a:p/>
          <a:p>
            <a:r>
              <a:t>  Creating an order successfully returns 201 Created.</a:t>
            </a:r>
          </a:p>
          <a:p/>
          <a:p>
            <a:r>
              <a:t>  Asking for an order that does not exist returns 404 Not Found.</a:t>
            </a:r>
          </a:p>
          <a:p/>
          <a:p>
            <a:r>
              <a:t>  Sending invalid input returns 400 Bad Request.</a:t>
            </a:r>
          </a:p>
          <a:p/>
          <a:p>
            <a:r>
              <a:t>- Consistent error responses</a:t>
            </a:r>
          </a:p>
          <a:p/>
          <a:p>
            <a:r>
              <a:t>  A consistent error response can include an error code, a message, a timestamp, a correlation or trace ID, and relevant details.</a:t>
            </a:r>
          </a:p>
          <a:p/>
          <a:p>
            <a:r>
              <a:t>  Clients should not have to reverse-engineer failures from arbitrary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resource</a:t>
            </a:r>
          </a:p>
          <a:p/>
          <a:p>
            <a:r>
              <a:t>  @RestController and @RequestMapping("/orders") make this class handle the orders resource.</a:t>
            </a:r>
          </a:p>
          <a:p/>
          <a:p>
            <a:r>
              <a:t>- Reading</a:t>
            </a:r>
          </a:p>
          <a:p/>
          <a:p>
            <a:r>
              <a:t>  @GetMapping("/{id}") handles GET /orders/123 and returns the order as JSON.</a:t>
            </a:r>
          </a:p>
          <a:p/>
          <a:p>
            <a:r>
              <a:t>- Creating</a:t>
            </a:r>
          </a:p>
          <a:p/>
          <a:p>
            <a:r>
              <a:t>  @PostMapping handles POST /orders.</a:t>
            </a:r>
          </a:p>
          <a:p/>
          <a:p>
            <a:r>
              <a:t>  It returns 201 Created with a Location header pointing at the new order.</a:t>
            </a:r>
          </a:p>
          <a:p/>
          <a:p>
            <a:r>
              <a:t>- Keep it thin</a:t>
            </a:r>
          </a:p>
          <a:p/>
          <a:p>
            <a:r>
              <a:t>  The controller only translates HTTP.</a:t>
            </a:r>
          </a:p>
          <a:p/>
          <a:p>
            <a:r>
              <a:t>  Business rules belong in OrderService, which is easier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Don't expose internals</a:t>
            </a:r>
          </a:p>
          <a:p/>
          <a:p>
            <a:r>
              <a:t>  A common mistake is exposing internal persistence or domain structures directly as the public API.</a:t>
            </a:r>
          </a:p>
          <a:p/>
          <a:p>
            <a:r>
              <a:t>  Turning a database entity straight into JSON couples your storage design to every consumer.</a:t>
            </a:r>
          </a:p>
          <a:p/>
          <a:p>
            <a:r>
              <a:t>- Use a DTO</a:t>
            </a:r>
          </a:p>
          <a:p/>
          <a:p>
            <a:r>
              <a:t>  Instead, map the entity or domain model to an API DTO.</a:t>
            </a:r>
          </a:p>
          <a:p/>
          <a:p>
            <a:r>
              <a:t>  DTO means data transfer object.</a:t>
            </a:r>
          </a:p>
          <a:p/>
          <a:p>
            <a:r>
              <a:t>  The DTO becomes the external contract that consumers rely on.</a:t>
            </a:r>
          </a:p>
          <a:p/>
          <a:p>
            <a:r>
              <a:t>- Protect the contract</a:t>
            </a:r>
          </a:p>
          <a:p/>
          <a:p>
            <a:r>
              <a:t>  Protect it with DTOs, validation, compatibility, a versioning strategy and clear error models.</a:t>
            </a:r>
          </a:p>
          <a:p/>
          <a:p>
            <a:r>
              <a:t>- Backward compatibility</a:t>
            </a:r>
          </a:p>
          <a:p/>
          <a:p>
            <a:r>
              <a:t>  Suppose five consumers use an API.</a:t>
            </a:r>
          </a:p>
          <a:p/>
          <a:p>
            <a:r>
              <a:t>  Renaming customerName to fullLegalCustomerName could break all of them.</a:t>
            </a:r>
          </a:p>
          <a:p/>
          <a:p>
            <a:r>
              <a:t>  So API evolution needs careful contract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Request DTO</a:t>
            </a:r>
          </a:p>
          <a:p/>
          <a:p>
            <a:r>
              <a:t>  A Java record describes exactly what a client may send.</a:t>
            </a:r>
          </a:p>
          <a:p/>
          <a:p>
            <a:r>
              <a:t>  Annotations like @NotBlank and @Positive are checked automatically when the controller uses @Valid.</a:t>
            </a:r>
          </a:p>
          <a:p/>
          <a:p>
            <a:r>
              <a:t>- Response DTO</a:t>
            </a:r>
          </a:p>
          <a:p/>
          <a:p>
            <a:r>
              <a:t>  The response record shows only what clients need.</a:t>
            </a:r>
          </a:p>
          <a:p/>
          <a:p>
            <a:r>
              <a:t>  The database entity stays private, so it can change without breaking consumers.</a:t>
            </a:r>
          </a:p>
          <a:p/>
          <a:p>
            <a:r>
              <a:t>- Error body</a:t>
            </a:r>
          </a:p>
          <a:p/>
          <a:p>
            <a:r>
              <a:t>  Every service returns errors in the same shape: timestamp, status, error code, message, path and correlation ID.</a:t>
            </a:r>
          </a:p>
          <a:p/>
          <a:p>
            <a:r>
              <a:t>- Why the correlation ID</a:t>
            </a:r>
          </a:p>
          <a:p/>
          <a:p>
            <a:r>
              <a:t>  It lets a support engineer find the matching log lines across every service the request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Safe changes</a:t>
            </a:r>
          </a:p>
          <a:p/>
          <a:p>
            <a:r>
              <a:t>  Adding optional fields, new endpoints or enum values that old clients can ignore doesn't break anyone.</a:t>
            </a:r>
          </a:p>
          <a:p/>
          <a:p>
            <a:r>
              <a:t>- Breaking changes</a:t>
            </a:r>
          </a:p>
          <a:p/>
          <a:p>
            <a:r>
              <a:t>  Removing or renaming fields, changing meaning, or making a field required breaks consumers, so it needs a new version.</a:t>
            </a:r>
          </a:p>
          <a:p/>
          <a:p>
            <a:r>
              <a:t>- Versioning styles</a:t>
            </a:r>
          </a:p>
          <a:p/>
          <a:p>
            <a:r>
              <a:t>  URI path versioning like /v1/orders is the clearest.</a:t>
            </a:r>
          </a:p>
          <a:p/>
          <a:p>
            <a:r>
              <a:t>  Query, header and media-type versioning also work.</a:t>
            </a:r>
          </a:p>
          <a:p/>
          <a:p>
            <a:r>
              <a:t>- OpenAPI</a:t>
            </a:r>
          </a:p>
          <a:p/>
          <a:p>
            <a:r>
              <a:t>  An OpenAPI file documents endpoints, schemas and status codes.</a:t>
            </a:r>
          </a:p>
          <a:p/>
          <a:p>
            <a:r>
              <a:t>  Keep it in the repository, versioned with the code, and check it in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Secure by design</a:t>
            </a:r>
          </a:p>
          <a:p/>
          <a:p>
            <a:r>
              <a:t>  Authenticate every request and authorize access to each resource, so no one can read another customer's order by guessing an ID.</a:t>
            </a:r>
          </a:p>
          <a:p/>
          <a:p>
            <a:r>
              <a:t>- Validate and limit</a:t>
            </a:r>
          </a:p>
          <a:p/>
          <a:p>
            <a:r>
              <a:t>  Validate all input, use HTTPS everywhere, return only needed data, and rate-limit to prevent abuse.</a:t>
            </a:r>
          </a:p>
          <a:p/>
          <a:p>
            <a:r>
              <a:t>- Anti-patterns</a:t>
            </a:r>
          </a:p>
          <a:p/>
          <a:p>
            <a:r>
              <a:t>  Verbs in URLs, always returning 200, exposing table structure, unbounded lists, and GET requests that change data.</a:t>
            </a:r>
          </a:p>
          <a:p/>
          <a:p>
            <a:r>
              <a:t>- Pagination</a:t>
            </a:r>
          </a:p>
          <a:p/>
          <a:p>
            <a:r>
              <a:t>  Large collections should support page, size, filter and sort parameters instead of returning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contract to conversation</a:t>
            </a:r>
          </a:p>
          <a:p/>
          <a:p>
            <a:r>
              <a:t>  Part 2 designed the contract.</a:t>
            </a:r>
          </a:p>
          <a:p/>
          <a:p>
            <a:r>
              <a:t>  Part 3 decides how and when services use it.</a:t>
            </a:r>
          </a:p>
          <a:p/>
          <a:p>
            <a:r>
              <a:t>- Key decision</a:t>
            </a:r>
          </a:p>
          <a:p/>
          <a:p>
            <a:r>
              <a:t>  For every interaction, ask whether the caller truly needs an answer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Request, wait, response</a:t>
            </a:r>
          </a:p>
          <a:p/>
          <a:p>
            <a:r>
              <a:t>  Synchronous communication means the caller waits for the downstream operation to respond.</a:t>
            </a:r>
          </a:p>
          <a:p/>
          <a:p>
            <a:r>
              <a:t>  The Order Service sends a request, the Payment Service processes it, and the Order Service waits for the answer.</a:t>
            </a:r>
          </a:p>
          <a:p/>
          <a:p>
            <a:r>
              <a:t>  The diagram shows the chain can grow: Payment may call a Fraud Service too.</a:t>
            </a:r>
          </a:p>
          <a:p/>
          <a:p>
            <a:r>
              <a:t>- Benefits</a:t>
            </a:r>
          </a:p>
          <a:p/>
          <a:p>
            <a:r>
              <a:t>  It has a simple mental model.</a:t>
            </a:r>
          </a:p>
          <a:p/>
          <a:p>
            <a:r>
              <a:t>  You get an immediate result.</a:t>
            </a:r>
          </a:p>
          <a:p/>
          <a:p>
            <a:r>
              <a:t>  Request and response semantics are straightforward.</a:t>
            </a:r>
          </a:p>
          <a:p/>
          <a:p>
            <a:r>
              <a:t>- Challenges</a:t>
            </a:r>
          </a:p>
          <a:p/>
          <a:p>
            <a:r>
              <a:t>  It creates temporal coupling.</a:t>
            </a:r>
          </a:p>
          <a:p/>
          <a:p>
            <a:r>
              <a:t>  It adds network latency.</a:t>
            </a:r>
          </a:p>
          <a:p/>
          <a:p>
            <a:r>
              <a:t>  Failures can spread, and dependency chains get longer.</a:t>
            </a:r>
          </a:p>
          <a:p/>
          <a:p>
            <a:r>
              <a:t>- Ask the room</a:t>
            </a:r>
          </a:p>
          <a:p/>
          <a:p>
            <a:r>
              <a:t>  What happens to the Order Service if the Payment Service takes 30 seconds to respond?</a:t>
            </a:r>
          </a:p>
          <a:p/>
          <a:p>
            <a:r>
              <a:t>  This connects back to the resilience discussion in Module 1.</a:t>
            </a:r>
          </a:p>
          <a:p/>
          <a:p>
            <a:r>
              <a:t>- What it shows</a:t>
            </a:r>
          </a:p>
          <a:p/>
          <a:p>
            <a:r>
              <a:t>  Order calls Payment, which calls a fraud check or external provider.</a:t>
            </a:r>
          </a:p>
          <a:p/>
          <a:p>
            <a:r>
              <a:t>- Waiting</a:t>
            </a:r>
          </a:p>
          <a:p/>
          <a:p>
            <a:r>
              <a:t>  Each caller waits for the next response before it can continue.</a:t>
            </a:r>
          </a:p>
          <a:p/>
          <a:p>
            <a:r>
              <a:t>- Key point</a:t>
            </a:r>
          </a:p>
          <a:p/>
          <a:p>
            <a:r>
              <a:t>  Long synchronous chains add latency and make failures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Publish and move on</a:t>
            </a:r>
          </a:p>
          <a:p/>
          <a:p>
            <a:r>
              <a:t>  With asynchronous communication, the producer does not wait for every consumer to finish.</a:t>
            </a:r>
          </a:p>
          <a:p/>
          <a:p>
            <a:r>
              <a:t>  The Order Service publishes OrderCreated to a message broker.</a:t>
            </a:r>
          </a:p>
          <a:p/>
          <a:p>
            <a:r>
              <a:t>- Consumers react independently</a:t>
            </a:r>
          </a:p>
          <a:p/>
          <a:p>
            <a:r>
              <a:t>  Several consumers can react on their own.</a:t>
            </a:r>
          </a:p>
          <a:p/>
          <a:p>
            <a:r>
              <a:t>  Inventory might reserve stock.</a:t>
            </a:r>
          </a:p>
          <a:p/>
          <a:p>
            <a:r>
              <a:t>  Notification might send a confirmation.</a:t>
            </a:r>
          </a:p>
          <a:p/>
          <a:p>
            <a:r>
              <a:t>  Analytics might update metrics.</a:t>
            </a:r>
          </a:p>
          <a:p/>
          <a:p>
            <a:r>
              <a:t>- Command versus event</a:t>
            </a:r>
          </a:p>
          <a:p/>
          <a:p>
            <a:r>
              <a:t>  A command expresses an intention, for example ReserveInventory.</a:t>
            </a:r>
          </a:p>
          <a:p/>
          <a:p>
            <a:r>
              <a:t>  An event says that something has already happened, for example OrderCreated.</a:t>
            </a:r>
          </a:p>
          <a:p/>
          <a:p>
            <a:r>
              <a:t>  This distinction helps later when we discuss event-driven architecture.</a:t>
            </a:r>
          </a:p>
          <a:p/>
          <a:p>
            <a:r>
              <a:t>- What it shows</a:t>
            </a:r>
          </a:p>
          <a:p/>
          <a:p>
            <a:r>
              <a:t>  Order Service publishes an OrderCreated event to a message broker.</a:t>
            </a:r>
          </a:p>
          <a:p/>
          <a:p>
            <a:r>
              <a:t>- Consumers</a:t>
            </a:r>
          </a:p>
          <a:p/>
          <a:p>
            <a:r>
              <a:t>  Inventory, Shipping and Notification each receive the event and react on their own.</a:t>
            </a:r>
          </a:p>
          <a:p/>
          <a:p>
            <a:r>
              <a:t>- Key point</a:t>
            </a:r>
          </a:p>
          <a:p/>
          <a:p>
            <a:r>
              <a:t>  Order Service doesn't wait for or even know about each consumer.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Compare them fairly</a:t>
            </a:r>
          </a:p>
          <a:p/>
          <a:p>
            <a:r>
              <a:t>  REST and APIs give request and response with an immediate result, but a direct dependency.</a:t>
            </a:r>
          </a:p>
          <a:p/>
          <a:p>
            <a:r>
              <a:t>  Messaging and events are asynchronous, more decoupled, and processed eventually.</a:t>
            </a:r>
          </a:p>
          <a:p/>
          <a:p>
            <a:r>
              <a:t>  REST suits simple workflows, while messaging suits distributed workflows.</a:t>
            </a:r>
          </a:p>
          <a:p/>
          <a:p>
            <a:r>
              <a:t>- When to use REST</a:t>
            </a:r>
          </a:p>
          <a:p/>
          <a:p>
            <a:r>
              <a:t>  Use synchronous communication when the caller genuinely needs an immediate response.</a:t>
            </a:r>
          </a:p>
          <a:p/>
          <a:p>
            <a:r>
              <a:t>  For example, GET /products/123.</a:t>
            </a:r>
          </a:p>
          <a:p/>
          <a:p>
            <a:r>
              <a:t>- When to use messaging</a:t>
            </a:r>
          </a:p>
          <a:p/>
          <a:p>
            <a:r>
              <a:t>  Use asynchronous communication when work can happen independently.</a:t>
            </a:r>
          </a:p>
          <a:p/>
          <a:p>
            <a:r>
              <a:t>  For example, OrderCreated can trigger sending a confirmation, updating analytics and starting fulfillment.</a:t>
            </a:r>
          </a:p>
          <a:p/>
          <a:p>
            <a:r>
              <a:t>- Not a competition</a:t>
            </a:r>
          </a:p>
          <a:p/>
          <a:p>
            <a:r>
              <a:t>  Do not teach that messaging is better than REST.</a:t>
            </a:r>
          </a:p>
          <a:p/>
          <a:p>
            <a:r>
              <a:t>  Teach when each is appropriate.</a:t>
            </a:r>
          </a:p>
          <a:p/>
          <a:p>
            <a:r>
              <a:t>  Many real microservice systems use both.</a:t>
            </a:r>
          </a:p>
          <a:p/>
          <a:p>
            <a:r>
              <a:t>- What it shows</a:t>
            </a:r>
          </a:p>
          <a:p/>
          <a:p>
            <a:r>
              <a:t>  Two integration styles side by side.</a:t>
            </a:r>
          </a:p>
          <a:p/>
          <a:p>
            <a:r>
              <a:t>- The comparison</a:t>
            </a:r>
          </a:p>
          <a:p/>
          <a:p>
            <a:r>
              <a:t>  REST request/response gives an immediate answer.</a:t>
            </a:r>
          </a:p>
          <a:p/>
          <a:p>
            <a:r>
              <a:t>  Publish/subscribe lets many services react independently.</a:t>
            </a:r>
          </a:p>
          <a:p/>
          <a:p>
            <a:r>
              <a:t>- Key point</a:t>
            </a:r>
          </a:p>
          <a:p/>
          <a:p>
            <a:r>
              <a:t>  Choose based on whether the caller truly needs an immediate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synchronous call</a:t>
            </a:r>
          </a:p>
          <a:p/>
          <a:p>
            <a:r>
              <a:t>  Order asks Inventory whether the item is in stock.</a:t>
            </a:r>
          </a:p>
          <a:p/>
          <a:p>
            <a:r>
              <a:t>  It needs the answer before accepting the order, so a REST call fits.</a:t>
            </a:r>
          </a:p>
          <a:p/>
          <a:p>
            <a:r>
              <a:t>  The client has a timeout.</a:t>
            </a:r>
          </a:p>
          <a:p/>
          <a:p>
            <a:r>
              <a:t>- The event</a:t>
            </a:r>
          </a:p>
          <a:p/>
          <a:p>
            <a:r>
              <a:t>  After saving the order, Order Service publishes OrderCreated through Spring Cloud Stream's StreamBridge and returns immediately.</a:t>
            </a:r>
          </a:p>
          <a:p/>
          <a:p>
            <a:r>
              <a:t>- Who listens</a:t>
            </a:r>
          </a:p>
          <a:p/>
          <a:p>
            <a:r>
              <a:t>  Payment, Notification and Analytics each consume the event on their own.</a:t>
            </a:r>
          </a:p>
          <a:p/>
          <a:p>
            <a:r>
              <a:t>  Order doesn't know or wait for them.</a:t>
            </a:r>
          </a:p>
          <a:p/>
          <a:p>
            <a:r>
              <a:t>- Event design</a:t>
            </a:r>
          </a:p>
          <a:p/>
          <a:p>
            <a:r>
              <a:t>  Put IDs and key facts in the event, not the whole internal entity, so consumers don't couple to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REST steps</a:t>
            </a:r>
          </a:p>
          <a:p/>
          <a:p>
            <a:r>
              <a:t>  Stock check, current status and fraud score all feed an immediate decision or screen, so they use REST.</a:t>
            </a:r>
          </a:p>
          <a:p/>
          <a:p>
            <a:r>
              <a:t>- Event steps</a:t>
            </a:r>
          </a:p>
          <a:p/>
          <a:p>
            <a:r>
              <a:t>  Emails, audit entries and analytics can happen a moment later, and several services may care, so they use events.</a:t>
            </a:r>
          </a:p>
          <a:p/>
          <a:p>
            <a:r>
              <a:t>- Failure handling</a:t>
            </a:r>
          </a:p>
          <a:p/>
          <a:p>
            <a:r>
              <a:t>  REST calls need timeouts and fallbacks.</a:t>
            </a:r>
          </a:p>
          <a:p/>
          <a:p>
            <a:r>
              <a:t>  Event consumers must cope with duplicate messages and send repeated failures to a dead-letter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 universal strategy</a:t>
            </a:r>
          </a:p>
          <a:p/>
          <a:p>
            <a:r>
              <a:t>  There is no single communication strategy that fits everything.</a:t>
            </a:r>
          </a:p>
          <a:p/>
          <a:p>
            <a:r>
              <a:t>  Walk through the four patterns on the slide.</a:t>
            </a:r>
          </a:p>
          <a:p/>
          <a:p>
            <a:r>
              <a:t>- Direct calls</a:t>
            </a:r>
          </a:p>
          <a:p/>
          <a:p>
            <a:r>
              <a:t>  Direct service communication can suit internal interactions.</a:t>
            </a:r>
          </a:p>
          <a:p/>
          <a:p>
            <a:r>
              <a:t>  But it creates direct dependencies.</a:t>
            </a:r>
          </a:p>
          <a:p/>
          <a:p>
            <a:r>
              <a:t>- API gateway</a:t>
            </a:r>
          </a:p>
          <a:p/>
          <a:p>
            <a:r>
              <a:t>  An API gateway gives external clients, like a mobile app or web app, one controlled entry point to the services.</a:t>
            </a:r>
          </a:p>
          <a:p/>
          <a:p>
            <a:r>
              <a:t>- Messaging and events</a:t>
            </a:r>
          </a:p>
          <a:p/>
          <a:p>
            <a:r>
              <a:t>  Messaging allows asynchronous integration.</a:t>
            </a:r>
          </a:p>
          <a:p/>
          <a:p>
            <a:r>
              <a:t>  Events let many consumers respond without the producer knowing all of them.</a:t>
            </a:r>
          </a:p>
          <a:p/>
          <a:p>
            <a:r>
              <a:t>- Choose deliberately</a:t>
            </a:r>
          </a:p>
          <a:p/>
          <a:p>
            <a:r>
              <a:t>  The architecture should deliberately choose the right strategy for each interaction.</a:t>
            </a:r>
          </a:p>
          <a:p/>
          <a:p>
            <a:r>
              <a:t>- What it shows</a:t>
            </a:r>
          </a:p>
          <a:p/>
          <a:p>
            <a:r>
              <a:t>  Four ways services communicate.</a:t>
            </a:r>
          </a:p>
          <a:p/>
          <a:p>
            <a:r>
              <a:t>- The four</a:t>
            </a:r>
          </a:p>
          <a:p/>
          <a:p>
            <a:r>
              <a:t>  A client calls a service directly, or a client goes through an API gateway.</a:t>
            </a:r>
          </a:p>
          <a:p/>
          <a:p>
            <a:r>
              <a:t>  Services also call each other, or send events through a broker to consumers.</a:t>
            </a:r>
          </a:p>
          <a:p/>
          <a:p>
            <a:r>
              <a:t>- Key point</a:t>
            </a:r>
          </a:p>
          <a:p/>
          <a:p>
            <a:r>
              <a:t>  Real systems combine these strategies depending on the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API gateway</a:t>
            </a:r>
          </a:p>
          <a:p/>
          <a:p>
            <a:r>
              <a:t>  A single entry point for external clients.</a:t>
            </a:r>
          </a:p>
          <a:p/>
          <a:p>
            <a:r>
              <a:t>  It routes requests and handles cross-cutting concerns like authentication, rate limiting and TLS.</a:t>
            </a:r>
          </a:p>
          <a:p/>
          <a:p>
            <a:r>
              <a:t>- API composition</a:t>
            </a:r>
          </a:p>
          <a:p/>
          <a:p>
            <a:r>
              <a:t>  A composer calls several services, often in parallel, and merges the results, so the client makes one call for an order view.</a:t>
            </a:r>
          </a:p>
          <a:p/>
          <a:p>
            <a:r>
              <a:t>- Backend for frontend</a:t>
            </a:r>
          </a:p>
          <a:p/>
          <a:p>
            <a:r>
              <a:t>  Each client type gets its own small backend that shapes responses for it, like a light payload for mobile.</a:t>
            </a:r>
          </a:p>
          <a:p/>
          <a:p>
            <a:r>
              <a:t>- Service discovery</a:t>
            </a:r>
          </a:p>
          <a:p/>
          <a:p>
            <a:r>
              <a:t>  Instances come and go, so callers use a logical service name.</a:t>
            </a:r>
          </a:p>
          <a:p/>
          <a:p>
            <a:r>
              <a:t>  OpenShift routes it to a healthy pod.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Orchestration</a:t>
            </a:r>
          </a:p>
          <a:p/>
          <a:p>
            <a:r>
              <a:t>  One coordinator, sometimes called a saga orchestrator, tells Payment, Inventory and Shipping what to do, step by step.</a:t>
            </a:r>
          </a:p>
          <a:p/>
          <a:p>
            <a:r>
              <a:t>- Its trade-off</a:t>
            </a:r>
          </a:p>
          <a:p/>
          <a:p>
            <a:r>
              <a:t>  The flow is easy to see and monitor, but the coordinator can become a bottleneck.</a:t>
            </a:r>
          </a:p>
          <a:p/>
          <a:p>
            <a:r>
              <a:t>- Choreography</a:t>
            </a:r>
          </a:p>
          <a:p/>
          <a:p>
            <a:r>
              <a:t>  Each service reacts to events and publishes its own.</a:t>
            </a:r>
          </a:p>
          <a:p/>
          <a:p>
            <a:r>
              <a:t>  Order publishes OrderCreated, Payment reacts and publishes PaymentCompleted, and so on.</a:t>
            </a:r>
          </a:p>
          <a:p/>
          <a:p>
            <a:r>
              <a:t>- Its trade-off</a:t>
            </a:r>
          </a:p>
          <a:p/>
          <a:p>
            <a:r>
              <a:t>  There's no central point of control, but tracing the whole flow is harder.</a:t>
            </a:r>
          </a:p>
          <a:p/>
          <a:p>
            <a:r>
              <a:t>  The data module covers sagas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Don't design APIs like local methods</a:t>
            </a:r>
          </a:p>
          <a:p/>
          <a:p>
            <a:r>
              <a:t>  A common mistake is designing service APIs like local Java methods.</a:t>
            </a:r>
          </a:p>
          <a:p/>
          <a:p>
            <a:r>
              <a:t>  Inside one JVM, many small method calls are cheap.</a:t>
            </a:r>
          </a:p>
          <a:p/>
          <a:p>
            <a:r>
              <a:t>- Every network call costs</a:t>
            </a:r>
          </a:p>
          <a:p/>
          <a:p>
            <a:r>
              <a:t>  Across a network, every call adds latency and serialization.</a:t>
            </a:r>
          </a:p>
          <a:p/>
          <a:p>
            <a:r>
              <a:t>  It adds authentication, the chance of network failure, and more load downstream.</a:t>
            </a:r>
          </a:p>
          <a:p/>
          <a:p>
            <a:r>
              <a:t>- Chatty communication</a:t>
            </a:r>
          </a:p>
          <a:p/>
          <a:p>
            <a:r>
              <a:t>  Suppose one request needs 20 synchronous service calls.</a:t>
            </a:r>
          </a:p>
          <a:p/>
          <a:p>
            <a:r>
              <a:t>  Overall reliability and latency can suffer badly.</a:t>
            </a:r>
          </a:p>
          <a:p/>
          <a:p>
            <a:r>
              <a:t>  This is called chatty communication.</a:t>
            </a:r>
          </a:p>
          <a:p/>
          <a:p>
            <a:r>
              <a:t>- The fix</a:t>
            </a:r>
          </a:p>
          <a:p/>
          <a:p>
            <a:r>
              <a:t>  Use fewer, coarse-grained interactions.</a:t>
            </a:r>
          </a:p>
          <a:p/>
          <a:p>
            <a:r>
              <a:t>  Use events where they fit.</a:t>
            </a:r>
          </a:p>
          <a:p/>
          <a:p>
            <a:r>
              <a:t>  Above all, design good service boundaries so services do not need to talk so much.</a:t>
            </a:r>
          </a:p>
          <a:p/>
          <a:p>
            <a:r>
              <a:t>- What it shows</a:t>
            </a:r>
          </a:p>
          <a:p/>
          <a:p>
            <a:r>
              <a:t>  The bad version is a long chain of many small network calls.</a:t>
            </a:r>
          </a:p>
          <a:p/>
          <a:p>
            <a:r>
              <a:t>- The better version</a:t>
            </a:r>
          </a:p>
          <a:p/>
          <a:p>
            <a:r>
              <a:t>  The good version uses fewer, more meaningful calls, and asynchronous events for the rest.</a:t>
            </a:r>
          </a:p>
          <a:p/>
          <a:p>
            <a:r>
              <a:t>- Key point</a:t>
            </a:r>
          </a:p>
          <a:p/>
          <a:p>
            <a:r>
              <a:t>  Every network call adds latency and a chance to fail, so avoid chatty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state matters</a:t>
            </a:r>
          </a:p>
          <a:p/>
          <a:p>
            <a:r>
              <a:t>  OpenShift runs several copies of each service and replaces pods freely.</a:t>
            </a:r>
          </a:p>
          <a:p/>
          <a:p>
            <a:r>
              <a:t>  That only works if pods don't hold important state.</a:t>
            </a:r>
          </a:p>
          <a:p/>
          <a:p>
            <a:r>
              <a:t>- What comes next</a:t>
            </a:r>
          </a:p>
          <a:p/>
          <a:p>
            <a:r>
              <a:t>  After state, we put every design decision together in one blueprint.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common misunderstanding</a:t>
            </a:r>
          </a:p>
          <a:p/>
          <a:p>
            <a:r>
              <a:t>  Stateless does not mean no database.</a:t>
            </a:r>
          </a:p>
          <a:p/>
          <a:p>
            <a:r>
              <a:t>- Stateless</a:t>
            </a:r>
          </a:p>
          <a:p/>
          <a:p>
            <a:r>
              <a:t>  A stateless instance does not depend on conversation or session state kept locally to handle the next request.</a:t>
            </a:r>
          </a:p>
          <a:p/>
          <a:p>
            <a:r>
              <a:t>  So request 1 can go to Pod A, request 2 to Pod B, and request 3 to Pod C. That works when the needed state is in an external store or comes with the request.</a:t>
            </a:r>
          </a:p>
          <a:p/>
          <a:p>
            <a:r>
              <a:t>- Stateful</a:t>
            </a:r>
          </a:p>
          <a:p/>
          <a:p>
            <a:r>
              <a:t>  A stateful service may depend on state tied to one particular instance or a stable identity.</a:t>
            </a:r>
          </a:p>
          <a:p/>
          <a:p>
            <a:r>
              <a:t>  Then the next request may depend on reaching that same instance.</a:t>
            </a:r>
          </a:p>
          <a:p/>
          <a:p>
            <a:r>
              <a:t>- State is not always bad</a:t>
            </a:r>
          </a:p>
          <a:p/>
          <a:p>
            <a:r>
              <a:t>  Some workloads genuinely need stateful behavior.</a:t>
            </a:r>
          </a:p>
          <a:p/>
          <a:p>
            <a:r>
              <a:t>  The goal is not to claim state is always bad.</a:t>
            </a:r>
          </a:p>
          <a:p/>
          <a:p>
            <a:r>
              <a:t>- What it shows</a:t>
            </a:r>
          </a:p>
          <a:p/>
          <a:p>
            <a:r>
              <a:t>  A comparison of stateless and stateful services.</a:t>
            </a:r>
          </a:p>
          <a:p/>
          <a:p>
            <a:r>
              <a:t>- The difference</a:t>
            </a:r>
          </a:p>
          <a:p/>
          <a:p>
            <a:r>
              <a:t>  A stateful service keeps session data in its own memory.</a:t>
            </a:r>
          </a:p>
          <a:p/>
          <a:p>
            <a:r>
              <a:t>  A stateless service keeps it outside, in a database or cache.</a:t>
            </a:r>
          </a:p>
          <a:p/>
          <a:p>
            <a:r>
              <a:t>- Key point</a:t>
            </a:r>
          </a:p>
          <a:p/>
          <a:p>
            <a:r>
              <a:t>  Stateless services are much easier to scale and replace.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OpenShift connection</a:t>
            </a:r>
          </a:p>
          <a:p/>
          <a:p>
            <a:r>
              <a:t>  Suppose three instances of the Order Service are running.</a:t>
            </a:r>
          </a:p>
          <a:p/>
          <a:p>
            <a:r>
              <a:t>  A load balancer spreads requests across them.</a:t>
            </a:r>
          </a:p>
          <a:p/>
          <a:p>
            <a:r>
              <a:t>- The problem with local state</a:t>
            </a:r>
          </a:p>
          <a:p/>
          <a:p>
            <a:r>
              <a:t>  If critical session or business state lives only in Pod 1's memory, another pod may not have what it needs.</a:t>
            </a:r>
          </a:p>
          <a:p/>
          <a:p>
            <a:r>
              <a:t>- Externalize durable state</a:t>
            </a:r>
          </a:p>
          <a:p/>
          <a:p>
            <a:r>
              <a:t>  Durable business state belongs in backing systems such as PostgreSQL, Redis or other persistence services.</a:t>
            </a:r>
          </a:p>
          <a:p/>
          <a:p>
            <a:r>
              <a:t>  That makes horizontal scaling, replacement and recovery easier.</a:t>
            </a:r>
          </a:p>
          <a:p/>
          <a:p>
            <a:r>
              <a:t>- Caches are still fine</a:t>
            </a:r>
          </a:p>
          <a:p/>
          <a:p>
            <a:r>
              <a:t>  Local caches and temporary in-memory data can still exist.</a:t>
            </a:r>
          </a:p>
          <a:p/>
          <a:p>
            <a:r>
              <a:t>  The real question is whether correctness depends on one short-lived instance holding the only copy of required state.</a:t>
            </a:r>
          </a:p>
          <a:p/>
          <a:p>
            <a:r>
              <a:t>- What it shows</a:t>
            </a:r>
          </a:p>
          <a:p/>
          <a:p>
            <a:r>
              <a:t>  A load balancer spreading requests across several identical service instances.</a:t>
            </a:r>
          </a:p>
          <a:p/>
          <a:p>
            <a:r>
              <a:t>- Where state lives</a:t>
            </a:r>
          </a:p>
          <a:p/>
          <a:p>
            <a:r>
              <a:t>  State is kept outside the instances, in an external database and cache.</a:t>
            </a:r>
          </a:p>
          <a:p/>
          <a:p>
            <a:r>
              <a:t>- Key point</a:t>
            </a:r>
          </a:p>
          <a:p/>
          <a:p>
            <a:r>
              <a:t>  Because any instance can handle any request, you can add or remove instances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bad version</a:t>
            </a:r>
          </a:p>
          <a:p/>
          <a:p>
            <a:r>
              <a:t>  Carts are kept in a HashMap inside the service.</a:t>
            </a:r>
          </a:p>
          <a:p/>
          <a:p>
            <a:r>
              <a:t>  If the pod restarts, they're gone, and with three pods each has its own different map.</a:t>
            </a:r>
          </a:p>
          <a:p/>
          <a:p>
            <a:r>
              <a:t>- The good version</a:t>
            </a:r>
          </a:p>
          <a:p/>
          <a:p>
            <a:r>
              <a:t>  Carts are read from and saved to a repository backed by a database or shared cache, so every pod sees the same data.</a:t>
            </a:r>
          </a:p>
          <a:p/>
          <a:p>
            <a:r>
              <a:t>- Identity</a:t>
            </a:r>
          </a:p>
          <a:p/>
          <a:p>
            <a:r>
              <a:t>  Instead of server-side session memory, the client sends a token on each request that says who the user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Stateless</a:t>
            </a:r>
          </a:p>
          <a:p/>
          <a:p>
            <a:r>
              <a:t>  The Order Service pod and the fraud-scoring API keep nothing important between requests, so they scale by adding replicas.</a:t>
            </a:r>
          </a:p>
          <a:p/>
          <a:p>
            <a:r>
              <a:t>- Stateful</a:t>
            </a:r>
          </a:p>
          <a:p/>
          <a:p>
            <a:r>
              <a:t>  PostgreSQL, Kafka and the shared cache hold durable state.</a:t>
            </a:r>
          </a:p>
          <a:p/>
          <a:p>
            <a:r>
              <a:t>  They need backups, monitoring and careful scaling.</a:t>
            </a:r>
          </a:p>
          <a:p/>
          <a:p>
            <a:r>
              <a:t>- The risky one</a:t>
            </a:r>
          </a:p>
          <a:p/>
          <a:p>
            <a:r>
              <a:t>  An in-memory HashMap of pending payments disappears when the pod restarts, and each pod has a different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Boundaries and cohesion</a:t>
            </a:r>
          </a:p>
          <a:p/>
          <a:p>
            <a:r>
              <a:t>  Use this blueprint to connect every Module 2 idea.</a:t>
            </a:r>
          </a:p>
          <a:p/>
          <a:p>
            <a:r>
              <a:t>  Customer, Catalog, Order, Payment, Inventory and Shipping are separate business capabilities.</a:t>
            </a:r>
          </a:p>
          <a:p/>
          <a:p>
            <a:r>
              <a:t>  Payment functionality stays in the Payment Service, and order functionality stays in the Order Service.</a:t>
            </a:r>
          </a:p>
          <a:p/>
          <a:p>
            <a:r>
              <a:t>- Loose coupling and REST</a:t>
            </a:r>
          </a:p>
          <a:p/>
          <a:p>
            <a:r>
              <a:t>  Services interact through defined contracts, not each other's internals.</a:t>
            </a:r>
          </a:p>
          <a:p/>
          <a:p>
            <a:r>
              <a:t>  Where an immediate response is needed, the Order Service calls the Payment Service through a REST API.</a:t>
            </a:r>
          </a:p>
          <a:p/>
          <a:p>
            <a:r>
              <a:t>- Messaging and events</a:t>
            </a:r>
          </a:p>
          <a:p/>
          <a:p>
            <a:r>
              <a:t>  Where downstream work can be asynchronous, the Order Service publishes OrderCreated to a message broker.</a:t>
            </a:r>
          </a:p>
          <a:p/>
          <a:p>
            <a:r>
              <a:t>  Inventory and Shipping consume it.</a:t>
            </a:r>
          </a:p>
          <a:p/>
          <a:p>
            <a:r>
              <a:t>- Data and state</a:t>
            </a:r>
          </a:p>
          <a:p/>
          <a:p>
            <a:r>
              <a:t>  Each service owns its own data, so there is no random database access across services.</a:t>
            </a:r>
          </a:p>
          <a:p/>
          <a:p>
            <a:r>
              <a:t>  Instances stay replaceable and horizontally scalable, with durable state kept outside them.</a:t>
            </a:r>
          </a:p>
          <a:p/>
          <a:p>
            <a:r>
              <a:t>- The design sequence</a:t>
            </a:r>
          </a:p>
          <a:p/>
          <a:p>
            <a:r>
              <a:t>  Read the sequence on the right, top to bottom.</a:t>
            </a:r>
          </a:p>
          <a:p/>
          <a:p>
            <a:r>
              <a:t>  Business domain, bounded context, service boundary, cohesion and coupling, API contract, communication strategy, data and state ownership.</a:t>
            </a:r>
          </a:p>
          <a:p/>
          <a:p>
            <a:r>
              <a:t>  The result is a scalable microservice.</a:t>
            </a:r>
          </a:p>
          <a:p/>
          <a:p>
            <a:r>
              <a:t>- Final message</a:t>
            </a:r>
          </a:p>
          <a:p/>
          <a:p>
            <a:r>
              <a:t>  Good microservices design starts with business boundaries, not REST controllers.</a:t>
            </a:r>
          </a:p>
          <a:p/>
          <a:p>
            <a:r>
              <a:t>  Next module, we move from design into Spring Boot implementation.</a:t>
            </a:r>
          </a:p>
          <a:p/>
          <a:p>
            <a:r>
              <a:t>- What it shows</a:t>
            </a:r>
          </a:p>
          <a:p/>
          <a:p>
            <a:r>
              <a:t>  The complete design: an API gateway, service boundaries, REST calls, messaging, service-owned data and stateless instances.</a:t>
            </a:r>
          </a:p>
          <a:p/>
          <a:p>
            <a:r>
              <a:t>- How to use it</a:t>
            </a:r>
          </a:p>
          <a:p/>
          <a:p>
            <a:r>
              <a:t>  Walk through it as a recap.</a:t>
            </a:r>
          </a:p>
          <a:p/>
          <a:p>
            <a:r>
              <a:t>  Every piece comes from an earlier slide in this module.</a:t>
            </a:r>
          </a:p>
          <a:p/>
          <a:p>
            <a:r>
              <a:t>- Key point</a:t>
            </a:r>
          </a:p>
          <a:p/>
          <a:p>
            <a:r>
              <a:t>  Good design combines clear boundaries, the right communication style and independent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REST resource</a:t>
            </a:r>
          </a:p>
          <a:p/>
          <a:p>
            <a:r>
              <a:t>  A business object or concept exposed through an API, like an order.</a:t>
            </a:r>
          </a:p>
          <a:p/>
          <a:p>
            <a:r>
              <a:t>- 2. Nouns in URIs</a:t>
            </a:r>
          </a:p>
          <a:p/>
          <a:p>
            <a:r>
              <a:t>  The URI identifies the resource; the HTTP method expresses the action.</a:t>
            </a:r>
          </a:p>
          <a:p/>
          <a:p>
            <a:r>
              <a:t>- 3. Creating</a:t>
            </a:r>
          </a:p>
          <a:p/>
          <a:p>
            <a:r>
              <a:t>  POST.</a:t>
            </a:r>
          </a:p>
          <a:p/>
          <a:p>
            <a:r>
              <a:t>- 4. Created</a:t>
            </a:r>
          </a:p>
          <a:p/>
          <a:p>
            <a:r>
              <a:t>  201 Created.</a:t>
            </a:r>
          </a:p>
          <a:p/>
          <a:p>
            <a:r>
              <a:t>- 5. DTOs</a:t>
            </a:r>
          </a:p>
          <a:p/>
          <a:p>
            <a:r>
              <a:t>  They protect internal models, control the payload, support validation and avoid exposing sensitive fields.</a:t>
            </a:r>
          </a:p>
          <a:p/>
          <a:p>
            <a:r>
              <a:t>- 6. Loose coupling</a:t>
            </a:r>
          </a:p>
          <a:p/>
          <a:p>
            <a:r>
              <a:t>  Services depend on each other as little as practical — on contracts, not internals.</a:t>
            </a:r>
          </a:p>
          <a:p/>
          <a:p>
            <a:r>
              <a:t>- 7. High cohesion</a:t>
            </a:r>
          </a:p>
          <a:p/>
          <a:p>
            <a:r>
              <a:t>  A service contains closely related responsibilities.</a:t>
            </a:r>
          </a:p>
          <a:p/>
          <a:p>
            <a:r>
              <a:t>- 8. Bounded context</a:t>
            </a:r>
          </a:p>
          <a:p/>
          <a:p>
            <a:r>
              <a:t>  A boundary where a domain model and its terms have one specific meaning.</a:t>
            </a:r>
          </a:p>
          <a:p/>
          <a:p>
            <a:r>
              <a:t>- 9. Messaging</a:t>
            </a:r>
          </a:p>
          <a:p/>
          <a:p>
            <a:r>
              <a:t>  When work can happen asynchronously or several services need to react to an event.</a:t>
            </a:r>
          </a:p>
          <a:p/>
          <a:p>
            <a:r>
              <a:t>- 10. OpenAPI</a:t>
            </a:r>
          </a:p>
          <a:p/>
          <a:p>
            <a:r>
              <a:t>  Endpoints, schemas, status codes, parameters and security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 for Module 2.</a:t>
            </a:r>
          </a:p>
          <a:p/>
          <a:p>
            <a:r>
              <a:t>  Use the worksheet in labs/day-01/exercises.</a:t>
            </a:r>
          </a:p>
          <a:p/>
          <a:p>
            <a:r>
              <a:t>- The API</a:t>
            </a:r>
          </a:p>
          <a:p/>
          <a:p>
            <a:r>
              <a:t>  The account is the resource: POST to create, GET to read, PATCH to update, and action endpoints to activate, freeze and close.</a:t>
            </a:r>
          </a:p>
          <a:p/>
          <a:p>
            <a:r>
              <a:t>  Accounts are never deleted.</a:t>
            </a:r>
          </a:p>
          <a:p/>
          <a:p>
            <a:r>
              <a:t>- Status rules</a:t>
            </a:r>
          </a:p>
          <a:p/>
          <a:p>
            <a:r>
              <a:t>  PENDING goes to ACTIVE, then to FROZEN or CLOSED.</a:t>
            </a:r>
          </a:p>
          <a:p/>
          <a:p>
            <a:r>
              <a:t>  Freezing a pending account returns 409 Conflict.</a:t>
            </a:r>
          </a:p>
          <a:p/>
          <a:p>
            <a:r>
              <a:t>  Repeating the same action returns 200.</a:t>
            </a:r>
          </a:p>
          <a:p/>
          <a:p>
            <a:r>
              <a:t>- Scope</a:t>
            </a:r>
          </a:p>
          <a:p/>
          <a:p>
            <a:r>
              <a:t>  Account owns accounts only.</a:t>
            </a:r>
          </a:p>
          <a:p/>
          <a:p>
            <a:r>
              <a:t>  Transactions and risk scores belong to other contexts.</a:t>
            </a:r>
          </a:p>
          <a:p/>
          <a:p>
            <a:r>
              <a:t>  Don't add Customer or Notification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found boundaries, designed REST contracts, chose communication styles and decided where state lives.</a:t>
            </a:r>
          </a:p>
          <a:p/>
          <a:p>
            <a:r>
              <a:t>- Next module</a:t>
            </a:r>
          </a:p>
          <a:p/>
          <a:p>
            <a:r>
              <a:t>  Module 3 builds the Account Service in Spring Boot: controllers, services, repositories, configuration, validation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"Good microservices design starts with business boundaries — not REST controllers."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From business domains to well-designed, independently evolving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Service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458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Loose coupling &amp; high cohesion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RESTful API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Integration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Service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Stateless vs. stateful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Define boundaries, design REST APIs, choose communication and understand state.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82641" cy="38264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82641" cy="3826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252728"/>
            <a:ext cx="4984887" cy="3826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164"/>
            <a:ext cx="5440680" cy="19582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Identify appropriate service boundaries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Apply loose coupling and high cohesion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Explain bounded contexts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Design RESTful APIs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Compare API and messaging integration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Select communication strategies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Explain stateless and stateful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749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WHY IT MATTERS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These answers decide whether the architecture really supports independent deployment and scaling.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243584"/>
            <a:ext cx="5056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THREE MAJOR DESIGN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8231" y="1892808"/>
            <a:ext cx="475488" cy="47548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819656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Where should we create service boundaries?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295144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Nirmala UI"/>
              </a:rPr>
              <a:t>Should Payment be part of Order Service — or its own service?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81528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8231" y="3282696"/>
            <a:ext cx="475488" cy="47548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3209544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How should services communicate?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685032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Nirmala UI"/>
              </a:rPr>
              <a:t>REST?  gRPC?  Messaging?  Events?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71416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4672584"/>
            <a:ext cx="475488" cy="47548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4599432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Where should state live?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5074920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Nirmala UI"/>
              </a:rPr>
              <a:t>With several Order Service instances, can any instance handle the next request?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Boundaries, communication and state decide whether services can really deploy and scale independently.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Bounded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boundary inside which one domain model and its words have one exact meaning.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Loose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Services can change and deploy without forcing changes in other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High cohesion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Everything a service contains belongs to the same business purpose.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Strangler 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Replacing a monolith gradually by moving features, one by one, to new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Resource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thing an API exposes, such as an order, named with a noun in the URL.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Idempotency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Repeating the same request has the same effect as sending it once.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API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agreed request, response and error format that consumers depend 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Stateless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service that keeps no client session in memory, so any instance can handle any request.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Backend for 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Create, Read, Update, 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Domain-Driven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Transfer Object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 Secure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Jakarta Persistence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Virtual Machine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Remote Procedure 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Transport Layer Security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Identifier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24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Locator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1 TO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Principles are in place — now we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1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monoliths struggle to change and scale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makes a service a microservice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Data ownership and API / event communication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cost of distribution and designing for failure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Twelve-Factor and DevOps habits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Turn those principles into concrete design decisions.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SEVEN-STEP DESIGN PATH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Understand the business requirement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Identify business 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Define the domain and bounded contexts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Identify service boundaries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responsibilities and API contracts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communication and state strategy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Parts 3–4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Validate and refine the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Exercise 1.2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moves from business requirements to boundaries, contracts, communication and state — in that order.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FINDING SERVICE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Boundaries decide almost everything that follows.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boundaries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REST API design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communication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State and the blueprint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Microservices own business capabilities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They deploy, scale and store data independently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Independence costs network calls and failure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Where exactly should one service end and the next begin?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From business domain to candidate 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makes a good boundary — and the right size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Coupling and cohesion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Domain-Driven Design and bounded contexts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Decomposition, with an exercise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Migrating safely and avoiding the distributed monolith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BUSINESS DOMAIN TO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business capabilities become candidate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1288"/>
            <a:ext cx="7415783" cy="34897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94440"/>
            <a:ext cx="7269480" cy="33434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the business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Manage customers and products, create orders, take payments, manage stock and 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907791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6265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Capabilities →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73551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Management → Order Service; Payment Processing → Payment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33120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33120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CANDIDATES, NOT FINAL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Domain analysis, teams and change patterns decide.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with the business domain — not with “how many services should we create?”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MAKES A GOOD MICROSERVICE BOUNDARY?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Business ownership, data ownership, change patterns and autonomy.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93049"/>
            <a:ext cx="7415783" cy="37462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6201"/>
            <a:ext cx="7269480" cy="35999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 SERVICE: GOOD FIT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Authorize payment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Capture payment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Refund payment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Doesn't belong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Update shipping address → Shipping, not Payment.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What changes together? It belongs together.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Things that change together belong together; things that must evolve independently may need separate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RIGHT-SIZING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Not too fine, not too coarse — sized to one capability and one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627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36271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352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TOO FINE-GRAINED</a:t>
            </a:r>
          </a:p>
        </p:txBody>
      </p:sp>
      <p:sp>
        <p:nvSpPr>
          <p:cNvPr id="7" name="Oval 6"/>
          <p:cNvSpPr/>
          <p:nvPr/>
        </p:nvSpPr>
        <p:spPr>
          <a:xfrm>
            <a:off x="621792" y="18562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Chatty network calls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21671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39696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High operational overhead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24780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450591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table = one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1298448"/>
            <a:ext cx="3627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267200" y="1298448"/>
            <a:ext cx="36271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360" y="1298448"/>
            <a:ext cx="3352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RIGHT-SIZED</a:t>
            </a:r>
          </a:p>
        </p:txBody>
      </p:sp>
      <p:sp>
        <p:nvSpPr>
          <p:cNvPr id="16" name="Oval 15"/>
          <p:cNvSpPr/>
          <p:nvPr/>
        </p:nvSpPr>
        <p:spPr>
          <a:xfrm>
            <a:off x="4431792" y="185623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7552" y="1828800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business capability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4431792" y="216712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7552" y="2139696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Owned by one team</a:t>
            </a:r>
          </a:p>
        </p:txBody>
      </p:sp>
      <p:sp>
        <p:nvSpPr>
          <p:cNvPr id="20" name="Oval 19"/>
          <p:cNvSpPr/>
          <p:nvPr/>
        </p:nvSpPr>
        <p:spPr>
          <a:xfrm>
            <a:off x="4431792" y="247802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7552" y="2450591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Deploys independently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298448"/>
            <a:ext cx="3627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077200" y="1298448"/>
            <a:ext cx="36271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4360" y="1298448"/>
            <a:ext cx="3352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TOO COARSE-GRAINED</a:t>
            </a:r>
          </a:p>
        </p:txBody>
      </p:sp>
      <p:sp>
        <p:nvSpPr>
          <p:cNvPr id="25" name="Oval 24"/>
          <p:cNvSpPr/>
          <p:nvPr/>
        </p:nvSpPr>
        <p:spPr>
          <a:xfrm>
            <a:off x="8241792" y="1856231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552" y="1828800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Many unrelated capabilities</a:t>
            </a:r>
          </a:p>
        </p:txBody>
      </p:sp>
      <p:sp>
        <p:nvSpPr>
          <p:cNvPr id="27" name="Oval 26"/>
          <p:cNvSpPr/>
          <p:nvPr/>
        </p:nvSpPr>
        <p:spPr>
          <a:xfrm>
            <a:off x="8241792" y="2167127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7552" y="2139696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Teams block each other</a:t>
            </a:r>
          </a:p>
        </p:txBody>
      </p:sp>
      <p:sp>
        <p:nvSpPr>
          <p:cNvPr id="29" name="Oval 28"/>
          <p:cNvSpPr/>
          <p:nvPr/>
        </p:nvSpPr>
        <p:spPr>
          <a:xfrm>
            <a:off x="8241792" y="2478023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7552" y="2450591"/>
            <a:ext cx="298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distributed monolith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01568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ASK FOR EVERY SERVICE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377647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749039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Which business capability does it own?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408736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059935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Which data does it own?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39826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370831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Which team owns it?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470915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81727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How often does it change — and scale?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401568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WARNING SIGNS OF POOR BOUNDARIES</a:t>
            </a:r>
          </a:p>
        </p:txBody>
      </p:sp>
      <p:sp>
        <p:nvSpPr>
          <p:cNvPr id="41" name="Oval 40"/>
          <p:cNvSpPr/>
          <p:nvPr/>
        </p:nvSpPr>
        <p:spPr>
          <a:xfrm>
            <a:off x="6263640" y="377647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749039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feature needs changes in many services</a:t>
            </a:r>
          </a:p>
        </p:txBody>
      </p:sp>
      <p:sp>
        <p:nvSpPr>
          <p:cNvPr id="43" name="Oval 42"/>
          <p:cNvSpPr/>
          <p:nvPr/>
        </p:nvSpPr>
        <p:spPr>
          <a:xfrm>
            <a:off x="6263640" y="408736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059935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Services share tables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39826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4370831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Services can't deploy on their own</a:t>
            </a:r>
          </a:p>
        </p:txBody>
      </p:sp>
      <p:sp>
        <p:nvSpPr>
          <p:cNvPr id="47" name="Oval 46"/>
          <p:cNvSpPr/>
          <p:nvPr/>
        </p:nvSpPr>
        <p:spPr>
          <a:xfrm>
            <a:off x="6263640" y="470915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4681727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same business rule lives in several services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Right-sized services balance independent deployment against the cost of running many small services.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LOOSE COUPLING AND HIGH COHESION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fundamental characteristics of well-designed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62763"/>
            <a:ext cx="7415783" cy="300679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5915"/>
            <a:ext cx="7269480" cy="28604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High cohesion — inside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Authorize, capture, refund and status all live in Payment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ORDER DOESN'T NEED TO KNOW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09676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933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Payment's tables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40766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8023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Its Java classes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7185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69112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Its internal algorithms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Cohesive inside, loosely coupled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related payment behavior together, and let other services depend only on its contract.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UNDERSTANDING COUPLING BETWEEN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Contract, data, temporal and deployment coupling.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3755" y="1316736"/>
            <a:ext cx="6359249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07" y="1389888"/>
            <a:ext cx="6212945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81137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390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Depends on another service's API shape.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237841"/>
            <a:ext cx="3520440" cy="81137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29270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03601"/>
            <a:ext cx="3246120" cy="390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Several services depend on one schema.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177235"/>
            <a:ext cx="3520440" cy="81137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3209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Temporal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542995"/>
            <a:ext cx="3246120" cy="390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B must be up when A calls.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116628"/>
            <a:ext cx="3520440" cy="81137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1714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82388"/>
            <a:ext cx="3246120" cy="390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Changing A forces B to redeploy.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5056022"/>
            <a:ext cx="3520440" cy="77784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5056022"/>
            <a:ext cx="3154680" cy="777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THE GOAL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Intentional, manageable coupling — not zero.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 which kind of coupling you are creating — and keep it intentional and manageable.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HIGH COHESION WITHIN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Keep closely related business behavior and data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04202"/>
            <a:ext cx="7415783" cy="39239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7354"/>
            <a:ext cx="7269480" cy="37776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067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Service owns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486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Create, modify, cancel and track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333244"/>
            <a:ext cx="3520440" cy="12786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3881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Shared business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99004"/>
            <a:ext cx="3246120" cy="858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Pricing or eligibility rules in a shared library force services to release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Safe to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Technical utilities: logging, tracing, HTTP client wrappers.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QUICK TEST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Describe the service in one short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service should have one clear business purpose.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INTRODUCTION TO DOMAIN-DRIVEN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Domain, subdomains, domain model, bounded contexts and candidate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61377" y="1316736"/>
            <a:ext cx="9638764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29" y="1389888"/>
            <a:ext cx="9492460" cy="27340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business area — here, e-commerce.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Subdomains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Core: invest most. Supporting: build simply. Generic: buy or reuse.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Ubiquitous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vocabulary shared by developers and business experts.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Bounded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Where a model and its terms have one meaning.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just enough DDD to find good service boundaries — starting from a shared business language.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BOUNDED CONTEXTS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Clear model and responsibility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58242"/>
            <a:ext cx="7415783" cy="30158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1394"/>
            <a:ext cx="7269480" cy="28695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Same word, different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“Customer” is an ID and shipping address in Ordering, but name, email and preferences in Customer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907791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6265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Own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73551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Order: line items, status. Payment: refunds, authorizations.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33120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33120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BIG SHIFT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 single enterprise-wide object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Inside each bounded context, the model and its terms have one clear meaning.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BOUNDED CONTEXT → SERVICE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Contexts inform candidate services — without a strict 1:1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29119"/>
            <a:ext cx="7415783" cy="32740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2271"/>
            <a:ext cx="7269480" cy="31277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Bounded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domain modeling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Microservice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architecture and deployment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7734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POSSIBLE OUTCOMES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14832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208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Often: one context → one service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45922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43179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Large context → several services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477012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74268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 stay a module for now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the business model inform the architecture — not blindly dictate the number of deployments.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 DECOMPOSITION WITH OWNED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Six capabilities behind one gateway, each with its own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4264"/>
            <a:ext cx="7415783" cy="31237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7416"/>
            <a:ext cx="7269480" cy="29774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Customer ·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Profiles and preferences; product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·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lifecycle; authorize, capture and refund.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0014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Inventory · 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1104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Stock and reservations; shipments and tracking.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Breaking down the business produces candidate services with clear responsibilities.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GROUP FEATURES INTO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Practice bounded contexts and high cohesion on the order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2061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order platform needs these features: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open a customer account · view a product · add to cart · place an order · charge a card · refund a payment · reserve stock · print a shipping label · email a receipt · flag a suspicious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Group the features into services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data each service owns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one feature that could go either way — and decide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Customer, Catalog, Order, Payment, Inventory, Shipping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Notification owns receipt emails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Fraud checks: separate if they change often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service owns its own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Group features by business capability and the data they change together.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DECOMPOSING A MONOLITH: THE STRANGLER 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Replace a monolith one capability at a time — safely.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8940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376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1  Put a gateway in front</a:t>
            </a:r>
          </a:p>
        </p:txBody>
      </p:sp>
      <p:sp>
        <p:nvSpPr>
          <p:cNvPr id="6" name="Chevron 5"/>
          <p:cNvSpPr/>
          <p:nvPr/>
        </p:nvSpPr>
        <p:spPr>
          <a:xfrm>
            <a:off x="3223260" y="1298448"/>
            <a:ext cx="2948940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42716" y="1298448"/>
            <a:ext cx="25557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2  Build the new service beside it</a:t>
            </a:r>
          </a:p>
        </p:txBody>
      </p:sp>
      <p:sp>
        <p:nvSpPr>
          <p:cNvPr id="8" name="Chevron 7"/>
          <p:cNvSpPr/>
          <p:nvPr/>
        </p:nvSpPr>
        <p:spPr>
          <a:xfrm>
            <a:off x="5989320" y="1298448"/>
            <a:ext cx="2948940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8776" y="1298448"/>
            <a:ext cx="25557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3  Route that traffic to it</a:t>
            </a:r>
          </a:p>
        </p:txBody>
      </p:sp>
      <p:sp>
        <p:nvSpPr>
          <p:cNvPr id="10" name="Chevron 9"/>
          <p:cNvSpPr/>
          <p:nvPr/>
        </p:nvSpPr>
        <p:spPr>
          <a:xfrm>
            <a:off x="8755380" y="1298448"/>
            <a:ext cx="2948940" cy="73152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4836" y="1298448"/>
            <a:ext cx="25557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4  Retire the old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58568"/>
            <a:ext cx="3627120" cy="13906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Stages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24328"/>
            <a:ext cx="3352800" cy="970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gateway sends everything to the monolith while the new Order Service is built and tested beside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2258568"/>
            <a:ext cx="3627120" cy="13906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231343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2624328"/>
            <a:ext cx="3352800" cy="970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gateway routes /orders to Order Service. Everything else still goes to the monolith.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2258568"/>
            <a:ext cx="3627120" cy="13906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4360" y="231343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Stage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4360" y="2624328"/>
            <a:ext cx="3352800" cy="970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 code is removed from the monolith. Repeat for the next capability.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04488"/>
            <a:ext cx="5440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WHY IT WORKS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2793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monolith keeps serving traffic the whole time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59028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62856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step is small and reversible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90118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73752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capability is validated on real traffic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904488"/>
            <a:ext cx="5440680" cy="110337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5935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Where to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70248"/>
            <a:ext cx="5166360" cy="682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low-risk, high-value seam with clear data ownership — in the lab, Account Service.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135880"/>
            <a:ext cx="5440680" cy="697991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135880"/>
            <a:ext cx="5074920" cy="6979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AVOID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big-bang rewrite that switches everything at once.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Migrate one capability at a time while the monolith keeps running — never all at once.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AVOIDING THE DISTRIBUTED MONOLITH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excessive dependencies defeat microservice independence.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36597"/>
            <a:ext cx="7415783" cy="28591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9749"/>
            <a:ext cx="7269480" cy="27128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WARNING SIGNS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must deploy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Excessive synchronous calls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Shared database tables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know each other's internals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LOOKS LIKE MICROSERVICES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…but behaves like one tightly coupled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Microservices are about independent evolution — not simply separate processes.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SPOT THE TIGHT 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Mark each design good or bad — and fix the bad 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373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2495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1. Order Service updates the Inventory database directly.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2. Order Service calls Inventory's API to reserve stock.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3. Notification polls the Order database every 5 seconds.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4. Order publishes OrderPlaced; Notification reacts.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5. Order and Payment share a pricing-rules library and must release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373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each design good or bad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type of coupling for each bad one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Suggest a better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373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Bad: data coupling → call the API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 Good: contract only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Bad: data coupling → consume events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Good: loose, asynchronous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33527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Bad: deployment coupling → rules stay with the owner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Services should never own each other's databases or internal logic.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DESIGNING REST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contract is what other teams depend on.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boundaries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REST API design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communication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State and the blueprint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Boundaries follow business capabilities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Coupling is intentional; cohesion is high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Bounded contexts guide where services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should the contract between a service and its callers look like?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REST in microservices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Resources and URIs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HTTP methods and idempotency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Status codes and a Spring Boot controller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DTOs, validation and errors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Versioning, OpenAPI and API security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RESTFUL APIS IN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REST as a synchronous service communication mechanism.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61420"/>
            <a:ext cx="7415783" cy="260947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4572"/>
            <a:ext cx="7269480" cy="2463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REST BUILDING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HTTP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Representations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Stateless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57860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Payment Service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907792"/>
            <a:ext cx="3520440" cy="7071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POST /payments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GET  /payments/{id}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74294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4294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REST ≠ MICROSERVICES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Neither implies the 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REST is one common mechanism for synchronous service communication.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RESOURCE-ORIENTED 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Resources, URIs and nouns: /orders, /customers, /products.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16650"/>
            <a:ext cx="7415783" cy="369901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9802"/>
            <a:ext cx="7269480" cy="3552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 RPC-STYLE URLS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/getAllOrders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/createNewOrder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/deleteOrderById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 it 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 /orders/123 — retrieve the representation of order 123.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BE PRAGMATIC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Action endpoints can fit; resources are the default.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Name resources with nouns and let the HTTP method express the 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HTTP METHODS AND CRUD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GET, POST, PUT, PATCH and DELETE — used with the correct intent.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400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240280"/>
                <a:gridCol w="2743200"/>
              </a:tblGrid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Nirmala UI"/>
                        </a:rPr>
                        <a:t>HTTP Method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Nirmala UI"/>
                        </a:rPr>
                        <a:t>Typical Purpose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Nirmala UI"/>
                        </a:rPr>
                        <a:t>Example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Retrieve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GET /orders/123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POST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Create / process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POST /orders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Replace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PUT /customers/123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PATCH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Partial update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PATCH /orders/123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DELETE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Remove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DELETE /orders/123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Nirmala UI"/>
              </a:rPr>
              <a:t>GET should not change application state as its intended effect.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280160"/>
            <a:ext cx="4434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7269480" y="1280160"/>
            <a:ext cx="4434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2801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IDEMPOTENCY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56231"/>
            <a:ext cx="2331720" cy="5029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400" b="0" i="0">
                <a:solidFill>
                  <a:srgbClr val="000000"/>
                </a:solidFill>
                <a:latin typeface="Consolas"/>
              </a:rPr>
              <a:t>PUT /customers/123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856231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  <a:latin typeface="Nirmala UI"/>
              </a:rPr>
              <a:t>#1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514600"/>
            <a:ext cx="2331720" cy="5029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400" b="0" i="0">
                <a:solidFill>
                  <a:srgbClr val="000000"/>
                </a:solidFill>
                <a:latin typeface="Consolas"/>
              </a:rPr>
              <a:t>PUT /customers/123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251460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  <a:latin typeface="Nirmala UI"/>
              </a:rPr>
              <a:t>#2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78440" y="2112264"/>
            <a:ext cx="292608" cy="338327"/>
          </a:xfrm>
          <a:prstGeom prst="line">
            <a:avLst/>
          </a:prstGeom>
          <a:ln w="25400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378440" y="2468880"/>
            <a:ext cx="292608" cy="301752"/>
          </a:xfrm>
          <a:prstGeom prst="line">
            <a:avLst/>
          </a:prstGeom>
          <a:ln w="25400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707624" y="2157984"/>
            <a:ext cx="813816" cy="64008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Same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91840"/>
            <a:ext cx="4069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Nirmala UI"/>
              </a:rPr>
              <a:t>Repeating the same PUT has the same intended effect as doing it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279392"/>
            <a:ext cx="4069080" cy="77724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002060"/>
                </a:solidFill>
                <a:latin typeface="Nirmala UI"/>
              </a:rPr>
              <a:t>This matters when retries happen in distributed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each HTTP method for its intended meaning — idempotency matters once retries happen.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SAFE OPERATIONS AND IDEMPOTENCY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Which requests can be retried safely — and how to make POST retry-safe.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55778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237744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irmala UI"/>
                        </a:rPr>
                        <a:t>Method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irmala UI"/>
                        </a:rPr>
                        <a:t>Safe?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irmala UI"/>
                        </a:rPr>
                        <a:t>Idempotent?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Nirmala UI"/>
                        </a:rP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Nirmala UI"/>
                        </a:rPr>
                        <a:t>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Nirmala UI"/>
                        </a:rPr>
                        <a:t>DELETE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Nirmala UI"/>
                        </a:rPr>
                        <a:t>PATCH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Not by default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Nirmala UI"/>
                        </a:rP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6355079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4264" y="1298448"/>
            <a:ext cx="5020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Retry-safe order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627632"/>
            <a:ext cx="5349240" cy="13014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POST /orders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Idempotency-Key: 7f3a-checkout-001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→ 201 Created        (first request)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→ 200 OK, same order (retry)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3057144"/>
            <a:ext cx="53492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112008"/>
            <a:ext cx="5074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22904"/>
            <a:ext cx="50749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server stores the key with the result and returns the original response for repeats.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4480560"/>
            <a:ext cx="53492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4480560"/>
            <a:ext cx="49834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double-tap must not create two orders or two charges.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Safe methods never change state; idempotency keys make retries of POST safe.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HTTP STATUS CODES AND API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2xx, 4xx and 5xx — with consistent response and error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2728"/>
            <a:ext cx="23317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52728"/>
            <a:ext cx="2331720" cy="51206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2057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2XX 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8745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8745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3317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317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Created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7889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204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7889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1252728"/>
            <a:ext cx="23317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2953512" y="1252728"/>
            <a:ext cx="2331720" cy="51206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1252728"/>
            <a:ext cx="2057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4XX  CLIENT / REQUEST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1528" y="18745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C9690C"/>
                </a:solidFill>
                <a:latin typeface="Nirmala UI"/>
              </a:rPr>
              <a:t>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18745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Bad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81528" y="23317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C9690C"/>
                </a:solidFill>
                <a:latin typeface="Nirmala UI"/>
              </a:rPr>
              <a:t>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3317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Unauthorized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81528" y="27889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C9690C"/>
                </a:solidFill>
                <a:latin typeface="Nirmala UI"/>
              </a:rPr>
              <a:t>403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27889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Forbidden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81528" y="32461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C9690C"/>
                </a:solidFill>
                <a:latin typeface="Nirmala UI"/>
              </a:rPr>
              <a:t>404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32461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Not Found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81528" y="37033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C9690C"/>
                </a:solidFill>
                <a:latin typeface="Nirmala UI"/>
              </a:rPr>
              <a:t>409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37033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Conflict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1252728"/>
            <a:ext cx="23317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5449824" y="1252728"/>
            <a:ext cx="2331720" cy="51206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6984" y="1252728"/>
            <a:ext cx="2057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5XX  SERVER-SIDE FAILURE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18745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8745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Internal Server Error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2331720"/>
            <a:ext cx="658368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503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331720"/>
            <a:ext cx="13807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 Unavailable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25696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EXAMPLES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91456"/>
            <a:ext cx="2331720" cy="84124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Order created</a:t>
            </a:r>
          </a:p>
          <a:p>
            <a:pPr algn="ctr"/>
            <a:r>
              <a:rPr sz="1500" b="1" i="0">
                <a:solidFill>
                  <a:srgbClr val="2E7D32"/>
                </a:solidFill>
                <a:latin typeface="Nirmala UI"/>
              </a:rPr>
              <a:t>201 Created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53512" y="4791456"/>
            <a:ext cx="2331720" cy="84124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Order doesn't exist</a:t>
            </a:r>
          </a:p>
          <a:p>
            <a:pPr algn="ctr"/>
            <a:r>
              <a:rPr sz="1500" b="1" i="0">
                <a:solidFill>
                  <a:srgbClr val="C9690C"/>
                </a:solidFill>
                <a:latin typeface="Nirmala UI"/>
              </a:rPr>
              <a:t>404 Not Found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9824" y="4791456"/>
            <a:ext cx="2331720" cy="841248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Invalid input</a:t>
            </a:r>
          </a:p>
          <a:p>
            <a:pPr algn="ctr"/>
            <a:r>
              <a:rPr sz="1500" b="1" i="0">
                <a:solidFill>
                  <a:srgbClr val="C9690C"/>
                </a:solidFill>
                <a:latin typeface="Nirmala UI"/>
              </a:rPr>
              <a:t>400 Bad Request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5" y="1252728"/>
            <a:ext cx="3621024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8083295" y="1252728"/>
            <a:ext cx="3621024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5" y="1252728"/>
            <a:ext cx="33467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CONSISTENT ERROR RESPONSE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7887" y="1783080"/>
            <a:ext cx="3291840" cy="41148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Error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47887" y="2286000"/>
            <a:ext cx="3291840" cy="41148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Message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7887" y="2788920"/>
            <a:ext cx="3291840" cy="41148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Timestamp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7887" y="3291840"/>
            <a:ext cx="3291840" cy="41148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Correlation / trace 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47887" y="3794760"/>
            <a:ext cx="3291840" cy="41148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Relevant 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7" y="4361688"/>
            <a:ext cx="3291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Nirmala UI"/>
              </a:rPr>
              <a:t>Clients shouldn't reverse-engineer failures from arbitrary strings.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Status codes and a consistent error model are part of the API contract.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SPRING BOOT REST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 Service exposes /orders — and the controller stays thin.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OrderController.java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7315200" cy="40751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@RestController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@RequestMapping("/orders")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class OrderController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private final OrderService orders;  // injected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@GetMapping("/{id}")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public OrderResponse get(@PathVariable String id)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return orders.find(id);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@PostMapping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public ResponseEntity&lt;OrderResponse&gt; create(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   @Valid @RequestBody CreateOrderRequest req)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OrderResponse created = orders.create(req);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return ResponseEntity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   .created(URI.create("/orders/" + created.id()))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   .body(created);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98448"/>
            <a:ext cx="365760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353312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664208"/>
            <a:ext cx="338328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@RequestMapping("/orders") names the resource.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5654"/>
            <a:ext cx="365760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620518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GET by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931414"/>
            <a:ext cx="338328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@GetMapping("/{id}") reads one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646932"/>
            <a:ext cx="365760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701795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201 +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012692"/>
            <a:ext cx="338328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 returns 201 Created and where to find the new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914138"/>
            <a:ext cx="365760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914138"/>
            <a:ext cx="329184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THIN CONTROLLER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Business rules live in OrderService.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Controllers map HTTP to the service layer — URLs, methods and status codes, nothing more.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STABLE MICROSERVICE API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DTOs, validation, compatibility, versioning — and no implementation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2728"/>
            <a:ext cx="2651760" cy="512064"/>
          </a:xfrm>
          <a:prstGeom prst="roundRect">
            <a:avLst>
              <a:gd name="adj" fmla="val 14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Internal Domain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83080" y="1792224"/>
            <a:ext cx="0" cy="18288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02536"/>
            <a:ext cx="265176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542032"/>
            <a:ext cx="0" cy="18288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752344"/>
            <a:ext cx="2651760" cy="512064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API Contract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3291840"/>
            <a:ext cx="0" cy="18288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502152"/>
            <a:ext cx="2651760" cy="512064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Consumer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252728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18488"/>
            <a:ext cx="1920240" cy="56692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D1282E"/>
                </a:solidFill>
                <a:latin typeface="Nirmala UI"/>
              </a:rPr>
              <a:t>Database Entity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22392" y="1901952"/>
            <a:ext cx="676656" cy="0"/>
          </a:xfrm>
          <a:prstGeom prst="line">
            <a:avLst/>
          </a:prstGeom>
          <a:ln w="22225">
            <a:solidFill>
              <a:srgbClr val="B04A4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0" y="1618488"/>
            <a:ext cx="1920240" cy="56692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D1282E"/>
                </a:solidFill>
                <a:latin typeface="Nirmala UI"/>
              </a:rPr>
              <a:t>JSON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0" y="1737360"/>
            <a:ext cx="329184" cy="32918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68296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Nirmala UI"/>
              </a:rPr>
              <a:t>PREFER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734056"/>
            <a:ext cx="1325880" cy="658368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Entity / Domain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28032" y="3063240"/>
            <a:ext cx="237744" cy="0"/>
          </a:xfrm>
          <a:prstGeom prst="line">
            <a:avLst/>
          </a:prstGeom>
          <a:ln w="22225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3208" y="2734056"/>
            <a:ext cx="1325880" cy="658368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46520" y="3063240"/>
            <a:ext cx="237744" cy="0"/>
          </a:xfrm>
          <a:prstGeom prst="line">
            <a:avLst/>
          </a:prstGeom>
          <a:ln w="22225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11696" y="2734056"/>
            <a:ext cx="1325880" cy="658368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API DTO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5204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Nirmala UI"/>
              </a:rPr>
              <a:t>The DTO becomes the external contract.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252728"/>
            <a:ext cx="3291839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412480" y="1252728"/>
            <a:ext cx="3291839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252728"/>
            <a:ext cx="3017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PROTECT THE CONTRACT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0" y="184708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764792"/>
            <a:ext cx="2606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DTOs</a:t>
            </a:r>
          </a:p>
        </p:txBody>
      </p:sp>
      <p:sp>
        <p:nvSpPr>
          <p:cNvPr id="28" name="Oval 27"/>
          <p:cNvSpPr/>
          <p:nvPr/>
        </p:nvSpPr>
        <p:spPr>
          <a:xfrm>
            <a:off x="8595360" y="226771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185416"/>
            <a:ext cx="2606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Validation</a:t>
            </a:r>
          </a:p>
        </p:txBody>
      </p:sp>
      <p:sp>
        <p:nvSpPr>
          <p:cNvPr id="30" name="Oval 29"/>
          <p:cNvSpPr/>
          <p:nvPr/>
        </p:nvSpPr>
        <p:spPr>
          <a:xfrm>
            <a:off x="8595360" y="268833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606040"/>
            <a:ext cx="2606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Compatibility</a:t>
            </a:r>
          </a:p>
        </p:txBody>
      </p:sp>
      <p:sp>
        <p:nvSpPr>
          <p:cNvPr id="32" name="Oval 31"/>
          <p:cNvSpPr/>
          <p:nvPr/>
        </p:nvSpPr>
        <p:spPr>
          <a:xfrm>
            <a:off x="8595360" y="310896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026664"/>
            <a:ext cx="2606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Versioning strategy</a:t>
            </a:r>
          </a:p>
        </p:txBody>
      </p:sp>
      <p:sp>
        <p:nvSpPr>
          <p:cNvPr id="34" name="Oval 33"/>
          <p:cNvSpPr/>
          <p:nvPr/>
        </p:nvSpPr>
        <p:spPr>
          <a:xfrm>
            <a:off x="8595360" y="352958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447288"/>
            <a:ext cx="26060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Clear error models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343400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34256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BACKWARD COMPATIBILITY: ONE RENAME, FIVE CONSUMERS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18888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600" b="0" i="0">
                <a:solidFill>
                  <a:srgbClr val="000000"/>
                </a:solidFill>
                <a:latin typeface="Consolas"/>
              </a:rPr>
              <a:t>customerName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07792" y="5102352"/>
            <a:ext cx="566928" cy="0"/>
          </a:xfrm>
          <a:prstGeom prst="line">
            <a:avLst/>
          </a:prstGeom>
          <a:ln w="31750">
            <a:solidFill>
              <a:srgbClr val="B04A4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547872" y="4818888"/>
            <a:ext cx="3291840" cy="56692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600" b="0" i="0">
                <a:solidFill>
                  <a:srgbClr val="D1282E"/>
                </a:solidFill>
                <a:latin typeface="Consolas"/>
              </a:rPr>
              <a:t>fullLegalCustomerName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4818888"/>
            <a:ext cx="603504" cy="566928"/>
          </a:xfrm>
          <a:prstGeom prst="roundRect">
            <a:avLst>
              <a:gd name="adj" fmla="val 14000"/>
            </a:avLst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C1</a:t>
            </a:r>
          </a:p>
        </p:txBody>
      </p:sp>
      <p:sp>
        <p:nvSpPr>
          <p:cNvPr id="43" name="Oval 42"/>
          <p:cNvSpPr/>
          <p:nvPr/>
        </p:nvSpPr>
        <p:spPr>
          <a:xfrm>
            <a:off x="7607808" y="47091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36992" y="4818888"/>
            <a:ext cx="603504" cy="566928"/>
          </a:xfrm>
          <a:prstGeom prst="roundRect">
            <a:avLst>
              <a:gd name="adj" fmla="val 14000"/>
            </a:avLst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C2</a:t>
            </a:r>
          </a:p>
        </p:txBody>
      </p:sp>
      <p:sp>
        <p:nvSpPr>
          <p:cNvPr id="45" name="Oval 44"/>
          <p:cNvSpPr/>
          <p:nvPr/>
        </p:nvSpPr>
        <p:spPr>
          <a:xfrm>
            <a:off x="8321040" y="47091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50224" y="4818888"/>
            <a:ext cx="603504" cy="566928"/>
          </a:xfrm>
          <a:prstGeom prst="roundRect">
            <a:avLst>
              <a:gd name="adj" fmla="val 14000"/>
            </a:avLst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C3</a:t>
            </a:r>
          </a:p>
        </p:txBody>
      </p:sp>
      <p:sp>
        <p:nvSpPr>
          <p:cNvPr id="47" name="Oval 46"/>
          <p:cNvSpPr/>
          <p:nvPr/>
        </p:nvSpPr>
        <p:spPr>
          <a:xfrm>
            <a:off x="9034272" y="47091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63456" y="4818888"/>
            <a:ext cx="603504" cy="566928"/>
          </a:xfrm>
          <a:prstGeom prst="roundRect">
            <a:avLst>
              <a:gd name="adj" fmla="val 14000"/>
            </a:avLst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C4</a:t>
            </a:r>
          </a:p>
        </p:txBody>
      </p:sp>
      <p:sp>
        <p:nvSpPr>
          <p:cNvPr id="49" name="Oval 48"/>
          <p:cNvSpPr/>
          <p:nvPr/>
        </p:nvSpPr>
        <p:spPr>
          <a:xfrm>
            <a:off x="9747504" y="47091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76688" y="4818888"/>
            <a:ext cx="603504" cy="566928"/>
          </a:xfrm>
          <a:prstGeom prst="roundRect">
            <a:avLst>
              <a:gd name="adj" fmla="val 14000"/>
            </a:avLst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C5</a:t>
            </a:r>
          </a:p>
        </p:txBody>
      </p:sp>
      <p:sp>
        <p:nvSpPr>
          <p:cNvPr id="51" name="Oval 50"/>
          <p:cNvSpPr/>
          <p:nvPr/>
        </p:nvSpPr>
        <p:spPr>
          <a:xfrm>
            <a:off x="10460736" y="47091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4818888"/>
            <a:ext cx="868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could all break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DTO is the external contract — evolve it carefully so consumers keep working.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DTOS, VALIDATION AND CONSISTENT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request, the response and the error body are all part of the contract.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Request DTO with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596640" cy="238302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record CreateOrderRequest(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@NotBlank String customerId,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@NotEmpty List&lt;@Valid Item&gt; items,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@NotBlank String currency) {}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record Item(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@NotBlank String sku,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@Positive int quantity) {}</a:t>
            </a:r>
          </a:p>
        </p:txBody>
      </p:sp>
      <p:sp>
        <p:nvSpPr>
          <p:cNvPr id="6" name="Oval 5"/>
          <p:cNvSpPr/>
          <p:nvPr/>
        </p:nvSpPr>
        <p:spPr>
          <a:xfrm>
            <a:off x="428244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162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Response DTO — no entity leaks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440" y="1627632"/>
            <a:ext cx="3596640" cy="238302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record OrderResponse(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String id,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String status,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BigDecimal total,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Instant createdAt) {}</a:t>
            </a:r>
          </a:p>
        </p:txBody>
      </p:sp>
      <p:sp>
        <p:nvSpPr>
          <p:cNvPr id="9" name="Oval 8"/>
          <p:cNvSpPr/>
          <p:nvPr/>
        </p:nvSpPr>
        <p:spPr>
          <a:xfrm>
            <a:off x="81076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686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400 error body — one shape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1627632"/>
            <a:ext cx="3596640" cy="238302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"timestamp": "2026-09-14T10:15Z",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"status": 400,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"errorCode": "VALIDATION_FAILED",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"message": "items must not be empty",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"path": "/orders",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"correlationId": "a1b2c3d4"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3926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9412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Validate at the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0502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@Valid rejects bad input with 400 before business logic 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423926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429412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Hide internals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460502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Responses expose only what clients need — never JPA entities.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423926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4360" y="429412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Traceable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4360" y="460502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correlation ID links the error to logs across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DTOs, validation and one error format keep the contract stable and easy to 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VERSIONING AND OPENAPI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Evolve contracts without breaking consumers — and publish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SAFE — BACKWARD COMPATIBLE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Add an optional field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56816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Add a new endpoint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Add an enum value clients can ignore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06624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BREAKING — NEEDS A NEW VERSION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Remove or rename a field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64991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Change a field's type or meaning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7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Make an optional field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539496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02920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Version only breaking changes, and announce deprecation 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29844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OpenAPI — the contract, kept with the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27632"/>
            <a:ext cx="5486400" cy="230860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openapi: 3.0.3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info: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title: Order API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version: 1.2.0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paths: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/v1/orders/{id}: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get: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summary: Get one order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responses: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'200': { description: The order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'404': { description: Not found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6425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VERSIONING STYLES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11726"/>
            <a:ext cx="270662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/v1/orders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4411726"/>
            <a:ext cx="270662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?version=2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850638"/>
            <a:ext cx="270662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Accept-Version: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4850638"/>
            <a:ext cx="270662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Media type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Evolve APIs with backward-compatible changes, version the breaking ones, and publish the contract as OpenAPI.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REST API SECURITY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Protect every call — and fix the design mistakes teams repeat.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SECURE BY DESIGN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Authenticate every request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56816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Authorize per resource — no guessable IDs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Validate all input, headers and parameters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78608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HTTPS everywhere (TLS 1.2+)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169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9503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Return only the data clients need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22783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399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Rate-limit to prevent abuse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39312"/>
            <a:ext cx="539496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502920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NEVER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Return stack traces, SQL or secrets in an error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29844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FIX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645920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Verbs in URLs: /getOrders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56816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Always returning 200 OK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267712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Exposing database structure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578608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pagination on large collections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89503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GET requests that change data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200399"/>
            <a:ext cx="5120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Inconsistent names and error formats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6393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Paginate, filter and sort large lists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68496"/>
            <a:ext cx="5486400" cy="70713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GET /orders?status=PAID&amp;page=2&amp;size=20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&amp;sort=createdAt,desc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Authenticate, authorize and validate every call — and fix each anti-pattern with a resource-oriented design.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HOW SERVICES COMMUNICATE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great API is only half the story — how we call it matters too.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boundaries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REST API design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communication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State and the blueprint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Resources, methods and status codes form the contract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DTOs, validation and errors keep it stable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Idempotency makes retries safe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Should services call each other directly — or react to events?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Synchronous communication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Asynchronous messaging and events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API versus messaging — with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Communication strategies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Gateway, composition, BFF and choreography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Avoiding chatty communication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SYNCHRONOUS SERVICE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Request/response with REST or gRPC — and the dependencies it creates.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62992"/>
            <a:ext cx="7415783" cy="26063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6144"/>
            <a:ext cx="7269480" cy="246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BENEFITS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Simple mental model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Immediate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39572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CHALLENGES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277063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74320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Temporal coupling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Latency adds up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Failures propagate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0390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80390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ASK THE ROOM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What happens to Order if Payment takes 30 seconds?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caller waits — so its latency and availability depend on every service downstream.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ASYNCHRONOUS MESSAGING AND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Event-driven communication through brokers such as Kafka or RabbitMQ.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32231"/>
            <a:ext cx="7415783" cy="34678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5383"/>
            <a:ext cx="7269480" cy="3321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Asks for something to happen: ReserveInventory.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States a fact, in past tense: OrderCreated.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CONSUMERS MUST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520184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9275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Handle duplicate messages safely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831080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03648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Send repeated failures to a dead-letter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producer publishes and moves on — consumers react independently.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VS. MESSAGING INTEGRATION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When request/response fits — and when events fit better.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00051"/>
            <a:ext cx="7415783" cy="393221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3203"/>
            <a:ext cx="7269480" cy="37859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Use REST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caller needs an answer now — e.g. GET /products/123.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Use messaging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Work can happen later or many services react — e.g. OrderCreated.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A COMPETITION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Most real systems use both.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request/response for immediate answers and events for independent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BOUNDED CALL AND A PUBLISHED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order flow: ask Inventory now, tell everyone else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Synchronous: ask Inventory before accepting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Availability stock = inventory.get()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.uri("/inventory/{sku}", sku)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.retrieve()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.body(Availability.class);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if (!stock.inStock())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throw new OutOfStockException(sku);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RestClient built with a timeout (Module 1)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Asynchronous: publish OrderCreated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public class OrderService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private final StreamBridge bridge;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public OrderResponse place(Order order)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orders.save(order);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bridge.send("orderCreated-out-0",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    new OrderCreated(order.id(),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        order.customerId(), order.total()));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return OrderResponse.from(order);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needs stock availability before it accepts the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Payment, Notification and Analytics react to OrderCreated.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Event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Carry IDs and facts — not the whole internal entity.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Ask synchronously only when you need the answer now; publish events for everything that can happen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REST OR MESSAGING?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Choose the communication style for each step of the order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2061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1. Check stock before accepting an order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2. Send the order confirmation email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3. Record an audit entry after payment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4. Show the current order status on screen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5. Tell Analytics an order was placed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6. Get a fraud score before charging the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REST or an event for each step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the reason in a few words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one failure each choice must handle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1, 4, 6 → REST: an answer is needed now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2, 3, 5 → Event: work can happen later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REST must handle timeouts and fallbacks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Events must handle duplicates and dead letters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Immediate decision → REST; background reaction or many listeners → messaging.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 COMMUNICATION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Direct calls, API gateway, messaging and event-driven interactions.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71292"/>
            <a:ext cx="7415783" cy="41897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4444"/>
            <a:ext cx="7269480" cy="40434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898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4777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Simple, but creates a direct dependency.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324862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37972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90622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controlled entry point for web and mobile.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37204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59206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Service to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02964"/>
            <a:ext cx="3246120" cy="663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Fits internal calls — adds runtime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49546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0441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Messaging and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15306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Many consumers react without the producer knowing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There's no universal strategy — deliberately choose one for each interaction.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GATEWAY, COMPOSITION AND BFF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Keep clients simple — and stop them calling every service directly.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5966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424242"/>
                </a:solidFill>
                <a:latin typeface="Nirmala UI"/>
              </a:rPr>
              <a:t>Web and mobile clients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5520" y="2258568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414016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API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5520" y="2843784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999232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Order · Payment · 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157886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2096" y="3520440"/>
            <a:ext cx="157886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59352"/>
            <a:ext cx="157886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Rate limiting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92096" y="3959352"/>
            <a:ext cx="157886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298448"/>
            <a:ext cx="35966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282440" y="12984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12984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API COMPOSITION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5320" y="1828800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424242"/>
                </a:solidFill>
                <a:latin typeface="Nirmala UI"/>
              </a:rPr>
              <a:t>Client: one request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258568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65320" y="2414016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Order-view composer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2843784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65320" y="2999232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Order + Payment + Shipping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5320" y="3520440"/>
            <a:ext cx="3230880" cy="91439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575304"/>
            <a:ext cx="2956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2480" y="3886200"/>
            <a:ext cx="2956560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combined order view, fetched in parallel.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7680" y="1298448"/>
            <a:ext cx="35966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8107680" y="12984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4840" y="12984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BACKEND FOR FRONTEND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0560" y="1828800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424242"/>
                </a:solidFill>
                <a:latin typeface="Nirmala UI"/>
              </a:rPr>
              <a:t>Web BFF   ·   Mobile BFF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06000" y="2258568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90560" y="2414016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Responses shaped per client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06000" y="2843784"/>
            <a:ext cx="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90560" y="2999232"/>
            <a:ext cx="3230880" cy="402336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Shared domain services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90560" y="3520440"/>
            <a:ext cx="3230880" cy="91439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7720" y="3575304"/>
            <a:ext cx="2956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7720" y="3886200"/>
            <a:ext cx="2956560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Mobile gets a small payload; web gets the full view.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45736"/>
            <a:ext cx="11247120" cy="10881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745736"/>
            <a:ext cx="10881360" cy="10881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SERVICE DISCOVERY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Callers use a logical name such as http://payment-service — OpenShift routes the call to a healthy pod.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Gateways, composition and BFFs give each client one simple, well-shaped entry point.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ORCHESTRATION VS. CHOREOGRAPHY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ways to coordinate a workflow that spans several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4406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166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ORCHESTRATION — CENTRAL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4500" y="1874519"/>
            <a:ext cx="2926080" cy="475488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Order saga orchestrator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31619" y="2368296"/>
            <a:ext cx="1645921" cy="493776"/>
          </a:xfrm>
          <a:prstGeom prst="line">
            <a:avLst/>
          </a:prstGeom>
          <a:ln w="22225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0099" y="288036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02060"/>
                </a:solidFill>
                <a:latin typeface="Nirmala UI"/>
              </a:rPr>
              <a:t>Payment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177539" y="2368296"/>
            <a:ext cx="1" cy="493776"/>
          </a:xfrm>
          <a:prstGeom prst="line">
            <a:avLst/>
          </a:prstGeom>
          <a:ln w="22225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6020" y="288036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02060"/>
                </a:solidFill>
                <a:latin typeface="Nirmala UI"/>
              </a:rPr>
              <a:t>Inventory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7540" y="2368296"/>
            <a:ext cx="1645919" cy="493776"/>
          </a:xfrm>
          <a:prstGeom prst="line">
            <a:avLst/>
          </a:prstGeom>
          <a:ln w="22225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91939" y="2880360"/>
            <a:ext cx="1463040" cy="45720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002060"/>
                </a:solidFill>
                <a:latin typeface="Nirmala UI"/>
              </a:rPr>
              <a:t>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957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Nirmala UI"/>
              </a:rPr>
              <a:t>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STRENGTHS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8678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59352"/>
            <a:ext cx="4709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whole flow is visible in one place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70248"/>
            <a:ext cx="4709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Easier to monitor and debug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WATCH OUT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08406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56632"/>
            <a:ext cx="4709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orchestrator can become a bottleneck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98448"/>
            <a:ext cx="544068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6263640" y="1298448"/>
            <a:ext cx="54406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98448"/>
            <a:ext cx="5166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CHOREOGRAPHY — SERVICES REACT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874519"/>
            <a:ext cx="4343400" cy="36576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Order publishes OrderCreated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83980" y="2267711"/>
            <a:ext cx="0" cy="109729"/>
          </a:xfrm>
          <a:prstGeom prst="line">
            <a:avLst/>
          </a:prstGeom>
          <a:ln w="22225">
            <a:solidFill>
              <a:srgbClr val="28727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12280" y="2404872"/>
            <a:ext cx="4343400" cy="36576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Payment publishes PaymentCompleted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83980" y="2798063"/>
            <a:ext cx="0" cy="109729"/>
          </a:xfrm>
          <a:prstGeom prst="line">
            <a:avLst/>
          </a:prstGeom>
          <a:ln w="22225">
            <a:solidFill>
              <a:srgbClr val="28727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12280" y="2935224"/>
            <a:ext cx="4343400" cy="36576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Inventory publishes StockReserved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611880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STRENGTHS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398678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959352"/>
            <a:ext cx="4709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central coordinator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2976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270248"/>
            <a:ext cx="4709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Services evolve independently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709160"/>
            <a:ext cx="507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WATCH OUT</a:t>
            </a:r>
          </a:p>
        </p:txBody>
      </p:sp>
      <p:sp>
        <p:nvSpPr>
          <p:cNvPr id="37" name="Oval 36"/>
          <p:cNvSpPr/>
          <p:nvPr/>
        </p:nvSpPr>
        <p:spPr>
          <a:xfrm>
            <a:off x="6446520" y="508406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056632"/>
            <a:ext cx="4709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end-to-end flow is harder to trace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Orchestration gives control and visibility; choreography gives independence — choose per workflow.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AVOIDING CHATTY SERVICE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Reduce excessive service-to-service calls and dependency chains.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01719"/>
            <a:ext cx="7415783" cy="292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4871"/>
            <a:ext cx="7269480" cy="2782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EVERY NETWORK CALL ADDS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Latency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Serialization and authentication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Another chance to fail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Fewer, coarse-grained calls, plus events and well-drawn boundaries.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 one JVM 20 calls are cheap; over a network they hurt.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Don't design service APIs like local method calls — every network hop has a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WHERE STATE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last design question before the blueprint.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boundaries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REST API design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Service communication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State and the blueprint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REST when an answer is needed now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Publish events for work that can happen later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Keep calls coarse, bounded and few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Where should state live, so any instance can serve any request?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Stateless versus stateful 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Scaling stateless instances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Stateless design in code — with an exercise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design blueprint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STATELESS VS. STATEFUL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Processing state versus persistent business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22324"/>
            <a:ext cx="7415783" cy="44876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5476"/>
            <a:ext cx="7269480" cy="43413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Stateless instance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Keeps no session state between requests — any pod can serve.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Stateful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Databases, brokers and caches hold durable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STATELESS ≠ NO DATABASE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question is where state lives.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stateless instance doesn't rely on locally kept session state — durable state lives outside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STATELESS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Externalized state, horizontal scaling and container-friendly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11833" y="1316736"/>
            <a:ext cx="5743092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85" y="1389888"/>
            <a:ext cx="5596788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WHY EXTERNALIZE STATE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Requests spread across pods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Pods restart and move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Scaling and recovery stay easy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Where state goes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PostgreSQL for durable data, a shared cache for sessions, tokens for identity.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CACHES ARE FINE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Correctness must not depend on one instance.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instances replaceable — so OpenShift can scale and recover Order Service freely.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STATELESS DESIGN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Keep durable state out of the pod's memory.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Lost on restart — different in every pod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public class CartService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private final Map&lt;String, Cart&gt; carts =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new HashMap&lt;&gt;();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public void addItem(String cartId, Item item)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carts.computeIfAbsent(cartId, Cart::new)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     .add(item);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State lives in a backing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public class CartService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private final CartRepository carts;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public void addItem(String cartId, Item item)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Cart cart = carts.findById(cartId)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    .orElseGet(() -&gt; new Cart(cartId));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cart.add(item);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carts.save(cart);  // database or cache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restart loses the carts, and pod B can't see pod A's 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pod uses the same store, so any pod can serve any request.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Carry who the user is in a token, not in server session memory.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Application pods stay stateless; durable state belongs in databases, caches and tokens.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STATELESS OR STATEFUL?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Classify the parts of the order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8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Order Service pod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PostgreSQL order database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Kafka broker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Shared cart cache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In-memory HashMap of pending payments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Fraud-scoring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each one stateless or stateful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scale horizontally with no extra work?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is risky inside a container — and why?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Stateless: Order Service pod, fraud-scoring API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Stateful: PostgreSQL, Kafka, cart cache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Risky: the in-memory HashMap — lost on restart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Fix: store pending payments in the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Scale the stateless tier freely; protect and back up the stateful components.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PUTTING IT TOGETHER — MICROSERVICES DESIGN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Boundaries, APIs, messaging, data ownership and stateless instances.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28861"/>
            <a:ext cx="7415783" cy="42745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2013"/>
            <a:ext cx="7269480" cy="41282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DESIGN SEQUENCE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domain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Bounded context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boundary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Cohesion and loose coupling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API contract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3227831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00399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Communication strategy</a:t>
            </a:r>
          </a:p>
        </p:txBody>
      </p:sp>
      <p:sp>
        <p:nvSpPr>
          <p:cNvPr id="19" name="Oval 18"/>
          <p:cNvSpPr/>
          <p:nvPr/>
        </p:nvSpPr>
        <p:spPr>
          <a:xfrm>
            <a:off x="8183880" y="3538727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511295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and state ownership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95020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95020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EVERY BOX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comes from a part of this module.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Good microservices design starts with business boundaries — not REST controllers.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REST resource?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URIs use nouns instead of verbs?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HTTP method usually creates a resource?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status code means a resource was created?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APIs use DTOs?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loose coupling?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high cohesion?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bounded context?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should messaging be used instead of REST?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an OpenAPI document describe?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1.2 — DESIGN ACCOUNT SERVICE APIS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2 checkpoint B: REST resources, status transitions and an OpenAPI sketch.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298448"/>
            <a:ext cx="4297680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labs/day-01/exercises/exercise-1.2-account-apis.md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 Lab 1 you build the banking Account Service. Before coding, sketch its API.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Resource: an account. Status machine: PENDING → ACTIVE → FROZEN or CLOSED.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Sketch POST, GET and PATCH plus activate, freeze and close — no DELETE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Model the statuses: freezing a PENDING account is 409; FROZEN can be activated; retries return 200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400, 404 and 409 cases; note OpenAPI and Actuator as Lab 1 deliverables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89661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84174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Draw the bounded context: Account owns accounts only — not transactions or risk scores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one-page Account API sketch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Lab 1 can implement it without changing URLs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Use this contract in Lab 1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Customer or Notification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one-page Account API sketch that Lab 1 can implement without changing URLs tomorrow.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2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boundaries to a complete design blueprint.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8424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Find boundaries from capabilities and bounded contexts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Keep coupling low and cohesion high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9125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resource-oriented REST APIs with stable contracts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5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REST or messaging for each interaction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9826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Keep services stateless and state in backing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NEXT: MODULE 3 — SPRING BOOT DEVELOPMENT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build the Account Service in Spring Boot?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are controllers, services and repositories organized?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configure, validate and document it?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Exercise 1.2 Account API sketch — Lab 1 implements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3 turns this design into a working Spring Boot service.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