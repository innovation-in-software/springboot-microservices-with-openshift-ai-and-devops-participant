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Where we are</a:t>
            </a:r>
          </a:p>
          <a:p/>
          <a:p>
            <a:r>
              <a:t>  In Module 2 we designed service boundaries: Order, Payment, Inventory and Shipping.</a:t>
            </a:r>
          </a:p>
          <a:p/>
          <a:p>
            <a:r>
              <a:t>  In Module 3 we built one service with Spring Boot.</a:t>
            </a:r>
          </a:p>
          <a:p/>
          <a:p>
            <a:r>
              <a:t>  Now the question is: how do independently deployed services work together to complete a business process?</a:t>
            </a:r>
          </a:p>
          <a:p/>
          <a:p>
            <a:r>
              <a:t>- Option one: synchronous REST</a:t>
            </a:r>
          </a:p>
          <a:p/>
          <a:p>
            <a:r>
              <a:t>  Order could call Payment, which calls Inventory, which calls Shipping, all over REST.</a:t>
            </a:r>
          </a:p>
          <a:p/>
          <a:p>
            <a:r>
              <a:t>  But that creates runtime dependencies between them.</a:t>
            </a:r>
          </a:p>
          <a:p/>
          <a:p>
            <a:r>
              <a:t>- Option two: asynchronous messaging</a:t>
            </a:r>
          </a:p>
          <a:p/>
          <a:p>
            <a:r>
              <a:t>  Order can publish an OrderCreated event to a message broker instead.</a:t>
            </a:r>
          </a:p>
          <a:p/>
          <a:p>
            <a:r>
              <a:t>  Payment, Inventory and Notification each pick it up.</a:t>
            </a:r>
          </a:p>
          <a:p/>
          <a:p>
            <a:r>
              <a:t>  This module focuses mainly on this second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By the end of this module</a:t>
            </a:r>
          </a:p>
          <a:p/>
          <a:p>
            <a:r>
              <a:t>  Learners should be able to explain asynchronous messaging and message-broker architecture.</a:t>
            </a:r>
          </a:p>
          <a:p/>
          <a:p>
            <a:r>
              <a:t>  They should compare queues and publish/subscribe, and explain event-driven architecture.</a:t>
            </a:r>
          </a:p>
          <a:p/>
          <a:p>
            <a:r>
              <a:t>  They should tell commands from events, and compare choreography with orchestration.</a:t>
            </a:r>
          </a:p>
          <a:p/>
          <a:p>
            <a:r>
              <a:t>  They should design reliable consumers, handle retries and failures, and choose the right integration pattern.</a:t>
            </a:r>
          </a:p>
          <a:p/>
          <a:p>
            <a:r>
              <a:t>- Three parts</a:t>
            </a:r>
          </a:p>
          <a:p/>
          <a:p>
            <a:r>
              <a:t>  Part one is messaging fundamentals: producer, broker, consumer.</a:t>
            </a:r>
          </a:p>
          <a:p/>
          <a:p>
            <a:r>
              <a:t>  Part two is event-driven architecture: a business event that several services react to.</a:t>
            </a:r>
          </a:p>
          <a:p/>
          <a:p>
            <a:r>
              <a:t>  Part three is production reliability: duplicates, retries, failures, ordering, schema evolution and eventual consistency.</a:t>
            </a:r>
          </a:p>
          <a:p/>
          <a:p>
            <a:r>
              <a:t>- Why part three matters most</a:t>
            </a:r>
          </a:p>
          <a:p/>
          <a:p>
            <a:r>
              <a:t>  Sending a message is easy.</a:t>
            </a:r>
          </a:p>
          <a:p/>
          <a:p>
            <a:r>
              <a:t>  Building a reliable distributed business workflow is much harder.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Read each term once and give a quick example from the order platform or the banking lab.</a:t>
            </a:r>
          </a:p>
          <a:p/>
          <a:p>
            <a:r>
              <a:t>- Message broker</a:t>
            </a:r>
          </a:p>
          <a:p/>
          <a:p>
            <a:r>
              <a:t>  Middleware, such as Kafka, that receives, stores and delivers messages between services.</a:t>
            </a:r>
          </a:p>
          <a:p/>
          <a:p>
            <a:r>
              <a:t>- Event</a:t>
            </a:r>
          </a:p>
          <a:p/>
          <a:p>
            <a:r>
              <a:t>  A record that something already happened, such as OrderCreated.</a:t>
            </a:r>
          </a:p>
          <a:p/>
          <a:p>
            <a:r>
              <a:t>- Command</a:t>
            </a:r>
          </a:p>
          <a:p/>
          <a:p>
            <a:r>
              <a:t>  A request asking one specific service to do something, such as ReserveStock.</a:t>
            </a:r>
          </a:p>
          <a:p/>
          <a:p>
            <a:r>
              <a:t>- Publish/subscribe</a:t>
            </a:r>
          </a:p>
          <a:p/>
          <a:p>
            <a:r>
              <a:t>  One published message is delivered to every interested subscriber.</a:t>
            </a:r>
          </a:p>
          <a:p/>
          <a:p>
            <a:r>
              <a:t>- Choreography</a:t>
            </a:r>
          </a:p>
          <a:p/>
          <a:p>
            <a:r>
              <a:t>  Services react to each other's events, with no central coordinator.</a:t>
            </a:r>
          </a:p>
          <a:p/>
          <a:p>
            <a:r>
              <a:t>- Idempotent consumer</a:t>
            </a:r>
          </a:p>
          <a:p/>
          <a:p>
            <a:r>
              <a:t>  A consumer that safely ignores a message it has already processed.</a:t>
            </a:r>
          </a:p>
          <a:p/>
          <a:p>
            <a:r>
              <a:t>- Dead-letter topic</a:t>
            </a:r>
          </a:p>
          <a:p/>
          <a:p>
            <a:r>
              <a:t>  Where messages that keep failing are moved so they don't block the rest.</a:t>
            </a:r>
          </a:p>
          <a:p/>
          <a:p>
            <a:r>
              <a:t>- Transactional outbox</a:t>
            </a:r>
          </a:p>
          <a:p/>
          <a:p>
            <a:r>
              <a:t>  Saving an event in the same database transaction as the data, then publishing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to run this slide</a:t>
            </a:r>
          </a:p>
          <a:p/>
          <a:p>
            <a:r>
              <a:t>  Don't read every row.</a:t>
            </a:r>
          </a:p>
          <a:p/>
          <a:p>
            <a:r>
              <a:t>  Point out the few this module uses most, and say the full list is here for reference.</a:t>
            </a:r>
          </a:p>
          <a:p/>
          <a:p>
            <a:r>
              <a:t>- Reference</a:t>
            </a:r>
          </a:p>
          <a:p/>
          <a:p>
            <a:r>
              <a:t>  API is Application Programming Interface; CDC is Change Data Capture; DB is Database; DLQ is Dead-Letter Queue; DLT is Dead-Letter Topic; HTTP is HyperText Transfer Protocol; ID is Identifier; JAR is Java ARchive; JSON is JavaScript Object Notation; REST is Representational State Transfer; SNS is Simple Notification Service; SQS is Simple Queue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Bridge from Module 3</a:t>
            </a:r>
          </a:p>
          <a:p/>
          <a:p>
            <a:r>
              <a:t>  We can now build one clean Spring Boot service.</a:t>
            </a:r>
          </a:p>
          <a:p/>
          <a:p>
            <a:r>
              <a:t>  Real business processes need several services to cooperate.</a:t>
            </a:r>
          </a:p>
          <a:p/>
          <a:p>
            <a:r>
              <a:t>- What integration adds</a:t>
            </a:r>
          </a:p>
          <a:p/>
          <a:p>
            <a:r>
              <a:t>  Each skill from Module 3 grows into an integration concern: calls become timeouts, logs become correlation IDs, errors become retries and dead letters.</a:t>
            </a:r>
          </a:p>
          <a:p/>
          <a:p>
            <a:r>
              <a:t>- Two examples</a:t>
            </a:r>
          </a:p>
          <a:p/>
          <a:p>
            <a:r>
              <a:t>  The slides follow an e-commerce order.</a:t>
            </a:r>
          </a:p>
          <a:p/>
          <a:p>
            <a:r>
              <a:t>  Lab 2 builds the banking Transaction Service, which checks Account Service over REST and publishes TransactionSubmitted to Kafka.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start here</a:t>
            </a:r>
          </a:p>
          <a:p/>
          <a:p>
            <a:r>
              <a:t>  Before designing events, learners need the vocabulary: synchronous, asynchronous, producer, broker, consumer, queue and topic.</a:t>
            </a:r>
          </a:p>
          <a:p/>
          <a:p>
            <a:r>
              <a:t>- What this part covers</a:t>
            </a:r>
          </a:p>
          <a:p/>
          <a:p>
            <a:r>
              <a:t>  Why integration is needed, the two communication styles, how messaging works, and the difference between queues and publish/subscribe.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Real processes cross services</a:t>
            </a:r>
          </a:p>
          <a:p/>
          <a:p>
            <a:r>
              <a:t>  Microservices own separate business capabilities.</a:t>
            </a:r>
          </a:p>
          <a:p/>
          <a:p>
            <a:r>
              <a:t>  But most real business operations span several of them.</a:t>
            </a:r>
          </a:p>
          <a:p/>
          <a:p>
            <a:r>
              <a:t>- Placing an order</a:t>
            </a:r>
          </a:p>
          <a:p/>
          <a:p>
            <a:r>
              <a:t>  The Order Service can create an order.</a:t>
            </a:r>
          </a:p>
          <a:p/>
          <a:p>
            <a:r>
              <a:t>  But finishing the process may need payment authorization, inventory reservation and shipping.</a:t>
            </a:r>
          </a:p>
          <a:p/>
          <a:p>
            <a:r>
              <a:t>  It may also need a customer notification and analytics updates.</a:t>
            </a:r>
          </a:p>
          <a:p/>
          <a:p>
            <a:r>
              <a:t>- Don't collapse the boundaries</a:t>
            </a:r>
          </a:p>
          <a:p/>
          <a:p>
            <a:r>
              <a:t>  We do not want to put all of this back into the Order Service, because then we lose our service boundaries.</a:t>
            </a:r>
          </a:p>
          <a:p/>
          <a:p>
            <a:r>
              <a:t>  Instead, services integrate through well-defined communication mechanisms.</a:t>
            </a:r>
          </a:p>
          <a:p/>
          <a:p>
            <a:r>
              <a:t>- The design challenge</a:t>
            </a:r>
          </a:p>
          <a:p/>
          <a:p>
            <a:r>
              <a:t>  Keep services autonomous, while still letting them collaborate.</a:t>
            </a:r>
          </a:p>
          <a:p/>
          <a:p>
            <a:r>
              <a:t>- What it shows</a:t>
            </a:r>
          </a:p>
          <a:p/>
          <a:p>
            <a:r>
              <a:t>  Four independent services that still form one business workflow, linked by the events between them.</a:t>
            </a:r>
          </a:p>
          <a:p/>
          <a:p>
            <a:r>
              <a:t>- Key point</a:t>
            </a:r>
          </a:p>
          <a:p/>
          <a:p>
            <a:r>
              <a:t>  Independent capabilities still have to collaborate to finish one order.</a:t>
            </a:r>
          </a:p>
          <a:p/>
          <a:p>
            <a:r>
              <a:t>- What makes it hard</a:t>
            </a:r>
          </a:p>
          <a:p/>
          <a:p>
            <a:r>
              <a:t>  Every integration faces latency, services that are unavailable, duplicate messages and contracts that change.</a:t>
            </a:r>
          </a:p>
          <a:p/>
          <a:p>
            <a:r>
              <a:t>  The rest of the module answers each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Synchronous</a:t>
            </a:r>
          </a:p>
          <a:p/>
          <a:p>
            <a:r>
              <a:t>  With synchronous communication, the caller waits.</a:t>
            </a:r>
          </a:p>
          <a:p/>
          <a:p>
            <a:r>
              <a:t>  The Order Service asks the Payment Service: can you process this payment?</a:t>
            </a:r>
          </a:p>
          <a:p/>
          <a:p>
            <a:r>
              <a:t>  Payment answers right away with success or failure.</a:t>
            </a:r>
          </a:p>
          <a:p/>
          <a:p>
            <a:r>
              <a:t>  The pattern is request, wait, response.</a:t>
            </a:r>
          </a:p>
          <a:p/>
          <a:p>
            <a:r>
              <a:t>- Asynchronous</a:t>
            </a:r>
          </a:p>
          <a:p/>
          <a:p>
            <a:r>
              <a:t>  With asynchronous communication, the Order Service sends or publishes information and carries on.</a:t>
            </a:r>
          </a:p>
          <a:p/>
          <a:p>
            <a:r>
              <a:t>  For example, it publishes OrderCreated, and the Payment Service consumes it later.</a:t>
            </a:r>
          </a:p>
          <a:p/>
          <a:p>
            <a:r>
              <a:t>  The pattern is produce, continue, and the consumer processes it in its own time.</a:t>
            </a:r>
          </a:p>
          <a:p/>
          <a:p>
            <a:r>
              <a:t>- Neither is always better</a:t>
            </a:r>
          </a:p>
          <a:p/>
          <a:p>
            <a:r>
              <a:t>  The business interaction decides which model is appropriate.</a:t>
            </a:r>
          </a:p>
          <a:p/>
          <a:p>
            <a:r>
              <a:t>- What it shows</a:t>
            </a:r>
          </a:p>
          <a:p/>
          <a:p>
            <a:r>
              <a:t>  On the left, Order sends a REST request to Payment and waits for the response.</a:t>
            </a:r>
          </a:p>
          <a:p/>
          <a:p>
            <a:r>
              <a:t>  On the right, Order publishes an event to a broker and doesn't wait.</a:t>
            </a:r>
          </a:p>
          <a:p/>
          <a:p>
            <a:r>
              <a:t>- How to read it</a:t>
            </a:r>
          </a:p>
          <a:p/>
          <a:p>
            <a:r>
              <a:t>  Look at the icons under Order: caller waits on the left, no waiting on the right.</a:t>
            </a:r>
          </a:p>
          <a:p/>
          <a:p>
            <a:r>
              <a:t>- Key point</a:t>
            </a:r>
          </a:p>
          <a:p/>
          <a:p>
            <a:r>
              <a:t>  The difference is whether the caller waits for the other service.</a:t>
            </a:r>
          </a:p>
          <a:p/>
          <a:p>
            <a:r>
              <a:t>- Chained calls</a:t>
            </a:r>
          </a:p>
          <a:p/>
          <a:p>
            <a:r>
              <a:t>  If Order calls Payment, which calls Fraud, which calls a bank, the slowest or least available service sets the pace for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Produce and send</a:t>
            </a:r>
          </a:p>
          <a:p/>
          <a:p>
            <a:r>
              <a:t>  First, the Order Service creates a message.</a:t>
            </a:r>
          </a:p>
          <a:p/>
          <a:p>
            <a:r>
              <a:t>  Then it sends or publishes it to a broker destination.</a:t>
            </a:r>
          </a:p>
          <a:p/>
          <a:p>
            <a:r>
              <a:t>  Depending on the technology, that could be a queue, a topic, an exchange or a Kafka topic.</a:t>
            </a:r>
          </a:p>
          <a:p/>
          <a:p>
            <a:r>
              <a:t>- The broker handles it</a:t>
            </a:r>
          </a:p>
          <a:p/>
          <a:p>
            <a:r>
              <a:t>  Depending on the broker and its configuration, it may persist, route, buffer, deliver or redeliver the message.</a:t>
            </a:r>
          </a:p>
          <a:p/>
          <a:p>
            <a:r>
              <a:t>- Process and acknowledge</a:t>
            </a:r>
          </a:p>
          <a:p/>
          <a:p>
            <a:r>
              <a:t>  The consumer performs the business operation.</a:t>
            </a:r>
          </a:p>
          <a:p/>
          <a:p>
            <a:r>
              <a:t>  Then an acknowledgment or offset records the progress.</a:t>
            </a:r>
          </a:p>
          <a:p/>
          <a:p>
            <a:r>
              <a:t>  Different technologies track success differently.</a:t>
            </a:r>
          </a:p>
          <a:p/>
          <a:p>
            <a:r>
              <a:t>  This is how the system decides whether to deliver a message again or treat it as processed.</a:t>
            </a:r>
          </a:p>
          <a:p/>
          <a:p>
            <a:r>
              <a:t>- What it shows</a:t>
            </a:r>
          </a:p>
          <a:p/>
          <a:p>
            <a:r>
              <a:t>  Order Service publishes OrderCreated to a broker.</a:t>
            </a:r>
          </a:p>
          <a:p/>
          <a:p>
            <a:r>
              <a:t>  The broker routes or stores it in a queue or topic and delivers it to Payment Service.</a:t>
            </a:r>
          </a:p>
          <a:p/>
          <a:p>
            <a:r>
              <a:t>- How to read it</a:t>
            </a:r>
          </a:p>
          <a:p/>
          <a:p>
            <a:r>
              <a:t>  Follow publish, route and store, deliver, process, then the acknowledge arrow back to the broker.</a:t>
            </a:r>
          </a:p>
          <a:p/>
          <a:p>
            <a:r>
              <a:t>- Key point</a:t>
            </a:r>
          </a:p>
          <a:p/>
          <a:p>
            <a:r>
              <a:t>  The acknowledgment tells the broker the message is done.</a:t>
            </a:r>
          </a:p>
          <a:p/>
          <a:p>
            <a:r>
              <a:t>  Without it, the message comes back.</a:t>
            </a:r>
          </a:p>
          <a:p/>
          <a:p>
            <a:r>
              <a:t>- Producer</a:t>
            </a:r>
          </a:p>
          <a:p/>
          <a:p>
            <a:r>
              <a:t>  The producer creates and sends a message.</a:t>
            </a:r>
          </a:p>
          <a:p/>
          <a:p>
            <a:r>
              <a:t>  In our example, that is the Order Service.</a:t>
            </a:r>
          </a:p>
          <a:p/>
          <a:p>
            <a:r>
              <a:t>- Message</a:t>
            </a:r>
          </a:p>
          <a:p/>
          <a:p>
            <a:r>
              <a:t>  The message holds the information being communicated.</a:t>
            </a:r>
          </a:p>
          <a:p/>
          <a:p>
            <a:r>
              <a:t>  For example: OrderCreated, order ID 1001, customer ID 500.</a:t>
            </a:r>
          </a:p>
          <a:p/>
          <a:p>
            <a:r>
              <a:t>- Broker</a:t>
            </a:r>
          </a:p>
          <a:p/>
          <a:p>
            <a:r>
              <a:t>  The broker is infrastructure that accepts messages, and routes or stores them according to its model and configuration.</a:t>
            </a:r>
          </a:p>
          <a:p/>
          <a:p>
            <a:r>
              <a:t>  Examples are Apache Kafka, RabbitMQ and cloud-managed messaging systems.</a:t>
            </a:r>
          </a:p>
          <a:p/>
          <a:p>
            <a:r>
              <a:t>- Destination and consumer</a:t>
            </a:r>
          </a:p>
          <a:p/>
          <a:p>
            <a:r>
              <a:t>  The destination is where the message goes, such as a queue or a topic.</a:t>
            </a:r>
          </a:p>
          <a:p/>
          <a:p>
            <a:r>
              <a:t>  The consumer receives and processes messages, for example the Inventory Service.</a:t>
            </a:r>
          </a:p>
          <a:p/>
          <a:p>
            <a:r>
              <a:t>- Why a broker</a:t>
            </a:r>
          </a:p>
          <a:p/>
          <a:p>
            <a:r>
              <a:t>  The broker sits in the middle, so producers do not always need direct point-to-point knowledge of consumers.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Without a broker</a:t>
            </a:r>
          </a:p>
          <a:p/>
          <a:p>
            <a:r>
              <a:t>  Without a broker, the Order Service talks directly to Payment, Inventory, Notification and Analytics.</a:t>
            </a:r>
          </a:p>
          <a:p/>
          <a:p>
            <a:r>
              <a:t>  It must know about and call every one of them.</a:t>
            </a:r>
          </a:p>
          <a:p/>
          <a:p>
            <a:r>
              <a:t>- With a broker</a:t>
            </a:r>
          </a:p>
          <a:p/>
          <a:p>
            <a:r>
              <a:t>  With a broker, the Order Service publishes one event and does not call every consumer directly.</a:t>
            </a:r>
          </a:p>
          <a:p/>
          <a:p>
            <a:r>
              <a:t>  This reduces certain kinds of coupling.</a:t>
            </a:r>
          </a:p>
          <a:p/>
          <a:p>
            <a:r>
              <a:t>- What a broker provides</a:t>
            </a:r>
          </a:p>
          <a:p/>
          <a:p>
            <a:r>
              <a:t>  Brokers can provide routing, buffering, decoupling and delivery.</a:t>
            </a:r>
          </a:p>
          <a:p/>
          <a:p>
            <a:r>
              <a:t>  They can also provide durability, retry or redelivery, and load distribution.</a:t>
            </a:r>
          </a:p>
          <a:p/>
          <a:p>
            <a:r>
              <a:t>- Buffering in practice</a:t>
            </a:r>
          </a:p>
          <a:p/>
          <a:p>
            <a:r>
              <a:t>  Suppose the Inventory Service stops for a while.</a:t>
            </a:r>
          </a:p>
          <a:p/>
          <a:p>
            <a:r>
              <a:t>  Depending on the broker and configuration, messages can stay in the broker.</a:t>
            </a:r>
          </a:p>
          <a:p/>
          <a:p>
            <a:r>
              <a:t>  When Inventory comes back, it continues processing.</a:t>
            </a:r>
          </a:p>
          <a:p/>
          <a:p>
            <a:r>
              <a:t>  With a synchronous HTTP call, the caller would hit the unavailable service immediately.</a:t>
            </a:r>
          </a:p>
          <a:p/>
          <a:p>
            <a:r>
              <a:t>- What it shows</a:t>
            </a:r>
          </a:p>
          <a:p/>
          <a:p>
            <a:r>
              <a:t>  Order Service publishes once.</a:t>
            </a:r>
          </a:p>
          <a:p/>
          <a:p>
            <a:r>
              <a:t>  The broker buffers the messages and delivers them to Payment, Inventory, Notification and Analytics.</a:t>
            </a:r>
          </a:p>
          <a:p/>
          <a:p>
            <a:r>
              <a:t>- Key point</a:t>
            </a:r>
          </a:p>
          <a:p/>
          <a:p>
            <a:r>
              <a:t>  The broker decouples Order from every consumer, and buffers work when a consumer is busy or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Version A</a:t>
            </a:r>
          </a:p>
          <a:p/>
          <a:p>
            <a:r>
              <a:t>  The REST call blocks until it times out.</a:t>
            </a:r>
          </a:p>
          <a:p/>
          <a:p>
            <a:r>
              <a:t>  Order must either fail the customer's order or skip the email and lose it.</a:t>
            </a:r>
          </a:p>
          <a:p/>
          <a:p>
            <a:r>
              <a:t>- Version B</a:t>
            </a:r>
          </a:p>
          <a:p/>
          <a:p>
            <a:r>
              <a:t>  Order saves and publishes, and the customer gets a confirmation.</a:t>
            </a:r>
          </a:p>
          <a:p/>
          <a:p>
            <a:r>
              <a:t>  The event waits in the broker until Notification is back.</a:t>
            </a:r>
          </a:p>
          <a:p/>
          <a:p>
            <a:r>
              <a:t>- The catch</a:t>
            </a:r>
          </a:p>
          <a:p/>
          <a:p>
            <a:r>
              <a:t>  When Notification recovers it may see some events again, so it must be idempotent.</a:t>
            </a:r>
          </a:p>
          <a:p/>
          <a:p>
            <a:r>
              <a:t>  Someone should also watch how far behind it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Different problems</a:t>
            </a:r>
          </a:p>
          <a:p/>
          <a:p>
            <a:r>
              <a:t>  Queues and publish/subscribe solve different problems.</a:t>
            </a:r>
          </a:p>
          <a:p/>
          <a:p>
            <a:r>
              <a:t>- Queue, or competing consumers</a:t>
            </a:r>
          </a:p>
          <a:p/>
          <a:p>
            <a:r>
              <a:t>  Suppose we have a GenerateInvoice job and three worker instances.</a:t>
            </a:r>
          </a:p>
          <a:p/>
          <a:p>
            <a:r>
              <a:t>  Typically, only one worker processes a particular queued job.</a:t>
            </a:r>
          </a:p>
          <a:p/>
          <a:p>
            <a:r>
              <a:t>  This is useful for work distribution.</a:t>
            </a:r>
          </a:p>
          <a:p/>
          <a:p>
            <a:r>
              <a:t>- Publish/subscribe</a:t>
            </a:r>
          </a:p>
          <a:p/>
          <a:p>
            <a:r>
              <a:t>  Suppose we publish OrderCreated.</a:t>
            </a:r>
          </a:p>
          <a:p/>
          <a:p>
            <a:r>
              <a:t>  Payment, Inventory, Notification and Analytics may all need it, and each has its own reason to react.</a:t>
            </a:r>
          </a:p>
          <a:p/>
          <a:p>
            <a:r>
              <a:t>  This is useful for event distribution.</a:t>
            </a:r>
          </a:p>
          <a:p/>
          <a:p>
            <a:r>
              <a:t>- A word of caution</a:t>
            </a:r>
          </a:p>
          <a:p/>
          <a:p>
            <a:r>
              <a:t>  Do not imply that every messaging technology implements these patterns in the same way.</a:t>
            </a:r>
          </a:p>
          <a:p/>
          <a:p>
            <a:r>
              <a:t>- What it shows</a:t>
            </a:r>
          </a:p>
          <a:p/>
          <a:p>
            <a:r>
              <a:t>  On the left, a work queue gives each message to one of three payment workers.</a:t>
            </a:r>
          </a:p>
          <a:p/>
          <a:p>
            <a:r>
              <a:t>  On the right, a topic gives the same OrderCreated event to every subscriber.</a:t>
            </a:r>
          </a:p>
          <a:p/>
          <a:p>
            <a:r>
              <a:t>- Key point</a:t>
            </a:r>
          </a:p>
          <a:p/>
          <a:p>
            <a:r>
              <a:t>  Queues share work.</a:t>
            </a:r>
          </a:p>
          <a:p/>
          <a:p>
            <a:r>
              <a:t>  Topics share events.</a:t>
            </a:r>
          </a:p>
          <a:p/>
          <a:p>
            <a:r>
              <a:t>- Consumer groups</a:t>
            </a:r>
          </a:p>
          <a:p/>
          <a:p>
            <a:r>
              <a:t>  In Kafka, three instances of Notification Service in one group split the events between them.</a:t>
            </a:r>
          </a:p>
          <a:p/>
          <a:p>
            <a:r>
              <a:t>  Audit Service, in its own group, still receives every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From plumbing to design</a:t>
            </a:r>
          </a:p>
          <a:p/>
          <a:p>
            <a:r>
              <a:t>  Part 1 was about how messages move.</a:t>
            </a:r>
          </a:p>
          <a:p/>
          <a:p>
            <a:r>
              <a:t>  Part 2 is about what the messages mean and how a workflow is built from them.</a:t>
            </a:r>
          </a:p>
          <a:p/>
          <a:p>
            <a:r>
              <a:t>- Key question</a:t>
            </a:r>
          </a:p>
          <a:p/>
          <a:p>
            <a:r>
              <a:t>  Who controls a workflow that spans services: nobody, with choreography, or one coordinator, with orchestration?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an event is</a:t>
            </a:r>
          </a:p>
          <a:p/>
          <a:p>
            <a:r>
              <a:t>  An event represents something meaningful that has already happened.</a:t>
            </a:r>
          </a:p>
          <a:p/>
          <a:p>
            <a:r>
              <a:t>  A business action, like creating an order, produces a business event: OrderCreated.</a:t>
            </a:r>
          </a:p>
          <a:p/>
          <a:p>
            <a:r>
              <a:t>- Past-tense names</a:t>
            </a:r>
          </a:p>
          <a:p/>
          <a:p>
            <a:r>
              <a:t>  Examples are OrderCreated, PaymentAuthorized, PaymentFailed, InventoryReserved, OrderCancelled and ShipmentCreated.</a:t>
            </a:r>
          </a:p>
          <a:p/>
          <a:p>
            <a:r>
              <a:t>  Events are usually named in the past tense because they are facts.</a:t>
            </a:r>
          </a:p>
          <a:p/>
          <a:p>
            <a:r>
              <a:t>  OrderCreated simply means an order has been created.</a:t>
            </a:r>
          </a:p>
          <a:p/>
          <a:p>
            <a:r>
              <a:t>- Consumers decide</a:t>
            </a:r>
          </a:p>
          <a:p/>
          <a:p>
            <a:r>
              <a:t>  Consumers react to that fact.</a:t>
            </a:r>
          </a:p>
          <a:p/>
          <a:p>
            <a:r>
              <a:t>  The producer does not tell each consumer what to do.</a:t>
            </a:r>
          </a:p>
          <a:p/>
          <a:p>
            <a:r>
              <a:t>  That is the key difference between event notification and tightly controlled service calls.</a:t>
            </a:r>
          </a:p>
          <a:p/>
          <a:p>
            <a:r>
              <a:t>- What it shows</a:t>
            </a:r>
          </a:p>
          <a:p/>
          <a:p>
            <a:r>
              <a:t>  A customer places an order, which produces the OrderCreated event.</a:t>
            </a:r>
          </a:p>
          <a:p/>
          <a:p>
            <a:r>
              <a:t>  The broker delivers it to Payment, Inventory and Notification.</a:t>
            </a:r>
          </a:p>
          <a:p/>
          <a:p>
            <a:r>
              <a:t>- Key point</a:t>
            </a:r>
          </a:p>
          <a:p/>
          <a:p>
            <a:r>
              <a:t>  The event describes what happened.</a:t>
            </a:r>
          </a:p>
          <a:p/>
          <a:p>
            <a:r>
              <a:t>  Each service decides how to react.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People mix these up</a:t>
            </a:r>
          </a:p>
          <a:p/>
          <a:p>
            <a:r>
              <a:t>  Learners often use command, event and message as if they mean the same thing.</a:t>
            </a:r>
          </a:p>
          <a:p/>
          <a:p>
            <a:r>
              <a:t>  Explain the difference.</a:t>
            </a:r>
          </a:p>
          <a:p/>
          <a:p>
            <a:r>
              <a:t>- Command</a:t>
            </a:r>
          </a:p>
          <a:p/>
          <a:p>
            <a:r>
              <a:t>  A command asks for an action.</a:t>
            </a:r>
          </a:p>
          <a:p/>
          <a:p>
            <a:r>
              <a:t>  ReserveInventory means: please reserve this inventory.</a:t>
            </a:r>
          </a:p>
          <a:p/>
          <a:p>
            <a:r>
              <a:t>  There is usually one intended handler.</a:t>
            </a:r>
          </a:p>
          <a:p/>
          <a:p>
            <a:r>
              <a:t>- Event</a:t>
            </a:r>
          </a:p>
          <a:p/>
          <a:p>
            <a:r>
              <a:t>  An event reports a fact.</a:t>
            </a:r>
          </a:p>
          <a:p/>
          <a:p>
            <a:r>
              <a:t>  InventoryReserved means: inventory has been reserved.</a:t>
            </a:r>
          </a:p>
          <a:p/>
          <a:p>
            <a:r>
              <a:t>  Many services may care about it.</a:t>
            </a:r>
          </a:p>
          <a:p/>
          <a:p>
            <a:r>
              <a:t>- Message</a:t>
            </a:r>
          </a:p>
          <a:p/>
          <a:p>
            <a:r>
              <a:t>  A message is the broader transport idea.</a:t>
            </a:r>
          </a:p>
          <a:p/>
          <a:p>
            <a:r>
              <a:t>  A command or an event can be carried as a message.</a:t>
            </a:r>
          </a:p>
          <a:p/>
          <a:p>
            <a:r>
              <a:t>- Why it matters</a:t>
            </a:r>
          </a:p>
          <a:p/>
          <a:p>
            <a:r>
              <a:t>  This distinction helps architects think about intent and coupling, not just Kafka topics or RabbitMQ queues.</a:t>
            </a:r>
          </a:p>
          <a:p/>
          <a:p>
            <a:r>
              <a:t>- What it shows</a:t>
            </a:r>
          </a:p>
          <a:p/>
          <a:p>
            <a:r>
              <a:t>  On the left, Order sends the ReserveInventory command to Inventory.</a:t>
            </a:r>
          </a:p>
          <a:p/>
          <a:p>
            <a:r>
              <a:t>  On the right, Inventory announces InventoryReserved to anyone listening.</a:t>
            </a:r>
          </a:p>
          <a:p/>
          <a:p>
            <a:r>
              <a:t>- Key point</a:t>
            </a:r>
          </a:p>
          <a:p/>
          <a:p>
            <a:r>
              <a:t>  A command asks one service to act.</a:t>
            </a:r>
          </a:p>
          <a:p/>
          <a:p>
            <a:r>
              <a:t>  An event reports a fact that many services may care about.</a:t>
            </a:r>
          </a:p>
          <a:p/>
          <a:p>
            <a:r>
              <a:t>- Notifications</a:t>
            </a:r>
          </a:p>
          <a:p/>
          <a:p>
            <a:r>
              <a:t>  A third kind of message only informs, like a status alert to a user interface.</a:t>
            </a:r>
          </a:p>
          <a:p/>
          <a:p>
            <a:r>
              <a:t>  Nobody has to act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Walk through one order</a:t>
            </a:r>
          </a:p>
          <a:p/>
          <a:p>
            <a:r>
              <a:t>  The customer submits POST /orders.</a:t>
            </a:r>
          </a:p>
          <a:p/>
          <a:p>
            <a:r>
              <a:t>  The Order Service creates the order and publishes OrderCreated.</a:t>
            </a:r>
          </a:p>
          <a:p/>
          <a:p>
            <a:r>
              <a:t>- Consumers react</a:t>
            </a:r>
          </a:p>
          <a:p/>
          <a:p>
            <a:r>
              <a:t>  The Payment Service processes the payment.</a:t>
            </a:r>
          </a:p>
          <a:p/>
          <a:p>
            <a:r>
              <a:t>  The Inventory Service handles inventory.</a:t>
            </a:r>
          </a:p>
          <a:p/>
          <a:p>
            <a:r>
              <a:t>  The Notification Service may send a confirmation.</a:t>
            </a:r>
          </a:p>
          <a:p/>
          <a:p>
            <a:r>
              <a:t>- New events</a:t>
            </a:r>
          </a:p>
          <a:p/>
          <a:p>
            <a:r>
              <a:t>  Next come events like PaymentAuthorized and InventoryReserved.</a:t>
            </a:r>
          </a:p>
          <a:p/>
          <a:p>
            <a:r>
              <a:t>  Shipping can begin once its required business conditions are met.</a:t>
            </a:r>
          </a:p>
          <a:p/>
          <a:p>
            <a:r>
              <a:t>- An important caution</a:t>
            </a:r>
          </a:p>
          <a:p/>
          <a:p>
            <a:r>
              <a:t>  The exact workflow depends on business rules.</a:t>
            </a:r>
          </a:p>
          <a:p/>
          <a:p>
            <a:r>
              <a:t>  Publishing events does not automatically coordinate a correct transaction.</a:t>
            </a:r>
          </a:p>
          <a:p/>
          <a:p>
            <a:r>
              <a:t>- What it shows</a:t>
            </a:r>
          </a:p>
          <a:p/>
          <a:p>
            <a:r>
              <a:t>  OrderCreated reaches Payment, Inventory, Notification and Analytics.</a:t>
            </a:r>
          </a:p>
          <a:p/>
          <a:p>
            <a:r>
              <a:t>  Payment and Inventory then publish their own events, which Shipping waits for.</a:t>
            </a:r>
          </a:p>
          <a:p/>
          <a:p>
            <a:r>
              <a:t>- Key point</a:t>
            </a:r>
          </a:p>
          <a:p/>
          <a:p>
            <a:r>
              <a:t>  One business action starts a chain of events across several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Disciplined producers and consumers</a:t>
            </a:r>
          </a:p>
          <a:p/>
          <a:p>
            <a:r>
              <a:t>  Good event-driven architecture needs disciplined producers and consumers.</a:t>
            </a:r>
          </a:p>
          <a:p/>
          <a:p>
            <a:r>
              <a:t>  Each side owns its own logic, with the broker between them.</a:t>
            </a:r>
          </a:p>
          <a:p/>
          <a:p>
            <a:r>
              <a:t>- Producers don't track consumers</a:t>
            </a:r>
          </a:p>
          <a:p/>
          <a:p>
            <a:r>
              <a:t>  When the Order Service publishes OrderCreated, it should not contain code that checks whether Inventory, Analytics or Notification exist.</a:t>
            </a:r>
          </a:p>
          <a:p/>
          <a:p>
            <a:r>
              <a:t>  Those consumers decide for themselves whether they care about OrderCreated.</a:t>
            </a:r>
          </a:p>
          <a:p/>
          <a:p>
            <a:r>
              <a:t>- Consumer extensibility</a:t>
            </a:r>
          </a:p>
          <a:p/>
          <a:p>
            <a:r>
              <a:t>  Later, an Analytics Service can subscribe without anyone changing the Order Service just to call it.</a:t>
            </a:r>
          </a:p>
          <a:p/>
          <a:p>
            <a:r>
              <a:t>  This is called consumer extensibility.</a:t>
            </a:r>
          </a:p>
          <a:p/>
          <a:p>
            <a:r>
              <a:t>- Not zero coupling</a:t>
            </a:r>
          </a:p>
          <a:p/>
          <a:p>
            <a:r>
              <a:t>  Services are still coupled to the event contract.</a:t>
            </a:r>
          </a:p>
          <a:p/>
          <a:p>
            <a:r>
              <a:t>  Event-driven does not mean zero coupling.</a:t>
            </a:r>
          </a:p>
          <a:p/>
          <a:p>
            <a:r>
              <a:t>- What it shows</a:t>
            </a:r>
          </a:p>
          <a:p/>
          <a:p>
            <a:r>
              <a:t>  Order Service knows only the event contract and the orders.created destination.</a:t>
            </a:r>
          </a:p>
          <a:p/>
          <a:p>
            <a:r>
              <a:t>  The dashed line marks that it has no knowledge of consumers.</a:t>
            </a:r>
          </a:p>
          <a:p/>
          <a:p>
            <a:r>
              <a:t>- Key point</a:t>
            </a:r>
          </a:p>
          <a:p/>
          <a:p>
            <a:r>
              <a:t>  Consumers subscribe and process independently, so new ones can be added without changing the producer.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producer</a:t>
            </a:r>
          </a:p>
          <a:p/>
          <a:p>
            <a:r>
              <a:t>  Order Service saves the order, then sends OrderCreated to the orders.created topic.</a:t>
            </a:r>
          </a:p>
          <a:p/>
          <a:p>
            <a:r>
              <a:t>  The order ID is the message key.</a:t>
            </a:r>
          </a:p>
          <a:p/>
          <a:p>
            <a:r>
              <a:t>- Why the key matters</a:t>
            </a:r>
          </a:p>
          <a:p/>
          <a:p>
            <a:r>
              <a:t>  Kafka sends messages with the same key to the same partition, so all events for one order stay in order.</a:t>
            </a:r>
          </a:p>
          <a:p/>
          <a:p>
            <a:r>
              <a:t>- The consumer</a:t>
            </a:r>
          </a:p>
          <a:p/>
          <a:p>
            <a:r>
              <a:t>  @KafkaListener subscribes to the topic in the payment-service group.</a:t>
            </a:r>
          </a:p>
          <a:p/>
          <a:p>
            <a:r>
              <a:t>  Extra instances in that group share partitions; other groups still get every event.</a:t>
            </a:r>
          </a:p>
          <a:p/>
          <a:p>
            <a:r>
              <a:t>- Configuration</a:t>
            </a:r>
          </a:p>
          <a:p/>
          <a:p>
            <a:r>
              <a:t>  spring.kafka.bootstrap-servers and the JSON serializers come from application.yml, with the broker address supplied per environment.</a:t>
            </a:r>
          </a:p>
          <a:p/>
          <a:p>
            <a:r>
              <a:t>- The gap</a:t>
            </a:r>
          </a:p>
          <a:p/>
          <a:p>
            <a:r>
              <a:t>  If the save succeeds and the send fails, the event is lost.</a:t>
            </a:r>
          </a:p>
          <a:p/>
          <a:p>
            <a:r>
              <a:t>  We solve that with the transactional outbox in Part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How choreography works</a:t>
            </a:r>
          </a:p>
          <a:p/>
          <a:p>
            <a:r>
              <a:t>  In choreography, services react to events and publish new events.</a:t>
            </a:r>
          </a:p>
          <a:p/>
          <a:p>
            <a:r>
              <a:t>  No single central component commands every step.</a:t>
            </a:r>
          </a:p>
          <a:p/>
          <a:p>
            <a:r>
              <a:t>- Think of a dance</a:t>
            </a:r>
          </a:p>
          <a:p/>
          <a:p>
            <a:r>
              <a:t>  Each participant knows how to respond to signals from the others.</a:t>
            </a:r>
          </a:p>
          <a:p/>
          <a:p>
            <a:r>
              <a:t>  Order publishes OrderCreated, and Payment reacts.</a:t>
            </a:r>
          </a:p>
          <a:p/>
          <a:p>
            <a:r>
              <a:t>  Payment publishes PaymentAuthorized, and Inventory reacts.</a:t>
            </a:r>
          </a:p>
          <a:p/>
          <a:p>
            <a:r>
              <a:t>  Inventory publishes InventoryReserved, and Shipping reacts.</a:t>
            </a:r>
          </a:p>
          <a:p/>
          <a:p>
            <a:r>
              <a:t>- Benefits</a:t>
            </a:r>
          </a:p>
          <a:p/>
          <a:p>
            <a:r>
              <a:t>  It is decentralized and gives services autonomy.</a:t>
            </a:r>
          </a:p>
          <a:p/>
          <a:p>
            <a:r>
              <a:t>  It also reduces dependence on one central workflow component.</a:t>
            </a:r>
          </a:p>
          <a:p/>
          <a:p>
            <a:r>
              <a:t>- Challenges</a:t>
            </a:r>
          </a:p>
          <a:p/>
          <a:p>
            <a:r>
              <a:t>  The workflow is harder to see, and troubleshooting can be harder.</a:t>
            </a:r>
          </a:p>
          <a:p/>
          <a:p>
            <a:r>
              <a:t>  The business flow gets spread across many services, and event chains can become hard to manage.</a:t>
            </a:r>
          </a:p>
          <a:p/>
          <a:p>
            <a:r>
              <a:t>- What it shows</a:t>
            </a:r>
          </a:p>
          <a:p/>
          <a:p>
            <a:r>
              <a:t>  Order emits OrderCreated, Payment reacts and emits PaymentAuthorized, Inventory reacts and emits InventoryReserved, and Shipping reacts.</a:t>
            </a:r>
          </a:p>
          <a:p/>
          <a:p>
            <a:r>
              <a:t>- How to read it</a:t>
            </a:r>
          </a:p>
          <a:p/>
          <a:p>
            <a:r>
              <a:t>  Follow the numbers: each service reacts to one event and emits the next.</a:t>
            </a:r>
          </a:p>
          <a:p/>
          <a:p>
            <a:r>
              <a:t>  The crossed-out icon means there is no central controller.</a:t>
            </a:r>
          </a:p>
          <a:p/>
          <a:p>
            <a:r>
              <a:t>- Key point</a:t>
            </a:r>
          </a:p>
          <a:p/>
          <a:p>
            <a:r>
              <a:t>  The workflow emerges from the events rather than from one coordinating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Orchestration</a:t>
            </a:r>
          </a:p>
          <a:p/>
          <a:p>
            <a:r>
              <a:t>  A central coordinator manages the workflow.</a:t>
            </a:r>
          </a:p>
          <a:p/>
          <a:p>
            <a:r>
              <a:t>  Conceptually, it calls Payment, waits, calls Inventory, waits, then calls Shipping.</a:t>
            </a:r>
          </a:p>
          <a:p/>
          <a:p>
            <a:r>
              <a:t>  The orchestrator knows the whole process.</a:t>
            </a:r>
          </a:p>
          <a:p/>
          <a:p>
            <a:r>
              <a:t>- Orchestration trade-offs</a:t>
            </a:r>
          </a:p>
          <a:p/>
          <a:p>
            <a:r>
              <a:t>  The workflow is explicit and easier to picture in one place, with decision logic centralized.</a:t>
            </a:r>
          </a:p>
          <a:p/>
          <a:p>
            <a:r>
              <a:t>  But the coordinator becomes important infrastructure and business logic.</a:t>
            </a:r>
          </a:p>
          <a:p/>
          <a:p>
            <a:r>
              <a:t>  Poor design can over-centralize the services.</a:t>
            </a:r>
          </a:p>
          <a:p/>
          <a:p>
            <a:r>
              <a:t>- Choreography trade-offs</a:t>
            </a:r>
          </a:p>
          <a:p/>
          <a:p>
            <a:r>
              <a:t>  Services react to events, which is more decentralized and can reduce direct dependencies.</a:t>
            </a:r>
          </a:p>
          <a:p/>
          <a:p>
            <a:r>
              <a:t>  But complex workflows can become hard to understand.</a:t>
            </a:r>
          </a:p>
          <a:p/>
          <a:p>
            <a:r>
              <a:t>- How to choose</a:t>
            </a:r>
          </a:p>
          <a:p/>
          <a:p>
            <a:r>
              <a:t>  The right choice depends on how complex the workflow is and what the organization needs.</a:t>
            </a:r>
          </a:p>
          <a:p/>
          <a:p>
            <a:r>
              <a:t>- What it shows</a:t>
            </a:r>
          </a:p>
          <a:p/>
          <a:p>
            <a:r>
              <a:t>  On the left, an Order Orchestrator tells Payment, Inventory and Shipping what to do and hears back from each.</a:t>
            </a:r>
          </a:p>
          <a:p/>
          <a:p>
            <a:r>
              <a:t>  On the right, services react to events on a shared broker.</a:t>
            </a:r>
          </a:p>
          <a:p/>
          <a:p>
            <a:r>
              <a:t>- Key point</a:t>
            </a:r>
          </a:p>
          <a:p/>
          <a:p>
            <a:r>
              <a:t>  Orchestration puts the workflow in one place; choreography spreads it across services.</a:t>
            </a:r>
          </a:p>
          <a:p/>
          <a:p>
            <a:r>
              <a:t>- Building on Module 2</a:t>
            </a:r>
          </a:p>
          <a:p/>
          <a:p>
            <a:r>
              <a:t>  Module 2 introduced both styles.</a:t>
            </a:r>
          </a:p>
          <a:p/>
          <a:p>
            <a:r>
              <a:t>  Here the question is how to choose, and most real systems mix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Commands</a:t>
            </a:r>
          </a:p>
          <a:p/>
          <a:p>
            <a:r>
              <a:t>  ChargeCard, SendWelcomeEmail and ReserveStock ask one service to do something, so they are commands.</a:t>
            </a:r>
          </a:p>
          <a:p/>
          <a:p>
            <a:r>
              <a:t>- Events</a:t>
            </a:r>
          </a:p>
          <a:p/>
          <a:p>
            <a:r>
              <a:t>  CardCharged, AccountOpened, StockReserved and OrderShipped report facts in the past tense.</a:t>
            </a:r>
          </a:p>
          <a:p/>
          <a:p>
            <a:r>
              <a:t>- DataChanged</a:t>
            </a:r>
          </a:p>
          <a:p/>
          <a:p>
            <a:r>
              <a:t>  It says nothing about which business fact happened.</a:t>
            </a:r>
          </a:p>
          <a:p/>
          <a:p>
            <a:r>
              <a:t>  A specific name like CustomerAddressChanged lets consumers decide whether they care.</a:t>
            </a:r>
          </a:p>
          <a:p/>
          <a:p>
            <a:r>
              <a:t>- Consumers</a:t>
            </a:r>
          </a:p>
          <a:p/>
          <a:p>
            <a:r>
              <a:t>  AccountOpened might go to Notification for a welcome email and to Analytics.</a:t>
            </a:r>
          </a:p>
          <a:p/>
          <a:p>
            <a:r>
              <a:t>  OrderShipped might go to Notification and Loyalty.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part</a:t>
            </a:r>
          </a:p>
          <a:p/>
          <a:p>
            <a:r>
              <a:t>  Every failure mode here happens in production: lost messages, duplicates, retries that never stop, and events that arrive out of order.</a:t>
            </a:r>
          </a:p>
          <a:p/>
          <a:p>
            <a:r>
              <a:t>- How it connects to the lab</a:t>
            </a:r>
          </a:p>
          <a:p/>
          <a:p>
            <a:r>
              <a:t>  Lab 2 uses exactly these techniques: a processed_events table, a dead-letter topic and a correlation ID on every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 critical production idea</a:t>
            </a:r>
          </a:p>
          <a:p/>
          <a:p>
            <a:r>
              <a:t>  Delivery semantics describe how many times a message may be delivered.</a:t>
            </a:r>
          </a:p>
          <a:p/>
          <a:p>
            <a:r>
              <a:t>- At-most-once</a:t>
            </a:r>
          </a:p>
          <a:p/>
          <a:p>
            <a:r>
              <a:t>  A message is not intentionally redelivered after uncertain processing.</a:t>
            </a:r>
          </a:p>
          <a:p/>
          <a:p>
            <a:r>
              <a:t>  So a message can be lost, but the delivery approach avoids duplicates.</a:t>
            </a:r>
          </a:p>
          <a:p/>
          <a:p>
            <a:r>
              <a:t>- At-least-once</a:t>
            </a:r>
          </a:p>
          <a:p/>
          <a:p>
            <a:r>
              <a:t>  The infrastructure tries hard to make sure the message is processed, which can mean redelivery.</a:t>
            </a:r>
          </a:p>
          <a:p/>
          <a:p>
            <a:r>
              <a:t>  So a message may be delivered twice.</a:t>
            </a:r>
          </a:p>
          <a:p/>
          <a:p>
            <a:r>
              <a:t>  Consumers therefore need duplicate-safe behavior.</a:t>
            </a:r>
          </a:p>
          <a:p/>
          <a:p>
            <a:r>
              <a:t>- Exactly-once</a:t>
            </a:r>
          </a:p>
          <a:p/>
          <a:p>
            <a:r>
              <a:t>  Be careful with this term.</a:t>
            </a:r>
          </a:p>
          <a:p/>
          <a:p>
            <a:r>
              <a:t>  Some platforms offer exactly-once capabilities within specific boundaries.</a:t>
            </a:r>
          </a:p>
          <a:p/>
          <a:p>
            <a:r>
              <a:t>  But exactly-once business effects across databases, external APIs and distributed systems need careful design.</a:t>
            </a:r>
          </a:p>
          <a:p/>
          <a:p>
            <a:r>
              <a:t>  Always ask: exactly once where, and under what failure model?</a:t>
            </a:r>
          </a:p>
          <a:p/>
          <a:p>
            <a:r>
              <a:t>- What it shows</a:t>
            </a:r>
          </a:p>
          <a:p/>
          <a:p>
            <a:r>
              <a:t>  Three flows.</a:t>
            </a:r>
          </a:p>
          <a:p/>
          <a:p>
            <a:r>
              <a:t>  At-most-once drops a message and never retries.</a:t>
            </a:r>
          </a:p>
          <a:p/>
          <a:p>
            <a:r>
              <a:t>  At-least-once retries and may deliver twice.</a:t>
            </a:r>
          </a:p>
          <a:p/>
          <a:p>
            <a:r>
              <a:t>  Exactly-once needs deduplication or transactions.</a:t>
            </a:r>
          </a:p>
          <a:p/>
          <a:p>
            <a:r>
              <a:t>- Key point</a:t>
            </a:r>
          </a:p>
          <a:p/>
          <a:p>
            <a:r>
              <a:t>  Every guarantee is a trade-off between loss, duplicates and cost.</a:t>
            </a:r>
          </a:p>
          <a:p/>
          <a:p>
            <a:r>
              <a:t>- Why duplicates happen</a:t>
            </a:r>
          </a:p>
          <a:p/>
          <a:p>
            <a:r>
              <a:t>  A consumer processes a message, then crashes or times out before the acknowledgment reaches the broker.</a:t>
            </a:r>
          </a:p>
          <a:p/>
          <a:p>
            <a:r>
              <a:t>  The broker delivers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What idempotency means</a:t>
            </a:r>
          </a:p>
          <a:p/>
          <a:p>
            <a:r>
              <a:t>  Idempotency means that repeating the same logical operation does not create an extra business effect.</a:t>
            </a:r>
          </a:p>
          <a:p/>
          <a:p>
            <a:r>
              <a:t>- The payment problem</a:t>
            </a:r>
          </a:p>
          <a:p/>
          <a:p>
            <a:r>
              <a:t>  Payment is a great example.</a:t>
            </a:r>
          </a:p>
          <a:p/>
          <a:p>
            <a:r>
              <a:t>  Take order 1001 for 200 dollars.</a:t>
            </a:r>
          </a:p>
          <a:p/>
          <a:p>
            <a:r>
              <a:t>  A consumer processes the payment, then crashes before it records or confirms that the message is done.</a:t>
            </a:r>
          </a:p>
          <a:p/>
          <a:p>
            <a:r>
              <a:t>  The broker may deliver the message again.</a:t>
            </a:r>
          </a:p>
          <a:p/>
          <a:p>
            <a:r>
              <a:t>  Without protection, the customer could be charged 200 dollars twice.</a:t>
            </a:r>
          </a:p>
          <a:p/>
          <a:p>
            <a:r>
              <a:t>- The idempotent design</a:t>
            </a:r>
          </a:p>
          <a:p/>
          <a:p>
            <a:r>
              <a:t>  The good design checks: have we already processed event E100?</a:t>
            </a:r>
          </a:p>
          <a:p/>
          <a:p>
            <a:r>
              <a:t>  If yes, ignore it.</a:t>
            </a:r>
          </a:p>
          <a:p/>
          <a:p>
            <a:r>
              <a:t>  If no, process it once.</a:t>
            </a:r>
          </a:p>
          <a:p/>
          <a:p>
            <a:r>
              <a:t>- Techniques</a:t>
            </a:r>
          </a:p>
          <a:p/>
          <a:p>
            <a:r>
              <a:t>  You can use idempotency keys or stored processed event IDs.</a:t>
            </a:r>
          </a:p>
          <a:p/>
          <a:p>
            <a:r>
              <a:t>  You can also use unique business constraints, transactional techniques, or carefully designed upserts and state transitions.</a:t>
            </a:r>
          </a:p>
          <a:p/>
          <a:p>
            <a:r>
              <a:t>  This is one of the most important ideas in reliable messaging.</a:t>
            </a:r>
          </a:p>
          <a:p/>
          <a:p>
            <a:r>
              <a:t>- What it shows</a:t>
            </a:r>
          </a:p>
          <a:p/>
          <a:p>
            <a:r>
              <a:t>  OrderCreated arrives twice with the same event ID.</a:t>
            </a:r>
          </a:p>
          <a:p/>
          <a:p>
            <a:r>
              <a:t>  The consumer checks whether it already processed that ID.</a:t>
            </a:r>
          </a:p>
          <a:p/>
          <a:p>
            <a:r>
              <a:t>- How to read it</a:t>
            </a:r>
          </a:p>
          <a:p/>
          <a:p>
            <a:r>
              <a:t>  Yes means ignore the duplicate.</a:t>
            </a:r>
          </a:p>
          <a:p/>
          <a:p>
            <a:r>
              <a:t>  No means process the event and store the result together with the event ID.</a:t>
            </a:r>
          </a:p>
          <a:p/>
          <a:p>
            <a:r>
              <a:t>- Key point</a:t>
            </a:r>
          </a:p>
          <a:p/>
          <a:p>
            <a:r>
              <a:t>  Remembering processed IDs turns at-least-once delivery into a correct, once-only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check</a:t>
            </a:r>
          </a:p>
          <a:p/>
          <a:p>
            <a:r>
              <a:t>  Before doing anything, the listener looks up the event ID.</a:t>
            </a:r>
          </a:p>
          <a:p/>
          <a:p>
            <a:r>
              <a:t>  If it was already processed, it logs and returns.</a:t>
            </a:r>
          </a:p>
          <a:p/>
          <a:p>
            <a:r>
              <a:t>- Act and record</a:t>
            </a:r>
          </a:p>
          <a:p/>
          <a:p>
            <a:r>
              <a:t>  The payment record and the processed event row are saved in the same transaction, so either both exist or neither does.</a:t>
            </a:r>
          </a:p>
          <a:p/>
          <a:p>
            <a:r>
              <a:t>- Races</a:t>
            </a:r>
          </a:p>
          <a:p/>
          <a:p>
            <a:r>
              <a:t>  If two instances handle the same event at once, the primary key makes one insert fail.</a:t>
            </a:r>
          </a:p>
          <a:p/>
          <a:p>
            <a:r>
              <a:t>  That transaction rolls back, and on redelivery the check finds the ID.</a:t>
            </a:r>
          </a:p>
          <a:p/>
          <a:p>
            <a:r>
              <a:t>- External calls</a:t>
            </a:r>
          </a:p>
          <a:p/>
          <a:p>
            <a:r>
              <a:t>  This protects database changes.</a:t>
            </a:r>
          </a:p>
          <a:p/>
          <a:p>
            <a:r>
              <a:t>  Calls to outside systems, like a card network, also need an idempotency key on that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Not all failures are equal</a:t>
            </a:r>
          </a:p>
          <a:p/>
          <a:p>
            <a:r>
              <a:t>  Follow the flow: the consumer fails, retries with backoff, and fails again.</a:t>
            </a:r>
          </a:p>
          <a:p/>
          <a:p>
            <a:r>
              <a:t>  Then the message goes to a dead-letter queue or topic for investigation and recovery.</a:t>
            </a:r>
          </a:p>
          <a:p/>
          <a:p>
            <a:r>
              <a:t>- Transient failures</a:t>
            </a:r>
          </a:p>
          <a:p/>
          <a:p>
            <a:r>
              <a:t>  A database that is temporarily unavailable is a transient failure.</a:t>
            </a:r>
          </a:p>
          <a:p/>
          <a:p>
            <a:r>
              <a:t>  Retrying later may succeed.</a:t>
            </a:r>
          </a:p>
          <a:p/>
          <a:p>
            <a:r>
              <a:t>- Persistent or business failures</a:t>
            </a:r>
          </a:p>
          <a:p/>
          <a:p>
            <a:r>
              <a:t>  An invalid event structure, a missing required value, or a business rule that always rejects the operation will not be fixed by retrying.</a:t>
            </a:r>
          </a:p>
          <a:p/>
          <a:p>
            <a:r>
              <a:t>- Backoff and dead letters</a:t>
            </a:r>
          </a:p>
          <a:p/>
          <a:p>
            <a:r>
              <a:t>  Use backoff, which means waiting longer between retries, so you do not keep hammering a failing dependency.</a:t>
            </a:r>
          </a:p>
          <a:p/>
          <a:p>
            <a:r>
              <a:t>  Once the retry policy is used up, route the message to a dead-letter destination for investigation or controlled recovery.</a:t>
            </a:r>
          </a:p>
          <a:p/>
          <a:p>
            <a:r>
              <a:t>- Poison messages</a:t>
            </a:r>
          </a:p>
          <a:p/>
          <a:p>
            <a:r>
              <a:t>  A poison message is a message that fails processing again and again.</a:t>
            </a:r>
          </a:p>
          <a:p/>
          <a:p>
            <a:r>
              <a:t>- What it shows</a:t>
            </a:r>
          </a:p>
          <a:p/>
          <a:p>
            <a:r>
              <a:t>  A failed message is retried three times with increasing delays.</a:t>
            </a:r>
          </a:p>
          <a:p/>
          <a:p>
            <a:r>
              <a:t>  When retries are exhausted it goes to the DLQ or DLT for investigation and recovery.</a:t>
            </a:r>
          </a:p>
          <a:p/>
          <a:p>
            <a:r>
              <a:t>- Key point</a:t>
            </a:r>
          </a:p>
          <a:p/>
          <a:p>
            <a:r>
              <a:t>  Retries are limited, and failures are parked safely instead of blocking the queue.</a:t>
            </a:r>
          </a:p>
          <a:p/>
          <a:p>
            <a:r>
              <a:t>- Poison messages</a:t>
            </a:r>
          </a:p>
          <a:p/>
          <a:p>
            <a:r>
              <a:t>  A message that fails every time would block everything behind it.</a:t>
            </a:r>
          </a:p>
          <a:p/>
          <a:p>
            <a:r>
              <a:t>  A retry limit plus a dead-letter topic moves it aside.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error handler</a:t>
            </a:r>
          </a:p>
          <a:p/>
          <a:p>
            <a:r>
              <a:t>  Spring Boot plugs a DefaultErrorHandler bean into every @KafkaListener.</a:t>
            </a:r>
          </a:p>
          <a:p/>
          <a:p>
            <a:r>
              <a:t>  It retries a failed record, then hands it to the recoverer.</a:t>
            </a:r>
          </a:p>
          <a:p/>
          <a:p>
            <a:r>
              <a:t>- Backoff</a:t>
            </a:r>
          </a:p>
          <a:p/>
          <a:p>
            <a:r>
              <a:t>  Three retries starting at one second and doubling each time: one, two, then four seconds.</a:t>
            </a:r>
          </a:p>
          <a:p/>
          <a:p>
            <a:r>
              <a:t>- Not retryable</a:t>
            </a:r>
          </a:p>
          <a:p/>
          <a:p>
            <a:r>
              <a:t>  Some failures will never succeed, such as invalid data.</a:t>
            </a:r>
          </a:p>
          <a:p/>
          <a:p>
            <a:r>
              <a:t>  Those skip the retries and go straight to the dead-letter topic.</a:t>
            </a:r>
          </a:p>
          <a:p/>
          <a:p>
            <a:r>
              <a:t>- The dead-letter topic</a:t>
            </a:r>
          </a:p>
          <a:p/>
          <a:p>
            <a:r>
              <a:t>  The recoverer publishes to the original topic name plus .DLT, with headers saying where the record came from and why it failed.</a:t>
            </a:r>
          </a:p>
          <a:p/>
          <a:p>
            <a:r>
              <a:t>  Unreadable JSON also needs the ErrorHandlingDeserializer.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an official OUTLINE.md checkpoint for Day 2.</a:t>
            </a:r>
          </a:p>
          <a:p/>
          <a:p>
            <a:r>
              <a:t>  Use the worksheet in labs/day-02/exercises.</a:t>
            </a:r>
          </a:p>
          <a:p/>
          <a:p>
            <a:r>
              <a:t>- Duplicates</a:t>
            </a:r>
          </a:p>
          <a:p/>
          <a:p>
            <a:r>
              <a:t>  The consumer stores each event_id in processed_events.</a:t>
            </a:r>
          </a:p>
          <a:p/>
          <a:p>
            <a:r>
              <a:t>  A second delivery finds it and does nothing.</a:t>
            </a:r>
          </a:p>
          <a:p/>
          <a:p>
            <a:r>
              <a:t>- Poison messages</a:t>
            </a:r>
          </a:p>
          <a:p/>
          <a:p>
            <a:r>
              <a:t>  After two retries, Lab 2 sends unreadable or invalid messages to transactions.submitted.DLT.</a:t>
            </a:r>
          </a:p>
          <a:p/>
          <a:p>
            <a:r>
              <a:t>  The transaction must not be marked as successful.</a:t>
            </a:r>
          </a:p>
          <a:p/>
          <a:p>
            <a:r>
              <a:t>- Looking ahead</a:t>
            </a:r>
          </a:p>
          <a:p/>
          <a:p>
            <a:r>
              <a:t>  Risk Assessment in Lab 5 will read the same topic in its own consumer group, so the event must stay general enough for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Services update at different times</a:t>
            </a:r>
          </a:p>
          <a:p/>
          <a:p>
            <a:r>
              <a:t>  Distributed services do not all update at the same instant.</a:t>
            </a:r>
          </a:p>
          <a:p/>
          <a:p>
            <a:r>
              <a:t>  At one moment, the Order Service may already know the order is PAID.</a:t>
            </a:r>
          </a:p>
          <a:p/>
          <a:p>
            <a:r>
              <a:t>  Inventory is still PROCESSING, and Shipping has not started.</a:t>
            </a:r>
          </a:p>
          <a:p/>
          <a:p>
            <a:r>
              <a:t>- Eventual consistency</a:t>
            </a:r>
          </a:p>
          <a:p/>
          <a:p>
            <a:r>
              <a:t>  As the events propagate, the system converges.</a:t>
            </a:r>
          </a:p>
          <a:p/>
          <a:p>
            <a:r>
              <a:t>  This is called eventual consistency.</a:t>
            </a:r>
          </a:p>
          <a:p/>
          <a:p>
            <a:r>
              <a:t>- It is designed, not magic</a:t>
            </a:r>
          </a:p>
          <a:p/>
          <a:p>
            <a:r>
              <a:t>  Eventual consistency does not mean the data somehow becomes correct on its own.</a:t>
            </a:r>
          </a:p>
          <a:p/>
          <a:p>
            <a:r>
              <a:t>  It needs deliberate design for workflows, failures, compensation and reconciliation.</a:t>
            </a:r>
          </a:p>
          <a:p/>
          <a:p>
            <a:r>
              <a:t>- Event ordering</a:t>
            </a:r>
          </a:p>
          <a:p/>
          <a:p>
            <a:r>
              <a:t>  Imagine a consumer receives OrderCancelled before it processes OrderCreated.</a:t>
            </a:r>
          </a:p>
          <a:p/>
          <a:p>
            <a:r>
              <a:t>  Ordering guarantees depend on the broker, the partitioning or routing strategy and the application design, and they have a specific scope.</a:t>
            </a:r>
          </a:p>
          <a:p/>
          <a:p>
            <a:r>
              <a:t>  Consumers must understand the guarantees they actually get, especially when they scale out.</a:t>
            </a:r>
          </a:p>
          <a:p/>
          <a:p>
            <a:r>
              <a:t>- What it shows</a:t>
            </a:r>
          </a:p>
          <a:p/>
          <a:p>
            <a:r>
              <a:t>  Right now, Order is CREATED, Payment PENDING, Inventory unchanged and Shipping empty.</a:t>
            </a:r>
          </a:p>
          <a:p/>
          <a:p>
            <a:r>
              <a:t>  As the events arrive in order, all four converge.</a:t>
            </a:r>
          </a:p>
          <a:p/>
          <a:p>
            <a:r>
              <a:t>- Key point</a:t>
            </a:r>
          </a:p>
          <a:p/>
          <a:p>
            <a:r>
              <a:t>  For a while the services disagree.</a:t>
            </a:r>
          </a:p>
          <a:p/>
          <a:p>
            <a:r>
              <a:t>  The design must make that window safe.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The problem</a:t>
            </a:r>
          </a:p>
          <a:p/>
          <a:p>
            <a:r>
              <a:t>  Saving to the database and sending to Kafka are two separate systems.</a:t>
            </a:r>
          </a:p>
          <a:p/>
          <a:p>
            <a:r>
              <a:t>  If the service crashes between them, the order exists but nobody hears about it.</a:t>
            </a:r>
          </a:p>
          <a:p/>
          <a:p>
            <a:r>
              <a:t>- The outbox</a:t>
            </a:r>
          </a:p>
          <a:p/>
          <a:p>
            <a:r>
              <a:t>  Instead of sending directly, the service writes the event into an outbox table in the same transaction as the order.</a:t>
            </a:r>
          </a:p>
          <a:p/>
          <a:p>
            <a:r>
              <a:t>- The relay</a:t>
            </a:r>
          </a:p>
          <a:p/>
          <a:p>
            <a:r>
              <a:t>  A separate job, or a change-data-capture tool like Debezium, reads new outbox rows, publishes them and marks them as sent.</a:t>
            </a:r>
          </a:p>
          <a:p/>
          <a:p>
            <a:r>
              <a:t>- Trade-off</a:t>
            </a:r>
          </a:p>
          <a:p/>
          <a:p>
            <a:r>
              <a:t>  The relay can publish an event twice, which is fine because consumers are idempotent.</a:t>
            </a:r>
          </a:p>
          <a:p/>
          <a:p>
            <a:r>
              <a:t>  Lab 2 keeps the simpler save-then-publish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Events are contracts</a:t>
            </a:r>
          </a:p>
          <a:p/>
          <a:p>
            <a:r>
              <a:t>  Once other services consume an event, its schema becomes a contract.</a:t>
            </a:r>
          </a:p>
          <a:p/>
          <a:p>
            <a:r>
              <a:t>  If Inventory expects orderId and the Order Service removes or renames it, Inventory may break.</a:t>
            </a:r>
          </a:p>
          <a:p/>
          <a:p>
            <a:r>
              <a:t>- Identity, type and version</a:t>
            </a:r>
          </a:p>
          <a:p/>
          <a:p>
            <a:r>
              <a:t>  An event ID gives a unique identity, which helps with tracing and idempotency.</a:t>
            </a:r>
          </a:p>
          <a:p/>
          <a:p>
            <a:r>
              <a:t>  The event type says what happened.</a:t>
            </a:r>
          </a:p>
          <a:p/>
          <a:p>
            <a:r>
              <a:t>  The version says which contract version this is.</a:t>
            </a:r>
          </a:p>
          <a:p/>
          <a:p>
            <a:r>
              <a:t>- Time, correlation and business data</a:t>
            </a:r>
          </a:p>
          <a:p/>
          <a:p>
            <a:r>
              <a:t>  The timestamp says when it happened.</a:t>
            </a:r>
          </a:p>
          <a:p/>
          <a:p>
            <a:r>
              <a:t>  A correlation or trace ID shows which request or workflow produced it.</a:t>
            </a:r>
          </a:p>
          <a:p/>
          <a:p>
            <a:r>
              <a:t>  Business identifiers include the order ID and customer ID.</a:t>
            </a:r>
          </a:p>
          <a:p/>
          <a:p>
            <a:r>
              <a:t>- Evolve carefully</a:t>
            </a:r>
          </a:p>
          <a:p/>
          <a:p>
            <a:r>
              <a:t>  Prefer backward-compatible changes wherever practical.</a:t>
            </a:r>
          </a:p>
          <a:p/>
          <a:p>
            <a:r>
              <a:t>- What it shows</a:t>
            </a:r>
          </a:p>
          <a:p/>
          <a:p>
            <a:r>
              <a:t>  An OrderCreated event with its event ID, type, version, timestamp, correlation ID and business payload labelled.</a:t>
            </a:r>
          </a:p>
          <a:p/>
          <a:p>
            <a:r>
              <a:t>- Key point</a:t>
            </a:r>
          </a:p>
          <a:p/>
          <a:p>
            <a:r>
              <a:t>  Metadata makes events traceable and versionable; the payload carries only what consumers need.</a:t>
            </a:r>
          </a:p>
          <a:p/>
          <a:p>
            <a:r>
              <a:t>- Notification or state transfer</a:t>
            </a:r>
          </a:p>
          <a:p/>
          <a:p>
            <a:r>
              <a:t>  A thin event notification carries identifiers, and consumers call back for details.</a:t>
            </a:r>
          </a:p>
          <a:p/>
          <a:p>
            <a:r>
              <a:t>  Event-carried state transfer includes the data, which lowers coupling but duplicates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Official checkpoint</a:t>
            </a:r>
          </a:p>
          <a:p/>
          <a:p>
            <a:r>
              <a:t>  This is an official OUTLINE.md checkpoint for Day 2.</a:t>
            </a:r>
          </a:p>
          <a:p/>
          <a:p>
            <a:r>
              <a:t>  Use the worksheet in labs/day-02/exercises.</a:t>
            </a:r>
          </a:p>
          <a:p/>
          <a:p>
            <a:r>
              <a:t>- The flow</a:t>
            </a:r>
          </a:p>
          <a:p/>
          <a:p>
            <a:r>
              <a:t>  The REST request is validated, the transaction is saved as RECEIVED, and then TransactionSubmitted is published.</a:t>
            </a:r>
          </a:p>
          <a:p/>
          <a:p>
            <a:r>
              <a:t>  A consumer later marks it SUBMITTED.</a:t>
            </a:r>
          </a:p>
          <a:p/>
          <a:p>
            <a:r>
              <a:t>- The envelope</a:t>
            </a:r>
          </a:p>
          <a:p/>
          <a:p>
            <a:r>
              <a:t>  It uses the same fields as the contract anatomy diagram: type, version, ID, correlation ID, time and payload.</a:t>
            </a:r>
          </a:p>
          <a:p/>
          <a:p>
            <a:r>
              <a:t>- Correlation</a:t>
            </a:r>
          </a:p>
          <a:p/>
          <a:p>
            <a:r>
              <a:t>  The X-Correlation-Id header travels onto the event and into every log line, so one request can be traced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Ask the right question</a:t>
            </a:r>
          </a:p>
          <a:p/>
          <a:p>
            <a:r>
              <a:t>  Do not present this as which one is better.</a:t>
            </a:r>
          </a:p>
          <a:p/>
          <a:p>
            <a:r>
              <a:t>  Ask what communication model the system needs.</a:t>
            </a:r>
          </a:p>
          <a:p/>
          <a:p>
            <a:r>
              <a:t>- Kafka</a:t>
            </a:r>
          </a:p>
          <a:p/>
          <a:p>
            <a:r>
              <a:t>  Think of Kafka as events going into a topic, stored in durable, ordered partitions.</a:t>
            </a:r>
          </a:p>
          <a:p/>
          <a:p>
            <a:r>
              <a:t>  Consumers track their position, called an offset, and can replay retained events.</a:t>
            </a:r>
          </a:p>
          <a:p/>
          <a:p>
            <a:r>
              <a:t>  Common uses are event streaming, data pipelines, event-driven architectures and high-throughput event distribution.</a:t>
            </a:r>
          </a:p>
          <a:p/>
          <a:p>
            <a:r>
              <a:t>- RabbitMQ</a:t>
            </a:r>
          </a:p>
          <a:p/>
          <a:p>
            <a:r>
              <a:t>  Think of RabbitMQ as producer, exchange, queue, consumer.</a:t>
            </a:r>
          </a:p>
          <a:p/>
          <a:p>
            <a:r>
              <a:t>  It offers rich routing and queue-based messaging patterns.</a:t>
            </a:r>
          </a:p>
          <a:p/>
          <a:p>
            <a:r>
              <a:t>  Common uses are work queues, routing, task distribution and traditional asynchronous messaging.</a:t>
            </a:r>
          </a:p>
          <a:p/>
          <a:p>
            <a:r>
              <a:t>- Not a faster RabbitMQ</a:t>
            </a:r>
          </a:p>
          <a:p/>
          <a:p>
            <a:r>
              <a:t>  Avoid teaching that Kafka is simply a faster RabbitMQ.</a:t>
            </a:r>
          </a:p>
          <a:p/>
          <a:p>
            <a:r>
              <a:t>  Their architectures and usage models differ.</a:t>
            </a:r>
          </a:p>
          <a:p/>
          <a:p>
            <a:r>
              <a:t>  Many organizations use either one, or both, depending on requirements.</a:t>
            </a:r>
          </a:p>
          <a:p/>
          <a:p>
            <a:r>
              <a:t>- Kafka side</a:t>
            </a:r>
          </a:p>
          <a:p/>
          <a:p>
            <a:r>
              <a:t>  Order events go to a topic with three partitions.</a:t>
            </a:r>
          </a:p>
          <a:p/>
          <a:p>
            <a:r>
              <a:t>  Each consumer group reads the same topic independently from its own offsets.</a:t>
            </a:r>
          </a:p>
          <a:p/>
          <a:p>
            <a:r>
              <a:t>- RabbitMQ side</a:t>
            </a:r>
          </a:p>
          <a:p/>
          <a:p>
            <a:r>
              <a:t>  Order events go to an exchange that routes copies into a payment, inventory and notification queue.</a:t>
            </a:r>
          </a:p>
          <a:p/>
          <a:p>
            <a:r>
              <a:t>- Key point</a:t>
            </a:r>
          </a:p>
          <a:p/>
          <a:p>
            <a:r>
              <a:t>  Kafka keeps a replayable log; RabbitMQ routes messages into queues.</a:t>
            </a:r>
          </a:p>
          <a:p/>
          <a:p>
            <a:r>
              <a:t>- In this course</a:t>
            </a:r>
          </a:p>
          <a:p/>
          <a:p>
            <a:r>
              <a:t>  The labs use Kafka, with Docker Compose locally and AMQ Streams on OpenShift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Turn the module into a decision</a:t>
            </a:r>
          </a:p>
          <a:p/>
          <a:p>
            <a:r>
              <a:t>  First ask: does the caller need an immediate result?</a:t>
            </a:r>
          </a:p>
          <a:p/>
          <a:p>
            <a:r>
              <a:t>  If yes, REST or gRPC.</a:t>
            </a:r>
          </a:p>
          <a:p/>
          <a:p>
            <a:r>
              <a:t>  If no, can the work happen asynchronously?</a:t>
            </a:r>
          </a:p>
          <a:p/>
          <a:p>
            <a:r>
              <a:t>  If yes, use messaging or events.</a:t>
            </a:r>
          </a:p>
          <a:p/>
          <a:p>
            <a:r>
              <a:t>- Examples</a:t>
            </a:r>
          </a:p>
          <a:p/>
          <a:p>
            <a:r>
              <a:t>  Getting customer details with GET /customers/100 needs an immediate response, so REST may fit.</a:t>
            </a:r>
          </a:p>
          <a:p/>
          <a:p>
            <a:r>
              <a:t>  Generating an invoice can happen in the background, so a queue may fit.</a:t>
            </a:r>
          </a:p>
          <a:p/>
          <a:p>
            <a:r>
              <a:t>  OrderCreated matters to Payment, Inventory, Notification and Analytics, so publish/subscribe or event streaming may fit.</a:t>
            </a:r>
          </a:p>
          <a:p/>
          <a:p>
            <a:r>
              <a:t>- Complex workflows</a:t>
            </a:r>
          </a:p>
          <a:p/>
          <a:p>
            <a:r>
              <a:t>  If a process has many decisions, compensations and dependencies, orchestration may give clearer control.</a:t>
            </a:r>
          </a:p>
          <a:p/>
          <a:p>
            <a:r>
              <a:t>- The principle</a:t>
            </a:r>
          </a:p>
          <a:p/>
          <a:p>
            <a:r>
              <a:t>  Choose the communication model based on business meaning, reliability needs and coupling.</a:t>
            </a:r>
          </a:p>
          <a:p/>
          <a:p>
            <a:r>
              <a:t>  Do not choose it because a technology is popular.</a:t>
            </a:r>
          </a:p>
          <a:p/>
          <a:p>
            <a:r>
              <a:t>- What it shows</a:t>
            </a:r>
          </a:p>
          <a:p/>
          <a:p>
            <a:r>
              <a:t>  Immediate response leads to REST or gRPC.</a:t>
            </a:r>
          </a:p>
          <a:p/>
          <a:p>
            <a:r>
              <a:t>  Asynchronous work leads to messaging, then queue or pub/sub, then choreography or orchestration for cross-service workflows.</a:t>
            </a:r>
          </a:p>
          <a:p/>
          <a:p>
            <a:r>
              <a:t>- Key point</a:t>
            </a:r>
          </a:p>
          <a:p/>
          <a:p>
            <a:r>
              <a:t>  Answer the questions in order and the pattern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Start of the process</a:t>
            </a:r>
          </a:p>
          <a:p/>
          <a:p>
            <a:r>
              <a:t>  Use this slide to rebuild the module.</a:t>
            </a:r>
          </a:p>
          <a:p/>
          <a:p>
            <a:r>
              <a:t>  The client sends POST /orders.</a:t>
            </a:r>
          </a:p>
          <a:p/>
          <a:p>
            <a:r>
              <a:t>  The Order Service creates the order in its own database and publishes OrderCreated.</a:t>
            </a:r>
          </a:p>
          <a:p/>
          <a:p>
            <a:r>
              <a:t>- Decoupled consumers</a:t>
            </a:r>
          </a:p>
          <a:p/>
          <a:p>
            <a:r>
              <a:t>  The broker decouples producers from consumers, so Order does not call every service synchronously.</a:t>
            </a:r>
          </a:p>
          <a:p/>
          <a:p>
            <a:r>
              <a:t>  Payment, Inventory and Notification react independently.</a:t>
            </a:r>
          </a:p>
          <a:p/>
          <a:p>
            <a:r>
              <a:t>- New events</a:t>
            </a:r>
          </a:p>
          <a:p/>
          <a:p>
            <a:r>
              <a:t>  Consumers can publish new business events, like PaymentAuthorized and InventoryReserved.</a:t>
            </a:r>
          </a:p>
          <a:p/>
          <a:p>
            <a:r>
              <a:t>  The workflow continues, and Shipping starts once its business conditions are met.</a:t>
            </a:r>
          </a:p>
          <a:p/>
          <a:p>
            <a:r>
              <a:t>- Each service owns its state</a:t>
            </a:r>
          </a:p>
          <a:p/>
          <a:p>
            <a:r>
              <a:t>  Order, Payment, Inventory and Shipping each have their own database.</a:t>
            </a:r>
          </a:p>
          <a:p/>
          <a:p>
            <a:r>
              <a:t>  So we do not rely on one shared distributed transaction to make the whole workflow atomic.</a:t>
            </a:r>
          </a:p>
          <a:p/>
          <a:p>
            <a:r>
              <a:t>- Reliability surrounds it</a:t>
            </a:r>
          </a:p>
          <a:p/>
          <a:p>
            <a:r>
              <a:t>  In production you also need acknowledgments, idempotency, retries and backoff.</a:t>
            </a:r>
          </a:p>
          <a:p/>
          <a:p>
            <a:r>
              <a:t>  You need dead-letter handling, schema management, tracing and monitoring.</a:t>
            </a:r>
          </a:p>
          <a:p/>
          <a:p>
            <a:r>
              <a:t>- Final message</a:t>
            </a:r>
          </a:p>
          <a:p/>
          <a:p>
            <a:r>
              <a:t>  Messaging changes how services collaborate, not just how data moves.</a:t>
            </a:r>
          </a:p>
          <a:p/>
          <a:p>
            <a:r>
              <a:t>  You gain decoupling and asynchronous scalability.</a:t>
            </a:r>
          </a:p>
          <a:p/>
          <a:p>
            <a:r>
              <a:t>  But you must explicitly handle duplicates, retries, failures, ordering, contracts and eventual consistency.</a:t>
            </a:r>
          </a:p>
          <a:p/>
          <a:p>
            <a:r>
              <a:t>- What it shows</a:t>
            </a:r>
          </a:p>
          <a:p/>
          <a:p>
            <a:r>
              <a:t>  A client calls Order Service, which saves to its database and publishes OrderCreated.</a:t>
            </a:r>
          </a:p>
          <a:p/>
          <a:p>
            <a:r>
              <a:t>  The broker feeds Payment, Inventory, Notification and Analytics, each with its own database.</a:t>
            </a:r>
          </a:p>
          <a:p/>
          <a:p>
            <a:r>
              <a:t>- How to read it</a:t>
            </a:r>
          </a:p>
          <a:p/>
          <a:p>
            <a:r>
              <a:t>  Follow PaymentAuthorized and InventoryReserved back through the broker to Shipping.</a:t>
            </a:r>
          </a:p>
          <a:p/>
          <a:p>
            <a:r>
              <a:t>- Key point</a:t>
            </a:r>
          </a:p>
          <a:p/>
          <a:p>
            <a:r>
              <a:t>  Every idea in the module appears here: events, broker, independent consumers and owned data.</a:t>
            </a:r>
          </a:p>
          <a:p/>
          <a:p>
            <a:r>
              <a:t>- Observability</a:t>
            </a:r>
          </a:p>
          <a:p/>
          <a:p>
            <a:r>
              <a:t>  Consumer lag is how far a consumer is behind the newest events.</a:t>
            </a:r>
          </a:p>
          <a:p/>
          <a:p>
            <a:r>
              <a:t>  Rising lag, a growing dead-letter topic or climbing retries are early warnings.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Why this slide</a:t>
            </a:r>
          </a:p>
          <a:p/>
          <a:p>
            <a:r>
              <a:t>  Before the knowledge check, clear away the beliefs that cause most messaging incidents.</a:t>
            </a:r>
          </a:p>
          <a:p/>
          <a:p>
            <a:r>
              <a:t>- Coupling and delivery</a:t>
            </a:r>
          </a:p>
          <a:p/>
          <a:p>
            <a:r>
              <a:t>  Events remove timing coupling, not contract coupling.</a:t>
            </a:r>
          </a:p>
          <a:p/>
          <a:p>
            <a:r>
              <a:t>  And brokers usually guarantee at-least-once delivery, so duplicates are normal.</a:t>
            </a:r>
          </a:p>
          <a:p/>
          <a:p>
            <a:r>
              <a:t>- Speed and order</a:t>
            </a:r>
          </a:p>
          <a:p/>
          <a:p>
            <a:r>
              <a:t>  Asynchronous work finishes later, not faster.</a:t>
            </a:r>
          </a:p>
          <a:p/>
          <a:p>
            <a:r>
              <a:t>  Ordering is only guaranteed within a Kafka partition or a single queue.</a:t>
            </a:r>
          </a:p>
          <a:p/>
          <a:p>
            <a:r>
              <a:t>- Anti-patterns</a:t>
            </a:r>
          </a:p>
          <a:p/>
          <a:p>
            <a:r>
              <a:t>  Publishing before commit, vague event names, ignored duplicates, endless retries, sensitive payloads and no monitoring are the usual causes of trouble.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- 1. Sync vs. async</a:t>
            </a:r>
          </a:p>
          <a:p/>
          <a:p>
            <a:r>
              <a:t>  Synchronous waits for a response; asynchronous sends a message and continues.</a:t>
            </a:r>
          </a:p>
          <a:p/>
          <a:p>
            <a:r>
              <a:t>- 2. REST</a:t>
            </a:r>
          </a:p>
          <a:p/>
          <a:p>
            <a:r>
              <a:t>  When the caller needs an immediate answer, such as a simple query or a validation.</a:t>
            </a:r>
          </a:p>
          <a:p/>
          <a:p>
            <a:r>
              <a:t>- 3. Call chains</a:t>
            </a:r>
          </a:p>
          <a:p/>
          <a:p>
            <a:r>
              <a:t>  One slow or failed service delays or breaks the whole chain.</a:t>
            </a:r>
          </a:p>
          <a:p/>
          <a:p>
            <a:r>
              <a:t>- 4. Event</a:t>
            </a:r>
          </a:p>
          <a:p/>
          <a:p>
            <a:r>
              <a:t>  A message describing a business fact that already happened.</a:t>
            </a:r>
          </a:p>
          <a:p/>
          <a:p>
            <a:r>
              <a:t>- 5. Past tense</a:t>
            </a:r>
          </a:p>
          <a:p/>
          <a:p>
            <a:r>
              <a:t>  It makes clear the fact is complete, like AccountOpened.</a:t>
            </a:r>
          </a:p>
          <a:p/>
          <a:p>
            <a:r>
              <a:t>- 6. Broker</a:t>
            </a:r>
          </a:p>
          <a:p/>
          <a:p>
            <a:r>
              <a:t>  It receives messages from producers and delivers them to consumers through queues, topics and routing.</a:t>
            </a:r>
          </a:p>
          <a:p/>
          <a:p>
            <a:r>
              <a:t>- 7. Dead-letter queue</a:t>
            </a:r>
          </a:p>
          <a:p/>
          <a:p>
            <a:r>
              <a:t>  It holds messages that still failed after retries, so they can be inspected and reprocessed.</a:t>
            </a:r>
          </a:p>
          <a:p/>
          <a:p>
            <a:r>
              <a:t>- 8. Idempotency</a:t>
            </a:r>
          </a:p>
          <a:p/>
          <a:p>
            <a:r>
              <a:t>  Messages may be redelivered, so processing twice must not cause a wrong result.</a:t>
            </a:r>
          </a:p>
          <a:p/>
          <a:p>
            <a:r>
              <a:t>- 9. Consumer lag</a:t>
            </a:r>
          </a:p>
          <a:p/>
          <a:p>
            <a:r>
              <a:t>  The gap between the newest events and the events a consumer has processed.</a:t>
            </a:r>
          </a:p>
          <a:p/>
          <a:p>
            <a:r>
              <a:t>- 10. Shared databases</a:t>
            </a:r>
          </a:p>
          <a:p/>
          <a:p>
            <a:r>
              <a:t>  They create tight coupling and weaken service ownership.</a:t>
            </a:r>
          </a:p>
          <a:p/>
          <a:p>
            <a:r>
              <a:t>- Practical scenario</a:t>
            </a:r>
          </a:p>
          <a:p/>
          <a:p>
            <a:r>
              <a:t>  A customer opens a checking account.</a:t>
            </a:r>
          </a:p>
          <a:p/>
          <a:p>
            <a:r>
              <a:t>  Account Service publishes AccountOpened; Notification and Analytics consume it; the welcome email never blocks the API; failures retry, then dead-letter.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</a:t>
            </a:r>
          </a:p>
          <a:p>
            <a:r>
              <a:t>------------------</a:t>
            </a:r>
          </a:p>
          <a:p/>
          <a:p>
            <a:r>
              <a:t>- Recap</a:t>
            </a:r>
          </a:p>
          <a:p/>
          <a:p>
            <a:r>
              <a:t>  We compared communication styles, learned how brokers and events work, designed event-driven workflows, and made consumers reliable.</a:t>
            </a:r>
          </a:p>
          <a:p/>
          <a:p>
            <a:r>
              <a:t>- Next module</a:t>
            </a:r>
          </a:p>
          <a:p/>
          <a:p>
            <a:r>
              <a:t>  Module 5 is about data: each service owning its persistence, transactions across services with sagas, and caching.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43216" y="109728"/>
            <a:ext cx="3566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1">
                <a:solidFill>
                  <a:srgbClr val="595959"/>
                </a:solidFill>
                <a:latin typeface="Nirmala UI"/>
              </a:rPr>
              <a:t>"Sending a message is easy — building a reliable distributed workflow is harder."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0" i="0">
                <a:solidFill>
                  <a:srgbClr val="002060"/>
                </a:solidFill>
                <a:latin typeface="Leelawadee"/>
              </a:rPr>
              <a:t>MODULE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D1282E"/>
                </a:solidFill>
                <a:latin typeface="Leelawadee"/>
              </a:rPr>
              <a:t>Microservices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0058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2060"/>
                </a:solidFill>
                <a:latin typeface="Nirmala UI"/>
              </a:rPr>
              <a:t>Connecting independent services through messaging and events.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7525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Nirmala UI"/>
              </a:rPr>
              <a:t>SPRING BOOT MICROSERVICES BOOTCAMP  •  MODULE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09160"/>
            <a:ext cx="1760220" cy="868680"/>
          </a:xfrm>
          <a:prstGeom prst="roundRect">
            <a:avLst>
              <a:gd name="adj" fmla="val 12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Asynchronous communication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4580" y="4709160"/>
            <a:ext cx="1760220" cy="868680"/>
          </a:xfrm>
          <a:prstGeom prst="roundRect">
            <a:avLst>
              <a:gd name="adj" fmla="val 12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Messaging fundamentals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4709160"/>
            <a:ext cx="1760220" cy="868680"/>
          </a:xfrm>
          <a:prstGeom prst="roundRect">
            <a:avLst>
              <a:gd name="adj" fmla="val 12000"/>
            </a:avLst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Message brokers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4709160"/>
            <a:ext cx="1760220" cy="868680"/>
          </a:xfrm>
          <a:prstGeom prst="roundRect">
            <a:avLst>
              <a:gd name="adj" fmla="val 12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Event-driven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709160"/>
            <a:ext cx="1760220" cy="868680"/>
          </a:xfrm>
          <a:prstGeom prst="roundRect">
            <a:avLst>
              <a:gd name="adj" fmla="val 12000"/>
            </a:avLst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Reliable message 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44100" y="4709160"/>
            <a:ext cx="1760220" cy="868680"/>
          </a:xfrm>
          <a:prstGeom prst="roundRect">
            <a:avLst>
              <a:gd name="adj" fmla="val 12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Integration pattern selection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Messaging concepts, brokers, events, reliability and integration decisions.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52728"/>
            <a:ext cx="358726" cy="358726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358726" cy="3587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84" b="1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78" y="1252728"/>
            <a:ext cx="4688762" cy="3587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99" b="1" i="0">
                <a:solidFill>
                  <a:srgbClr val="D1282E"/>
                </a:solidFill>
                <a:latin typeface="Nirmala UI"/>
              </a:rPr>
              <a:t>BY THE END OF THIS MODULE, YOU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27512"/>
            <a:ext cx="5120640" cy="23422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1" i="0">
                <a:solidFill>
                  <a:srgbClr val="D1282E"/>
                </a:solidFill>
                <a:latin typeface="Nirmala UI"/>
              </a:rPr>
              <a:t>1.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Explain asynchronous messaging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1" i="0">
                <a:solidFill>
                  <a:srgbClr val="D1282E"/>
                </a:solidFill>
                <a:latin typeface="Nirmala UI"/>
              </a:rPr>
              <a:t>2.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Describe message-broker architecture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1" i="0">
                <a:solidFill>
                  <a:srgbClr val="D1282E"/>
                </a:solidFill>
                <a:latin typeface="Nirmala UI"/>
              </a:rPr>
              <a:t>3.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Compare queues and pub/sub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1" i="0">
                <a:solidFill>
                  <a:srgbClr val="D1282E"/>
                </a:solidFill>
                <a:latin typeface="Nirmala UI"/>
              </a:rPr>
              <a:t>4.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Explain event-driven architecture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1" i="0">
                <a:solidFill>
                  <a:srgbClr val="D1282E"/>
                </a:solidFill>
                <a:latin typeface="Nirmala UI"/>
              </a:rPr>
              <a:t>5.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Distinguish commands and events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1" i="0">
                <a:solidFill>
                  <a:srgbClr val="D1282E"/>
                </a:solidFill>
                <a:latin typeface="Nirmala UI"/>
              </a:rPr>
              <a:t>6.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Compare choreography and orchestration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1" i="0">
                <a:solidFill>
                  <a:srgbClr val="D1282E"/>
                </a:solidFill>
                <a:latin typeface="Nirmala UI"/>
              </a:rPr>
              <a:t>7.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Design reliable consumers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1" i="0">
                <a:solidFill>
                  <a:srgbClr val="D1282E"/>
                </a:solidFill>
                <a:latin typeface="Nirmala UI"/>
              </a:rPr>
              <a:t>8.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Handle retries and failures</a:t>
            </a:r>
          </a:p>
          <a:p>
            <a:pPr>
              <a:spcBef>
                <a:spcPts val="0"/>
              </a:spcBef>
              <a:spcAft>
                <a:spcPts val="346"/>
              </a:spcAft>
            </a:pPr>
            <a:r>
              <a:rPr sz="1499" b="1" i="0">
                <a:solidFill>
                  <a:srgbClr val="D1282E"/>
                </a:solidFill>
                <a:latin typeface="Nirmala UI"/>
              </a:rPr>
              <a:t>9. </a:t>
            </a:r>
            <a:r>
              <a:rPr sz="1499" b="0" i="0">
                <a:solidFill>
                  <a:srgbClr val="000000"/>
                </a:solidFill>
                <a:latin typeface="Nirmala UI"/>
              </a:rPr>
              <a:t>Select appropriate integration patterns</a:t>
            </a:r>
          </a:p>
        </p:txBody>
      </p:sp>
      <p:sp>
        <p:nvSpPr>
          <p:cNvPr id="8" name="Oval 7"/>
          <p:cNvSpPr/>
          <p:nvPr/>
        </p:nvSpPr>
        <p:spPr>
          <a:xfrm>
            <a:off x="5989320" y="125272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2527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3368" y="1243584"/>
            <a:ext cx="533095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THREE PARTS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691640"/>
            <a:ext cx="5715000" cy="128016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80" y="1801368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783080"/>
            <a:ext cx="4937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irmala UI"/>
              </a:rPr>
              <a:t>Messaging fundamentals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295144"/>
            <a:ext cx="1539240" cy="512064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Producer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93151" y="2551176"/>
            <a:ext cx="35661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77200" y="2295144"/>
            <a:ext cx="1539240" cy="512064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Broker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43872" y="2551176"/>
            <a:ext cx="35661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27920" y="2295144"/>
            <a:ext cx="1539240" cy="512064"/>
          </a:xfrm>
          <a:prstGeom prst="roundRect">
            <a:avLst>
              <a:gd name="adj" fmla="val 1400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Consumer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3099816"/>
            <a:ext cx="5715000" cy="128016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26480" y="3209544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191256"/>
            <a:ext cx="4937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irmala UI"/>
              </a:rPr>
              <a:t>Event-driven architecture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703320"/>
            <a:ext cx="2514600" cy="512064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Business Event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68512" y="3959352"/>
            <a:ext cx="35661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52560" y="3703320"/>
            <a:ext cx="2514600" cy="512064"/>
          </a:xfrm>
          <a:prstGeom prst="roundRect">
            <a:avLst>
              <a:gd name="adj" fmla="val 14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Multiple services react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4507992"/>
            <a:ext cx="5715000" cy="128016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26480" y="4617720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599431"/>
            <a:ext cx="4937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Nirmala UI"/>
              </a:rPr>
              <a:t>Production reliability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5074920"/>
            <a:ext cx="1776984" cy="292608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Duplicates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8328" y="5074920"/>
            <a:ext cx="1776984" cy="292608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Retries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0176" y="5074920"/>
            <a:ext cx="1776984" cy="292608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Failures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5422392"/>
            <a:ext cx="1776984" cy="292608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Ordering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8328" y="5422392"/>
            <a:ext cx="1776984" cy="292608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Schema evolution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90176" y="5422392"/>
            <a:ext cx="1776984" cy="292608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Eventual consistency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Sending a message is easy — building a reliable distributed business workflow is the real skill.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KEY TERMS FOR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Plain definitions for the words we'll use most.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408176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Message broker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Middleware, such as Kafka, that receives, stores and delivers messages between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98448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64224" y="1408176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773936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record that something already happened, such as OrderCreated.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2578608"/>
            <a:ext cx="365760" cy="365760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C7B"/>
                </a:solidFill>
                <a:latin typeface="Nirmala UI"/>
              </a:rPr>
              <a:t>Command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request asking one specific service to do something, such as ReserveStock.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2578608"/>
            <a:ext cx="365760" cy="365760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42032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Nirmala UI"/>
              </a:rPr>
              <a:t>Publish/subscribe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44368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One published message is delivered to every interested subscriber.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" y="3749040"/>
            <a:ext cx="365760" cy="365760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9690C"/>
                </a:solidFill>
                <a:latin typeface="Nirmala UI"/>
              </a:rPr>
              <a:t>Choreography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Services react to each other's events, with no central coordinator.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39312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64224" y="3749040"/>
            <a:ext cx="365760" cy="365760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712464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Idempotent consumer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14800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consumer that safely ignores a message it has already processed.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4919472"/>
            <a:ext cx="365760" cy="36576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2060"/>
                </a:solidFill>
                <a:latin typeface="Nirmala UI"/>
              </a:rPr>
              <a:t>Dead-letter topic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Where messages that keep failing are moved so they don't block the rest.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809744"/>
            <a:ext cx="5486400" cy="10241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64224" y="4919472"/>
            <a:ext cx="365760" cy="365760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82896"/>
            <a:ext cx="4709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5B3A9E"/>
                </a:solidFill>
                <a:latin typeface="Nirmala UI"/>
              </a:rPr>
              <a:t>Transactional outbox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85231"/>
            <a:ext cx="47091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Saving an event in the same database transaction as the data, then publishing it.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Agree on the words first — every later slide builds on them.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FULL FORMS USED IN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Every abbreviation on these slides, spelled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276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Application Programming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CDC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Change Data Capture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DLQ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Dead-Letter 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4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DLT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800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Dead-Letter Topic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244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HTTP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800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HyperText Transfer Protocol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244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00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Identifier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244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F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5B3A9E"/>
                </a:solidFill>
                <a:latin typeface="Nirmala UI"/>
              </a:rPr>
              <a:t>JAR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800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 ARchive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7680" y="1344168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248" y="1298448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JavaScript Object Notation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7680" y="1911095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3248" y="1865376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Representational State Transfer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7680" y="2478024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3248" y="2432304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Simple Notification Service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7680" y="3044952"/>
            <a:ext cx="1005840" cy="475488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SQS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3248" y="2999232"/>
            <a:ext cx="24627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Simple Queue Service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When an abbreviation isn't clear, the full form is on this slide.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FROM MODULE 3 TO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well-built service is ready — this module makes services work together.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46634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46634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4389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MODULE 3 GAVE US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 Spring Boot service with a thin REST API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328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Business rules in the service layer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9981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08376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Configuration outside the JAR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66674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75303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Consistent errors and useful logs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233671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42231"/>
            <a:ext cx="3886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One stateless, runnable JAR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690872"/>
            <a:ext cx="4389120" cy="96012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690872"/>
            <a:ext cx="402335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NOW   </a:t>
            </a:r>
            <a:r>
              <a:rPr sz="1400" b="0" i="0">
                <a:solidFill>
                  <a:srgbClr val="000000"/>
                </a:solidFill>
                <a:latin typeface="Nirmala UI"/>
              </a:rPr>
              <a:t>Connect Order to Payment, Inventory and Shipping — and build Lab 2.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0" y="1298448"/>
            <a:ext cx="310896" cy="310896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1298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0448" y="1289304"/>
            <a:ext cx="58338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1282E"/>
                </a:solidFill>
                <a:latin typeface="Nirmala UI"/>
              </a:rPr>
              <a:t>OUR PATH THROUGH MODULE 4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1839250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719072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services must integrate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830106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0" y="2427078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306900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Choose synchronous or asynchronous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2417934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0" y="3014907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894729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Brokers, queues and topics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20" y="3005763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Part 1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0" y="3602736"/>
            <a:ext cx="347472" cy="34747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482557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Design events, producers and consumers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3593592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Part 2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0" y="4190564"/>
            <a:ext cx="347472" cy="34747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070386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Coordinate workflows across services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20" y="4181420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2E7D32"/>
                </a:solidFill>
                <a:latin typeface="Nirmala UI"/>
              </a:rPr>
              <a:t>Part 2</a:t>
            </a:r>
          </a:p>
        </p:txBody>
      </p:sp>
      <p:sp>
        <p:nvSpPr>
          <p:cNvPr id="37" name="Oval 36"/>
          <p:cNvSpPr/>
          <p:nvPr/>
        </p:nvSpPr>
        <p:spPr>
          <a:xfrm>
            <a:off x="5486400" y="4778393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658214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Survive duplicates, retries and reordering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32720" y="4769249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Part 3</a:t>
            </a:r>
          </a:p>
        </p:txBody>
      </p:sp>
      <p:sp>
        <p:nvSpPr>
          <p:cNvPr id="40" name="Oval 39"/>
          <p:cNvSpPr/>
          <p:nvPr/>
        </p:nvSpPr>
        <p:spPr>
          <a:xfrm>
            <a:off x="5486400" y="5366221"/>
            <a:ext cx="347472" cy="34747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246043"/>
            <a:ext cx="4297680" cy="5878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Contracts, the outbox and choosing a pattern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5357077"/>
            <a:ext cx="1371600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Part 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3 built one service; Module 4 makes independent services work together reliably.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1: MESSAGING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How services talk without waiting on each other.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3867302" cy="713232"/>
          </a:xfrm>
          <a:prstGeom prst="homePlate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360761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Messaging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4147108" y="1298448"/>
            <a:ext cx="3867302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078" y="1298448"/>
            <a:ext cx="34850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Event-driven architecture</a:t>
            </a:r>
          </a:p>
        </p:txBody>
      </p:sp>
      <p:sp>
        <p:nvSpPr>
          <p:cNvPr id="8" name="Chevron 7"/>
          <p:cNvSpPr/>
          <p:nvPr/>
        </p:nvSpPr>
        <p:spPr>
          <a:xfrm>
            <a:off x="7837017" y="1298448"/>
            <a:ext cx="3867302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50987" y="1298448"/>
            <a:ext cx="34850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Production reliability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04288"/>
            <a:ext cx="4937760" cy="24033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One Spring Boot service with a clean REST API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6012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5280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Configuration lives outside the JAR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035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Consistent errors and useful 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Each service works on its own — how do they work together without becoming tangled?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3" name="Oval 22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Why services must integrate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Synchronous vs. asynchronous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Messaging and its moving parts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What a broker adds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when a service is down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Queues vs. publish/subscribe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WHY MICROSERVICES NEED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Independent services still exchange information and coordinate workflows.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432737"/>
            <a:ext cx="11210544" cy="21271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505889"/>
            <a:ext cx="11064240" cy="19808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968496"/>
            <a:ext cx="3627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ONE ORDER MAY NEED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4343400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15968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Payment authorization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4654296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26864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Inventory reservation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59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Shipping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527608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48655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Customer notification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7200" y="3968496"/>
            <a:ext cx="3627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WHAT MAKES IT HARD</a:t>
            </a:r>
          </a:p>
        </p:txBody>
      </p:sp>
      <p:sp>
        <p:nvSpPr>
          <p:cNvPr id="16" name="Oval 15"/>
          <p:cNvSpPr/>
          <p:nvPr/>
        </p:nvSpPr>
        <p:spPr>
          <a:xfrm>
            <a:off x="4267200" y="434340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960" y="4315968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Latency and timeouts</a:t>
            </a:r>
          </a:p>
        </p:txBody>
      </p:sp>
      <p:sp>
        <p:nvSpPr>
          <p:cNvPr id="18" name="Oval 17"/>
          <p:cNvSpPr/>
          <p:nvPr/>
        </p:nvSpPr>
        <p:spPr>
          <a:xfrm>
            <a:off x="4267200" y="4654296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2960" y="4626864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service that's down</a:t>
            </a:r>
          </a:p>
        </p:txBody>
      </p:sp>
      <p:sp>
        <p:nvSpPr>
          <p:cNvPr id="20" name="Oval 19"/>
          <p:cNvSpPr/>
          <p:nvPr/>
        </p:nvSpPr>
        <p:spPr>
          <a:xfrm>
            <a:off x="4267200" y="496519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960" y="4937759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Duplicate messages</a:t>
            </a:r>
          </a:p>
        </p:txBody>
      </p:sp>
      <p:sp>
        <p:nvSpPr>
          <p:cNvPr id="22" name="Oval 21"/>
          <p:cNvSpPr/>
          <p:nvPr/>
        </p:nvSpPr>
        <p:spPr>
          <a:xfrm>
            <a:off x="4267200" y="527608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2960" y="5248655"/>
            <a:ext cx="3261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Changing contracts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7200" y="3968496"/>
            <a:ext cx="3627120" cy="1865376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0080" y="3968496"/>
            <a:ext cx="3261360" cy="1865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DON'T COLLAPSE IT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Moving it all back into Order Service erases the boundaries.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Real business processes span services — so services must integrate through well-defined mechanisms.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SYNCHRONOUS VS. ASYNCHRONOUS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Request and response compared with message- and event-based communication.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15067"/>
            <a:ext cx="7415783" cy="430218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8219"/>
            <a:ext cx="7269480" cy="41558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95831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Use synchronous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775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caller needs an answer now — for example, checking stock before accepting an order.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622296"/>
            <a:ext cx="3520440" cy="1195831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7716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Use asynchronous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88055"/>
            <a:ext cx="3246120" cy="775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Work can finish later or many services react — for example, the confirmation email.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946143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IF YOU CALL SYNCHRONOUSLY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43210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293615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Set a timeout on every call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46319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604511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Avoid long call chains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5043424"/>
            <a:ext cx="3520440" cy="790447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5043424"/>
            <a:ext cx="3154680" cy="7904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DECIDE BY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business interaction, not the technology.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Synchronous means request, wait, response; asynchronous means produce and continue.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MESSAGING: THE PARTS AND THE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Producer, message, broker, destination and consumer — from publish to acknowledge.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348767"/>
            <a:ext cx="11210544" cy="281629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421919"/>
            <a:ext cx="11064240" cy="266999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89704"/>
            <a:ext cx="21031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544568"/>
            <a:ext cx="182879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Producer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55464"/>
            <a:ext cx="1828799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Creates and sends the message — Order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489704"/>
            <a:ext cx="21031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4544568"/>
            <a:ext cx="182879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855464"/>
            <a:ext cx="1828799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information — OrderCreated for order 1001.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489704"/>
            <a:ext cx="21031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4544568"/>
            <a:ext cx="182879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Broker and destination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4855464"/>
            <a:ext cx="1828799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Kafka, RabbitMQ or a cloud service; a queue or a topic.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489704"/>
            <a:ext cx="21031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4544568"/>
            <a:ext cx="182879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Consumer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4855464"/>
            <a:ext cx="1828799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Receives and processes it — Payment Service.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489704"/>
            <a:ext cx="21031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4544568"/>
            <a:ext cx="182879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Acknowledge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855464"/>
            <a:ext cx="1828799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Records success. No acknowledgment means redelivery.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broker sits between producers and consumers, so they don't need point-to-point knowledge of each other.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MESSAGE BROKERS IN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Routing, buffering, decoupling and delivery.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59540"/>
            <a:ext cx="7415783" cy="28132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32692"/>
            <a:ext cx="7269480" cy="26669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WHAT A BROKER PROVIDES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0676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Buffering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Durability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Redelivery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Load distribution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80676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02060"/>
                </a:solidFill>
                <a:latin typeface="Nirmala UI"/>
              </a:rPr>
              <a:t>Decoupling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3017520"/>
            <a:ext cx="3520440" cy="14813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07238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Common brokers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79"/>
            <a:ext cx="3246120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Apache Kafka, RabbitMQ, ActiveMQ, Amazon SQS and SNS, Azure Service Bus, Google Pub/Sub.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4626864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626864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BUFFERING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Inventory down? Messages wait. An HTTP caller would fail now.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broker lets Order publish once, while consumers receive and process independently.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WHEN NOTIFICATION IS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Compare a REST call and an event when one service fails.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7518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20619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Notification Service is down for 10 minutes during a sale.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Version A: after saving, Order calls POST /notifications over REST.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Version B: after saving, Order publishes OrderCreated; Notification consumes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65376"/>
            <a:ext cx="3886200" cy="37518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Trace one order through A and B while Notification is down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what the customer sees in each version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5925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Say what happens when Notification comes 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865376"/>
            <a:ext cx="3063240" cy="375183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2" name="Oval 21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7" y="2395728"/>
            <a:ext cx="2450592" cy="7139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A: the call times out — fail the order or skip the email</a:t>
            </a:r>
          </a:p>
        </p:txBody>
      </p:sp>
      <p:sp>
        <p:nvSpPr>
          <p:cNvPr id="24" name="Oval 23"/>
          <p:cNvSpPr/>
          <p:nvPr/>
        </p:nvSpPr>
        <p:spPr>
          <a:xfrm>
            <a:off x="8778240" y="320116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314629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A: an error, or a missing email</a:t>
            </a:r>
          </a:p>
        </p:txBody>
      </p:sp>
      <p:sp>
        <p:nvSpPr>
          <p:cNvPr id="26" name="Oval 25"/>
          <p:cNvSpPr/>
          <p:nvPr/>
        </p:nvSpPr>
        <p:spPr>
          <a:xfrm>
            <a:off x="8778240" y="375031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369544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B: the order succeeds; the event waits in the broker</a:t>
            </a:r>
          </a:p>
        </p:txBody>
      </p:sp>
      <p:sp>
        <p:nvSpPr>
          <p:cNvPr id="28" name="Oval 27"/>
          <p:cNvSpPr/>
          <p:nvPr/>
        </p:nvSpPr>
        <p:spPr>
          <a:xfrm>
            <a:off x="8778240" y="429945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4244594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B: Notification catches up when it recovers</a:t>
            </a:r>
          </a:p>
        </p:txBody>
      </p:sp>
      <p:sp>
        <p:nvSpPr>
          <p:cNvPr id="30" name="Oval 29"/>
          <p:cNvSpPr/>
          <p:nvPr/>
        </p:nvSpPr>
        <p:spPr>
          <a:xfrm>
            <a:off x="8778240" y="4848605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6567" y="479374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B still needs idempotency and lag monitoring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broker turns a failing dependency into delayed work instead of a failed order.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QUEUE VS. PUBLISH/SUBSCRIBE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Competing consumers versus multiple independent subscribers.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7379"/>
            <a:ext cx="7415783" cy="4237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0531"/>
            <a:ext cx="7269480" cy="40912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4622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Queue — work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25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GenerateInvoice jobs shared across workers. Add workers to go faster.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72690"/>
            <a:ext cx="3520440" cy="104622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2755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Topic — event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38450"/>
            <a:ext cx="3246120" cy="625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OrderCreated to every subscriber. Add subscribers without touching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46932"/>
            <a:ext cx="3520440" cy="104622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01795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Kafka consumer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012692"/>
            <a:ext cx="3246120" cy="625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Instances in one group share the work; each group gets every event.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821174"/>
            <a:ext cx="3520440" cy="1012697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821174"/>
            <a:ext cx="3154680" cy="10126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TECHNOLOGIES DIFFER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Kafka: topics and groups. RabbitMQ: exchanges and queues.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Queues distribute work to one consumer; pub/sub distributes events to many — and technologies differ.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2: EVENT-DRIVEN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sending messages to designing around business events.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3867302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360761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Messaging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4147108" y="1298448"/>
            <a:ext cx="3867302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078" y="1298448"/>
            <a:ext cx="34850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Event-driven architecture</a:t>
            </a:r>
          </a:p>
        </p:txBody>
      </p:sp>
      <p:sp>
        <p:nvSpPr>
          <p:cNvPr id="8" name="Chevron 7"/>
          <p:cNvSpPr/>
          <p:nvPr/>
        </p:nvSpPr>
        <p:spPr>
          <a:xfrm>
            <a:off x="7837017" y="1298448"/>
            <a:ext cx="3867302" cy="713232"/>
          </a:xfrm>
          <a:prstGeom prst="chevron">
            <a:avLst>
              <a:gd name="adj" fmla="val 3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50987" y="1298448"/>
            <a:ext cx="34850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Production reliability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04288"/>
            <a:ext cx="4937760" cy="22311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Sync waits; async produces and continues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355848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A broker routes, buffers and redelivers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90448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831336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Queues share work; topics share events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How do we design a system around business events — and who controls the workflow?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3" name="Oval 22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Business events and event-driven architecture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Commands, events and messages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An event-driven order, step by step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Producers and consumers — with Kafka code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Choreography, and when to orchestrate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Exercise: command or event?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INTRODUCTION TO EVENT-DRIVEN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Services react to business events instead of relying only on direct calls.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906980"/>
            <a:ext cx="7415783" cy="331835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0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80132"/>
            <a:ext cx="7269480" cy="31720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FACTS, IN THE PAST TENSE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OrderCreated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0676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PaymentAuthorized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PaymentFailed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InventoryReserved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OrderCancelled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80676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ShipmentCreated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3017520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AVOID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392423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364991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DataChanged — too vague</a:t>
            </a:r>
          </a:p>
        </p:txBody>
      </p:sp>
      <p:sp>
        <p:nvSpPr>
          <p:cNvPr id="16" name="Oval 15"/>
          <p:cNvSpPr/>
          <p:nvPr/>
        </p:nvSpPr>
        <p:spPr>
          <a:xfrm>
            <a:off x="8183880" y="370332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675887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PostPayment — sounds like a command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411480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11480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CONSUMERS DECIDE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how — and whether — to react.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An event is a fact that already happened — consumers choose how to react to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COMMANDS, EVENTS, AND MESSAGES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Intent versus facts — and the envelope that carries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18847"/>
            <a:ext cx="7415783" cy="42946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91999"/>
            <a:ext cx="7269480" cy="4148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856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765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ProcessPayment, ReserveInventory, ShipOrder. Intent; usually one handler; it can be refused.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612136"/>
            <a:ext cx="3520440" cy="11856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6700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77895"/>
            <a:ext cx="3246120" cy="76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PaymentProcessed, InventoryReserved, OrderShipped. A fact; many may care; never changed.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925823"/>
            <a:ext cx="3520440" cy="99974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980687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690C"/>
                </a:solidFill>
                <a:latin typeface="Nirmala UI"/>
              </a:rPr>
              <a:t>Notification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291584"/>
            <a:ext cx="3246120" cy="57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Informs or alerts; no action is required.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5053584"/>
            <a:ext cx="3520440" cy="78028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5053584"/>
            <a:ext cx="3154680" cy="7802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MESSAGE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the envelope that carries any of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Commands ask for action, events report facts, and messages carry either 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EVENT-DRIVEN ORDER PROCESSING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OrderCreated → Payment, Inventory and Notification → Shipping.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30246"/>
            <a:ext cx="7415783" cy="367182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03398"/>
            <a:ext cx="7269480" cy="35255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WALK THROUGH ONE ORDER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POST /orders creates the order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 publishes OrderCreated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Payment, Inventory and Notification react</a:t>
            </a:r>
          </a:p>
        </p:txBody>
      </p:sp>
      <p:sp>
        <p:nvSpPr>
          <p:cNvPr id="13" name="Oval 12"/>
          <p:cNvSpPr/>
          <p:nvPr/>
        </p:nvSpPr>
        <p:spPr>
          <a:xfrm>
            <a:off x="8183880" y="2740152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712720"/>
            <a:ext cx="3154680" cy="445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They publish PaymentAuthorized and InventoryReserved</a:t>
            </a:r>
          </a:p>
        </p:txBody>
      </p:sp>
      <p:sp>
        <p:nvSpPr>
          <p:cNvPr id="15" name="Oval 14"/>
          <p:cNvSpPr/>
          <p:nvPr/>
        </p:nvSpPr>
        <p:spPr>
          <a:xfrm>
            <a:off x="8183880" y="3185160"/>
            <a:ext cx="256032" cy="25603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157728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Shipping starts when both have arrived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359664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59664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CAUTION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Publishing events doesn't make the workflow correct by itself.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Business rules define the workflow — events carry it from one service to the next.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EVENT PRODUCER AND CONSUMER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Clear responsibilities — and no unnecessary knowledge of each other.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32049"/>
            <a:ext cx="7415783" cy="30682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5201"/>
            <a:ext cx="7269480" cy="292191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183880" y="13258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3064" y="1298448"/>
            <a:ext cx="31912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Avoid in Order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627632"/>
            <a:ext cx="3520440" cy="674115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if (inventoryServiceExists) ...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if (analyticsServiceExists)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297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4846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Extensibility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955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Add Analytics as a new subscriber — no change to Order Service.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85318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85318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NOT ZERO COUPLING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Everyone still depends on the event contract.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Producers publish facts and move on; consumers decide for themselves whether to react.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PRODUCING AND CONSUMING WITH SPRING FOR APACHE KAFKA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KafkaTemplate publishes; @KafkaListener consumes.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Order Service — producer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509260" cy="265544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@Service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class OrderService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private final KafkaTemplate&lt;String, OrderCreated&gt; kafka;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public OrderResponse place(CreateOrderRequest req)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Order order = orders.save(Order.from(req));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kafka.send("orders.created",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order.getId().toString(), OrderCreated.from(order));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return OrderResponse.from(order);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Oval 5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Payment Service — consumer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655442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@Component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class OrderCreatedListener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@KafkaListener(topics = "orders.created",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       groupId = "payment-service")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public void on(OrderCreated event)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payments.authorize(event.orderId(), event.total());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1167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56653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Key = orderId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7743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Events for one order land in one partition, in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51167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56653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groupId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87743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Payment instances share the work; other groups get every event.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511675"/>
            <a:ext cx="3627120" cy="115824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0080" y="4511675"/>
            <a:ext cx="3261360" cy="1158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GAP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Saved but not sent? The outbox in Part 3 fixes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Publish the event after the business change, keyed by the entity — consumers subscribe by topic and group.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EVENT CHOREOGRAPHY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Services react to events without a central workflow controller.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660104"/>
            <a:ext cx="7415783" cy="381211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3256"/>
            <a:ext cx="7269480" cy="36658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BENEFITS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Decentralized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Services stay autonomous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229514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267712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 central workflow dependency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70662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CHALLENGES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081527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05409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whole flow is hard to see</a:t>
            </a:r>
          </a:p>
        </p:txBody>
      </p:sp>
      <p:sp>
        <p:nvSpPr>
          <p:cNvPr id="16" name="Oval 15"/>
          <p:cNvSpPr/>
          <p:nvPr/>
        </p:nvSpPr>
        <p:spPr>
          <a:xfrm>
            <a:off x="8183880" y="3392423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364991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Troubleshooting takes longer</a:t>
            </a:r>
          </a:p>
        </p:txBody>
      </p:sp>
      <p:sp>
        <p:nvSpPr>
          <p:cNvPr id="18" name="Oval 17"/>
          <p:cNvSpPr/>
          <p:nvPr/>
        </p:nvSpPr>
        <p:spPr>
          <a:xfrm>
            <a:off x="8183880" y="370332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675887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Long event chains get fragile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4114800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4114800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LIKE A DANCE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each service responds to the others' signals.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In choreography, each service reacts and publishes the next event — nobody controls the whole flow.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ORCHESTRATION OR CHOREOGRAPHY: HOW TO CHOOSE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central coordinator versus a decentralized event-driven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21360"/>
            <a:ext cx="7415783" cy="428959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94512"/>
            <a:ext cx="7269480" cy="414329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48132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Choose orchestration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1060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Many steps, branching decisions, compensation, and a need to see the whole flow in one place.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907791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96265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Choose choreography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273551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Few steps, independent reactions, and teams that must evolve separately.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331208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331208"/>
            <a:ext cx="3154680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MIX THEM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Orchestrate the core order saga; choreograph side reactions like email and analytics.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Neither is universally better — choose by workflow complexity and organizational needs.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EXERCISE: COMMAND OR EVENT?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Sort message names from a design review — and fix the weak ones.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016252" cy="384048"/>
          </a:xfrm>
          <a:prstGeom prst="roundRect">
            <a:avLst>
              <a:gd name="adj" fmla="val 1400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PRACTICE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0612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65376"/>
            <a:ext cx="3840480" cy="320268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95728"/>
            <a:ext cx="3566160" cy="326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The team proposed these message names: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95524"/>
            <a:ext cx="3621024" cy="176377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ChargeCard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CardCharged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SendWelcomeEmail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AccountOpened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ReserveStock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StockReserved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DataChanged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OrderShipped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20268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Label each one a command or an event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049016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994152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For two events, name the services that might react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3647440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3592576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Rename anything vague — and say what's wrong with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1865376"/>
            <a:ext cx="3063240" cy="320268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3" name="Oval 22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Commands: ChargeCard, SendWelcomeEmail, ReserveStock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944876"/>
            <a:ext cx="2450592" cy="71399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Events: CardCharged, AccountOpened, StockReserved, OrderShipped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75031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369544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AccountOpened → Notification, Analytics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429945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4244594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DataChanged is vague → CustomerAddressChanged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Commands are imperative requests to one handler; events are specific past-tense facts for anyone.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PART 3: PRODUCTION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Sending a message is easy; processing it correctly under failure is the real work.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298448"/>
            <a:ext cx="3867302" cy="713232"/>
          </a:xfrm>
          <a:prstGeom prst="homePlate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360761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1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Messaging fundamentals</a:t>
            </a:r>
          </a:p>
        </p:txBody>
      </p:sp>
      <p:sp>
        <p:nvSpPr>
          <p:cNvPr id="6" name="Chevron 5"/>
          <p:cNvSpPr/>
          <p:nvPr/>
        </p:nvSpPr>
        <p:spPr>
          <a:xfrm>
            <a:off x="4147108" y="1298448"/>
            <a:ext cx="3867302" cy="713232"/>
          </a:xfrm>
          <a:prstGeom prst="chevron">
            <a:avLst>
              <a:gd name="adj" fmla="val 3000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078" y="1298448"/>
            <a:ext cx="34850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✓ Part 2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Event-driven architecture</a:t>
            </a:r>
          </a:p>
        </p:txBody>
      </p:sp>
      <p:sp>
        <p:nvSpPr>
          <p:cNvPr id="8" name="Chevron 7"/>
          <p:cNvSpPr/>
          <p:nvPr/>
        </p:nvSpPr>
        <p:spPr>
          <a:xfrm>
            <a:off x="7837017" y="1298448"/>
            <a:ext cx="3867302" cy="713232"/>
          </a:xfrm>
          <a:prstGeom prst="chevron">
            <a:avLst>
              <a:gd name="adj" fmla="val 30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50987" y="1298448"/>
            <a:ext cx="348508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Part 3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Production reliability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04288"/>
            <a:ext cx="4937760" cy="2575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457200" y="2304288"/>
            <a:ext cx="493776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04288"/>
            <a:ext cx="46634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SO FAR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95351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4160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Events are past-tense business facts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355848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Producers publish; consumers subscribe independently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076700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03548"/>
            <a:ext cx="4160520" cy="5928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Choreography or orchestration, chosen per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2304288"/>
            <a:ext cx="5943600" cy="1062736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239572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NEXT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688336"/>
            <a:ext cx="5486400" cy="605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2060"/>
                </a:solidFill>
                <a:latin typeface="Nirmala UI"/>
              </a:rPr>
              <a:t>Messages get lost, duplicated, delayed and reordered — how do we stay correct?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568192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THIS PART</a:t>
            </a:r>
          </a:p>
        </p:txBody>
      </p:sp>
      <p:sp>
        <p:nvSpPr>
          <p:cNvPr id="23" name="Oval 22"/>
          <p:cNvSpPr/>
          <p:nvPr/>
        </p:nvSpPr>
        <p:spPr>
          <a:xfrm>
            <a:off x="5760720" y="399626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3933952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Delivery guarantees</a:t>
            </a:r>
          </a:p>
        </p:txBody>
      </p:sp>
      <p:sp>
        <p:nvSpPr>
          <p:cNvPr id="25" name="Oval 24"/>
          <p:cNvSpPr/>
          <p:nvPr/>
        </p:nvSpPr>
        <p:spPr>
          <a:xfrm>
            <a:off x="5760720" y="4395216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4332901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Idempotent consumers, retries and dead letters</a:t>
            </a:r>
          </a:p>
        </p:txBody>
      </p:sp>
      <p:sp>
        <p:nvSpPr>
          <p:cNvPr id="27" name="Oval 26"/>
          <p:cNvSpPr/>
          <p:nvPr/>
        </p:nvSpPr>
        <p:spPr>
          <a:xfrm>
            <a:off x="5760720" y="4794165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473185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Exercise 2.3: idempotency and DLT</a:t>
            </a:r>
          </a:p>
        </p:txBody>
      </p:sp>
      <p:sp>
        <p:nvSpPr>
          <p:cNvPr id="29" name="Oval 28"/>
          <p:cNvSpPr/>
          <p:nvPr/>
        </p:nvSpPr>
        <p:spPr>
          <a:xfrm>
            <a:off x="5760720" y="519311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5130800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Eventual consistency and the outbox</a:t>
            </a:r>
          </a:p>
        </p:txBody>
      </p:sp>
      <p:sp>
        <p:nvSpPr>
          <p:cNvPr id="31" name="Oval 30"/>
          <p:cNvSpPr/>
          <p:nvPr/>
        </p:nvSpPr>
        <p:spPr>
          <a:xfrm>
            <a:off x="5760720" y="5592064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529749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Event contracts and Exercise 2.2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5991013"/>
            <a:ext cx="274320" cy="274320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5928698"/>
            <a:ext cx="5559552" cy="3989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Kafka vs. RabbitMQ, choosing, the full picture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MESSAGE DELIVERY SEMANTICS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At-most-once, at-least-once — and what “exactly-once” really claims.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447379"/>
            <a:ext cx="7415783" cy="4237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0531"/>
            <a:ext cx="7269480" cy="40912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04622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At-most-once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625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 duplicates, but messages may be lost. Fine for metrics — never for payments.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72690"/>
            <a:ext cx="3520440" cy="1046225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527554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At-least-once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38450"/>
            <a:ext cx="3246120" cy="6256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Nothing lost, but duplicates happen. The usual choice for orders and payments.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646932"/>
            <a:ext cx="3520440" cy="1232154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01795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Exactly-once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012692"/>
            <a:ext cx="3246120" cy="8115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Scoped to the broker, such as Kafka transactions — not to emails or external APIs.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5007102"/>
            <a:ext cx="3520440" cy="82677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5007102"/>
            <a:ext cx="3154680" cy="8267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ASK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Exactly once where — and under what failure?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At-least-once delivery is common — so consumers must be ready for duplicates.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IDEMPOTENT MESSAGE CONSUMERS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Handle duplicate delivery without duplicating the business effect.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050928"/>
            <a:ext cx="7415783" cy="303046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24080"/>
            <a:ext cx="7269480" cy="288415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183880" y="13258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13064" y="1298448"/>
            <a:ext cx="31912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Not idempotent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627632"/>
            <a:ext cx="3520440" cy="475995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000" b="0" i="0">
                <a:solidFill>
                  <a:srgbClr val="000000"/>
                </a:solidFill>
                <a:latin typeface="Consolas"/>
              </a:rPr>
              <a:t>balance = balance.add(event.amount());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231644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7C7B"/>
                </a:solidFill>
                <a:latin typeface="Nirmala UI"/>
              </a:rPr>
              <a:t>TECHNIQUES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257911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Processed event IDs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80676" y="257911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Unique business keys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018028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Upserts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80676" y="3018028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State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345694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0E7C7B"/>
                </a:solidFill>
                <a:latin typeface="Nirmala UI"/>
              </a:rPr>
              <a:t>DB constraints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950716"/>
            <a:ext cx="352044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950716"/>
            <a:ext cx="315468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RULE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A redelivered payment must never charge twice.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redelivered payment message must never charge the customer twice.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AN IDEMPOTENT CONSUMER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Remember every processed event ID in the same transaction as the business change.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PaymentListener.java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655442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@KafkaListener(topics = "orders.created",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     groupId = "payment-service")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@Transactional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public void on(OrderCreated event)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if (processed.existsById(event.eventId()))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log.info("Duplicate ignored eventId={}", event.eventId());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return;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}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payments.record(event.orderId(), event.total());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processed.save(new ProcessedEvent(event.eventId()));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506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processed_events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65544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CREATE TABLE processed_events 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event_id     VARCHAR(64) PRIMARY KEY,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processed_at TIMESTAMP NOT NULL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         DEFAULT CURRENT_TIMESTAMP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-- The primary key rejects a second insert,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-- even when two consumers race.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1167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56653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One transaction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87743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payment row and the processed ID commit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51167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56653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Primary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487743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database enforces “once”, even under a race.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511675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566539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Lab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4877435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processed_events keyed by event_id — the same pattern.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Check, act and record the event ID in one transaction — duplicates then become harmless no-ops.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RETRIES AND DEAD-LETTER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Transient failure → retry with backoff → dead letter → investigation and recovery.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7" y="1803654"/>
            <a:ext cx="11210544" cy="19065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876806"/>
            <a:ext cx="11064240" cy="17602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489704"/>
            <a:ext cx="36271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54456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Transient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55464"/>
            <a:ext cx="33528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database is briefly down. Retrying with backoff may well succeed.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4489704"/>
            <a:ext cx="36271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4360" y="454456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Persistent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4360" y="4855464"/>
            <a:ext cx="33528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Bad structure or a rule that always rejects. Send it to the dead-letter topic — don't loop.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7200" y="4489704"/>
            <a:ext cx="3627120" cy="134416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4360" y="454456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After the dead letter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4360" y="4855464"/>
            <a:ext cx="3352800" cy="923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Alert, inspect, fix, then replay on purpose. Never invent a success.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Retry transient failures with backoff; send what still fails to a dead-letter destination.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0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RETRIES AND DEAD LETTERS IN SPRING KAFKA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One error-handler bean: back off, give up, publish to the .DLT topic.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KafkaErrorConfig.java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837052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@Bean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DefaultErrorHandler errors(KafkaTemplate&lt;?, ?&gt; template) {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var recoverer = new DeadLetterPublishingRecoverer(template);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var backoff = new ExponentialBackOffWithMaxRetries(3);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backoff.setInitialInterval(1_000);   // 1s, 2s, 4s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backoff.setMultiplier(2.0);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var handler = new DefaultErrorHandler(recoverer, backoff);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handler.addNotRetryableExceptions(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IllegalArgumentException.class);   // bad data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return handler;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5060" y="1298448"/>
            <a:ext cx="55092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What lands on the dead-letter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27632"/>
            <a:ext cx="5509260" cy="283705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Topic: orders.created.DLT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Headers added by Spring Kafka: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kafka_dlt-original-topic   orders.created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kafka_dlt-original-offset  4182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kafka_dlt-exception-message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Invalid total: -20.00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Next: alert on DLT depth,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Consolas"/>
              </a:rPr>
              <a:t>      fix the cause, replay on purpose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93285"/>
            <a:ext cx="3627120" cy="11405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74814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Backoff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059045"/>
            <a:ext cx="3352800" cy="719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1s, 2s, 4s — a struggling dependency gets time to recover.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7200" y="4693285"/>
            <a:ext cx="3627120" cy="11405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360" y="474814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Not retryable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4360" y="5059045"/>
            <a:ext cx="3352800" cy="719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Bad data skips the retries and goes straight to the DLT.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200" y="4693285"/>
            <a:ext cx="3627120" cy="1140587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4360" y="4748148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Lab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60" y="5059045"/>
            <a:ext cx="3352800" cy="7199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Poison messages land on transactions.submitted.DLT.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Limit retries with backoff, skip retries for bad data, and park failures on a dead-letter topic.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2.3 — DESIGN IDEMPOTENCY AND DLQ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Day 2 checkpoint C: duplicate detection and failure routing.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3468" y="1298448"/>
            <a:ext cx="4530852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labs/day-02/exercises/exercise-2.3-idempotency-dlq.md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849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1411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 2's Transaction Service consumes TransactionSubmitted from the transactions.submitted topic.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Design what happens to duplicates and poison messages before you code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849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Same eventId twice: the second consume is a no-op (event_id already in processed_events)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26593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321106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Poison or unreadable JSON: retry, then dead-letter — never loop forever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408127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402640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 dead-lettered message must not invent a successful money-movement outcome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489661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4841748"/>
            <a:ext cx="3218688" cy="5435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 5 Risk Assessment will consume the same topic — design for that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8491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Duplicate eventId → no-op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871216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816352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Poison message → transactions.submitted.DLT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420364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365500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DLT message never becomes a success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3914647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second consumer group fits without changes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You can explain duplicate detection and dead-letter routing before you code them.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ORDERING AND EVENT 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Event ordering, eventual consistency and stale state.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2193023"/>
            <a:ext cx="7415783" cy="274627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66175"/>
            <a:ext cx="7269480" cy="25999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Out of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8747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OrderCancelled can arrive before OrderCreated. Consumers must 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721864"/>
            <a:ext cx="3520440" cy="12954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76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Kafka ordering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087624"/>
            <a:ext cx="3246120" cy="874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Guaranteed within a partition only — so key events by orderId.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4145280"/>
            <a:ext cx="3520440" cy="126187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145280"/>
            <a:ext cx="3154680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DESIGNED, NOT HOPED FOR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Plan for stale views, compensation and reconciliation.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Services converge over time — so design for stale views and out-of-order events.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19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SAVE AND PUBLISH SAFELY: THE TRANSACTIONAL OUTBOX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 database commit and a broker send can't be one atomic step — unless you use an outbox.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Dual write — the event can be lost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2"/>
            <a:ext cx="5509260" cy="2449067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public OrderResponse place(CreateOrderRequest req) 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Order order = orders.save(Order.from(req));  // commits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// crash or broker outage here: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// the order exists, but no OrderCreated event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kafka.send("orders.created", OrderCreated.from(order));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return OrderResponse.from(order);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Oval 6"/>
          <p:cNvSpPr/>
          <p:nvPr/>
        </p:nvSpPr>
        <p:spPr>
          <a:xfrm>
            <a:off x="6195060" y="132588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244" y="1298448"/>
            <a:ext cx="518007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Outbox — one local transaction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60" y="1627632"/>
            <a:ext cx="5509260" cy="2449067"/>
          </a:xfrm>
          <a:prstGeom prst="roundRect">
            <a:avLst>
              <a:gd name="adj" fmla="val 6000"/>
            </a:avLst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@Transactional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public OrderResponse place(CreateOrderRequest req) {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Order order = orders.save(Order.from(req));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outbox.save(OutboxEvent.of("orders.created",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    order.getId(), OrderCreated.from(order)));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  return OrderResponse.from(order);</a:t>
            </a:r>
          </a:p>
          <a:p>
            <a:pPr algn="l"/>
            <a:r>
              <a:rPr sz="1200" b="0" i="0">
                <a:solidFill>
                  <a:srgbClr val="000000"/>
                </a:solidFill>
                <a:latin typeface="Consolas"/>
              </a:rPr>
              <a:t>}  // both rows commit, or neither does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30530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36016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Relay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67106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scheduler or CDC tool such as Debezium publishes new outbox 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430530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4360" y="436016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At-least-once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4360" y="467106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The relay may send twice — consumers stay idempotent.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7200" y="4305300"/>
            <a:ext cx="3627120" cy="11582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4360" y="4360163"/>
            <a:ext cx="3352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the labs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4360" y="4671060"/>
            <a:ext cx="3352800" cy="7376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Lab 2 saves, then publishes. The outbox is the production hardening step.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Write the business change and the event in one local transaction — a relay publishes it afterwards.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4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EVENT SCHEMA AND CONTRACT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Payloads, IDs, timestamps, metadata, versioning and compatibility.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15289"/>
            <a:ext cx="7415783" cy="37017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8441"/>
            <a:ext cx="7269480" cy="35554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COMPATIBLE CHANGES</a:t>
            </a:r>
          </a:p>
        </p:txBody>
      </p:sp>
      <p:sp>
        <p:nvSpPr>
          <p:cNvPr id="7" name="Oval 6"/>
          <p:cNvSpPr/>
          <p:nvPr/>
        </p:nvSpPr>
        <p:spPr>
          <a:xfrm>
            <a:off x="8183880" y="167335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64592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Add an optional field</a:t>
            </a:r>
          </a:p>
        </p:txBody>
      </p:sp>
      <p:sp>
        <p:nvSpPr>
          <p:cNvPr id="9" name="Oval 8"/>
          <p:cNvSpPr/>
          <p:nvPr/>
        </p:nvSpPr>
        <p:spPr>
          <a:xfrm>
            <a:off x="8183880" y="1984248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5681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Add a field with a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239572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BREAKING CHANGES</a:t>
            </a:r>
          </a:p>
        </p:txBody>
      </p:sp>
      <p:sp>
        <p:nvSpPr>
          <p:cNvPr id="12" name="Oval 11"/>
          <p:cNvSpPr/>
          <p:nvPr/>
        </p:nvSpPr>
        <p:spPr>
          <a:xfrm>
            <a:off x="8183880" y="277063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743200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Remove or rename a field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081527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054096"/>
            <a:ext cx="3154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Change a field's 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493008"/>
            <a:ext cx="3520440" cy="1309116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54787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Thin or full event?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858768"/>
            <a:ext cx="3246120" cy="8884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Thin events carry IDs and consumers call back; full events carry the data they need.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4930140"/>
            <a:ext cx="3520440" cy="903732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930140"/>
            <a:ext cx="3154680" cy="9037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NEVER INCLUDE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card numbers, SSNs, passwords or tokens.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Once other services consume an event, its schema is a distributed contract — evolve it carefully.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6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EXERCISE 2.2 — SKETCH THE TRANSACTIONSUBMITTED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Day 2 checkpoint B: producer, consumer and correlation ID.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2436876" cy="384048"/>
          </a:xfrm>
          <a:prstGeom prst="roundRect">
            <a:avLst>
              <a:gd name="adj" fmla="val 14000"/>
            </a:avLst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OFFICIAL CHECKPOINT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31236" y="1298448"/>
            <a:ext cx="1143000" cy="384048"/>
          </a:xfrm>
          <a:prstGeom prst="roundRect">
            <a:avLst>
              <a:gd name="adj" fmla="val 14000"/>
            </a:avLst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424242"/>
                </a:solidFill>
                <a:latin typeface="Nirmala UI"/>
              </a:rPr>
              <a:t>10 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62088" y="1298448"/>
            <a:ext cx="4142232" cy="384048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7432" bIns="27432"/>
          <a:lstStyle/>
          <a:p>
            <a:pPr algn="ctr"/>
            <a:r>
              <a:rPr sz="1100" b="0" i="0">
                <a:solidFill>
                  <a:srgbClr val="000000"/>
                </a:solidFill>
                <a:latin typeface="Consolas"/>
              </a:rPr>
              <a:t>labs/day-02/exercises/exercise-2.2-event-flow.md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65376"/>
            <a:ext cx="384048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457200" y="1865376"/>
            <a:ext cx="384048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35661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3566160" cy="16281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 2 builds the banking Transaction Service on port 8082. A client POSTs a transaction, and Account Service confirms the account is ACTIVE over REST.</a:t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/>
            </a:r>
          </a:p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Scope: Account, Transaction and Risk Assessment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65376"/>
            <a:ext cx="388620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526280" y="1865376"/>
            <a:ext cx="388620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65376"/>
            <a:ext cx="36118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YOUR TASKS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239572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After a valid REST create: persist RECEIVED, then publish TransactionSubmitted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326593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321106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Envelope: eventType, eventVersion, eventId, correlationId, occurredAt, payload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4081271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2" y="4026408"/>
            <a:ext cx="3218688" cy="7604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Copy X-Correlation-Id from the HTTP request onto the event and into logs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4896612"/>
            <a:ext cx="292608" cy="29260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6632" y="4841748"/>
            <a:ext cx="3218688" cy="9773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Nirmala UI"/>
              </a:rPr>
              <a:t>Lab 2 implements TransactionSubmitted only; Approved, HeldForReview and Declined come later; RISK_ASSESSED is internal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865376"/>
            <a:ext cx="3063240" cy="3968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8641080" y="1865376"/>
            <a:ext cx="30632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865376"/>
            <a:ext cx="27889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EXPECTED OUTCOME</a:t>
            </a:r>
          </a:p>
        </p:txBody>
      </p:sp>
      <p:sp>
        <p:nvSpPr>
          <p:cNvPr id="25" name="Oval 24"/>
          <p:cNvSpPr/>
          <p:nvPr/>
        </p:nvSpPr>
        <p:spPr>
          <a:xfrm>
            <a:off x="8778240" y="2450592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95728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 sequence sketch: REST → DB → Kafka → consumer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2999740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2944876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The correlation ID on every hop</a:t>
            </a:r>
          </a:p>
        </p:txBody>
      </p:sp>
      <p:sp>
        <p:nvSpPr>
          <p:cNvPr id="29" name="Oval 28"/>
          <p:cNvSpPr/>
          <p:nvPr/>
        </p:nvSpPr>
        <p:spPr>
          <a:xfrm>
            <a:off x="8778240" y="3548887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3494023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All six envelope fields</a:t>
            </a:r>
          </a:p>
        </p:txBody>
      </p:sp>
      <p:sp>
        <p:nvSpPr>
          <p:cNvPr id="31" name="Oval 30"/>
          <p:cNvSpPr/>
          <p:nvPr/>
        </p:nvSpPr>
        <p:spPr>
          <a:xfrm>
            <a:off x="8778240" y="3969511"/>
            <a:ext cx="256032" cy="256032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16567" y="3914647"/>
            <a:ext cx="2450592" cy="51257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Only TransactionSubmitted in Lab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A sequence sketch from REST to DB to Kafka to consumer, with the correlation ID on every hop.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8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KAFKA VS. RABBITMQ — CONCEPTUAL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 event-streaming log platform versus message-broker and queue patterns.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71289"/>
            <a:ext cx="7415783" cy="358974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44441"/>
            <a:ext cx="7269480" cy="344343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11856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Apache Kafka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7650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durable, replayable log. Topics with partitions; consumer groups track offsets. Event streams at high throughput.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612136"/>
            <a:ext cx="3520440" cy="118567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66700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9690C"/>
                </a:solidFill>
                <a:latin typeface="Nirmala UI"/>
              </a:rPr>
              <a:t>RabbitMQ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977895"/>
            <a:ext cx="3246120" cy="765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A message broker. Exchanges route to queues; consumers acknowledge. Work queues and flexible routing.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925823"/>
            <a:ext cx="3520440" cy="999743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980687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In Spring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291584"/>
            <a:ext cx="3246120" cy="57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KafkaTemplate with @KafkaListener; RabbitTemplate with @RabbitListener.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5053584"/>
            <a:ext cx="3520440" cy="78028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5053584"/>
            <a:ext cx="3154680" cy="7802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ASK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which model you need — not which is better.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Kafka isn't simply a faster RabbitMQ — their architectures and usage models differ.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2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CHOOSING AN INTEGRATION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When to use REST, queues, pub/sub, events, orchestration — or a combination.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6649" y="1316736"/>
            <a:ext cx="6973461" cy="4498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01" y="1389888"/>
            <a:ext cx="6827157" cy="4352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83880" y="1298448"/>
            <a:ext cx="3520440" cy="77419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1353312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Get customer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664208"/>
            <a:ext cx="3246120" cy="3535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Needs an answer now → REST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200656"/>
            <a:ext cx="3520440" cy="77419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255520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Generate an invoice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566416"/>
            <a:ext cx="3246120" cy="353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One worker, in the background → 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102864"/>
            <a:ext cx="3520440" cy="774192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157728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OrderCreated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468624"/>
            <a:ext cx="3246120" cy="353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Many consumers → publish/subscribe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005072"/>
            <a:ext cx="3520440" cy="96012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4059935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Order saga with refunds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370832"/>
            <a:ext cx="3246120" cy="539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Controlled steps and compensation → orchestration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5093208"/>
            <a:ext cx="3520440" cy="74066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5093208"/>
            <a:ext cx="3154680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MOST SYSTEMS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combine several patterns.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Choose by business semantics, reliability and coupling — not by technology popularity.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END-TO-END EVENT-DRIVEN MICROSERVICES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Order → Broker → Payment, Inventory, Notification → Shipping — each with its own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1762697"/>
            <a:ext cx="7415783" cy="36069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pic>
        <p:nvPicPr>
          <p:cNvPr id="5" name="Diagram 2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35849"/>
            <a:ext cx="7269480" cy="34606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83880" y="1298448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PRODUCTION RELIABILITY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Acknowledgments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0676" y="1645920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Idempotency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Retries + backoff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80676" y="2084832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Dead-letter topics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Schema versioning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80676" y="2523744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Outbox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96265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Correlation IDs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80676" y="2962656"/>
            <a:ext cx="1723644" cy="365760"/>
          </a:xfrm>
          <a:prstGeom prst="roundRect">
            <a:avLst>
              <a:gd name="adj" fmla="val 14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 i="0">
                <a:solidFill>
                  <a:srgbClr val="D1282E"/>
                </a:solidFill>
                <a:latin typeface="Nirmala UI"/>
              </a:rPr>
              <a:t>Consumer-lag 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3456432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511296"/>
            <a:ext cx="3246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2060"/>
                </a:solidFill>
                <a:latin typeface="Nirmala UI"/>
              </a:rPr>
              <a:t>Watch in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822192"/>
            <a:ext cx="3246120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Nirmala UI"/>
              </a:rPr>
              <a:t>Consumer lag, dead-letter depth, retry counts and end-to-end latency.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4818888"/>
            <a:ext cx="3520440" cy="101498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818888"/>
            <a:ext cx="315468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EVERYTHING HERE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came from this module.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Events let services collaborate without being simultaneously available — if you design for reliability.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25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EVENT-DRIVEN MISCONCEPTIONS AND ANTI-PATTERNS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Beliefs and habits that make messaging systems fragile.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MISCONCEPTION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9080" y="1298448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Nirmala UI"/>
              </a:rPr>
              <a:t>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9928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Events remove all coupling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0752" y="2078431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69080" y="1709928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Everyone still depends on the event contract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56662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The broker delivers exactly once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30752" y="2925165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69080" y="2556662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Expect duplicates — make consumers idempotent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03396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Messaging makes everything faster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30752" y="3771899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0" y="3403396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It adds latency and eventual consistency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0131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Events always arrive in order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30752" y="4618634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069080" y="4250131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Order holds only within a partition or queue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96865"/>
            <a:ext cx="3246120" cy="737006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 i="0">
                <a:solidFill>
                  <a:srgbClr val="D1282E"/>
                </a:solidFill>
                <a:latin typeface="Nirmala UI"/>
              </a:rPr>
              <a:t>Going async fixes a poor design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5465368"/>
            <a:ext cx="310896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9080" y="5096865"/>
            <a:ext cx="3337559" cy="737006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0" i="0">
                <a:solidFill>
                  <a:srgbClr val="2E7D32"/>
                </a:solidFill>
                <a:latin typeface="Nirmala UI"/>
              </a:rPr>
              <a:t>Badly bounded services stay chatty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298448"/>
            <a:ext cx="3931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282E"/>
                </a:solidFill>
                <a:latin typeface="Nirmala UI"/>
              </a:rPr>
              <a:t>ANTI-PATTERNS TO AVOID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0" y="1673352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45920"/>
            <a:ext cx="3566160" cy="4759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Publishing before the transaction commits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0" y="2149348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121916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Vague events like DataChanged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2460244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432812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Ignoring duplicate deliveries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0" y="2771140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743708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Retrying poison messages forever</a:t>
            </a:r>
          </a:p>
        </p:txBody>
      </p:sp>
      <p:sp>
        <p:nvSpPr>
          <p:cNvPr id="30" name="Oval 29"/>
          <p:cNvSpPr/>
          <p:nvPr/>
        </p:nvSpPr>
        <p:spPr>
          <a:xfrm>
            <a:off x="7772400" y="3082036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054604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Card numbers or tokens in payloads</a:t>
            </a:r>
          </a:p>
        </p:txBody>
      </p:sp>
      <p:sp>
        <p:nvSpPr>
          <p:cNvPr id="32" name="Oval 31"/>
          <p:cNvSpPr/>
          <p:nvPr/>
        </p:nvSpPr>
        <p:spPr>
          <a:xfrm>
            <a:off x="7772400" y="3392931"/>
            <a:ext cx="256032" cy="256032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Nirmala U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365500"/>
            <a:ext cx="3566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Nirmala UI"/>
              </a:rPr>
              <a:t>No lag or dead-letter monitoring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3804412"/>
            <a:ext cx="3931920" cy="107594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3804412"/>
            <a:ext cx="3566160" cy="1075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1282E"/>
                </a:solidFill>
                <a:latin typeface="Nirmala UI"/>
              </a:rPr>
              <a:t>REMEMBER   </a:t>
            </a:r>
            <a:r>
              <a:rPr sz="1200" b="0" i="0">
                <a:solidFill>
                  <a:srgbClr val="000000"/>
                </a:solidFill>
                <a:latin typeface="Nirmala UI"/>
              </a:rPr>
              <a:t>Events decouple timing, not responsibility — every message needs an owner.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Messaging only helps when contracts, duplicates, failures and monitoring are designed in from the start.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41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Answer in your own words — then compare with a partner.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565452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Synchronous vs. asynchronous — the main difference?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3504" y="2593238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When is a REST call appropriate between services?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504" y="3621024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are long chains of synchronous calls risky?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4648809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an event?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5676595"/>
            <a:ext cx="384048" cy="384048"/>
          </a:xfrm>
          <a:prstGeom prst="ellipse">
            <a:avLst/>
          </a:prstGeom>
          <a:solidFill>
            <a:srgbClr val="A86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name events in the past tense?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98448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565452"/>
            <a:ext cx="384048" cy="384048"/>
          </a:xfrm>
          <a:prstGeom prst="ellipse">
            <a:avLst/>
          </a:prstGeom>
          <a:solidFill>
            <a:srgbClr val="B0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298448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role does a message broker play?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326233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2593238"/>
            <a:ext cx="384048" cy="384048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26233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a dead-letter queue for?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354019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621024"/>
            <a:ext cx="384048" cy="384048"/>
          </a:xfrm>
          <a:prstGeom prst="ellipse">
            <a:avLst/>
          </a:prstGeom>
          <a:solidFill>
            <a:srgbClr val="645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54019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must event consumers be idempotent?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381804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9944" y="4648809"/>
            <a:ext cx="384048" cy="384048"/>
          </a:xfrm>
          <a:prstGeom prst="ellipse">
            <a:avLst/>
          </a:prstGeom>
          <a:solidFill>
            <a:srgbClr val="287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381804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What is consumer lag in Kafka?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5409590"/>
            <a:ext cx="5440680" cy="918057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09944" y="5676595"/>
            <a:ext cx="384048" cy="38404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409590"/>
            <a:ext cx="4617720" cy="91805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Why should services avoid sharing databases?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7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D1282E"/>
                </a:solidFill>
                <a:latin typeface="Leelawadee"/>
              </a:rPr>
              <a:t>MODULE 4 SUMMARY AND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595959"/>
                </a:solidFill>
                <a:latin typeface="Nirmala UI"/>
              </a:rPr>
              <a:t>From synchronous calls to a reliable event-driven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98448"/>
            <a:ext cx="5577840" cy="4535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457200" y="1298448"/>
            <a:ext cx="557784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303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YOU CAN NOW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84248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Choose synchronous or asynchronous for each interaction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7752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78024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Explain brokers, queues, topics and consumer groups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91256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81528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Design events, producers and consumers that stay decoupled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94759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1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Pick choreography or orchestration for a workflow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98264"/>
            <a:ext cx="292608" cy="292608"/>
          </a:xfrm>
          <a:prstGeom prst="ellipse">
            <a:avLst/>
          </a:prstGeom>
          <a:solidFill>
            <a:srgbClr val="427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Nirmala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288536"/>
            <a:ext cx="4800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Build idempotent consumers with retries and dead letters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98448"/>
            <a:ext cx="530352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400800" y="1298448"/>
            <a:ext cx="5303520" cy="420624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298448"/>
            <a:ext cx="50292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Nirmala UI"/>
              </a:rPr>
              <a:t>NEXT: MODULE 5 — MICROSERVICES AND DATA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1956816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847088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does each service own and persist its data?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2615184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2505456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How do we keep a workflow correct across databases?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273552"/>
            <a:ext cx="347472" cy="347472"/>
          </a:xfrm>
          <a:prstGeom prst="ellipse">
            <a:avLst/>
          </a:prstGeom>
          <a:solidFill>
            <a:srgbClr val="182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Nirmala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163824"/>
            <a:ext cx="44805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Nirmala UI"/>
              </a:rPr>
              <a:t>When does caching help — and when does it hurt?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270248"/>
            <a:ext cx="5303520" cy="1563624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270248"/>
            <a:ext cx="4937760" cy="1563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1282E"/>
                </a:solidFill>
                <a:latin typeface="Nirmala UI"/>
              </a:rPr>
              <a:t>BRING ALONG   </a:t>
            </a:r>
            <a:r>
              <a:rPr sz="1500" b="0" i="0">
                <a:solidFill>
                  <a:srgbClr val="000000"/>
                </a:solidFill>
                <a:latin typeface="Nirmala UI"/>
              </a:rPr>
              <a:t>Your Lab 2 Transaction Service and its TransactionSubmitted flow.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43600"/>
            <a:ext cx="10972800" cy="566928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94360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D1282E"/>
                </a:solidFill>
                <a:latin typeface="Nirmala UI"/>
              </a:rPr>
              <a:t>KEY TAKEAWAY   </a:t>
            </a:r>
            <a:r>
              <a:rPr sz="1300" b="0" i="0">
                <a:solidFill>
                  <a:srgbClr val="000000"/>
                </a:solidFill>
                <a:latin typeface="Nirmala UI"/>
              </a:rPr>
              <a:t>Module 5 looks inside each service's data — ownership, transactions and caching.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001500" y="0"/>
            <a:ext cx="190195" cy="1371600"/>
          </a:xfrm>
          <a:prstGeom prst="rect">
            <a:avLst/>
          </a:prstGeom>
          <a:solidFill>
            <a:srgbClr val="D1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001500" y="1371600"/>
            <a:ext cx="190195" cy="548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" y="6490411"/>
            <a:ext cx="4572000" cy="28346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08080"/>
                </a:solidFill>
                <a:latin typeface="Nirmala UI"/>
              </a:rPr>
              <a:t>© 2026 by Innovation In Software Corporation</a:t>
            </a:r>
          </a:p>
        </p:txBody>
      </p:sp>
      <p:sp>
        <p:nvSpPr>
          <p:cNvPr id="33" name="Diagram Page Number"/>
          <p:cNvSpPr txBox="1"/>
          <p:nvPr/>
        </p:nvSpPr>
        <p:spPr>
          <a:xfrm rot="16200000">
            <a:off x="11422684" y="6224320"/>
            <a:ext cx="658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300" b="1" i="0">
                <a:solidFill>
                  <a:srgbClr val="D1282E"/>
                </a:solidFill>
                <a:latin typeface="Nirmala UI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