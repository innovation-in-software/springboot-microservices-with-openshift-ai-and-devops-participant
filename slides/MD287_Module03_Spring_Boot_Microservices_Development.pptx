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design to implementation</a:t>
            </a:r>
          </a:p>
          <a:p/>
          <a:p>
            <a:r>
              <a:t>  Modules 1 and 2 covered why microservices exist and how we design their boundaries.</a:t>
            </a:r>
          </a:p>
          <a:p/>
          <a:p>
            <a:r>
              <a:t>  Now we move into implementation.</a:t>
            </a:r>
          </a:p>
          <a:p/>
          <a:p>
            <a:r>
              <a:t>- One service to build</a:t>
            </a:r>
          </a:p>
          <a:p/>
          <a:p>
            <a:r>
              <a:t>  Our architecture has Customer, Catalog, Order, Payment, Inventory and Shipping services.</a:t>
            </a:r>
          </a:p>
          <a:p/>
          <a:p>
            <a:r>
              <a:t>  In this module we focus on implementing the Order Service with Spring Boot.</a:t>
            </a:r>
          </a:p>
          <a:p/>
          <a:p>
            <a:r>
              <a:t>- The journey</a:t>
            </a:r>
          </a:p>
          <a:p/>
          <a:p>
            <a:r>
              <a:t>  We go from the service design to a Spring Boot project.</a:t>
            </a:r>
          </a:p>
          <a:p/>
          <a:p>
            <a:r>
              <a:t>  Then we add a REST controller, a business service and a repository.</a:t>
            </a:r>
          </a:p>
          <a:p/>
          <a:p>
            <a:r>
              <a:t>  Then configuration, a build, and finally a running microservice.</a:t>
            </a:r>
          </a:p>
          <a:p/>
          <a:p>
            <a:r>
              <a:t>- Set expectations</a:t>
            </a:r>
          </a:p>
          <a:p/>
          <a:p>
            <a:r>
              <a:t>  Spring Boot does not create a good microservice architecture by itself.</a:t>
            </a:r>
          </a:p>
          <a:p/>
          <a:p>
            <a:r>
              <a:t>  It gives us a productive framework to implement the boundaries we already designed.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should be able to explain Spring Boot architecture and describe application startup.</a:t>
            </a:r>
          </a:p>
          <a:p/>
          <a:p>
            <a:r>
              <a:t>  They should understand auto-configuration and manage dependencies.</a:t>
            </a:r>
          </a:p>
          <a:p/>
          <a:p>
            <a:r>
              <a:t>  They should build REST APIs and apply dependency injection.</a:t>
            </a:r>
          </a:p>
          <a:p/>
          <a:p>
            <a:r>
              <a:t>  They should externalize configuration, use Spring profiles, and build and run a microservice.</a:t>
            </a:r>
          </a:p>
          <a:p/>
          <a:p>
            <a:r>
              <a:t>- Section 1: what Spring Boot does for us</a:t>
            </a:r>
          </a:p>
          <a:p/>
          <a:p>
            <a:r>
              <a:t>  We go from the Spring Framework, to Spring Boot, to auto-configuration, to a running application.</a:t>
            </a:r>
          </a:p>
          <a:p/>
          <a:p>
            <a:r>
              <a:t>- Section 2: build a real REST API</a:t>
            </a:r>
          </a:p>
          <a:p/>
          <a:p>
            <a:r>
              <a:t>  A client calls a controller.</a:t>
            </a:r>
          </a:p>
          <a:p/>
          <a:p>
            <a:r>
              <a:t>  The controller calls a service, and the service calls a repository.</a:t>
            </a:r>
          </a:p>
          <a:p/>
          <a:p>
            <a:r>
              <a:t>- Section 3: portable across environments</a:t>
            </a:r>
          </a:p>
          <a:p/>
          <a:p>
            <a:r>
              <a:t>  The same application runs in DEV, TEST and PROD.</a:t>
            </a:r>
          </a:p>
          <a:p/>
          <a:p>
            <a:r>
              <a:t>  This matters a lot later, when we deploy the same application into containers and OpenShift.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Auto-configuration</a:t>
            </a:r>
          </a:p>
          <a:p/>
          <a:p>
            <a:r>
              <a:t>  Spring Boot sets up beans automatically based on the libraries on the classpath.</a:t>
            </a:r>
          </a:p>
          <a:p/>
          <a:p>
            <a:r>
              <a:t>- Starter</a:t>
            </a:r>
          </a:p>
          <a:p/>
          <a:p>
            <a:r>
              <a:t>  A dependency bundle, such as spring-boot-starter-web, that brings one feature and its libraries.</a:t>
            </a:r>
          </a:p>
          <a:p/>
          <a:p>
            <a:r>
              <a:t>- Bean</a:t>
            </a:r>
          </a:p>
          <a:p/>
          <a:p>
            <a:r>
              <a:t>  An object that the Spring container creates and manages.</a:t>
            </a:r>
          </a:p>
          <a:p/>
          <a:p>
            <a:r>
              <a:t>- Dependency injection</a:t>
            </a:r>
          </a:p>
          <a:p/>
          <a:p>
            <a:r>
              <a:t>  Spring gives a class the objects it needs, usually through its constructor.</a:t>
            </a:r>
          </a:p>
          <a:p/>
          <a:p>
            <a:r>
              <a:t>- Controller</a:t>
            </a:r>
          </a:p>
          <a:p/>
          <a:p>
            <a:r>
              <a:t>  The layer that maps HTTP requests to Java methods and returns the responses.</a:t>
            </a:r>
          </a:p>
          <a:p/>
          <a:p>
            <a:r>
              <a:t>- Data transfer object</a:t>
            </a:r>
          </a:p>
          <a:p/>
          <a:p>
            <a:r>
              <a:t>  A simple object that carries API request or response data, separate from the database entity.</a:t>
            </a:r>
          </a:p>
          <a:p/>
          <a:p>
            <a:r>
              <a:t>- Profile</a:t>
            </a:r>
          </a:p>
          <a:p/>
          <a:p>
            <a:r>
              <a:t>  A named set of configuration, such as local or prod, switched on per environment.</a:t>
            </a:r>
          </a:p>
          <a:p/>
          <a:p>
            <a:r>
              <a:t>- Actuator</a:t>
            </a:r>
          </a:p>
          <a:p/>
          <a:p>
            <a:r>
              <a:t>  Built-in endpoints that report the health, info and metrics of a running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API is Application Programming Interface; DB is Database; DDL is Data Definition Language; DI is Dependency Injection; DTO is Data Transfer Object; HTTP is HyperText Transfer Protocol; IDE is Integrated Development Environment; JAR is Java ARchive; JPA is Jakarta Persistence API; JSON is JavaScript Object Notation; JVM is Java Virtual Machine; MVC is Model-View-Controller; PII is Personally Identifiable Information; REST is Representational State Transfer; SLF4J is Simple Logging Facade for Java; SQL is Structured Query Language; URL is Uniform Resource Locator; YAML is YAML Ain't Markup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2</a:t>
            </a:r>
          </a:p>
          <a:p/>
          <a:p>
            <a:r>
              <a:t>  Module 2 was about design: boundaries, REST contracts, communication and state.</a:t>
            </a:r>
          </a:p>
          <a:p/>
          <a:p>
            <a:r>
              <a:t>  Now we implement those decisions.</a:t>
            </a:r>
          </a:p>
          <a:p/>
          <a:p>
            <a:r>
              <a:t>- Where each decision lives</a:t>
            </a:r>
          </a:p>
          <a:p/>
          <a:p>
            <a:r>
              <a:t>  A boundary becomes one project, resources become @RestController mappings, contracts become records, errors go to @RestControllerAdvice, and configuration moves to YAML and profiles.</a:t>
            </a:r>
          </a:p>
          <a:p/>
          <a:p>
            <a:r>
              <a:t>  We meet every one of them in this module.</a:t>
            </a:r>
          </a:p>
          <a:p/>
          <a:p>
            <a:r>
              <a:t>- Two examples</a:t>
            </a:r>
          </a:p>
          <a:p/>
          <a:p>
            <a:r>
              <a:t>  The slides use the e-commerce Order Service.</a:t>
            </a:r>
          </a:p>
          <a:p/>
          <a:p>
            <a:r>
              <a:t>  Lab 1 and Exercise 1.3 use the banking Account Service, with the same layers.</a:t>
            </a:r>
          </a:p>
          <a:p/>
          <a:p>
            <a:r>
              <a:t>- Set expectations</a:t>
            </a:r>
          </a:p>
          <a:p/>
          <a:p>
            <a:r>
              <a:t>  Spring Boot makes implementation fast, but it doesn't choose boundaries or contracts for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When something goes wrong later, knowing what Boot does underneath tells you where to look.</a:t>
            </a:r>
          </a:p>
          <a:p/>
          <a:p>
            <a:r>
              <a:t>- What this part covers</a:t>
            </a:r>
          </a:p>
          <a:p/>
          <a:p>
            <a:r>
              <a:t>  What Boot adds to Spring, how a project is laid out, how it starts, and how auto-configuration and starters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Less setup</a:t>
            </a:r>
          </a:p>
          <a:p/>
          <a:p>
            <a:r>
              <a:t>  Traditional Spring applications needed a lot more explicit setup.</a:t>
            </a:r>
          </a:p>
          <a:p/>
          <a:p>
            <a:r>
              <a:t>  Spring Boot reduces that with convention over configuration and sensible defaults.</a:t>
            </a:r>
          </a:p>
          <a:p/>
          <a:p>
            <a:r>
              <a:t>  Walk around the seven benefits in the diagram.</a:t>
            </a:r>
          </a:p>
          <a:p/>
          <a:p>
            <a:r>
              <a:t>- Starters and auto-configuration</a:t>
            </a:r>
          </a:p>
          <a:p/>
          <a:p>
            <a:r>
              <a:t>  For a REST application, we add spring-boot-starter-web.</a:t>
            </a:r>
          </a:p>
          <a:p/>
          <a:p>
            <a:r>
              <a:t>  Spring Boot can then configure much of the basic web infrastructure automatically.</a:t>
            </a:r>
          </a:p>
          <a:p/>
          <a:p>
            <a:r>
              <a:t>- Embedded server</a:t>
            </a:r>
          </a:p>
          <a:p/>
          <a:p>
            <a:r>
              <a:t>  It can provide an embedded server.</a:t>
            </a:r>
          </a:p>
          <a:p/>
          <a:p>
            <a:r>
              <a:t>  With the traditional Spring MVC web starter, that is typically Tomcat.</a:t>
            </a:r>
          </a:p>
          <a:p/>
          <a:p>
            <a:r>
              <a:t>  So we do not need to install the application into a separately managed application server.</a:t>
            </a:r>
          </a:p>
          <a:p/>
          <a:p>
            <a:r>
              <a:t>- Run it anywhere</a:t>
            </a:r>
          </a:p>
          <a:p/>
          <a:p>
            <a:r>
              <a:t>  We can simply run java -jar order-service.jar, and the application starts its own web server.</a:t>
            </a:r>
          </a:p>
          <a:p/>
          <a:p>
            <a:r>
              <a:t>  That makes Spring Boot very convenient for independently deployable services.</a:t>
            </a:r>
          </a:p>
          <a:p/>
          <a:p>
            <a:r>
              <a:t>- What it shows</a:t>
            </a:r>
          </a:p>
          <a:p/>
          <a:p>
            <a:r>
              <a:t>  Spring Boot in the middle, surrounded by auto-configuration, the embedded server, starters, external configuration, production readiness and cloud deployment.</a:t>
            </a:r>
          </a:p>
          <a:p/>
          <a:p>
            <a:r>
              <a:t>- How to read it</a:t>
            </a:r>
          </a:p>
          <a:p/>
          <a:p>
            <a:r>
              <a:t>  Each outer circle is one thing Boot gives an Order Service without extra setup.</a:t>
            </a:r>
          </a:p>
          <a:p/>
          <a:p>
            <a:r>
              <a:t>- Key point</a:t>
            </a:r>
          </a:p>
          <a:p/>
          <a:p>
            <a:r>
              <a:t>  Together these features let one small service be built, configured and run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common misconception</a:t>
            </a:r>
          </a:p>
          <a:p/>
          <a:p>
            <a:r>
              <a:t>  Some people think Spring Boot replaced the Spring Framework.</a:t>
            </a:r>
          </a:p>
          <a:p/>
          <a:p>
            <a:r>
              <a:t>  It did not.</a:t>
            </a:r>
          </a:p>
          <a:p/>
          <a:p>
            <a:r>
              <a:t>  Spring Boot is built on top of the Spring ecosystem.</a:t>
            </a:r>
          </a:p>
          <a:p/>
          <a:p>
            <a:r>
              <a:t>- What Spring provides</a:t>
            </a:r>
          </a:p>
          <a:p/>
          <a:p>
            <a:r>
              <a:t>  Spring provides dependency injection and inversion of control, called IoC.</a:t>
            </a:r>
          </a:p>
          <a:p/>
          <a:p>
            <a:r>
              <a:t>  It also provides MVC, transaction management, data integration and security integration.</a:t>
            </a:r>
          </a:p>
          <a:p/>
          <a:p>
            <a:r>
              <a:t>- What Spring Boot adds</a:t>
            </a:r>
          </a:p>
          <a:p/>
          <a:p>
            <a:r>
              <a:t>  Spring Boot makes those capabilities easier to configure, package and operate.</a:t>
            </a:r>
          </a:p>
          <a:p/>
          <a:p>
            <a:r>
              <a:t>  It adds auto-configuration, starter dependencies, embedded server support and operational conventions.</a:t>
            </a:r>
          </a:p>
          <a:p/>
          <a:p>
            <a:r>
              <a:t>- One sentence to remember</a:t>
            </a:r>
          </a:p>
          <a:p/>
          <a:p>
            <a:r>
              <a:t>  Spring provides the capabilities.</a:t>
            </a:r>
          </a:p>
          <a:p/>
          <a:p>
            <a:r>
              <a:t>  Spring Boot provides conventions and automation for assembling applications with them.</a:t>
            </a:r>
          </a:p>
          <a:p/>
          <a:p>
            <a:r>
              <a:t>- What it shows</a:t>
            </a:r>
          </a:p>
          <a:p/>
          <a:p>
            <a:r>
              <a:t>  The Spring Framework at the bottom with Core and DI, MVC, Data and Security.</a:t>
            </a:r>
          </a:p>
          <a:p/>
          <a:p>
            <a:r>
              <a:t>  Spring Boot sits on top with starters, auto-configuration, the embedded server and conventions.</a:t>
            </a:r>
          </a:p>
          <a:p/>
          <a:p>
            <a:r>
              <a:t>- How to read it</a:t>
            </a:r>
          </a:p>
          <a:p/>
          <a:p>
            <a:r>
              <a:t>  Read it bottom-up.</a:t>
            </a:r>
          </a:p>
          <a:p/>
          <a:p>
            <a:r>
              <a:t>  The framework provides the capabilities; Boot assembles them for you.</a:t>
            </a:r>
          </a:p>
          <a:p/>
          <a:p>
            <a:r>
              <a:t>- Key point</a:t>
            </a:r>
          </a:p>
          <a:p/>
          <a:p>
            <a:r>
              <a:t>  Spring Boot is built on Spring.</a:t>
            </a:r>
          </a:p>
          <a:p/>
          <a:p>
            <a:r>
              <a:t>  It did not replace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common structure</a:t>
            </a:r>
          </a:p>
          <a:p/>
          <a:p>
            <a:r>
              <a:t>  Spring Boot does not force every application into exactly this layered structure.</a:t>
            </a:r>
          </a:p>
          <a:p/>
          <a:p>
            <a:r>
              <a:t>  But it is a common and useful one.</a:t>
            </a:r>
          </a:p>
          <a:p/>
          <a:p>
            <a:r>
              <a:t>- Controller</a:t>
            </a:r>
          </a:p>
          <a:p/>
          <a:p>
            <a:r>
              <a:t>  The controller layer handles HTTP and API concerns, for example GET /orders/1001 or POST /orders.</a:t>
            </a:r>
          </a:p>
          <a:p/>
          <a:p>
            <a:r>
              <a:t>- Service</a:t>
            </a:r>
          </a:p>
          <a:p/>
          <a:p>
            <a:r>
              <a:t>  The service layer contains business behavior, such as createOrder, cancelOrder and calculateTotal.</a:t>
            </a:r>
          </a:p>
          <a:p/>
          <a:p>
            <a:r>
              <a:t>- Repository and database</a:t>
            </a:r>
          </a:p>
          <a:p/>
          <a:p>
            <a:r>
              <a:t>  The repository layer handles persistence, with operations like save, findById and findAll.</a:t>
            </a:r>
          </a:p>
          <a:p/>
          <a:p>
            <a:r>
              <a:t>  The database stores durable business data.</a:t>
            </a:r>
          </a:p>
          <a:p/>
          <a:p>
            <a:r>
              <a:t>- Separate responsibilities</a:t>
            </a:r>
          </a:p>
          <a:p/>
          <a:p>
            <a:r>
              <a:t>  Controllers should not become the place where all business logic and database work are mixed together.</a:t>
            </a:r>
          </a:p>
          <a:p/>
          <a:p>
            <a:r>
              <a:t>- What it shows</a:t>
            </a:r>
          </a:p>
          <a:p/>
          <a:p>
            <a:r>
              <a:t>  One Spring Boot Order Service with three layers between the client and the database.</a:t>
            </a:r>
          </a:p>
          <a:p/>
          <a:p>
            <a:r>
              <a:t>- How to read it</a:t>
            </a:r>
          </a:p>
          <a:p/>
          <a:p>
            <a:r>
              <a:t>  Follow a request left to right: the controller receives it, the service decides, the repository reads or writes data.</a:t>
            </a:r>
          </a:p>
          <a:p/>
          <a:p>
            <a:r>
              <a:t>- Key point</a:t>
            </a:r>
          </a:p>
          <a:p/>
          <a:p>
            <a:r>
              <a:t>  Each layer has one job.</a:t>
            </a:r>
          </a:p>
          <a:p/>
          <a:p>
            <a:r>
              <a:t>  That keeps the service easy to test and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Initializr is</a:t>
            </a:r>
          </a:p>
          <a:p/>
          <a:p>
            <a:r>
              <a:t>  A project generator at start.spring.io.</a:t>
            </a:r>
          </a:p>
          <a:p/>
          <a:p>
            <a:r>
              <a:t>  It's also built into IntelliJ, VS Code and Eclipse.</a:t>
            </a:r>
          </a:p>
          <a:p/>
          <a:p>
            <a:r>
              <a:t>- Settings</a:t>
            </a:r>
          </a:p>
          <a:p/>
          <a:p>
            <a:r>
              <a:t>  Maven, Java, a current stable Spring Boot 3 release, group com.example, artifact order-service, Jar packaging, and Java 17 or 21.</a:t>
            </a:r>
          </a:p>
          <a:p/>
          <a:p>
            <a:r>
              <a:t>- Dependencies</a:t>
            </a:r>
          </a:p>
          <a:p/>
          <a:p>
            <a:r>
              <a:t>  Spring Web for REST, Validation for request checks, Spring Data JPA and the PostgreSQL driver for data, and Actuator for health endpoints.</a:t>
            </a:r>
          </a:p>
          <a:p/>
          <a:p>
            <a:r>
              <a:t>  DevTools helps only in local development.</a:t>
            </a:r>
          </a:p>
          <a:p/>
          <a:p>
            <a:r>
              <a:t>- Common mistakes</a:t>
            </a:r>
          </a:p>
          <a:p/>
          <a:p>
            <a:r>
              <a:t>  Adding every dependency just in case, unclear package names, and putting several services in one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Walk the project</a:t>
            </a:r>
          </a:p>
          <a:p/>
          <a:p>
            <a:r>
              <a:t>  src/main/java holds the production Java source code.</a:t>
            </a:r>
          </a:p>
          <a:p/>
          <a:p>
            <a:r>
              <a:t>  src/main/resources holds configuration and other resources.</a:t>
            </a:r>
          </a:p>
          <a:p/>
          <a:p>
            <a:r>
              <a:t>  src/test holds the tests.</a:t>
            </a:r>
          </a:p>
          <a:p/>
          <a:p>
            <a:r>
              <a:t>  pom.xml is the Maven project descriptor when you use Maven.</a:t>
            </a:r>
          </a:p>
          <a:p/>
          <a:p>
            <a:r>
              <a:t>- A practical package structure</a:t>
            </a:r>
          </a:p>
          <a:p/>
          <a:p>
            <a:r>
              <a:t>  A practical set of packages is controller, service, repository, dto, model, exception and config.</a:t>
            </a:r>
          </a:p>
          <a:p/>
          <a:p>
            <a:r>
              <a:t>- Packages are not boundaries</a:t>
            </a:r>
          </a:p>
          <a:p/>
          <a:p>
            <a:r>
              <a:t>  Package structure alone does not create architectural boundaries.</a:t>
            </a:r>
          </a:p>
          <a:p/>
          <a:p>
            <a:r>
              <a:t>  What matters is the responsibilities you give those classes.</a:t>
            </a:r>
          </a:p>
          <a:p/>
          <a:p>
            <a:r>
              <a:t>- What it shows</a:t>
            </a:r>
          </a:p>
          <a:p/>
          <a:p>
            <a:r>
              <a:t>  The folders a new Order Service project contains: pom.xml, src/main/java, resources and test.</a:t>
            </a:r>
          </a:p>
          <a:p/>
          <a:p>
            <a:r>
              <a:t>- How to read it</a:t>
            </a:r>
          </a:p>
          <a:p/>
          <a:p>
            <a:r>
              <a:t>  Java code lives under com.example.order in controller, service, repository, dto, model and config packages.</a:t>
            </a:r>
          </a:p>
          <a:p/>
          <a:p>
            <a:r>
              <a:t>  application.yml lives in resources.</a:t>
            </a:r>
          </a:p>
          <a:p/>
          <a:p>
            <a:r>
              <a:t>- Key point</a:t>
            </a:r>
          </a:p>
          <a:p/>
          <a:p>
            <a:r>
              <a:t>  Knowing where things live makes every Spring Boot project easy to navigate.</a:t>
            </a:r>
          </a:p>
          <a:p/>
          <a:p>
            <a:r>
              <a:t>- Feature-oriented packages</a:t>
            </a:r>
          </a:p>
          <a:p/>
          <a:p>
            <a:r>
              <a:t>  In a small service, layer packages are fine.</a:t>
            </a:r>
          </a:p>
          <a:p/>
          <a:p>
            <a:r>
              <a:t>  As it grows, group by feature, such as orders and returns, each with its own controller, service and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entry point</a:t>
            </a:r>
          </a:p>
          <a:p/>
          <a:p>
            <a:r>
              <a:t>  Every standalone Spring Boot application usually has an entry point.</a:t>
            </a:r>
          </a:p>
          <a:p/>
          <a:p>
            <a:r>
              <a:t>  Java starts running at public static void main.</a:t>
            </a:r>
          </a:p>
          <a:p/>
          <a:p>
            <a:r>
              <a:t>- Bootstrapping Spring</a:t>
            </a:r>
          </a:p>
          <a:p/>
          <a:p>
            <a:r>
              <a:t>  Then SpringApplication.run bootstraps the Spring application.</a:t>
            </a:r>
          </a:p>
          <a:p/>
          <a:p>
            <a:r>
              <a:t>- What Spring Boot prepares</a:t>
            </a:r>
          </a:p>
          <a:p/>
          <a:p>
            <a:r>
              <a:t>  Spring Boot prepares the application environment and the Spring ApplicationContext.</a:t>
            </a:r>
          </a:p>
          <a:p/>
          <a:p>
            <a:r>
              <a:t>  It registers bean definitions and applies auto-configuration.</a:t>
            </a:r>
          </a:p>
          <a:p/>
          <a:p>
            <a:r>
              <a:t>  For a web application, it also sets up the web infrastructure.</a:t>
            </a:r>
          </a:p>
          <a:p/>
          <a:p>
            <a:r>
              <a:t>- Ready</a:t>
            </a:r>
          </a:p>
          <a:p/>
          <a:p>
            <a:r>
              <a:t>  Eventually, the application is ready to receive requests.</a:t>
            </a:r>
          </a:p>
          <a:p/>
          <a:p>
            <a:r>
              <a:t>- Read the console</a:t>
            </a:r>
          </a:p>
          <a:p/>
          <a:p>
            <a:r>
              <a:t>  The startup log follows the same steps: the Boot version, the active profile, Tomcat starting on port 8080, and finally the Started line.</a:t>
            </a:r>
          </a:p>
          <a:p/>
          <a:p>
            <a:r>
              <a:t>- No active profile</a:t>
            </a:r>
          </a:p>
          <a:p/>
          <a:p>
            <a:r>
              <a:t>  The default-profile line matters later.</a:t>
            </a:r>
          </a:p>
          <a:p/>
          <a:p>
            <a:r>
              <a:t>  It tells you which configuration the service actually 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convenience annotation</a:t>
            </a:r>
          </a:p>
          <a:p/>
          <a:p>
            <a:r>
              <a:t>  @SpringBootApplication combines several important pieces of Spring Boot functionality in one annotation.</a:t>
            </a:r>
          </a:p>
          <a:p/>
          <a:p>
            <a:r>
              <a:t>- Configuration</a:t>
            </a:r>
          </a:p>
          <a:p/>
          <a:p>
            <a:r>
              <a:t>  Through @SpringBootConfiguration, a specialized @Configuration, the application class takes part in Spring configuration.</a:t>
            </a:r>
          </a:p>
          <a:p/>
          <a:p>
            <a:r>
              <a:t>- Auto-configuration</a:t>
            </a:r>
          </a:p>
          <a:p/>
          <a:p>
            <a:r>
              <a:t>  @EnableAutoConfiguration tells Spring Boot to examine the environment and the classpath.</a:t>
            </a:r>
          </a:p>
          <a:p/>
          <a:p>
            <a:r>
              <a:t>  It then tries to configure suitable infrastructure automatically.</a:t>
            </a:r>
          </a:p>
          <a:p/>
          <a:p>
            <a:r>
              <a:t>- Component scanning</a:t>
            </a:r>
          </a:p>
          <a:p/>
          <a:p>
            <a:r>
              <a:t>  @ComponentScan makes Spring search the right packages for managed components.</a:t>
            </a:r>
          </a:p>
          <a:p/>
          <a:p>
            <a:r>
              <a:t>  Examples are classes marked @RestController, @Service, @Repository and @Component.</a:t>
            </a:r>
          </a:p>
          <a:p/>
          <a:p>
            <a:r>
              <a:t>- Why location matters</a:t>
            </a:r>
          </a:p>
          <a:p/>
          <a:p>
            <a:r>
              <a:t>  This is why the location of the main application class and the package structure matter.</a:t>
            </a:r>
          </a:p>
          <a:p/>
          <a:p>
            <a:r>
              <a:t>- What it shows</a:t>
            </a:r>
          </a:p>
          <a:p/>
          <a:p>
            <a:r>
              <a:t>  @SpringBootApplication split into @SpringBootConfiguration, @EnableAutoConfiguration and @ComponentScan.</a:t>
            </a:r>
          </a:p>
          <a:p/>
          <a:p>
            <a:r>
              <a:t>- Key point</a:t>
            </a:r>
          </a:p>
          <a:p/>
          <a:p>
            <a:r>
              <a:t>  One annotation on the main class switches on configuration, auto-configuration and component scanning.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happens when you click Run</a:t>
            </a:r>
          </a:p>
          <a:p/>
          <a:p>
            <a:r>
              <a:t>  This slide explains what happens between clicking Run and seeing the log line Started OrderApplication.</a:t>
            </a:r>
          </a:p>
          <a:p/>
          <a:p>
            <a:r>
              <a:t>- Row one</a:t>
            </a:r>
          </a:p>
          <a:p/>
          <a:p>
            <a:r>
              <a:t>  Java starts the JVM and calls main.</a:t>
            </a:r>
          </a:p>
          <a:p/>
          <a:p>
            <a:r>
              <a:t>  SpringApplication.run bootstraps Spring.</a:t>
            </a:r>
          </a:p>
          <a:p/>
          <a:p>
            <a:r>
              <a:t>  Configuration is loaded and the environment is prepared.</a:t>
            </a:r>
          </a:p>
          <a:p/>
          <a:p>
            <a:r>
              <a:t>  Then an ApplicationContext is created.</a:t>
            </a:r>
          </a:p>
          <a:p/>
          <a:p>
            <a:r>
              <a:t>- Row two</a:t>
            </a:r>
          </a:p>
          <a:p/>
          <a:p>
            <a:r>
              <a:t>  Spring discovers bean definitions.</a:t>
            </a:r>
          </a:p>
          <a:p/>
          <a:p>
            <a:r>
              <a:t>  Auto-configuration adds more configuration.</a:t>
            </a:r>
          </a:p>
          <a:p/>
          <a:p>
            <a:r>
              <a:t>  Beans are created and wired together.</a:t>
            </a:r>
          </a:p>
          <a:p/>
          <a:p>
            <a:r>
              <a:t>  For a web application, the embedded web server starts.</a:t>
            </a:r>
          </a:p>
          <a:p/>
          <a:p>
            <a:r>
              <a:t>  Finally, the application is ready to process traffic.</a:t>
            </a:r>
          </a:p>
          <a:p/>
          <a:p>
            <a:r>
              <a:t>- Why it matters</a:t>
            </a:r>
          </a:p>
          <a:p/>
          <a:p>
            <a:r>
              <a:t>  This lifecycle becomes important later, when we troubleshoot startup failures.</a:t>
            </a:r>
          </a:p>
          <a:p/>
          <a:p>
            <a:r>
              <a:t>- What it shows</a:t>
            </a:r>
          </a:p>
          <a:p/>
          <a:p>
            <a:r>
              <a:t>  Eight steps: JVM, main(), environment, ApplicationContext, bean registration and creation, auto-configuration, embedded server, and application ready.</a:t>
            </a:r>
          </a:p>
          <a:p/>
          <a:p>
            <a:r>
              <a:t>- How to read it</a:t>
            </a:r>
          </a:p>
          <a:p/>
          <a:p>
            <a:r>
              <a:t>  Left to right is the order things happen in the startup log.</a:t>
            </a:r>
          </a:p>
          <a:p/>
          <a:p>
            <a:r>
              <a:t>- Key point</a:t>
            </a:r>
          </a:p>
          <a:p/>
          <a:p>
            <a:r>
              <a:t>  If startup fails, find the step where it stopped.</a:t>
            </a:r>
          </a:p>
          <a:p/>
          <a:p>
            <a:r>
              <a:t>  That tells you where to look.</a:t>
            </a:r>
          </a:p>
          <a:p/>
          <a:p>
            <a:r>
              <a:t>- Shutdown</a:t>
            </a:r>
          </a:p>
          <a:p/>
          <a:p>
            <a:r>
              <a:t>  Stopping matters too.</a:t>
            </a:r>
          </a:p>
          <a:p/>
          <a:p>
            <a:r>
              <a:t>  Spring closes the context and releases database connections, thread pools and consumers.</a:t>
            </a:r>
          </a:p>
          <a:p/>
          <a:p>
            <a:r>
              <a:t>  With graceful shutdown it finishes in-flight requests first, which OpenShift rolling updates rely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Not random</a:t>
            </a:r>
          </a:p>
          <a:p/>
          <a:p>
            <a:r>
              <a:t>  Auto-configuration does not mean Spring Boot randomly creates everything.</a:t>
            </a:r>
          </a:p>
          <a:p/>
          <a:p>
            <a:r>
              <a:t>  It is mostly conditional configuration.</a:t>
            </a:r>
          </a:p>
          <a:p/>
          <a:p>
            <a:r>
              <a:t>- The inputs</a:t>
            </a:r>
          </a:p>
          <a:p/>
          <a:p>
            <a:r>
              <a:t>  Spring Boot looks at your dependencies, the classpath, your configuration properties and the beans you already defined.</a:t>
            </a:r>
          </a:p>
          <a:p/>
          <a:p>
            <a:r>
              <a:t>- The questions it asks</a:t>
            </a:r>
          </a:p>
          <a:p/>
          <a:p>
            <a:r>
              <a:t>  Conceptually, it asks: is this class or library available?</a:t>
            </a:r>
          </a:p>
          <a:p/>
          <a:p>
            <a:r>
              <a:t>  Is this application type relevant?</a:t>
            </a:r>
          </a:p>
          <a:p/>
          <a:p>
            <a:r>
              <a:t>  Has the developer already defined a bean?</a:t>
            </a:r>
          </a:p>
          <a:p/>
          <a:p>
            <a:r>
              <a:t>  Does a property turn this behavior on or off?</a:t>
            </a:r>
          </a:p>
          <a:p/>
          <a:p>
            <a:r>
              <a:t>  Configuration is applied based on the answers.</a:t>
            </a:r>
          </a:p>
          <a:p/>
          <a:p>
            <a:r>
              <a:t>- Why dependencies matter</a:t>
            </a:r>
          </a:p>
          <a:p/>
          <a:p>
            <a:r>
              <a:t>  That is why adding a dependency can change application behavior a lot.</a:t>
            </a:r>
          </a:p>
          <a:p/>
          <a:p>
            <a:r>
              <a:t>  For example, spring-boot-starter-web brings Spring MVC infrastructure, embedded web server support and JSON support.</a:t>
            </a:r>
          </a:p>
          <a:p/>
          <a:p>
            <a:r>
              <a:t>- It backs away</a:t>
            </a:r>
          </a:p>
          <a:p/>
          <a:p>
            <a:r>
              <a:t>  In many common cases, auto-configuration is designed to back away when you provide your own configuration.</a:t>
            </a:r>
          </a:p>
          <a:p/>
          <a:p>
            <a:r>
              <a:t>- What it shows</a:t>
            </a:r>
          </a:p>
          <a:p/>
          <a:p>
            <a:r>
              <a:t>  Four inputs, dependencies, the classpath, configuration properties and existing beans, feed a set of conditions.</a:t>
            </a:r>
          </a:p>
          <a:p/>
          <a:p>
            <a:r>
              <a:t>- The result</a:t>
            </a:r>
          </a:p>
          <a:p/>
          <a:p>
            <a:r>
              <a:t>  When the conditions match, Boot creates components such as the web server, the DataSource and Spring MVC.</a:t>
            </a:r>
          </a:p>
          <a:p/>
          <a:p>
            <a:r>
              <a:t>- Key point</a:t>
            </a:r>
          </a:p>
          <a:p/>
          <a:p>
            <a:r>
              <a:t>  Auto-configuration is a set of rules, not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Inside Boot</a:t>
            </a:r>
          </a:p>
          <a:p/>
          <a:p>
            <a:r>
              <a:t>  This is a simplified version of Boot's Jackson setup.</a:t>
            </a:r>
          </a:p>
          <a:p/>
          <a:p>
            <a:r>
              <a:t>  It runs only when Jackson is on the classpath, and only if no ObjectMapper bean exists yet.</a:t>
            </a:r>
          </a:p>
          <a:p/>
          <a:p>
            <a:r>
              <a:t>- Your bean wins</a:t>
            </a:r>
          </a:p>
          <a:p/>
          <a:p>
            <a:r>
              <a:t>  When we declare our own ObjectMapper, the missing-bean condition fails, so Boot's default is skipped.</a:t>
            </a:r>
          </a:p>
          <a:p/>
          <a:p>
            <a:r>
              <a:t>- See the decisions</a:t>
            </a:r>
          </a:p>
          <a:p/>
          <a:p>
            <a:r>
              <a:t>  Set debug to true, or start with --debug.</a:t>
            </a:r>
          </a:p>
          <a:p/>
          <a:p>
            <a:r>
              <a:t>  The conditions evaluation report lists what was configured and why the rest was not.</a:t>
            </a:r>
          </a:p>
          <a:p/>
          <a:p>
            <a:r>
              <a:t>- When to use it</a:t>
            </a:r>
          </a:p>
          <a:p/>
          <a:p>
            <a:r>
              <a:t>  Use the report when something is configured unexpectedly, or not configured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Without starters</a:t>
            </a:r>
          </a:p>
          <a:p/>
          <a:p>
            <a:r>
              <a:t>  Without dependency grouping, developers would have to find and coordinate many individual libraries themselves.</a:t>
            </a:r>
          </a:p>
          <a:p/>
          <a:p>
            <a:r>
              <a:t>- Starters</a:t>
            </a:r>
          </a:p>
          <a:p/>
          <a:p>
            <a:r>
              <a:t>  Spring Boot starters are curated groups of dependencies for common capabilities.</a:t>
            </a:r>
          </a:p>
          <a:p/>
          <a:p>
            <a:r>
              <a:t>  Examples are spring-boot-starter-web, data-jpa, validation and test.</a:t>
            </a:r>
          </a:p>
          <a:p/>
          <a:p>
            <a:r>
              <a:t>  Adding spring-boot-starter-web brings in what a typical Spring MVC web application needs.</a:t>
            </a:r>
          </a:p>
          <a:p/>
          <a:p>
            <a:r>
              <a:t>- Dependency management</a:t>
            </a:r>
          </a:p>
          <a:p/>
          <a:p>
            <a:r>
              <a:t>  Spring Boot's dependency management also helps keep library versions compatible with each other.</a:t>
            </a:r>
          </a:p>
          <a:p/>
          <a:p>
            <a:r>
              <a:t>- A rule of thumb</a:t>
            </a:r>
          </a:p>
          <a:p/>
          <a:p>
            <a:r>
              <a:t>  Avoid manually overriding dependency versions.</a:t>
            </a:r>
          </a:p>
          <a:p/>
          <a:p>
            <a:r>
              <a:t>  Only do it when you have a clear reason and understand the compatibility impact.</a:t>
            </a:r>
          </a:p>
          <a:p/>
          <a:p>
            <a:r>
              <a:t>- What it shows</a:t>
            </a:r>
          </a:p>
          <a:p/>
          <a:p>
            <a:r>
              <a:t>  Application needs on the left, the starter chosen for each, and the libraries each starter pulls in.</a:t>
            </a:r>
          </a:p>
          <a:p/>
          <a:p>
            <a:r>
              <a:t>- How to read it</a:t>
            </a:r>
          </a:p>
          <a:p/>
          <a:p>
            <a:r>
              <a:t>  Web API selects starter-web, which brings Spring MVC, Jackson and embedded Tomcat.</a:t>
            </a:r>
          </a:p>
          <a:p/>
          <a:p>
            <a:r>
              <a:t>  Spring Boot manages all the versions.</a:t>
            </a:r>
          </a:p>
          <a:p/>
          <a:p>
            <a:r>
              <a:t>- Key point</a:t>
            </a:r>
          </a:p>
          <a:p/>
          <a:p>
            <a:r>
              <a:t>  Pick a starter per capability and let Boot keep the versions compatible.</a:t>
            </a:r>
          </a:p>
          <a:p/>
          <a:p>
            <a:r>
              <a:t>- The parent</a:t>
            </a:r>
          </a:p>
          <a:p/>
          <a:p>
            <a:r>
              <a:t>  The version is set once, on the starter parent.</a:t>
            </a:r>
          </a:p>
          <a:p/>
          <a:p>
            <a:r>
              <a:t>  The starters below it have no version, because Boot manages a compatible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Expected starters</a:t>
            </a:r>
          </a:p>
          <a:p/>
          <a:p>
            <a:r>
              <a:t>  spring-boot-starter-web, data-jpa with the PostgreSQL driver, validation, actuator and test.</a:t>
            </a:r>
          </a:p>
          <a:p/>
          <a:p>
            <a:r>
              <a:t>- What each configures</a:t>
            </a:r>
          </a:p>
          <a:p/>
          <a:p>
            <a:r>
              <a:t>  Web gives Spring MVC, Tomcat and Jackson.</a:t>
            </a:r>
          </a:p>
          <a:p/>
          <a:p>
            <a:r>
              <a:t>  Data JPA gives a DataSource, Hibernate and repositories.</a:t>
            </a:r>
          </a:p>
          <a:p/>
          <a:p>
            <a:r>
              <a:t>  Actuator gives health endpoints.</a:t>
            </a:r>
          </a:p>
          <a:p/>
          <a:p>
            <a:r>
              <a:t>- Just in case</a:t>
            </a:r>
          </a:p>
          <a:p/>
          <a:p>
            <a:r>
              <a:t>  Security, Kafka and Redis each add auto-configuration, startup time and attack surface.</a:t>
            </a:r>
          </a:p>
          <a:p/>
          <a:p>
            <a:r>
              <a:t>  Security even locks every endpoint by default.</a:t>
            </a:r>
          </a:p>
          <a:p/>
          <a:p>
            <a:r>
              <a:t>  Add them when a requirement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framework to features</a:t>
            </a:r>
          </a:p>
          <a:p/>
          <a:p>
            <a:r>
              <a:t>  Part 1 explained what Boot does.</a:t>
            </a:r>
          </a:p>
          <a:p/>
          <a:p>
            <a:r>
              <a:t>  Part 2 builds the Order API layer by layer.</a:t>
            </a:r>
          </a:p>
          <a:p/>
          <a:p>
            <a:r>
              <a:t>- How to follow</a:t>
            </a:r>
          </a:p>
          <a:p/>
          <a:p>
            <a:r>
              <a:t>  We follow one request inward: controller, request data, DTOs, validation and errors, then the service and repository, then how Spring wires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theory to code</a:t>
            </a:r>
          </a:p>
          <a:p/>
          <a:p>
            <a:r>
              <a:t>  Now we move from framework theory to implementation.</a:t>
            </a:r>
          </a:p>
          <a:p/>
          <a:p>
            <a:r>
              <a:t>  Our microservice represents the Order business capability we identified in Module 2.</a:t>
            </a:r>
          </a:p>
          <a:p/>
          <a:p>
            <a:r>
              <a:t>- What it does</a:t>
            </a:r>
          </a:p>
          <a:p/>
          <a:p>
            <a:r>
              <a:t>  The Order Service creates, retrieves, updates and cancels orders.</a:t>
            </a:r>
          </a:p>
          <a:p/>
          <a:p>
            <a:r>
              <a:t>- A possible API</a:t>
            </a:r>
          </a:p>
          <a:p/>
          <a:p>
            <a:r>
              <a:t>  The API could be POST /orders, GET /orders, GET /orders/{id}, PATCH /orders/{id} and DELETE /orders/{id}.</a:t>
            </a:r>
          </a:p>
          <a:p/>
          <a:p>
            <a:r>
              <a:t>- Inside the service</a:t>
            </a:r>
          </a:p>
          <a:p/>
          <a:p>
            <a:r>
              <a:t>  Internally, the OrderController calls the OrderService, which calls the OrderRepository.</a:t>
            </a:r>
          </a:p>
          <a:p/>
          <a:p>
            <a:r>
              <a:t>  We use this example for the rest of the module.</a:t>
            </a:r>
          </a:p>
          <a:p/>
          <a:p>
            <a:r>
              <a:t>- Files we write</a:t>
            </a:r>
          </a:p>
          <a:p/>
          <a:p>
            <a:r>
              <a:t>  OrderController handles HTTP.</a:t>
            </a:r>
          </a:p>
          <a:p/>
          <a:p>
            <a:r>
              <a:t>  The request and response records are the contract.</a:t>
            </a:r>
          </a:p>
          <a:p/>
          <a:p>
            <a:r>
              <a:t>  OrderService holds the rules, OrderRepository the data access, and GlobalExceptionHandler the error format.</a:t>
            </a:r>
          </a:p>
          <a:p/>
          <a:p>
            <a:r>
              <a:t>- Lab link</a:t>
            </a:r>
          </a:p>
          <a:p/>
          <a:p>
            <a:r>
              <a:t>  Lab 1 builds the same layers for the banking Account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@RestController</a:t>
            </a:r>
          </a:p>
          <a:p/>
          <a:p>
            <a:r>
              <a:t>  @RestController tells Spring that this class handles web requests.</a:t>
            </a:r>
          </a:p>
          <a:p/>
          <a:p>
            <a:r>
              <a:t>  Return values are generally written to the HTTP response body, usually as JSON.</a:t>
            </a:r>
          </a:p>
          <a:p/>
          <a:p>
            <a:r>
              <a:t>- Mappings</a:t>
            </a:r>
          </a:p>
          <a:p/>
          <a:p>
            <a:r>
              <a:t>  @RequestMapping with /orders sets the base path.</a:t>
            </a:r>
          </a:p>
          <a:p/>
          <a:p>
            <a:r>
              <a:t>  @GetMapping with /{id} maps a GET request.</a:t>
            </a:r>
          </a:p>
          <a:p/>
          <a:p>
            <a:r>
              <a:t>- Follow a request</a:t>
            </a:r>
          </a:p>
          <a:p/>
          <a:p>
            <a:r>
              <a:t>  For GET /orders/101, Spring extracts 101 and passes it to the id parameter.</a:t>
            </a:r>
          </a:p>
          <a:p/>
          <a:p>
            <a:r>
              <a:t>  The method returns an OrderDto, which goes back to the client as JSON.</a:t>
            </a:r>
          </a:p>
          <a:p/>
          <a:p>
            <a:r>
              <a:t>- Delegate</a:t>
            </a:r>
          </a:p>
          <a:p/>
          <a:p>
            <a:r>
              <a:t>  The controller then hands the business work to the service layer.</a:t>
            </a:r>
          </a:p>
          <a:p/>
          <a:p>
            <a:r>
              <a:t>- What it shows</a:t>
            </a:r>
          </a:p>
          <a:p/>
          <a:p>
            <a:r>
              <a:t>  A GET request going through DispatcherServlet to OrderController and OrderService, then back through the JSON serializer.</a:t>
            </a:r>
          </a:p>
          <a:p/>
          <a:p>
            <a:r>
              <a:t>- How to read it</a:t>
            </a:r>
          </a:p>
          <a:p/>
          <a:p>
            <a:r>
              <a:t>  Follow the top arrows in, then the bottom arrow out as a 200 OK JSON response.</a:t>
            </a:r>
          </a:p>
          <a:p/>
          <a:p>
            <a:r>
              <a:t>- Key point</a:t>
            </a:r>
          </a:p>
          <a:p/>
          <a:p>
            <a:r>
              <a:t>  Spring MVC does the HTTP plumbing.</a:t>
            </a:r>
          </a:p>
          <a:p/>
          <a:p>
            <a:r>
              <a:t>  Your code only handles the business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Connect to Module 2</a:t>
            </a:r>
          </a:p>
          <a:p/>
          <a:p>
            <a:r>
              <a:t>  Connect this table directly to the REST design from Module 2.</a:t>
            </a:r>
          </a:p>
          <a:p/>
          <a:p>
            <a:r>
              <a:t>  Use @GetMapping for retrieval and @PostMapping for creation.</a:t>
            </a:r>
          </a:p>
          <a:p/>
          <a:p>
            <a:r>
              <a:t>  Use @PutMapping for full replacement, @PatchMapping for partial updates, and @DeleteMapping for deletion.</a:t>
            </a:r>
          </a:p>
          <a:p/>
          <a:p>
            <a:r>
              <a:t>- Design comes first</a:t>
            </a:r>
          </a:p>
          <a:p/>
          <a:p>
            <a:r>
              <a:t>  Spring annotations implement the HTTP contract.</a:t>
            </a:r>
          </a:p>
          <a:p/>
          <a:p>
            <a:r>
              <a:t>  They do not decide what a good API contract should be.</a:t>
            </a:r>
          </a:p>
          <a:p/>
          <a:p>
            <a:r>
              <a:t>  That design decision came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Mapping the request</a:t>
            </a:r>
          </a:p>
          <a:p/>
          <a:p>
            <a:r>
              <a:t>  Spring maps different parts of an HTTP request into Java method parameters.</a:t>
            </a:r>
          </a:p>
          <a:p/>
          <a:p>
            <a:r>
              <a:t>- Path variables</a:t>
            </a:r>
          </a:p>
          <a:p/>
          <a:p>
            <a:r>
              <a:t>  For /orders/101, @PathVariable gives the method the id 101.</a:t>
            </a:r>
          </a:p>
          <a:p/>
          <a:p>
            <a:r>
              <a:t>- Query parameters</a:t>
            </a:r>
          </a:p>
          <a:p/>
          <a:p>
            <a:r>
              <a:t>  For GET /orders?status=CREATED, @RequestParam gives the method the status value.</a:t>
            </a:r>
          </a:p>
          <a:p/>
          <a:p>
            <a:r>
              <a:t>- Request body</a:t>
            </a:r>
          </a:p>
          <a:p/>
          <a:p>
            <a:r>
              <a:t>  For POST /orders with JSON, @RequestBody turns the JSON into a CreateOrderRequest Java object.</a:t>
            </a:r>
          </a:p>
          <a:p/>
          <a:p>
            <a:r>
              <a:t>  This is called deserialization.</a:t>
            </a:r>
          </a:p>
          <a:p/>
          <a:p>
            <a:r>
              <a:t>- Headers</a:t>
            </a:r>
          </a:p>
          <a:p/>
          <a:p>
            <a:r>
              <a:t>  @RequestHeader reads values from the HTTP headers.</a:t>
            </a:r>
          </a:p>
          <a:p/>
          <a:p>
            <a:r>
              <a:t>- What it shows</a:t>
            </a:r>
          </a:p>
          <a:p/>
          <a:p>
            <a:r>
              <a:t>  One HTTP request split into a path variable, a query parameter, a request body and a header.</a:t>
            </a:r>
          </a:p>
          <a:p/>
          <a:p>
            <a:r>
              <a:t>- How to read it</a:t>
            </a:r>
          </a:p>
          <a:p/>
          <a:p>
            <a:r>
              <a:t>  Each part is matched to @PathVariable, @RequestParam, @RequestBody or @RequestHeader, and arrives in OrderController as a method parameter.</a:t>
            </a:r>
          </a:p>
          <a:p/>
          <a:p>
            <a:r>
              <a:t>- Key point</a:t>
            </a:r>
          </a:p>
          <a:p/>
          <a:p>
            <a:r>
              <a:t>  Spring binds request data for you.</a:t>
            </a:r>
          </a:p>
          <a:p/>
          <a:p>
            <a:r>
              <a:t>  You just declare what you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Follow the data</a:t>
            </a:r>
          </a:p>
          <a:p/>
          <a:p>
            <a:r>
              <a:t>  Incoming JSON becomes a request DTO.</a:t>
            </a:r>
          </a:p>
          <a:p/>
          <a:p>
            <a:r>
              <a:t>  The business layer works with the domain or persistence model.</a:t>
            </a:r>
          </a:p>
          <a:p/>
          <a:p>
            <a:r>
              <a:t>  The result becomes a response DTO, which goes out as JSON.</a:t>
            </a:r>
          </a:p>
          <a:p/>
          <a:p>
            <a:r>
              <a:t>- Don't expose entities</a:t>
            </a:r>
          </a:p>
          <a:p/>
          <a:p>
            <a:r>
              <a:t>  Do not automatically expose database entities as your API contract.</a:t>
            </a:r>
          </a:p>
          <a:p/>
          <a:p>
            <a:r>
              <a:t>  Our persistence entity has id, customerId, internalProcessingCode, databaseVersion and createdAt.</a:t>
            </a:r>
          </a:p>
          <a:p/>
          <a:p>
            <a:r>
              <a:t>  But the client may only need orderId, customerId, status and total.</a:t>
            </a:r>
          </a:p>
          <a:p/>
          <a:p>
            <a:r>
              <a:t>- DTOs define the contract</a:t>
            </a:r>
          </a:p>
          <a:p/>
          <a:p>
            <a:r>
              <a:t>  A DTO lets us define the external contract separately from storage.</a:t>
            </a:r>
          </a:p>
          <a:p/>
          <a:p>
            <a:r>
              <a:t>  A Java record like OrderResponse is a simple way to write one.</a:t>
            </a:r>
          </a:p>
          <a:p/>
          <a:p>
            <a:r>
              <a:t>- ResponseEntity</a:t>
            </a:r>
          </a:p>
          <a:p/>
          <a:p>
            <a:r>
              <a:t>  Use ResponseEntity when you need explicit control over the status code, headers and response body.</a:t>
            </a:r>
          </a:p>
          <a:p/>
          <a:p>
            <a:r>
              <a:t>- What it shows</a:t>
            </a:r>
          </a:p>
          <a:p/>
          <a:p>
            <a:r>
              <a:t>  Incoming JSON becomes a request DTO, goes through the service and repository, and returns as a response DTO and JSON.</a:t>
            </a:r>
          </a:p>
          <a:p/>
          <a:p>
            <a:r>
              <a:t>- How to read it</a:t>
            </a:r>
          </a:p>
          <a:p/>
          <a:p>
            <a:r>
              <a:t>  The red box marks the persistence entity.</a:t>
            </a:r>
          </a:p>
          <a:p/>
          <a:p>
            <a:r>
              <a:t>  It never leaves the service.</a:t>
            </a:r>
          </a:p>
          <a:p/>
          <a:p>
            <a:r>
              <a:t>- Key point</a:t>
            </a:r>
          </a:p>
          <a:p/>
          <a:p>
            <a:r>
              <a:t>  DTOs protect the API contract from internal changes.</a:t>
            </a:r>
          </a:p>
          <a:p/>
          <a:p>
            <a:r>
              <a:t>- One mapping place</a:t>
            </a:r>
          </a:p>
          <a:p/>
          <a:p>
            <a:r>
              <a:t>  A static from() method on the DTO, or a mapper such as MapStruct.</a:t>
            </a:r>
          </a:p>
          <a:p/>
          <a:p>
            <a:r>
              <a:t>  Pick one approach and use it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Never trust input</a:t>
            </a:r>
          </a:p>
          <a:p/>
          <a:p>
            <a:r>
              <a:t>  Never assume incoming requests are valid.</a:t>
            </a:r>
          </a:p>
          <a:p/>
          <a:p>
            <a:r>
              <a:t>  Follow the diagram: valid requests go on to the service, and invalid ones get a 400 error.</a:t>
            </a:r>
          </a:p>
          <a:p/>
          <a:p>
            <a:r>
              <a:t>- Bean Validation</a:t>
            </a:r>
          </a:p>
          <a:p/>
          <a:p>
            <a:r>
              <a:t>  Put constraints on the request DTO, such as @NotNull on customerId and @NotEmpty on items.</a:t>
            </a:r>
          </a:p>
          <a:p/>
          <a:p>
            <a:r>
              <a:t>  Then add @Valid next to @RequestBody in the controller so Spring checks them.</a:t>
            </a:r>
          </a:p>
          <a:p/>
          <a:p>
            <a:r>
              <a:t>- Central error handling</a:t>
            </a:r>
          </a:p>
          <a:p/>
          <a:p>
            <a:r>
              <a:t>  Do not repeat exception logic in every controller.</a:t>
            </a:r>
          </a:p>
          <a:p/>
          <a:p>
            <a:r>
              <a:t>  Use @RestControllerAdvice with @ExceptionHandler methods to produce consistent API errors.</a:t>
            </a:r>
          </a:p>
          <a:p/>
          <a:p>
            <a:r>
              <a:t>- A good error response</a:t>
            </a:r>
          </a:p>
          <a:p/>
          <a:p>
            <a:r>
              <a:t>  A good error response can include an errorCode, a message, a timestamp, the path and a traceId.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exception</a:t>
            </a:r>
          </a:p>
          <a:p/>
          <a:p>
            <a:r>
              <a:t>  The service throws OrderNotFoundException with a clear message when an order doesn't exist.</a:t>
            </a:r>
          </a:p>
          <a:p/>
          <a:p>
            <a:r>
              <a:t>- The handler</a:t>
            </a:r>
          </a:p>
          <a:p/>
          <a:p>
            <a:r>
              <a:t>  @RestControllerAdvice applies to all controllers.</a:t>
            </a:r>
          </a:p>
          <a:p/>
          <a:p>
            <a:r>
              <a:t>  The @ExceptionHandler method turns this exception into a 404 with our ErrorResponse.</a:t>
            </a:r>
          </a:p>
          <a:p/>
          <a:p>
            <a:r>
              <a:t>- The result</a:t>
            </a:r>
          </a:p>
          <a:p/>
          <a:p>
            <a:r>
              <a:t>  Clients get code, message, timestamp and path.</a:t>
            </a:r>
          </a:p>
          <a:p/>
          <a:p>
            <a:r>
              <a:t>  This is the error body we designed in Module 2.</a:t>
            </a:r>
          </a:p>
          <a:p/>
          <a:p>
            <a:r>
              <a:t>- Mapping</a:t>
            </a:r>
          </a:p>
          <a:p/>
          <a:p>
            <a:r>
              <a:t>  Validation failures map to 400, missing resources to 404, and illegal state changes to 409.</a:t>
            </a:r>
          </a:p>
          <a:p/>
          <a:p>
            <a:r>
              <a:t>  Unexpected errors return 500 with a safe message and are logged in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service</a:t>
            </a:r>
          </a:p>
          <a:p/>
          <a:p>
            <a:r>
              <a:t>  OrderService holds the rules.</a:t>
            </a:r>
          </a:p>
          <a:p/>
          <a:p>
            <a:r>
              <a:t>  cancel() loads the order, lets the domain object apply the rule, and returns a DTO.</a:t>
            </a:r>
          </a:p>
          <a:p/>
          <a:p>
            <a:r>
              <a:t>- Transactions</a:t>
            </a:r>
          </a:p>
          <a:p/>
          <a:p>
            <a:r>
              <a:t>  @Transactional sits on the service method, because one business operation should be one transaction.</a:t>
            </a:r>
          </a:p>
          <a:p/>
          <a:p>
            <a:r>
              <a:t>- The repository</a:t>
            </a:r>
          </a:p>
          <a:p/>
          <a:p>
            <a:r>
              <a:t>  OrderRepository is only an interface.</a:t>
            </a:r>
          </a:p>
          <a:p/>
          <a:p>
            <a:r>
              <a:t>  Spring Data generates the implementation, including queries from method names like findByCustomerId.</a:t>
            </a:r>
          </a:p>
          <a:p/>
          <a:p>
            <a:r>
              <a:t>- Going deeper</a:t>
            </a:r>
          </a:p>
          <a:p/>
          <a:p>
            <a:r>
              <a:t>  Entities, mappings and data ownership come back in the data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What's wrong</a:t>
            </a:r>
          </a:p>
          <a:p/>
          <a:p>
            <a:r>
              <a:t>  The method mixes HTTP, validation, a business rule, SQL and console logging, and it takes and returns the entity.</a:t>
            </a:r>
          </a:p>
          <a:p/>
          <a:p>
            <a:r>
              <a:t>- Expected refactor</a:t>
            </a:r>
          </a:p>
          <a:p/>
          <a:p>
            <a:r>
              <a:t>  The controller takes a CreateOrderRequest with @Valid and returns 201.</a:t>
            </a:r>
          </a:p>
          <a:p/>
          <a:p>
            <a:r>
              <a:t>  The service checks the open-order limit and sets the status.</a:t>
            </a:r>
          </a:p>
          <a:p/>
          <a:p>
            <a:r>
              <a:t>  The repository offers countByCustomerIdAndStatus.</a:t>
            </a:r>
          </a:p>
          <a:p/>
          <a:p>
            <a:r>
              <a:t>- Errors</a:t>
            </a:r>
          </a:p>
          <a:p/>
          <a:p>
            <a:r>
              <a:t>  Empty items fail validation with 400.</a:t>
            </a:r>
          </a:p>
          <a:p/>
          <a:p>
            <a:r>
              <a:t>  The limit throws a domain exception the handler maps to 409.</a:t>
            </a:r>
          </a:p>
          <a:p/>
          <a:p>
            <a:r>
              <a:t>  Returning null is never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Fundamental to Spring</a:t>
            </a:r>
          </a:p>
          <a:p/>
          <a:p>
            <a:r>
              <a:t>  Dependency injection is fundamental to Spring.</a:t>
            </a:r>
          </a:p>
          <a:p/>
          <a:p>
            <a:r>
              <a:t>  In the diagram, the controller needs the service, and the service needs the repository.</a:t>
            </a:r>
          </a:p>
          <a:p/>
          <a:p>
            <a:r>
              <a:t>  The Spring container creates and connects them.</a:t>
            </a:r>
          </a:p>
          <a:p/>
          <a:p>
            <a:r>
              <a:t>- Without DI</a:t>
            </a:r>
          </a:p>
          <a:p/>
          <a:p>
            <a:r>
              <a:t>  Without dependency injection, code builds its own dependencies with new.</a:t>
            </a:r>
          </a:p>
          <a:p/>
          <a:p>
            <a:r>
              <a:t>  That ties object construction tightly to the application code.</a:t>
            </a:r>
          </a:p>
          <a:p/>
          <a:p>
            <a:r>
              <a:t>- With Spring</a:t>
            </a:r>
          </a:p>
          <a:p/>
          <a:p>
            <a:r>
              <a:t>  With Spring, OrderService simply asks for an OrderRepository in its constructor.</a:t>
            </a:r>
          </a:p>
          <a:p/>
          <a:p>
            <a:r>
              <a:t>  Spring creates the managed components and passes in the dependency.</a:t>
            </a:r>
          </a:p>
          <a:p/>
          <a:p>
            <a:r>
              <a:t>- The idea</a:t>
            </a:r>
          </a:p>
          <a:p/>
          <a:p>
            <a:r>
              <a:t>  The class declares what it needs.</a:t>
            </a:r>
          </a:p>
          <a:p/>
          <a:p>
            <a:r>
              <a:t>  It does not control how that dependency is built.</a:t>
            </a:r>
          </a:p>
          <a:p/>
          <a:p>
            <a:r>
              <a:t>  Recommend constructor injection as the normal default, not field injection.</a:t>
            </a:r>
          </a:p>
          <a:p/>
          <a:p>
            <a:r>
              <a:t>- What it shows</a:t>
            </a:r>
          </a:p>
          <a:p/>
          <a:p>
            <a:r>
              <a:t>  The Spring container creating OrderController, OrderService and OrderRepository and injecting each into the next.</a:t>
            </a:r>
          </a:p>
          <a:p/>
          <a:p>
            <a:r>
              <a:t>- The contrast</a:t>
            </a:r>
          </a:p>
          <a:p/>
          <a:p>
            <a:r>
              <a:t>  The red NO box shows the old way: classes calling new on their own dependencies.</a:t>
            </a:r>
          </a:p>
          <a:p/>
          <a:p>
            <a:r>
              <a:t>- Key point</a:t>
            </a:r>
          </a:p>
          <a:p/>
          <a:p>
            <a:r>
              <a:t>  Inversion of control means the container, not your class, builds the object graph.</a:t>
            </a:r>
          </a:p>
          <a:p/>
          <a:p>
            <a:r>
              <a:t>- Injection styles</a:t>
            </a:r>
          </a:p>
          <a:p/>
          <a:p>
            <a:r>
              <a:t>  Constructor injection makes dependencies explicit and final.</a:t>
            </a:r>
          </a:p>
          <a:p/>
          <a:p>
            <a:r>
              <a:t>  Setter injection suits optional ones.</a:t>
            </a:r>
          </a:p>
          <a:p/>
          <a:p>
            <a:r>
              <a:t>  Field injection hides dependencies and makes tests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a bean is</a:t>
            </a:r>
          </a:p>
          <a:p/>
          <a:p>
            <a:r>
              <a:t>  A bean is an object managed by the Spring container.</a:t>
            </a:r>
          </a:p>
          <a:p/>
          <a:p>
            <a:r>
              <a:t>- Stereotype annotations</a:t>
            </a:r>
          </a:p>
          <a:p/>
          <a:p>
            <a:r>
              <a:t>  Common stereotype annotations are @Component, @Service, @Repository, @Controller and @RestController.</a:t>
            </a:r>
          </a:p>
          <a:p/>
          <a:p>
            <a:r>
              <a:t>  Spring finds these classes through component scanning and registers them in the ApplicationContext.</a:t>
            </a:r>
          </a:p>
          <a:p/>
          <a:p>
            <a:r>
              <a:t>- Explicit beans</a:t>
            </a:r>
          </a:p>
          <a:p/>
          <a:p>
            <a:r>
              <a:t>  You can also create beans explicitly with a @Bean method inside a @Configuration class.</a:t>
            </a:r>
          </a:p>
          <a:p/>
          <a:p>
            <a:r>
              <a:t>  This is especially useful for objects from third-party libraries, or when construction needs explicit configuration.</a:t>
            </a:r>
          </a:p>
          <a:p/>
          <a:p>
            <a:r>
              <a:t>- What it shows</a:t>
            </a:r>
          </a:p>
          <a:p/>
          <a:p>
            <a:r>
              <a:t>  Component scanning finds stereotype annotations, registers bean definitions, then the ApplicationContext creates and injects the beans.</a:t>
            </a:r>
          </a:p>
          <a:p/>
          <a:p>
            <a:r>
              <a:t>- How to read it</a:t>
            </a:r>
          </a:p>
          <a:p/>
          <a:p>
            <a:r>
              <a:t>  Left to right: discover, register, create.</a:t>
            </a:r>
          </a:p>
          <a:p/>
          <a:p>
            <a:r>
              <a:t>  At the bottom: create, inject, initialize, ready.</a:t>
            </a:r>
          </a:p>
          <a:p/>
          <a:p>
            <a:r>
              <a:t>- Key point</a:t>
            </a:r>
          </a:p>
          <a:p/>
          <a:p>
            <a:r>
              <a:t>  Only classes that scanning finds become beans.</a:t>
            </a:r>
          </a:p>
          <a:p/>
          <a:p>
            <a:r>
              <a:t>- Bean scopes</a:t>
            </a:r>
          </a:p>
          <a:p/>
          <a:p>
            <a:r>
              <a:t>  Beans are singletons by default: one shared instance.</a:t>
            </a:r>
          </a:p>
          <a:p/>
          <a:p>
            <a:r>
              <a:t>  Prototype, request and session scopes exist, but services rarely need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Reason one</a:t>
            </a:r>
          </a:p>
          <a:p/>
          <a:p>
            <a:r>
              <a:t>  OrderService has no stereotype annotation, so scanning ignores it.</a:t>
            </a:r>
          </a:p>
          <a:p/>
          <a:p>
            <a:r>
              <a:t>- Reason two</a:t>
            </a:r>
          </a:p>
          <a:p/>
          <a:p>
            <a:r>
              <a:t>  Even with @Service, com.example.services is outside com.example.order, where scanning starts.</a:t>
            </a:r>
          </a:p>
          <a:p/>
          <a:p>
            <a:r>
              <a:t>- The fix</a:t>
            </a:r>
          </a:p>
          <a:p/>
          <a:p>
            <a:r>
              <a:t>  Move it to com.example.order.service, add @Service, and inject it through a constructor into a final field.</a:t>
            </a:r>
          </a:p>
          <a:p/>
          <a:p>
            <a:r>
              <a:t>- Lifecycle link</a:t>
            </a:r>
          </a:p>
          <a:p/>
          <a:p>
            <a:r>
              <a:t>  The failure happens while creating beans, so the embedded server never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The same service must run on a laptop, in test and in production without being rebuilt.</a:t>
            </a:r>
          </a:p>
          <a:p/>
          <a:p>
            <a:r>
              <a:t>- What comes next</a:t>
            </a:r>
          </a:p>
          <a:p/>
          <a:p>
            <a:r>
              <a:t>  Configuration, profiles, the build, what to do when startup fails, logging, and finally the whole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Don't hard-code configuration</a:t>
            </a:r>
          </a:p>
          <a:p/>
          <a:p>
            <a:r>
              <a:t>  Configuration should not be hard-coded in Java classes.</a:t>
            </a:r>
          </a:p>
          <a:p/>
          <a:p>
            <a:r>
              <a:t>  A hard-coded production database URL ties the binary to one environment.</a:t>
            </a:r>
          </a:p>
          <a:p/>
          <a:p>
            <a:r>
              <a:t>- Configuration sources</a:t>
            </a:r>
          </a:p>
          <a:p/>
          <a:p>
            <a:r>
              <a:t>  Spring Boot can read configuration from application.yml, environment variables, and command-line or other external sources.</a:t>
            </a:r>
          </a:p>
          <a:p/>
          <a:p>
            <a:r>
              <a:t>- Externalize it</a:t>
            </a:r>
          </a:p>
          <a:p/>
          <a:p>
            <a:r>
              <a:t>  Instead, reference values like DB_URL, DB_USER and DB_PASSWORD in the configuration.</a:t>
            </a:r>
          </a:p>
          <a:p/>
          <a:p>
            <a:r>
              <a:t>  Now the same application artifact runs in different environments with different values.</a:t>
            </a:r>
          </a:p>
          <a:p/>
          <a:p>
            <a:r>
              <a:t>- Twelve-Factor</a:t>
            </a:r>
          </a:p>
          <a:p/>
          <a:p>
            <a:r>
              <a:t>  Connect this back to the Twelve-Factor App principles from Module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YAML</a:t>
            </a:r>
          </a:p>
          <a:p/>
          <a:p>
            <a:r>
              <a:t>  Order settings live under one orders prefix.</a:t>
            </a:r>
          </a:p>
          <a:p/>
          <a:p>
            <a:r>
              <a:t>  The payment URL comes from an environment variable.</a:t>
            </a:r>
          </a:p>
          <a:p/>
          <a:p>
            <a:r>
              <a:t>- The record</a:t>
            </a:r>
          </a:p>
          <a:p/>
          <a:p>
            <a:r>
              <a:t>  @ConfigurationProperties binds the prefix to a record.</a:t>
            </a:r>
          </a:p>
          <a:p/>
          <a:p>
            <a:r>
              <a:t>  Durations like 2s convert automatically.</a:t>
            </a:r>
          </a:p>
          <a:p/>
          <a:p>
            <a:r>
              <a:t>- Fail fast</a:t>
            </a:r>
          </a:p>
          <a:p/>
          <a:p>
            <a:r>
              <a:t>  With @Validated, a missing URL or a zero item limit stops startup with a clear message naming the field.</a:t>
            </a:r>
          </a:p>
          <a:p/>
          <a:p>
            <a:r>
              <a:t>- Relaxed binding</a:t>
            </a:r>
          </a:p>
          <a:p/>
          <a:p>
            <a:r>
              <a:t>  Spring maps ORDERS_MAXITEMSPERORDER to orders.max-items-per-order, so the platform can override any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Don't hard-code configuration</a:t>
            </a:r>
          </a:p>
          <a:p/>
          <a:p>
            <a:r>
              <a:t>  Configuration should not be hard-coded in Java classes.</a:t>
            </a:r>
          </a:p>
          <a:p/>
          <a:p>
            <a:r>
              <a:t>  A hard-coded production database URL ties the binary to one environment.</a:t>
            </a:r>
          </a:p>
          <a:p/>
          <a:p>
            <a:r>
              <a:t>- Configuration sources</a:t>
            </a:r>
          </a:p>
          <a:p/>
          <a:p>
            <a:r>
              <a:t>  Spring Boot can read configuration from application.yml, environment variables, and command-line or other external sources.</a:t>
            </a:r>
          </a:p>
          <a:p/>
          <a:p>
            <a:r>
              <a:t>- Externalize it</a:t>
            </a:r>
          </a:p>
          <a:p/>
          <a:p>
            <a:r>
              <a:t>  Instead, reference values like DB_URL, DB_USER and DB_PASSWORD in the configuration.</a:t>
            </a:r>
          </a:p>
          <a:p/>
          <a:p>
            <a:r>
              <a:t>  Now the same application artifact runs in different environments with different values.</a:t>
            </a:r>
          </a:p>
          <a:p/>
          <a:p>
            <a:r>
              <a:t>- Twelve-Factor</a:t>
            </a:r>
          </a:p>
          <a:p/>
          <a:p>
            <a:r>
              <a:t>  Connect this back to the Twelve-Factor App principles from Module 1.</a:t>
            </a:r>
          </a:p>
          <a:p/>
          <a:p>
            <a:r>
              <a:t>- What it shows</a:t>
            </a:r>
          </a:p>
          <a:p/>
          <a:p>
            <a:r>
              <a:t>  Environment variables, config files and secrets feed profile selection for one order-service.jar.</a:t>
            </a:r>
          </a:p>
          <a:p/>
          <a:p>
            <a:r>
              <a:t>- How to read it</a:t>
            </a:r>
          </a:p>
          <a:p/>
          <a:p>
            <a:r>
              <a:t>  The same JAR runs with the dev, test or prod profile and connects to that environment's database.</a:t>
            </a:r>
          </a:p>
          <a:p/>
          <a:p>
            <a:r>
              <a:t>- Key point</a:t>
            </a:r>
          </a:p>
          <a:p/>
          <a:p>
            <a:r>
              <a:t>  No rebuild to change environment.</a:t>
            </a:r>
          </a:p>
          <a:p/>
          <a:p>
            <a:r>
              <a:t>  Only the profile and external configuration change.</a:t>
            </a:r>
          </a:p>
          <a:p/>
          <a:p>
            <a:r>
              <a:t>- Different environments, different config</a:t>
            </a:r>
          </a:p>
          <a:p/>
          <a:p>
            <a:r>
              <a:t>  Development might use a local database and debug-friendly settings.</a:t>
            </a:r>
          </a:p>
          <a:p/>
          <a:p>
            <a:r>
              <a:t>  Testing uses test infrastructure and test-specific integrations.</a:t>
            </a:r>
          </a:p>
          <a:p/>
          <a:p>
            <a:r>
              <a:t>  Production uses production endpoints and infrastructure settings.</a:t>
            </a:r>
          </a:p>
          <a:p/>
          <a:p>
            <a:r>
              <a:t>- Spring profiles</a:t>
            </a:r>
          </a:p>
          <a:p/>
          <a:p>
            <a:r>
              <a:t>  Spring profiles let configuration, or even beans, change based on the active environment.</a:t>
            </a:r>
          </a:p>
          <a:p/>
          <a:p>
            <a:r>
              <a:t>  Each profile can have its own file, such as application-dev.yml, application-test.yml and application-prod.yml.</a:t>
            </a:r>
          </a:p>
          <a:p/>
          <a:p>
            <a:r>
              <a:t>- Choosing the profile</a:t>
            </a:r>
          </a:p>
          <a:p/>
          <a:p>
            <a:r>
              <a:t>  You can set spring.profiles.active to dev.</a:t>
            </a:r>
          </a:p>
          <a:p/>
          <a:p>
            <a:r>
              <a:t>  But for production, do not hard-code the active production profile into the artifact.</a:t>
            </a:r>
          </a:p>
          <a:p/>
          <a:p>
            <a:r>
              <a:t>  The deployment environment should usually select the right profile and configuration.</a:t>
            </a:r>
          </a:p>
          <a:p/>
          <a:p>
            <a:r>
              <a:t>- Build once</a:t>
            </a:r>
          </a:p>
          <a:p/>
          <a:p>
            <a:r>
              <a:t>  The ideal principle is: build once, then configure for the target environment.</a:t>
            </a:r>
          </a:p>
          <a:p/>
          <a:p>
            <a:r>
              <a:t>- Avoid separate builds</a:t>
            </a:r>
          </a:p>
          <a:p/>
          <a:p>
            <a:r>
              <a:t>  Avoid compiling a DEV version, a TEST version and a PROD version.</a:t>
            </a:r>
          </a:p>
          <a:p/>
          <a:p>
            <a:r>
              <a:t>  Prefer one artifact with different external configuration.</a:t>
            </a:r>
          </a:p>
          <a:p/>
          <a:p>
            <a:r>
              <a:t>- Why it matters for containers</a:t>
            </a:r>
          </a:p>
          <a:p/>
          <a:p>
            <a:r>
              <a:t>  This becomes extremely important with containers.</a:t>
            </a:r>
          </a:p>
          <a:p/>
          <a:p>
            <a:r>
              <a:t>  Later, the same container image runs on OpenShift in DEV, TEST and PROD.</a:t>
            </a:r>
          </a:p>
          <a:p/>
          <a:p>
            <a:r>
              <a:t>  The image stays the same, and each environment supplies its own configuration.</a:t>
            </a:r>
          </a:p>
          <a:p/>
          <a:p>
            <a:r>
              <a:t>- Configuration versus secrets</a:t>
            </a:r>
          </a:p>
          <a:p/>
          <a:p>
            <a:r>
              <a:t>  Configuration means non-sensitive operational values.</a:t>
            </a:r>
          </a:p>
          <a:p/>
          <a:p>
            <a:r>
              <a:t>  Secrets mean passwords, API keys, tokens, certificates and similar sensitive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Run A</a:t>
            </a:r>
          </a:p>
          <a:p/>
          <a:p>
            <a:r>
              <a:t>  No profile is active, so only application.yml applies: port 8080 and 50 items.</a:t>
            </a:r>
          </a:p>
          <a:p/>
          <a:p>
            <a:r>
              <a:t>- Run B</a:t>
            </a:r>
          </a:p>
          <a:p/>
          <a:p>
            <a:r>
              <a:t>  The prod profile file overrides the base file: port 8081 and 20 items.</a:t>
            </a:r>
          </a:p>
          <a:p/>
          <a:p>
            <a:r>
              <a:t>- Run C</a:t>
            </a:r>
          </a:p>
          <a:p/>
          <a:p>
            <a:r>
              <a:t>  The command-line argument beats the environment variable, so the port is 7070.</a:t>
            </a:r>
          </a:p>
          <a:p/>
          <a:p>
            <a:r>
              <a:t>  The item limit is still 20.</a:t>
            </a:r>
          </a:p>
          <a:p/>
          <a:p>
            <a:r>
              <a:t>- Secrets</a:t>
            </a:r>
          </a:p>
          <a:p/>
          <a:p>
            <a:r>
              <a:t>  The database password comes from an OpenShift secret exposed as an environment variable.</a:t>
            </a:r>
          </a:p>
          <a:p/>
          <a:p>
            <a:r>
              <a:t>  It never goes in a YAML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gets deployed</a:t>
            </a:r>
          </a:p>
          <a:p/>
          <a:p>
            <a:r>
              <a:t>  We do not deploy the source project directly.</a:t>
            </a:r>
          </a:p>
          <a:p/>
          <a:p>
            <a:r>
              <a:t>  A build tool runs the build lifecycle.</a:t>
            </a:r>
          </a:p>
          <a:p/>
          <a:p>
            <a:r>
              <a:t>- The Maven build</a:t>
            </a:r>
          </a:p>
          <a:p/>
          <a:p>
            <a:r>
              <a:t>  With Maven, we run ./mvnw clean package.</a:t>
            </a:r>
          </a:p>
          <a:p/>
          <a:p>
            <a:r>
              <a:t>  It compiles the source and the tests, runs the tests, and packages the application.</a:t>
            </a:r>
          </a:p>
          <a:p/>
          <a:p>
            <a:r>
              <a:t>- The executable JAR</a:t>
            </a:r>
          </a:p>
          <a:p/>
          <a:p>
            <a:r>
              <a:t>  Spring Boot applications are commonly packaged as executable JARs, like target/order-service.jar.</a:t>
            </a:r>
          </a:p>
          <a:p/>
          <a:p>
            <a:r>
              <a:t>  The JAR contains what is needed to launch the application with its runtime dependencies.</a:t>
            </a:r>
          </a:p>
          <a:p/>
          <a:p>
            <a:r>
              <a:t>- What's next</a:t>
            </a:r>
          </a:p>
          <a:p/>
          <a:p>
            <a:r>
              <a:t>  This JAR later becomes the input to our containerization process.</a:t>
            </a:r>
          </a:p>
          <a:p/>
          <a:p>
            <a:r>
              <a:t>- What it shows</a:t>
            </a:r>
          </a:p>
          <a:p/>
          <a:p>
            <a:r>
              <a:t>  Source, Maven or Gradle, compile, test, package, executable JAR, java -jar, embedded server, and the /orders API.</a:t>
            </a:r>
          </a:p>
          <a:p/>
          <a:p>
            <a:r>
              <a:t>- Key point</a:t>
            </a:r>
          </a:p>
          <a:p/>
          <a:p>
            <a:r>
              <a:t>  One build produces one JAR.</a:t>
            </a:r>
          </a:p>
          <a:p/>
          <a:p>
            <a:r>
              <a:t>  Running it starts the server and the API.</a:t>
            </a:r>
          </a:p>
          <a:p/>
          <a:p>
            <a:r>
              <a:t>- Start the service</a:t>
            </a:r>
          </a:p>
          <a:p/>
          <a:p>
            <a:r>
              <a:t>  When we run java -jar target/order-service.jar, the JVM starts and Spring Boot initializes.</a:t>
            </a:r>
          </a:p>
          <a:p/>
          <a:p>
            <a:r>
              <a:t>  The ApplicationContext is created and the beans are wired.</a:t>
            </a:r>
          </a:p>
          <a:p/>
          <a:p>
            <a:r>
              <a:t>  The web server starts, typically on port 8080.</a:t>
            </a:r>
          </a:p>
          <a:p/>
          <a:p>
            <a:r>
              <a:t>- Call it</a:t>
            </a:r>
          </a:p>
          <a:p/>
          <a:p>
            <a:r>
              <a:t>  Now the application can receive HTTP requests, for example GET http://localhost:8080/orders/101.</a:t>
            </a:r>
          </a:p>
          <a:p/>
          <a:p>
            <a:r>
              <a:t>- Follow the request</a:t>
            </a:r>
          </a:p>
          <a:p/>
          <a:p>
            <a:r>
              <a:t>  The request goes to OrderController, then OrderService, then OrderRepository and the database.</a:t>
            </a:r>
          </a:p>
          <a:p/>
          <a:p>
            <a:r>
              <a:t>  The response comes back the same way.</a:t>
            </a:r>
          </a:p>
          <a:p/>
          <a:p>
            <a:r>
              <a:t>- Tools</a:t>
            </a:r>
          </a:p>
          <a:p/>
          <a:p>
            <a:r>
              <a:t>  For testing and demos, learners can call the API with curl, Postman or an IDE HTTP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Use the lifecycle</a:t>
            </a:r>
          </a:p>
          <a:p/>
          <a:p>
            <a:r>
              <a:t>  Each symptom belongs to a step from the startup lifecycle.</a:t>
            </a:r>
          </a:p>
          <a:p/>
          <a:p>
            <a:r>
              <a:t>  Knowing the step narrows the search.</a:t>
            </a:r>
          </a:p>
          <a:p/>
          <a:p>
            <a:r>
              <a:t>- Common failures</a:t>
            </a:r>
          </a:p>
          <a:p/>
          <a:p>
            <a:r>
              <a:t>  A port already in use, a missing bean, a missing environment variable, a database that isn't running, and invalid property values.</a:t>
            </a:r>
          </a:p>
          <a:p/>
          <a:p>
            <a:r>
              <a:t>- Read the log from the top</a:t>
            </a:r>
          </a:p>
          <a:p/>
          <a:p>
            <a:r>
              <a:t>  The first exception is usually the real cause.</a:t>
            </a:r>
          </a:p>
          <a:p/>
          <a:p>
            <a:r>
              <a:t>  What follows is often fallout.</a:t>
            </a:r>
          </a:p>
          <a:p/>
          <a:p>
            <a:r>
              <a:t>- Health</a:t>
            </a:r>
          </a:p>
          <a:p/>
          <a:p>
            <a:r>
              <a:t>  Once it starts, /actuator/health should report UP.</a:t>
            </a:r>
          </a:p>
          <a:p/>
          <a:p>
            <a:r>
              <a:t>  OpenShift probes use the same endpoint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to avoid</a:t>
            </a:r>
          </a:p>
          <a:p/>
          <a:p>
            <a:r>
              <a:t>  System.out bypasses the logging system.</a:t>
            </a:r>
          </a:p>
          <a:p/>
          <a:p>
            <a:r>
              <a:t>  Concatenating a request logs personal data.</a:t>
            </a:r>
          </a:p>
          <a:p/>
          <a:p>
            <a:r>
              <a:t>  A bare Failed message helps no one.</a:t>
            </a:r>
          </a:p>
          <a:p/>
          <a:p>
            <a:r>
              <a:t>- What to prefer</a:t>
            </a:r>
          </a:p>
          <a:p/>
          <a:p>
            <a:r>
              <a:t>  One logger per class.</a:t>
            </a:r>
          </a:p>
          <a:p/>
          <a:p>
            <a:r>
              <a:t>  Parameterized messages with the order ID and status.</a:t>
            </a:r>
          </a:p>
          <a:p/>
          <a:p>
            <a:r>
              <a:t>  Pass the exception last so the stack trace is kept.</a:t>
            </a:r>
          </a:p>
          <a:p/>
          <a:p>
            <a:r>
              <a:t>- Levels</a:t>
            </a:r>
          </a:p>
          <a:p/>
          <a:p>
            <a:r>
              <a:t>  INFO for normal events, WARN for recoverable problems, ERROR for failures.</a:t>
            </a:r>
          </a:p>
          <a:p/>
          <a:p>
            <a:r>
              <a:t>  Use DEBUG locally and set levels per profile.</a:t>
            </a:r>
          </a:p>
          <a:p/>
          <a:p>
            <a:r>
              <a:t>- Banking link</a:t>
            </a:r>
          </a:p>
          <a:p/>
          <a:p>
            <a:r>
              <a:t>  Exercise 1.3 asks you to confirm Lab 1 logs only accountId and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Startup</a:t>
            </a:r>
          </a:p>
          <a:p/>
          <a:p>
            <a:r>
              <a:t>  Use this slide to rebuild the whole module.</a:t>
            </a:r>
          </a:p>
          <a:p/>
          <a:p>
            <a:r>
              <a:t>  The application starts in main with SpringApplication.run.</a:t>
            </a:r>
          </a:p>
          <a:p/>
          <a:p>
            <a:r>
              <a:t>  Spring loads configuration, and the active environment decides which configuration applies.</a:t>
            </a:r>
          </a:p>
          <a:p/>
          <a:p>
            <a:r>
              <a:t>- Beans and dependencies</a:t>
            </a:r>
          </a:p>
          <a:p/>
          <a:p>
            <a:r>
              <a:t>  Spring discovers components like OrderController, OrderService and OrderRepository.</a:t>
            </a:r>
          </a:p>
          <a:p/>
          <a:p>
            <a:r>
              <a:t>  It manages them in the ApplicationContext and injects their dependencies.</a:t>
            </a:r>
          </a:p>
          <a:p/>
          <a:p>
            <a:r>
              <a:t>  Then the embedded web server starts listening for HTTP traffic.</a:t>
            </a:r>
          </a:p>
          <a:p/>
          <a:p>
            <a:r>
              <a:t>- A request arrives</a:t>
            </a:r>
          </a:p>
          <a:p/>
          <a:p>
            <a:r>
              <a:t>  A client sends POST /orders with JSON.</a:t>
            </a:r>
          </a:p>
          <a:p/>
          <a:p>
            <a:r>
              <a:t>  The controller maps the endpoint, accepts the input, triggers validation and hands off the business work.</a:t>
            </a:r>
          </a:p>
          <a:p/>
          <a:p>
            <a:r>
              <a:t>  The OrderService runs the business logic, and the OrderRepository handles persistence.</a:t>
            </a:r>
          </a:p>
          <a:p/>
          <a:p>
            <a:r>
              <a:t>- The response</a:t>
            </a:r>
          </a:p>
          <a:p/>
          <a:p>
            <a:r>
              <a:t>  The response travels back up through the repository, service and controller.</a:t>
            </a:r>
          </a:p>
          <a:p/>
          <a:p>
            <a:r>
              <a:t>  It reaches the client as JSON.</a:t>
            </a:r>
          </a:p>
          <a:p/>
          <a:p>
            <a:r>
              <a:t>- Final message</a:t>
            </a:r>
          </a:p>
          <a:p/>
          <a:p>
            <a:r>
              <a:t>  Spring Boot turns our microservice design into a runnable application.</a:t>
            </a:r>
          </a:p>
          <a:p/>
          <a:p>
            <a:r>
              <a:t>  Controllers expose REST APIs, services hold business behavior and repositories handle persistence.</a:t>
            </a:r>
          </a:p>
          <a:p/>
          <a:p>
            <a:r>
              <a:t>  Dependency injection connects them, and external configuration lets the same app run in any environment.</a:t>
            </a:r>
          </a:p>
          <a:p/>
          <a:p>
            <a:r>
              <a:t>- What comes next</a:t>
            </a:r>
          </a:p>
          <a:p/>
          <a:p>
            <a:r>
              <a:t>  Next we move to production concerns.</a:t>
            </a:r>
          </a:p>
          <a:p/>
          <a:p>
            <a:r>
              <a:t>  These are service-to-service communication, persistence, resilience, observability, containers, CI/CD and OpenShift deployment.</a:t>
            </a:r>
          </a:p>
          <a:p/>
          <a:p>
            <a:r>
              <a:t>- What it shows</a:t>
            </a:r>
          </a:p>
          <a:p/>
          <a:p>
            <a:r>
              <a:t>  The Order Service layers inside the Spring Boot runtime: ApplicationContext, dependency injection, auto-configuration, the embedded server, external configuration and profiles.</a:t>
            </a:r>
          </a:p>
          <a:p/>
          <a:p>
            <a:r>
              <a:t>- How it differs from the layered view</a:t>
            </a:r>
          </a:p>
          <a:p/>
          <a:p>
            <a:r>
              <a:t>  The earlier diagram showed only the layers.</a:t>
            </a:r>
          </a:p>
          <a:p/>
          <a:p>
            <a:r>
              <a:t>  This one adds everything Spring Boot does around them.</a:t>
            </a:r>
          </a:p>
          <a:p/>
          <a:p>
            <a:r>
              <a:t>- Key point</a:t>
            </a:r>
          </a:p>
          <a:p/>
          <a:p>
            <a:r>
              <a:t>  Every mechanism in this picture was one part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knowledge check, clear away the beliefs that cause most Spring Boot problems in real teams.</a:t>
            </a:r>
          </a:p>
          <a:p/>
          <a:p>
            <a:r>
              <a:t>- Not magic</a:t>
            </a:r>
          </a:p>
          <a:p/>
          <a:p>
            <a:r>
              <a:t>  Auto-configuration is a set of conditions.</a:t>
            </a:r>
          </a:p>
          <a:p/>
          <a:p>
            <a:r>
              <a:t>  The --debug report shows exactly what was configured and why.</a:t>
            </a:r>
          </a:p>
          <a:p/>
          <a:p>
            <a:r>
              <a:t>- Defaults</a:t>
            </a:r>
          </a:p>
          <a:p/>
          <a:p>
            <a:r>
              <a:t>  Defaults get a service running, but production needs deliberate pool sizes, timeouts, log levels and security.</a:t>
            </a:r>
          </a:p>
          <a:p/>
          <a:p>
            <a:r>
              <a:t>- Injection and secrets</a:t>
            </a:r>
          </a:p>
          <a:p/>
          <a:p>
            <a:r>
              <a:t>  Constructor injection makes dependencies visible and testable.</a:t>
            </a:r>
          </a:p>
          <a:p/>
          <a:p>
            <a:r>
              <a:t>  Profiles change configuration, but passwords still come from the platform.</a:t>
            </a:r>
          </a:p>
          <a:p/>
          <a:p>
            <a:r>
              <a:t>- Anti-patterns</a:t>
            </a:r>
          </a:p>
          <a:p/>
          <a:p>
            <a:r>
              <a:t>  Fat controllers, exposed entities, god services, hard-coded values, System.out and unneeded starters all make a service harder to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What Boot adds</a:t>
            </a:r>
          </a:p>
          <a:p/>
          <a:p>
            <a:r>
              <a:t>  Defaults, starters, auto-configuration, an embedded server and production-ready features, with far less manual setup.</a:t>
            </a:r>
          </a:p>
          <a:p/>
          <a:p>
            <a:r>
              <a:t>- 2. Business rules</a:t>
            </a:r>
          </a:p>
          <a:p/>
          <a:p>
            <a:r>
              <a:t>  The service layer.</a:t>
            </a:r>
          </a:p>
          <a:p/>
          <a:p>
            <a:r>
              <a:t>- 3. Thin controllers</a:t>
            </a:r>
          </a:p>
          <a:p/>
          <a:p>
            <a:r>
              <a:t>  They handle HTTP only.</a:t>
            </a:r>
          </a:p>
          <a:p/>
          <a:p>
            <a:r>
              <a:t>  Business logic belongs in services, where it's easier to test.</a:t>
            </a:r>
          </a:p>
          <a:p/>
          <a:p>
            <a:r>
              <a:t>- 4. Repository</a:t>
            </a:r>
          </a:p>
          <a:p/>
          <a:p>
            <a:r>
              <a:t>  Persistence and data access.</a:t>
            </a:r>
          </a:p>
          <a:p/>
          <a:p>
            <a:r>
              <a:t>- 5. Constructor injection</a:t>
            </a:r>
          </a:p>
          <a:p/>
          <a:p>
            <a:r>
              <a:t>  Dependencies are explicit and final, can't be missing, and tests can pass in mocks.</a:t>
            </a:r>
          </a:p>
          <a:p/>
          <a:p>
            <a:r>
              <a:t>- 6. Base vs. profile file</a:t>
            </a:r>
          </a:p>
          <a:p/>
          <a:p>
            <a:r>
              <a:t>  application.yml holds shared settings; application-prod.yml overrides them for production.</a:t>
            </a:r>
          </a:p>
          <a:p/>
          <a:p>
            <a:r>
              <a:t>- 7. Passwords</a:t>
            </a:r>
          </a:p>
          <a:p/>
          <a:p>
            <a:r>
              <a:t>  Files end up in Git and images.</a:t>
            </a:r>
          </a:p>
          <a:p/>
          <a:p>
            <a:r>
              <a:t>  Secrets come from the platform or a secret manager.</a:t>
            </a:r>
          </a:p>
          <a:p/>
          <a:p>
            <a:r>
              <a:t>- 8. Validation</a:t>
            </a:r>
          </a:p>
          <a:p/>
          <a:p>
            <a:r>
              <a:t>  @Valid on the @RequestBody parameter.</a:t>
            </a:r>
          </a:p>
          <a:p/>
          <a:p>
            <a:r>
              <a:t>- 9. Central handling</a:t>
            </a:r>
          </a:p>
          <a:p/>
          <a:p>
            <a:r>
              <a:t>  One consistent error format and no duplicated error code in every controller.</a:t>
            </a:r>
          </a:p>
          <a:p/>
          <a:p>
            <a:r>
              <a:t>- 10. Executable JAR</a:t>
            </a:r>
          </a:p>
          <a:p/>
          <a:p>
            <a:r>
              <a:t>  It runs anywhere with java -jar and its embedded server, and becomes the input to the container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 for Module 3.</a:t>
            </a:r>
          </a:p>
          <a:p/>
          <a:p>
            <a:r>
              <a:t>  Use the worksheet in labs/day-01/exercises.</a:t>
            </a:r>
          </a:p>
          <a:p/>
          <a:p>
            <a:r>
              <a:t>- Starter files</a:t>
            </a:r>
          </a:p>
          <a:p/>
          <a:p>
            <a:r>
              <a:t>  Learners find the TODOs in the controller, service, DTO and validation classes of the Lab 1 starter.</a:t>
            </a:r>
          </a:p>
          <a:p/>
          <a:p>
            <a:r>
              <a:t>- Layers and rules</a:t>
            </a:r>
          </a:p>
          <a:p/>
          <a:p>
            <a:r>
              <a:t>  The layers match this module, with Flyway managing the schema.</a:t>
            </a:r>
          </a:p>
          <a:p/>
          <a:p>
            <a:r>
              <a:t>  Validation covers the customer ID format, nickname length and legal status changes.</a:t>
            </a:r>
          </a:p>
          <a:p/>
          <a:p>
            <a:r>
              <a:t>- Logging</a:t>
            </a:r>
          </a:p>
          <a:p/>
          <a:p>
            <a:r>
              <a:t>  Logs use accountId and status only, never request bodies or personal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saw what Spring Boot does, built the Order API layer by layer, and made one JAR run in every environment.</a:t>
            </a:r>
          </a:p>
          <a:p/>
          <a:p>
            <a:r>
              <a:t>- Next module</a:t>
            </a:r>
          </a:p>
          <a:p/>
          <a:p>
            <a:r>
              <a:t>  Module 4 is about integration: asynchronous messaging, brokers, events and reliable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"Spring Boot turns our microservice design into a runnable application."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Spring Boot Microservices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From service design to a running Java microservice.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Spring Boot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9606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Application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2013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Auto-configuration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4420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REST API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6827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Dependency Injection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9234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Configuration &amp; profiles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1641" y="4709160"/>
            <a:ext cx="1512678" cy="86868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 and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Architecture, lifecycle, auto-configuration, REST, DI, profiles and running services.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58726" cy="35872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58726" cy="358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84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78" y="1252728"/>
            <a:ext cx="4688762" cy="3587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99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27512"/>
            <a:ext cx="5120640" cy="2342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Explain Spring Boot architecture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Describe application startup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Understand auto-configuration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Manage dependencies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Build REST APIs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Apply Dependency Injection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Externalize configuration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Use Spring profiles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Build and run a microservice</a:t>
            </a:r>
          </a:p>
        </p:txBody>
      </p:sp>
      <p:sp>
        <p:nvSpPr>
          <p:cNvPr id="8" name="Oval 7"/>
          <p:cNvSpPr/>
          <p:nvPr/>
        </p:nvSpPr>
        <p:spPr>
          <a:xfrm>
            <a:off x="598932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243584"/>
            <a:ext cx="53309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THREE SECTIONS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691640"/>
            <a:ext cx="5715000" cy="12801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80" y="180136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937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Understand what Spring Boot does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295144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Spring Framework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08342" y="2551176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55230" y="2295144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Spring Boot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37092" y="2551176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83980" y="2295144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Auto-Config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65842" y="2551176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412730" y="2295144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Running 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3099816"/>
            <a:ext cx="5715000" cy="12801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26480" y="3209544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191256"/>
            <a:ext cx="4937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Build a real REST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03320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Client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08342" y="3959352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55230" y="3703320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Controller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37092" y="3959352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83980" y="3703320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Service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165842" y="3959352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412730" y="3703320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Repository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4507992"/>
            <a:ext cx="5715000" cy="12801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26480" y="4617720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599431"/>
            <a:ext cx="4937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Make it portable across environments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5111496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Same App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08342" y="5367528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555230" y="5111496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DEV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37092" y="5367528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983980" y="5111496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TEST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165842" y="5367528"/>
            <a:ext cx="21945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412730" y="5111496"/>
            <a:ext cx="1154430" cy="512064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PROD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Understand what Spring Boot does, build a real API, then make it run in any environment.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Auto-configuration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Spring Boot sets up beans automatically based on the libraries on the classpath.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dependency bundle, such as spring-boot-starter-web, that brings one feature and its libraries.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Bean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An object that the Spring container creates and manages.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Dependency injection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Spring gives a class the objects it needs, usually through its constructor.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layer that maps HTTP requests to Java methods and returns the responses.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Data transfer object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simple object that carries API request or response data, separate from the database entity.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named set of configuration, such as local or prod, switched on per environment.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Actuator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Built-in endpoints that report the health, info and metrics of a running service.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 Definition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Dependency Injection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 Transfer Object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Integrated Development Environment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 ARchive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Jakarta Persistence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JavaScript Object Notation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JVM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 Virtual Machine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4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MVC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00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Model-View-Controller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Personally Identifiable Information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Representational State Transfer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SLF4J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Simple Logging Facade for Java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Structured Query Language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768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URL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324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Uniform Resource Locator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768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YAML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324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YAML Ain't Markup Language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2 TO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design is ready — this module turns it into a running Spring Boot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 2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 boundaries from business capabilities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Resource-oriented REST contracts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DTOs, validation and one error format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Stateless, replaceable instances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 design blueprint for Order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Build it — Order Service in the slides, Account Service in Lab 1.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3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Generate the project and see how it starts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Auto-configuration and starters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Controller, DTOs and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2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Errors, service and repository code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2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Wire it with dependency injection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2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Externalize config and use profiles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3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Build, run and troubleshoot one JAR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2 decided what to build; Module 3 turns each decision into Spring Boot code.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WHAT SPRING BOOT DOES FOR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Before writing endpoints, understand the framework underneath them.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3867302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360761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 Spring Boot does</a:t>
            </a:r>
          </a:p>
        </p:txBody>
      </p:sp>
      <p:sp>
        <p:nvSpPr>
          <p:cNvPr id="6" name="Chevron 5"/>
          <p:cNvSpPr/>
          <p:nvPr/>
        </p:nvSpPr>
        <p:spPr>
          <a:xfrm>
            <a:off x="4147108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078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 the Order API</a:t>
            </a:r>
          </a:p>
        </p:txBody>
      </p:sp>
      <p:sp>
        <p:nvSpPr>
          <p:cNvPr id="8" name="Chevron 7"/>
          <p:cNvSpPr/>
          <p:nvPr/>
        </p:nvSpPr>
        <p:spPr>
          <a:xfrm>
            <a:off x="7837017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50987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Portable and running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4937760" cy="2747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 boundaries come from business capabilities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5280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REST contracts use resources, methods and DTOs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489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757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Instances stay stateless; configuration lives outside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does Spring Boot actually do when we build and start a service?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3" name="Oval 22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Why Spring Boot, and how it relates to Spring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Layered architecture and creating the project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entry point, @SpringBootApplication and startup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Auto-configuration, in a picture and in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Starters and dependency management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choose the starters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WHY SPRING BOOT FOR MICROSERVICES?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Why Spring Boot is so common for Java microservices.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0695" y="1316736"/>
            <a:ext cx="6485369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47" y="1389888"/>
            <a:ext cx="6339065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LESS SETUP, FASTER START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Sensible defaults you can override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Minutes from idea to running API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Same model locally and on OpenShift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706624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command to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035808"/>
            <a:ext cx="3520440" cy="49250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java -jar order-service.jar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65633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65633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WHY IT FITS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Each service builds, runs and deploys on its 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Spring Boot's defaults and embedded server make independent services quick to build and run.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SPRING FRAMEWORK VS.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Spring Boot adds on top of the Spring Framework.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1904" y="1316736"/>
            <a:ext cx="6182951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056" y="1389888"/>
            <a:ext cx="6036647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853439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298448"/>
            <a:ext cx="3154680" cy="8534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MYTH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Spring Boot replaced Spring. It builds on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279904"/>
            <a:ext cx="3520440" cy="10728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33476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Spring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645664"/>
            <a:ext cx="3246120" cy="652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Provides the capabilities: DI, web, data access, transactions, security.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3480815"/>
            <a:ext cx="3520440" cy="10728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53567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Spring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846575"/>
            <a:ext cx="3246120" cy="652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Provides conventions and automation to assemble them quickly.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4681727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SAME CORE, MORE MODULES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5029199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Spring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0676" y="5029199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Spring Security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546811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Spring 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80676" y="546811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Spring Kafka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Spring Boot didn't replace Spring — it makes Spring's capabilities easier to configure, package and run.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SPRING BOOT LAYERED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Controller → Service → Repository → Database, each with one job.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8311" y="1316736"/>
            <a:ext cx="7284896" cy="25359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463" y="1389888"/>
            <a:ext cx="7138592" cy="23896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145280"/>
            <a:ext cx="2674620" cy="168859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200144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11040"/>
            <a:ext cx="2400300" cy="1267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HTTP only: map the URL, read input, return a status. GET /orders/1001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145280"/>
            <a:ext cx="2674620" cy="168859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200144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4511040"/>
            <a:ext cx="2400300" cy="1267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Business rules and workflow: createOrder(), cancelOrder(), calculateTotal()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45280"/>
            <a:ext cx="2674620" cy="168859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200144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511040"/>
            <a:ext cx="2400300" cy="1267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Persistence access: save(), findById(), findAll()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9700" y="4145280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COMMON MISTAKES</a:t>
            </a:r>
          </a:p>
        </p:txBody>
      </p:sp>
      <p:sp>
        <p:nvSpPr>
          <p:cNvPr id="16" name="Oval 15"/>
          <p:cNvSpPr/>
          <p:nvPr/>
        </p:nvSpPr>
        <p:spPr>
          <a:xfrm>
            <a:off x="9029700" y="452018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5460" y="4492752"/>
            <a:ext cx="230886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Business logic in controllers</a:t>
            </a:r>
          </a:p>
        </p:txBody>
      </p:sp>
      <p:sp>
        <p:nvSpPr>
          <p:cNvPr id="18" name="Oval 17"/>
          <p:cNvSpPr/>
          <p:nvPr/>
        </p:nvSpPr>
        <p:spPr>
          <a:xfrm>
            <a:off x="9029700" y="496519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5460" y="4937759"/>
            <a:ext cx="23088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Entities returned from APIs</a:t>
            </a:r>
          </a:p>
        </p:txBody>
      </p:sp>
      <p:sp>
        <p:nvSpPr>
          <p:cNvPr id="20" name="Oval 19"/>
          <p:cNvSpPr/>
          <p:nvPr/>
        </p:nvSpPr>
        <p:spPr>
          <a:xfrm>
            <a:off x="9029700" y="527608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5460" y="5248655"/>
            <a:ext cx="23088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SQL next to HTTP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Keep responsibilities separate — controllers shouldn't mix business logic and database access.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CREATING THE PROJECT WITH SPRING INITIALIZR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start.spring.io generates a ready-to-run project with the dependencies you pick.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512064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</a:tblGrid>
              <a:tr h="53035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irmala UI"/>
                        </a:rPr>
                        <a:t>Setting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Nirmala UI"/>
                        </a:rPr>
                        <a:t>Order Service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Project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Maven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Language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Java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Spring Boot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Current stable 3.x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Group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com.example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Artifact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order-service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Packaging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Jar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Nirmala UI"/>
                        </a:rPr>
                        <a:t>Java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Nirmala UI"/>
                        </a:rPr>
                        <a:t>17 or 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97879" y="1298448"/>
            <a:ext cx="5806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DEPENDENCIES TO SELECT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79" y="1645920"/>
            <a:ext cx="1886712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Spring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7744" y="1645920"/>
            <a:ext cx="1886712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17608" y="1645920"/>
            <a:ext cx="1886712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Spring Data JPA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79" y="2084832"/>
            <a:ext cx="1886712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PostgreSQL Driver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57744" y="2084832"/>
            <a:ext cx="1886712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Actuator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17608" y="2084832"/>
            <a:ext cx="1886712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DevTools (dev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79" y="2578608"/>
            <a:ext cx="5806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 from the command 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79" y="2907792"/>
            <a:ext cx="5806440" cy="1037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curl https://start.spring.io/starter.zip \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-d dependencies=web,validation,data-jpa,postgresql,actuator \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-d javaVersion=21 -d artifactId=order-service \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-o order-service.zip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79" y="4073144"/>
            <a:ext cx="5806440" cy="92608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4128007"/>
            <a:ext cx="5532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438904"/>
            <a:ext cx="5532120" cy="5054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pom.xml, the main class, application.properties, a first test and the Maven wrapper (mvnw).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79" y="5127243"/>
            <a:ext cx="5806440" cy="706627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59" y="5127243"/>
            <a:ext cx="5440680" cy="7066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Select only what this service needs — add more when a requirement appears.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Spring Initializr gives every service the same clean start — with only the dependencies it needs.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ANATOMY OF A SPRING BOOT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Where code, configuration and tests live.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9487" y="1316736"/>
            <a:ext cx="3830304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39" y="1389888"/>
            <a:ext cx="3684000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298448"/>
            <a:ext cx="621792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353312"/>
            <a:ext cx="5943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pom.xml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664208"/>
            <a:ext cx="594360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build file: parent version, starters and plugins. Gradle projects use build.gradle instead.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565654"/>
            <a:ext cx="6217920" cy="95326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2620518"/>
            <a:ext cx="5943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src/main/resources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931414"/>
            <a:ext cx="5943600" cy="532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application.yml and profile files — configuration stays out of Java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646932"/>
            <a:ext cx="621792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3701795"/>
            <a:ext cx="5943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src/test/java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4012692"/>
            <a:ext cx="594360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Tests mirror the main packages, so OrderServiceTest sits beside OrderService.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4914138"/>
            <a:ext cx="6217920" cy="91973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4914138"/>
            <a:ext cx="5852159" cy="9197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GROWING SERVICE?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Group by feature — orders/, returns/ — each with its own layers. Packages alone don't create boundaries.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Know where code, configuration and tests live — then give each package a clear responsibility.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APPLICATION ENTRY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main() starts Java; SpringApplication.run() starts Spring.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6675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OrderApplication.java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6675120" cy="224256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package com.example.order;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@SpringBootApplication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public class OrderApplication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public static void main(String[] args)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  SpringApplication.run(OrderApplication.class, args);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402564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998213"/>
            <a:ext cx="63459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What the console shows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27398"/>
            <a:ext cx="6675120" cy="138404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:: Spring Boot ::  (v3.5.0)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Starting OrderApplication using Java 21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No active profile set, falling back to "default"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Tomcat initialized with port 8080 (http)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Started OrderApplication in 2.41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298448"/>
            <a:ext cx="4297680" cy="95326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353312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main()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664208"/>
            <a:ext cx="4023360" cy="532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plain Java entry point. The JVM starts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2379726"/>
            <a:ext cx="429768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434590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SpringApplication.run()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745486"/>
            <a:ext cx="4023360" cy="7185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Prepares the environment, creates the ApplicationContext, wires the beans and starts Tomcat.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646932"/>
            <a:ext cx="429768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3701795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package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012692"/>
            <a:ext cx="402336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com.example.order is where component scanning starts — see the next slide.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914138"/>
            <a:ext cx="4297680" cy="91973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4914138"/>
            <a:ext cx="3931920" cy="9197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KEEP IT EMPTY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No business logic in the main class.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main() hands control to SpringApplication.run(), which boots the whole application.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UNDERSTANDING @SPRINGBOOTAPPLICATION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Three annotations in one — and what each one does.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70583"/>
            <a:ext cx="7415783" cy="35911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3735"/>
            <a:ext cx="7269480" cy="34448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95326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@SpringBootConfiguration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532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This class can declare @Bean methods.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379726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43459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@EnableAutoConfiguration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45486"/>
            <a:ext cx="3246120" cy="7185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Boot configures infrastructure from what's on the classpath.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46932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0179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@ComponentScan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12692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Finds components in this package and every package below.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14138"/>
            <a:ext cx="3520440" cy="91973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14138"/>
            <a:ext cx="3154680" cy="9197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PACKAGE MATTERS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com.example.order.web is scanned; com.example.shared is not.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Component scanning starts from the main class — so its package location matters.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SPRING BOOT STARTUP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JVM → environment → ApplicationContext → beans → server → ready.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941684"/>
            <a:ext cx="11210544" cy="163046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014836"/>
            <a:ext cx="11064240" cy="1484159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57200" y="451713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489704"/>
            <a:ext cx="32979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The line you want to see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18888"/>
            <a:ext cx="3627120" cy="1014983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Started OrderApplication in 2.41 seconds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4489704"/>
            <a:ext cx="3627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360" y="454456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Why learn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4360" y="4855464"/>
            <a:ext cx="33528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It's your map when a service won't start — Part 3 uses it to troubleshoot.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4489704"/>
            <a:ext cx="3627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4360" y="454456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Shutdown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4360" y="4855464"/>
            <a:ext cx="33528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context closes and releases connections and threads. server.shutdown=graceful finishes in-flight requests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Knowing each startup step tells you where to look when an application won't start.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SPRING BOOT AUTO-CONFIGURATION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Configuration decided by the classpath, properties and existing beans.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62906"/>
            <a:ext cx="7415783" cy="360650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36058"/>
            <a:ext cx="7269480" cy="34602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BOOT ASKS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Is the library on the classpath?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Is it a web application?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Did you define this bean already?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Does a property turn it on or off?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Add spring-boot-starter-web and you get Spring MVC, Tomcat and Jackson JSON.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IT BACKS OFF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Define your own bean and Boot's default steps aside.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Auto-configuration is conditional — and it backs away when you define your own configuration.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AUTO-CONFIGURATION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Conditions decide; your own bean wins; the report shows every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Inside Spring Boot (simplified)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3596640" cy="2657601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@AutoConfiguration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@ConditionalOnClass(ObjectMapper.class)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class JacksonConfig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@Bean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@ConditionalOnMissingBean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ObjectMapper objectMapper()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return new ObjectMapper();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428244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1624" y="1298448"/>
            <a:ext cx="32674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Your bean wins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2440" y="1627632"/>
            <a:ext cx="3596640" cy="2657601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@Configuration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class JsonConfig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@Bean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ObjectMapper objectMapper()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return JsonMapper.builder()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.findAndAddModules()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.build();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768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See every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7680" y="1627632"/>
            <a:ext cx="3596640" cy="2657601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application.yml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debug: true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or when starting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java -jar order-service.jar --debug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the log then shows: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CONDITIONS EVALUATION REPORT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  Positive matches: ...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  Negative matches: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13834"/>
            <a:ext cx="3627120" cy="97231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568697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@ConditionalOnClass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79594"/>
            <a:ext cx="3352800" cy="551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Only if the library is on the classpath.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200" y="4513834"/>
            <a:ext cx="3627120" cy="97231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4360" y="4568697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@ConditionalOnMissingBean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4360" y="4879594"/>
            <a:ext cx="3352800" cy="551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Only if you haven't defined one yourself.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4513834"/>
            <a:ext cx="3627120" cy="97231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4360" y="4568697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@ConditionalOnProperty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4360" y="4879594"/>
            <a:ext cx="3352800" cy="551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Only if a property turns it 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Auto-configuration is a set of conditions — define your own bean and Boot's default steps aside.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STARTERS AND DEPENDENCY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spring-boot-starter-* and compatible dependency versions.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53812"/>
            <a:ext cx="6729984" cy="302469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6964"/>
            <a:ext cx="6583680" cy="28783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80" y="1298448"/>
            <a:ext cx="4206240" cy="92837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353312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4208"/>
            <a:ext cx="3931920" cy="507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curated group of libraries for one capability.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354834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pom.xml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0" y="2684018"/>
            <a:ext cx="4206240" cy="21269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&lt;parent&gt;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&lt;groupId&gt;org.springframework.boot&lt;/groupId&gt;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&lt;artifactId&gt;spring-boot-starter-parent&lt;/artifactId&gt;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&lt;version&gt;3.5.0&lt;/version&gt;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&lt;/parent&gt;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&lt;dependency&gt;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&lt;groupId&gt;org.springframework.boot&lt;/groupId&gt;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&lt;artifactId&gt;spring-boot-starter-web&lt;/artifactId&gt;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&lt;!-- no version: managed by the parent --&gt;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&lt;/dependency&gt;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4939030"/>
            <a:ext cx="4206240" cy="89484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4939030"/>
            <a:ext cx="3840479" cy="8948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CAUTION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Override a managed version only when you understand the compatibility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Starters bring the right libraries; Boot's dependency management keeps their versions compatible.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CHOOSE THE STARTERS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Pick exactly what the Order Service needs — and nothing more.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8247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2061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Order Service needs: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• a REST API for /orders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• orders saved in PostgreSQL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• request validation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• a health endpoint for OpenShift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• unit and slice tests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teammate also wants Spring Security, Kafka and Redis “just in case”.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8247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Pick a starter for each need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one thing each starter auto-configures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 what to do with the “just in case” dependencies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65376"/>
            <a:ext cx="3063240" cy="38247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web → MVC, Tomcat, Jackson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816352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data-jpa + PostgreSQL driver → DataSource, repositories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362178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566922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validation → Bean Validation; actuator → /actuator/health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437235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431749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test → JUnit, Mockito, AssertJ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92150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86664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Leave the rest out until a requirement needs 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starter switches on auto-configuration — add one only when the service needs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BUILDING THE ORDER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a running application to working endpoints.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3867302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360761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 Spring Boot does</a:t>
            </a:r>
          </a:p>
        </p:txBody>
      </p:sp>
      <p:sp>
        <p:nvSpPr>
          <p:cNvPr id="6" name="Chevron 5"/>
          <p:cNvSpPr/>
          <p:nvPr/>
        </p:nvSpPr>
        <p:spPr>
          <a:xfrm>
            <a:off x="4147108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078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 the Order API</a:t>
            </a:r>
          </a:p>
        </p:txBody>
      </p:sp>
      <p:sp>
        <p:nvSpPr>
          <p:cNvPr id="8" name="Chevron 7"/>
          <p:cNvSpPr/>
          <p:nvPr/>
        </p:nvSpPr>
        <p:spPr>
          <a:xfrm>
            <a:off x="7837017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50987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Portable and running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4937760" cy="2747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Boot adds starters, auto-configuration and a server to Spring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5280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@SpringBootApplication scans from the main class package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2489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757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Startup follows a fixed, readable lifecycle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turn the Order API contract into working Spring code?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3" name="Oval 22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Order Service case study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Request flow, mappings and request data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DTOs, validation and error handling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Service and repository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Dependency injection and beans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Exercises: refactor and fix the wiring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OUR CASE STUDY: THE ORDER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it does, the files we write, and the API it exposes.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31089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31089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2834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ORDER SERVICE DOES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74519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47088"/>
            <a:ext cx="2423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Create an order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85415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57984"/>
            <a:ext cx="2423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Retrieve an order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496311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79"/>
            <a:ext cx="2423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Update an order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807207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79775"/>
            <a:ext cx="2423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Cancel an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21608"/>
            <a:ext cx="3108960" cy="211226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21608"/>
            <a:ext cx="2743200" cy="2112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FROM MODULE 2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It implements the Order capability and the API contract we designed.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1298448"/>
            <a:ext cx="416052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3886200" y="1298448"/>
            <a:ext cx="4160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298448"/>
            <a:ext cx="3886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FILES WE WILL WRITE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0791" y="1865376"/>
            <a:ext cx="3831335" cy="3657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2060"/>
                </a:solidFill>
                <a:latin typeface="Consolas"/>
              </a:rPr>
              <a:t>OrderController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7368" y="2249424"/>
            <a:ext cx="3794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Nirmala UI"/>
              </a:rPr>
              <a:t>HTTP in, HTTP 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2648102"/>
            <a:ext cx="3831335" cy="3657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2060"/>
                </a:solidFill>
                <a:latin typeface="Consolas"/>
              </a:rPr>
              <a:t>CreateOrderRequest · OrderResponse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7368" y="3032150"/>
            <a:ext cx="3794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Nirmala UI"/>
              </a:rPr>
              <a:t>The API contract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50791" y="3430828"/>
            <a:ext cx="3831335" cy="3657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2060"/>
                </a:solidFill>
                <a:latin typeface="Consolas"/>
              </a:rPr>
              <a:t>OrderService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814876"/>
            <a:ext cx="3794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Nirmala UI"/>
              </a:rPr>
              <a:t>Business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0791" y="4213555"/>
            <a:ext cx="3831335" cy="3657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2060"/>
                </a:solidFill>
                <a:latin typeface="Consolas"/>
              </a:rPr>
              <a:t>OrderRepository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87368" y="4597603"/>
            <a:ext cx="3794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Nirmala UI"/>
              </a:rPr>
              <a:t>Data access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50791" y="4996281"/>
            <a:ext cx="3831335" cy="36576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2060"/>
                </a:solidFill>
                <a:latin typeface="Consolas"/>
              </a:rPr>
              <a:t>GlobalExceptionHandler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5380329"/>
            <a:ext cx="3794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Nirmala UI"/>
              </a:rPr>
              <a:t>One error format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1298448"/>
            <a:ext cx="33375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8366760" y="1298448"/>
            <a:ext cx="33375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298448"/>
            <a:ext cx="3063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POTENTIAL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31352" y="1847088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POST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82912" y="1847088"/>
            <a:ext cx="1956816" cy="402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/orders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31352" y="2359152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GET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82912" y="2359152"/>
            <a:ext cx="1956816" cy="402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/orders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31352" y="2871216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GET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82912" y="2871216"/>
            <a:ext cx="1956816" cy="402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/orders/{id}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31352" y="3383280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PATCH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82912" y="3383280"/>
            <a:ext cx="1956816" cy="402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/orders/{id}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31352" y="3895344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DELETE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82912" y="3895344"/>
            <a:ext cx="1956816" cy="402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/orders/{id}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66760" y="4727448"/>
            <a:ext cx="3337560" cy="11064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4727448"/>
            <a:ext cx="2971800" cy="11064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LAB 1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You build the same layers for the banking Account Service.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Order Service — controller, service and repository — carries us through the module.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REST REQUEST–RESPONSE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@RestController and @RequestMapping — request in, JSON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203786"/>
            <a:ext cx="7004303" cy="272474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76938"/>
            <a:ext cx="6857999" cy="25784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SPRING MVC DOES FOR YOU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Routes the URL to one controller method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956816"/>
            <a:ext cx="356616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Converts path, query and body into Java types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242925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01824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Serializes the return value to JSON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7401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7127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Turns exceptions into error responses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151632"/>
            <a:ext cx="3931920" cy="147980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206496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DispatcherServlet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517392"/>
            <a:ext cx="3657600" cy="1059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Spring MVC's front controller finds the matching method; Jackson turns the return value into JSON.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759452"/>
            <a:ext cx="3931920" cy="10744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759452"/>
            <a:ext cx="3566160" cy="10744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THIN CONTROLLER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Map HTTP, then delegate to the service.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controller maps the HTTP request, then delegates the business work to the service layer.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MAPPING HTTP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@GetMapping, @PostMapping, @PutMapping, @PatchMapping, @DeleteMapping.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62179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743200"/>
                <a:gridCol w="2240280"/>
              </a:tblGrid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Nirmala UI"/>
                        </a:rPr>
                        <a:t>HTTP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Nirmala UI"/>
                        </a:rPr>
                        <a:t>Spring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Nirmala UI"/>
                        </a:rPr>
                        <a:t>Example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Nirmala UI"/>
                        </a:rP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@GetMapping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/orders/101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Nirmala UI"/>
                        </a:rPr>
                        <a:t>POST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@PostMapping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/orders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Nirmala UI"/>
                        </a:rPr>
                        <a:t>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@PutMapping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/orders/101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Nirmala UI"/>
                        </a:rPr>
                        <a:t>PATCH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@PatchMapping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/orders/101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00000"/>
                          </a:solidFill>
                          <a:latin typeface="Nirmala UI"/>
                        </a:rPr>
                        <a:t>DELETE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@DeleteMapping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00000"/>
                          </a:solidFill>
                          <a:latin typeface="Nirmala UI"/>
                        </a:rPr>
                        <a:t>/orders/101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03720" y="1280160"/>
            <a:ext cx="4800600" cy="362102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@RestController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@RequestMapping("/orders")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class OrderController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@GetMapping("/{id}")    // retrieve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@PostMapping            // create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@PutMapping("/{id}")    // replace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@PatchMapping("/{id}")  // partial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@DeleteMapping("/{id}") // delete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12064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DESIGN CAME FIRST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Spring annotations implement the HTTP contract — they don't decide what a good contract 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Each mapping annotation implements the REST contract we designed in Module 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WORKING WITH REQUEST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@PathVariable, @RequestParam, @RequestBody and @RequestHeader.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03394"/>
            <a:ext cx="7004303" cy="312553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6546"/>
            <a:ext cx="6857999" cy="29792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method, three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27632"/>
            <a:ext cx="3931920" cy="14665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@GetMapping("/{id}")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OrderResponse get(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@PathVariable Long id,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@RequestParam(required = false)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String status,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@RequestHeader("X-Correlation-Id")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String correlationId) { ...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222244"/>
            <a:ext cx="393192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3277108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Type 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588004"/>
            <a:ext cx="365760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Spring turns "101" into a Long. A value it can't convert returns 400.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645660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4645660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OPTIONAL VALUES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Use required = false or a defaultValue.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Spring maps each part of the HTTP request into Java method parameters — including JSON bodies.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DTOS AND API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Request and response DTOs keep the entity inside the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69235"/>
            <a:ext cx="7004303" cy="3193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2387"/>
            <a:ext cx="6857999" cy="3047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NEVER LEAVES THE SERVICE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internalProcessingCode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databaseVersion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Audit fields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73405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2706624"/>
            <a:ext cx="36027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Map entity → DTO in one place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035808"/>
            <a:ext cx="3931920" cy="179679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record OrderResponse(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Long id, String status,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BigDecimal total)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static OrderResponse from(Order o)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return new OrderResponse(o.getId(),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o.getStatus().name(), o.getTotal());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960620"/>
            <a:ext cx="393192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960620"/>
            <a:ext cx="356616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MORE CONTROL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ResponseEntity&lt;T&gt; sets status, headers and body.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Don't expose entities — DTOs give clients exactly the contract they need.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VALIDATION AND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Bean Validation, @Valid, consistent errors and @RestControllerAdvice.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52728"/>
            <a:ext cx="2377440" cy="548640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424242"/>
                </a:solidFill>
                <a:latin typeface="Nirmala UI"/>
              </a:rPr>
              <a:t>Client Request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1828800"/>
            <a:ext cx="0" cy="310896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2167128"/>
            <a:ext cx="2377440" cy="603504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Validation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143000" y="2798064"/>
            <a:ext cx="777240" cy="466344"/>
          </a:xfrm>
          <a:prstGeom prst="line">
            <a:avLst/>
          </a:prstGeom>
          <a:ln w="25400">
            <a:solidFill>
              <a:srgbClr val="42754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3282696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Nirmala UI"/>
              </a:rPr>
              <a:t>Valid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11880"/>
            <a:ext cx="1325880" cy="603504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Service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2798064"/>
            <a:ext cx="777240" cy="466344"/>
          </a:xfrm>
          <a:prstGeom prst="line">
            <a:avLst/>
          </a:prstGeom>
          <a:ln w="25400">
            <a:solidFill>
              <a:srgbClr val="B04A4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65960" y="3282696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D1282E"/>
                </a:solidFill>
                <a:latin typeface="Nirmala UI"/>
              </a:rPr>
              <a:t>Invalid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611880"/>
            <a:ext cx="1325880" cy="603504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400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53128"/>
            <a:ext cx="29260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457200" y="4453128"/>
            <a:ext cx="2926080" cy="36576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5312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GOOD ERROR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73752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Nirmala UI"/>
              </a:rPr>
              <a:t>errorCode · message · timestamp · path · traceId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1234440"/>
            <a:ext cx="4434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CONSTRAIN THE REQUEST DTO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40" y="1581912"/>
            <a:ext cx="4434840" cy="11887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record CreateOrderRequest(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@NotNull Long customerId,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@NotEmpty List&lt;OrderItemRequest&gt; items)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935224"/>
            <a:ext cx="4434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TRIGGER VALIDATION IN THE CONTROLLER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40" y="3282696"/>
            <a:ext cx="4434840" cy="11887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@PostMapping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ResponseEntity&lt;OrderResponse&gt; create(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@Valid @RequestBody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CreateOrderRequest request) { ... 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40" y="4654296"/>
            <a:ext cx="443484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4654296"/>
            <a:ext cx="4069079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CENTRALIZE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@RestControllerAdvice + @ExceptionHandler give consistent API errors.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1252728"/>
            <a:ext cx="31546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549640" y="1252728"/>
            <a:ext cx="31546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1252728"/>
            <a:ext cx="2880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KEY TOOLS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1783080"/>
            <a:ext cx="2880360" cy="420624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@Valid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2295144"/>
            <a:ext cx="2880360" cy="420624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@NotNull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2807208"/>
            <a:ext cx="2880360" cy="420624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@NotBlank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319272"/>
            <a:ext cx="2880360" cy="420624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@Size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3831336"/>
            <a:ext cx="2880360" cy="420624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@Positive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4343400"/>
            <a:ext cx="2880360" cy="420624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@RestControllerAdvice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4855464"/>
            <a:ext cx="2880360" cy="420624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 i="0">
                <a:solidFill>
                  <a:srgbClr val="5B3A9E"/>
                </a:solidFill>
                <a:latin typeface="Nirmala UI"/>
              </a:rPr>
              <a:t>@ExceptionHandler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Never trust incoming requests — validate them, and return consistent errors from one place.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CENTRALIZED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handler turns exceptions into the error format clients rely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Throw a meaningful exception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3596640" cy="28948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public class OrderNotFoundException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extends RuntimeException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public OrderNotFoundException(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Long id)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super("Order " + id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  + " was not found");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428244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1624" y="1298448"/>
            <a:ext cx="32674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Handle it in one 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2440" y="1627632"/>
            <a:ext cx="3596640" cy="28948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@RestControllerAdvice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class GlobalExceptionHandler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@ExceptionHandler(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OrderNotFoundException.class)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@ResponseStatus(HttpStatus.NOT_FOUND)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ErrorResponse notFound(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OrderNotFoundException ex,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HttpServletRequest req)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return ErrorResponse.of(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"ORDER_NOT_FOUND",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ex.getMessage(),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req.getRequestURI());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768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the client receives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7680" y="1627632"/>
            <a:ext cx="3596640" cy="28948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HTTP/1.1 404 Not Found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"code": "ORDER_NOT_FOUND",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"message": "Order 999 was not found",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"timestamp": "2026-09-14T10:15:30Z",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"path": "/orders/999"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try/catch copied into every controller.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Right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Validation 400, not found 404, conflict 409.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Safe 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Log details inside; never return stack traces.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Throw meaningful exceptions and map them once — every endpoint then returns the same error shape.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SERVICE AND REPOSITORY LAYERS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Rules and transactions in the service; persistence in the repository.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OrderService.java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83705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@Service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class OrderService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private final OrderRepository orders; // injected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@Transactional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public OrderResponse cancel(Long id)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Order order = orders.findById(id)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.orElseThrow(() -&gt; new OrderNotFoundException(id));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order.cancel();   // rule: only CREATED orders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return OrderResponse.from(order);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OrderRepository.java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3705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interface OrderRepository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extends JpaRepository&lt;Order, Long&gt;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List&lt;Order&gt; findByCustomerId(String customerId);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long countByCustomerIdAndStatus(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String customerId, OrderStatus status);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// Spring Data writes the implementation: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// save, findById, findAll, deleteById, 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Owns business rules and the transaction boundary.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Persistence only. Method names become queries.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693285"/>
            <a:ext cx="3627120" cy="1140587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4693285"/>
            <a:ext cx="3261360" cy="11405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NEVER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Call a repository straight from a controller.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Services decide and repositories store — keep business rules out of both controllers and repositories.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REFACTOR A FAT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Move each responsibility to the layer where it belongs.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12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teammate wrote this controller method: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12440"/>
            <a:ext cx="3621024" cy="271170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@PostMapping("/orders")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Order create(@RequestBody Order o)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if (o.getItems().isEmpty())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return null;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int open = jdbc.queryForObject(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"select count(*) from orders"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+ " where customer_id = ?",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Integer.class, o.getCustomerId());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if (open &gt; 5)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throw new RuntimeException("limit");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o.setStatus("CREATED");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System.out.println("Saved " + o);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return orderRepository.save(o);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Label each line: controller, validation, service, repository or logging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26593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321106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Rewrite the signature with a request DTO, @Valid and a 201 response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86435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80949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exception and status code for each failure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Empty items → @NotEmpty on the DTO → 400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Open-order limit → service rule → 409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Count query → repository method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Status CREATED → service or domain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println → log.info with orderId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thin controller, a rule-owning service and a query-only repository are easier to test and change.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DEPENDENCY INJECTION IN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container builds the objects; classes only declare what they need.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50626"/>
            <a:ext cx="7415783" cy="363106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3778"/>
            <a:ext cx="7269480" cy="34847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INJECTION STYLES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Constructor — preferred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Setter — optional dependencies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42316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39572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Field @Autowired — avoid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86207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064" y="2834640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Unit test without Spring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163824"/>
            <a:ext cx="3520440" cy="64109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var repo = mock(OrderRepository.class);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var service = new OrderService(repo);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932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932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ONE CONSTRUCTOR?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No @Autowired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class declares what it needs, not how to build it — use constructor injection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COMPONENT SCANNING AND BEAN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Stereotype annotations, @Bean methods and the ApplicationContext.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82156"/>
            <a:ext cx="7415783" cy="316800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5308"/>
            <a:ext cx="7269480" cy="302170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7939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 bean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587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 object the container creates and manages. One shared instance by default (singleton).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705862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Declare a bean explicitly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035045"/>
            <a:ext cx="3520440" cy="17967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@Configuration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class ClientConfig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@Bean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RestClient paymentClient(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RestClient.Builder b)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return b.baseUrl("http://payment")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.build();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959858"/>
            <a:ext cx="3520440" cy="87401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959858"/>
            <a:ext cx="3154680" cy="8740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USE @BEAN FOR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classes you can't annotate, like library clients.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Stereotype annotations and @Bean methods put objects under the Spring container's management.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WHY WON'T IT WIRE?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Read the startup error and fix the wiring.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Startup fails: “Parameter 0 of constructor in OrderController required a bean of type OrderService that could not be found.”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46272"/>
            <a:ext cx="3621024" cy="2277871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package com.example.order;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@SpringBootApplication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class OrderApplication {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package com.example.services;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class OrderService {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package com.example.order.web;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@RestController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class OrderController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@Autowired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private OrderService service;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 two reasons OrderService is not a bean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Fix them, and replace the field injection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which startup step failed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@Service annotation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81635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com.example.services is outside the scanned package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Move it under com.example.order and add @Service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Use a final field and a constructor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Failed while creating beans — before Tomcat starts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missing bean is almost always a missing annotation or a class outside the scanned package.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PORTABLE AND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working API is not finished until it runs anywhere and tells you how it's doing.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3867302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360761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 Spring Boot does</a:t>
            </a:r>
          </a:p>
        </p:txBody>
      </p:sp>
      <p:sp>
        <p:nvSpPr>
          <p:cNvPr id="6" name="Chevron 5"/>
          <p:cNvSpPr/>
          <p:nvPr/>
        </p:nvSpPr>
        <p:spPr>
          <a:xfrm>
            <a:off x="4147108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078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 the Order API</a:t>
            </a:r>
          </a:p>
        </p:txBody>
      </p:sp>
      <p:sp>
        <p:nvSpPr>
          <p:cNvPr id="8" name="Chevron 7"/>
          <p:cNvSpPr/>
          <p:nvPr/>
        </p:nvSpPr>
        <p:spPr>
          <a:xfrm>
            <a:off x="7837017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50987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Portable and running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Controllers map HTTP and stay thin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DTOs, validation and one handler form the contract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Spring creates and injects every bean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does one JAR run in dev, test and production — and how do we know it's healthy?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3" name="Oval 22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Externalized and type-safe configuration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Profiles and environments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which value wins?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From source to a running service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Troubleshooting startup, and logging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complete picture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EXTERNALIZED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application.yml, environment variables and configuration precedence.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1252728"/>
            <a:ext cx="2560320" cy="548640"/>
          </a:xfrm>
          <a:prstGeom prst="roundRect">
            <a:avLst>
              <a:gd name="adj" fmla="val 14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 i="0">
                <a:solidFill>
                  <a:srgbClr val="FFFFFF"/>
                </a:solidFill>
                <a:latin typeface="Nirmala UI"/>
              </a:rPr>
              <a:t>APPLICATION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310639" y="1828800"/>
            <a:ext cx="1889761" cy="429768"/>
          </a:xfrm>
          <a:prstGeom prst="line">
            <a:avLst/>
          </a:prstGeom>
          <a:ln w="25400">
            <a:solidFill>
              <a:srgbClr val="182F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286000"/>
            <a:ext cx="1706879" cy="777240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application.yml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200399" y="1828800"/>
            <a:ext cx="1" cy="429768"/>
          </a:xfrm>
          <a:prstGeom prst="line">
            <a:avLst/>
          </a:prstGeom>
          <a:ln w="25400">
            <a:solidFill>
              <a:srgbClr val="64508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46960" y="2286000"/>
            <a:ext cx="1706879" cy="777240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Environment Variables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3200400" y="1828800"/>
            <a:ext cx="1889760" cy="429768"/>
          </a:xfrm>
          <a:prstGeom prst="line">
            <a:avLst/>
          </a:prstGeom>
          <a:ln w="25400">
            <a:solidFill>
              <a:srgbClr val="28727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36720" y="2286000"/>
            <a:ext cx="1706879" cy="777240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Command-line / other external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10128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EXAMPLE APPLICATION.YML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48640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spring: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application: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name: order-service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server: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port: 8080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5272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6355080" y="1252728"/>
            <a:ext cx="5349240" cy="38404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52728"/>
            <a:ext cx="5074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AVOID — HARD-CODED IN JAVA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709928"/>
            <a:ext cx="5074920" cy="713232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D1282E"/>
                </a:solidFill>
                <a:latin typeface="Consolas"/>
              </a:rPr>
              <a:t>String databaseUrl =</a:t>
            </a:r>
          </a:p>
          <a:p>
            <a:pPr algn="l"/>
            <a:r>
              <a:rPr sz="1300" b="0" i="0">
                <a:solidFill>
                  <a:srgbClr val="D1282E"/>
                </a:solidFill>
                <a:latin typeface="Consolas"/>
              </a:rPr>
              <a:t>    "jdbc:postgresql://prod-server/orders";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07208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2807208"/>
            <a:ext cx="5349240" cy="38404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807208"/>
            <a:ext cx="5074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PREFER — EXTERNALIZED VALUES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264408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2E7D32"/>
                </a:solidFill>
                <a:latin typeface="Consolas"/>
              </a:rPr>
              <a:t>spring:</a:t>
            </a:r>
          </a:p>
          <a:p>
            <a:pPr algn="l"/>
            <a:r>
              <a:rPr sz="1200" b="0" i="0">
                <a:solidFill>
                  <a:srgbClr val="2E7D32"/>
                </a:solidFill>
                <a:latin typeface="Consolas"/>
              </a:rPr>
              <a:t>  datasource:</a:t>
            </a:r>
          </a:p>
          <a:p>
            <a:pPr algn="l"/>
            <a:r>
              <a:rPr sz="1200" b="0" i="0">
                <a:solidFill>
                  <a:srgbClr val="2E7D32"/>
                </a:solidFill>
                <a:latin typeface="Consolas"/>
              </a:rPr>
              <a:t>    url: ${DB_URL}</a:t>
            </a:r>
          </a:p>
          <a:p>
            <a:pPr algn="l"/>
            <a:r>
              <a:rPr sz="1200" b="0" i="0">
                <a:solidFill>
                  <a:srgbClr val="2E7D32"/>
                </a:solidFill>
                <a:latin typeface="Consolas"/>
              </a:rPr>
              <a:t>    username: ${DB_USER}</a:t>
            </a:r>
          </a:p>
          <a:p>
            <a:pPr algn="l"/>
            <a:r>
              <a:rPr sz="1200" b="0" i="0">
                <a:solidFill>
                  <a:srgbClr val="2E7D32"/>
                </a:solidFill>
                <a:latin typeface="Consolas"/>
              </a:rPr>
              <a:t>    password: ${DB_PASSWORD}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681728"/>
            <a:ext cx="5349240" cy="50292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Same artifact, different environments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239512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Nirmala UI"/>
              </a:rPr>
              <a:t>→ Twelve-Factor “Config” from Module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Keep configuration out of Java code so the same artifact runs in every environment.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TYPE-SAFE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@ConfigurationProperties binds a whole group of settings to one Java 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application.yml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3596640" cy="274624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orders: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max-items-per-order: 50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payment: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base-url: ${PAYMENT_URL}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timeout: 2s</a:t>
            </a:r>
          </a:p>
        </p:txBody>
      </p:sp>
      <p:sp>
        <p:nvSpPr>
          <p:cNvPr id="6" name="Oval 5"/>
          <p:cNvSpPr/>
          <p:nvPr/>
        </p:nvSpPr>
        <p:spPr>
          <a:xfrm>
            <a:off x="428244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1624" y="1298448"/>
            <a:ext cx="32674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OrderProperties.java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2440" y="1627632"/>
            <a:ext cx="3596640" cy="274624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@Validated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@ConfigurationProperties("orders")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record OrderProperties(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@Min(1) int maxItemsPerOrder,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@Valid Payment payment)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public record Payment(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@NotBlank String baseUrl,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Duration timeout) {}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7680" y="1298448"/>
            <a:ext cx="3596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Enable it, then inject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7680" y="1627632"/>
            <a:ext cx="3596640" cy="274624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@SpringBootApplication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@ConfigurationPropertiesScan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class OrderApplication { 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@Service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class OrderService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OrderService(OrderProperties p)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this.maxItems =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  p.maxItemsPerOrder();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024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65734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vs. @Value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682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typed object instead of scattered strings.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200" y="46024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4360" y="465734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Fail fast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4360" y="49682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bad value stops startup and names the field.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46024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4360" y="465734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From the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4360" y="49682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ORDERS_MAXITEMSPERORDER=20 overrides the YAML.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Group related settings in a validated properties type — misconfiguration then fails at startup, not in production.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PROFILES: ONE ARTIFACT, MANY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dev, test and prod configuration — with secrets supplied by the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29589"/>
            <a:ext cx="7415783" cy="40731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2741"/>
            <a:ext cx="7269480" cy="39268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Base file plus overrides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8061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application.yml        # shared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application-dev.yml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application-prod.yml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2561844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Choose the profile at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891028"/>
            <a:ext cx="3520440" cy="11363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java -jar order-service.jar \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--spring.profiles.active=prod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# on OpenShift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SPRING_PROFILES_ACTIVE=prod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41554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41554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SECRETS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Never in YAML. The platform injects DB_PASSWORD at runtime.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Build once — profiles, environment variables and secrets adapt the same JAR to each environment.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WHICH VALUE WINS?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Predict the configuration Spring Boot actually uses.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6542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11943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Order Service is started three ways: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A: no profile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B: prod profile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C: prod profile, env SERVER_PORT=9090 and command-line server.port=7070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663188"/>
            <a:ext cx="3621024" cy="158216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application.yml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server.port: 8080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orders.max-items-per-order: 50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application-prod.yml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server.port: 8081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orders.max-items-per-order: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6542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Give the port and item limit for A, B and C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Rank the sources from highest to lowest priority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 where the database password should come from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6542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A: 8080 and 50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B: 8081 and 20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2369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C: 7070 and 20 — command line wins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8409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786124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Command line &gt; env vars &gt; profile file &gt; application.yml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59155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3669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Password: a platform secret, never a file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Command line beats environment variables, which beat profile files, which beat application.yml.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SOURCE TO A RUNNING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Build one executable JAR, start it, call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676452"/>
            <a:ext cx="11210544" cy="22274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749604"/>
            <a:ext cx="11064240" cy="20811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56252"/>
            <a:ext cx="3627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1 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85436"/>
            <a:ext cx="3627120" cy="94843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./mvnw clean package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compiles, runs tests, packages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0" y="4556252"/>
            <a:ext cx="3627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2 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4885436"/>
            <a:ext cx="3627120" cy="94843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java -jar target/order-service.jar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dev loop: ./mvnw spring-boot:run</a:t>
            </a:r>
          </a:p>
        </p:txBody>
      </p:sp>
      <p:sp>
        <p:nvSpPr>
          <p:cNvPr id="10" name="Oval 9"/>
          <p:cNvSpPr/>
          <p:nvPr/>
        </p:nvSpPr>
        <p:spPr>
          <a:xfrm>
            <a:off x="8077200" y="458368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6384" y="4556252"/>
            <a:ext cx="32979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3 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4885436"/>
            <a:ext cx="3627120" cy="94843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curl localhost:8080/orders/101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or Postman, IDE HTTP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build tool compiles, tests and packages one executable JAR — java -jar starts the server and the API.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WHEN THE SERVICE WON'T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Match the log message to the startup step, then check the likely cause.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78638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57400"/>
                <a:gridCol w="2788920"/>
              </a:tblGrid>
              <a:tr h="71323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Symptom in the log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Startup step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Check first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Port 8080 was already in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Embedded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Stop the other process or change server.port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No qualifying bean of type OrderService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Create beans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@Service present? Inside the scanned package?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Could not resolve placeholder 'DB_URL'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Prepare environment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Variable set? Right profile active?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Connection refused: localhost:5432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Create beans (DataSource)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Database running? URL correct?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Binding to target OrderProperties failed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Prepare environment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Is the value valid for its type?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864108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0263" y="1298448"/>
            <a:ext cx="2734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Is it healthy?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1627632"/>
            <a:ext cx="3063240" cy="64109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curl localhost:8080/actuator/health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{"status":"UP"}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2396744"/>
            <a:ext cx="30632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451608"/>
            <a:ext cx="2788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 from the 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762504"/>
            <a:ext cx="27889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first error is the cause. Later errors are usually side effects.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820160"/>
            <a:ext cx="3063240" cy="126187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59" y="3820160"/>
            <a:ext cx="2697480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WRONG PROFILE?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Look for “The following profiles are active” near the 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Find the failing startup step in the log — it points straight at the cause.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LOGGING THAT HELPS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SLF4J with Logback: clear messages, useful IDs, no sensitive data.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Avoid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System.out.println("Order: " + order);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log.info("Creating order " + request);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log.info("Card {} charged", cardNumber);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log.error("Failed");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Prefer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private static final Logger log =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LoggerFactory.getLogger(OrderService.class);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log.info("Order created orderId={} status={}",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order.getId(), order.getStatus());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log.warn("Order {} rejected: item limit", id);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log.error("Payment call failed orderId={}", id, ex);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Parameterized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Placeholders with IDs — never whole objects or bodies.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Never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Card numbers, emails, tokens or request bodies.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Levels by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DEBUG locally; INFO and WARN in production.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Log events with IDs at the right level — and never log sensitive customer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SPRING BOOT MICROSERVICE —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layers, plus the runtime mechanisms that make them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7379"/>
            <a:ext cx="7415783" cy="42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531"/>
            <a:ext cx="7269480" cy="4091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FULL JOURNEY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 starts; configuration loads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Beans are created and injected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Tomcat starts on the port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POST /orders reaches the controller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 applies rules; repository saves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3227831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200399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JSON response returns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639312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639312"/>
            <a:ext cx="3154680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COMPARE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layered view showed only the layers. This adds the runtime around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Spring Boot turns our microservice design into a runnable application.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SPRING BOOT 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and habits that make Spring Boot services hard to run and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Spring Boot is magic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It follows conditions you can inspect with --debug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Boot replaced the Spring Framework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It builds on Spring and configures it for you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The defaults are production-ready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Review pools, timeouts, logging and 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@Autowired fields are fine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Constructor injection is explicit and testable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Profiles are the place for secrets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Secrets come from the platform, not YAML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Business logic in controllers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Returning JPA entities from APIs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giant service class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Hard-coded URLs and passwords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System.out instead of a logger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200399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Adding starters “just in case”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639312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639312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Spring Boot speeds up good design — it doesn't create 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Treat Spring Boot as transparent rules you control — and keep each layer's job clean.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Spring Boot add to traditional Spring setup?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layer holds business rules?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should controllers stay thin?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the repository layer for?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prefer constructor injection over field injection?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application.yml vs. application-prod.yml?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keep passwords out of config files?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annotation triggers request-body validation?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centralize exception handling?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package the service as an executable JAR?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1.3 — SCAFFOLD ACCOUNT ENDPOINTS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3 checkpoint C: controllers, DTOs and validation rules.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1298448"/>
            <a:ext cx="4608576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labs/day-01/exercises/exercise-1.3-scaffold-account.md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628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1 builds the banking Account Service (starter on port 8081). Before coding, map this module to the starter project.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Scope: Account, Transaction and Risk Assessment only — no extra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Open labs/day-01/lab1/starter; find the controller, service, DTO and validation TODOs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26593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321106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layers: Controller → Service → Repository → PostgreSQL (Flyway, not Hibernate DDL)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408127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026408"/>
            <a:ext cx="3218688" cy="9773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rules: customerId CUST- plus four digits, nickname length, legal status change; accountId is generated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5113527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5058664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Logs: accountId and status only — no bodies or PII. Copilot may explain TODOs; review first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You can point at every starter file Lab 1 completes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Layer names match the lab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Validation rules are ready to code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914647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Don't skip ahead into Lab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You can point at the starter files Lab 1 will complete — without skipping ahead to Lab 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3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a Spring Boot project to a running, configurable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8424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Explain what Spring Boot adds on top of Spring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Follow startup, auto-configuration and component scanning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9125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Build a thin controller with DTOs, validation and errors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9475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Wire services and repositories with constructor injection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9826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Configure, build and run one JAR in every environment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NEXT: MODULE 4 — MICROSERVICES INTEGRATION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services talk without waiting on each other?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do we use queues, pub/sub and events?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we make message consumers reliable?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Lab 1 Account Service, running on port 8081.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4 connects services like this one through messaging and events.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