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Adding AI to the process</a:t>
            </a:r>
          </a:p>
          <a:p/>
          <a:p>
            <a:r>
              <a:t>  This module adds AI help to the development process from the earlier modules.</a:t>
            </a:r>
          </a:p>
          <a:p/>
          <a:p>
            <a:r>
              <a:t>  Until now the flow was: requirement, microservice design, Spring Boot development, testing, Git, CI/CD, container, OpenShift.</a:t>
            </a:r>
          </a:p>
          <a:p/>
          <a:p>
            <a:r>
              <a:t>- Where Copilot fits</a:t>
            </a:r>
          </a:p>
          <a:p/>
          <a:p>
            <a:r>
              <a:t>  Now we add Copilot.</a:t>
            </a:r>
          </a:p>
          <a:p/>
          <a:p>
            <a:r>
              <a:t>  The flow becomes: requirement, developer analysis, GitHub Copilot, candidate code, developer review, tests, and then the existing delivery pipeline.</a:t>
            </a:r>
          </a:p>
          <a:p/>
          <a:p>
            <a:r>
              <a:t>- The key word is candidate</a:t>
            </a:r>
          </a:p>
          <a:p/>
          <a:p>
            <a:r>
              <a:t>  Copilot can speed up code generation, boilerplate, tests, documentation, explanations, refactoring and troubleshooting.</a:t>
            </a:r>
          </a:p>
          <a:p/>
          <a:p>
            <a:r>
              <a:t>  But it does not remove the need for architecture, business requirements, code review, testing, security, CI/CD or production checks.</a:t>
            </a:r>
          </a:p>
          <a:p/>
          <a:p>
            <a:r>
              <a:t>- Opening line</a:t>
            </a:r>
          </a:p>
          <a:p/>
          <a:p>
            <a:r>
              <a:t>  AI changes how quickly we can build software.</a:t>
            </a:r>
          </a:p>
          <a:p/>
          <a:p>
            <a:r>
              <a:t>  It does not remove the engineering work needed to make that software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where Copilot fits and write good backend prompts with useful project context.</a:t>
            </a:r>
          </a:p>
          <a:p/>
          <a:p>
            <a:r>
              <a:t>  They should generate controllers, services, DTOs, repositories and validation, and create tests with AI help.</a:t>
            </a:r>
          </a:p>
          <a:p/>
          <a:p>
            <a:r>
              <a:t>  They should find missing test cases, refactor code, use Copilot for troubleshooting, apply enterprise guardrails, and build a microservice step by step.</a:t>
            </a:r>
          </a:p>
          <a:p/>
          <a:p>
            <a:r>
              <a:t>- Four sections</a:t>
            </a:r>
          </a:p>
          <a:p/>
          <a:p>
            <a:r>
              <a:t>  Section 1 is AI-assisted development basics: Copilot, the developer and project context.</a:t>
            </a:r>
          </a:p>
          <a:p/>
          <a:p>
            <a:r>
              <a:t>  Section 2 is AI-assisted implementation: DTO, controller, service, repository and validation.</a:t>
            </a:r>
          </a:p>
          <a:p/>
          <a:p>
            <a:r>
              <a:t>  Section 3 is AI-assisted quality: tests, code review, refactoring and troubleshooting.</a:t>
            </a:r>
          </a:p>
          <a:p/>
          <a:p>
            <a:r>
              <a:t>  Section 4 is enterprise governance: security, human review, CI/CD, policies and production controls.</a:t>
            </a:r>
          </a:p>
          <a:p/>
          <a:p>
            <a:r>
              <a:t>- The real goal</a:t>
            </a:r>
          </a:p>
          <a:p/>
          <a:p>
            <a:r>
              <a:t>  The goal is not to see who can generate the most code.</a:t>
            </a:r>
          </a:p>
          <a:p/>
          <a:p>
            <a:r>
              <a:t>  It is to see who can use AI to produce correct, maintainable, secure software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GitHub Copilot</a:t>
            </a:r>
          </a:p>
          <a:p/>
          <a:p>
            <a:r>
              <a:t>  An AI coding assistant in the editor that suggests code, tests and explanations.</a:t>
            </a:r>
          </a:p>
          <a:p/>
          <a:p>
            <a:r>
              <a:t>- Prompt</a:t>
            </a:r>
          </a:p>
          <a:p/>
          <a:p>
            <a:r>
              <a:t>  The instruction and context you give the AI to get a result.</a:t>
            </a:r>
          </a:p>
          <a:p/>
          <a:p>
            <a:r>
              <a:t>- Context</a:t>
            </a:r>
          </a:p>
          <a:p/>
          <a:p>
            <a:r>
              <a:t>  The files, code and rules the AI can see when it answers.</a:t>
            </a:r>
          </a:p>
          <a:p/>
          <a:p>
            <a:r>
              <a:t>- Custom instructions</a:t>
            </a:r>
          </a:p>
          <a:p/>
          <a:p>
            <a:r>
              <a:t>  A repository file of team conventions that Copilot applies to every chat.</a:t>
            </a:r>
          </a:p>
          <a:p/>
          <a:p>
            <a:r>
              <a:t>- Hallucination</a:t>
            </a:r>
          </a:p>
          <a:p/>
          <a:p>
            <a:r>
              <a:t>  Confident AI output that is wrong, such as a method or library that doesn't exist.</a:t>
            </a:r>
          </a:p>
          <a:p/>
          <a:p>
            <a:r>
              <a:t>- Human in the loop</a:t>
            </a:r>
          </a:p>
          <a:p/>
          <a:p>
            <a:r>
              <a:t>  A person reviews and approves AI output before it's used.</a:t>
            </a:r>
          </a:p>
          <a:p/>
          <a:p>
            <a:r>
              <a:t>- Refactoring</a:t>
            </a:r>
          </a:p>
          <a:p/>
          <a:p>
            <a:r>
              <a:t>  Improving the structure of code without changing what it does.</a:t>
            </a:r>
          </a:p>
          <a:p/>
          <a:p>
            <a:r>
              <a:t>- Guardrails</a:t>
            </a:r>
          </a:p>
          <a:p/>
          <a:p>
            <a:r>
              <a:t>  Rules and controls that limit what AI tools may see, generate or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CI is Continuous Integration; CI/CD is Continuous Integration / Continuous Delivery; DB is Database; DTO is Data Transfer Object; HTTP is HyperText Transfer Protocol; JPA is Jakarta Persistence API; JSON is JavaScript Object Notation; PR is Pull Request; REST is Representational State Transfer; SQL is Structured Query Language; URI is Uniform Resource Identifier; YAML is YAML Ain't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8</a:t>
            </a:r>
          </a:p>
          <a:p/>
          <a:p>
            <a:r>
              <a:t>  Learners can now design, build, test and ship services.</a:t>
            </a:r>
          </a:p>
          <a:p/>
          <a:p>
            <a:r>
              <a:t>  Copilot changes how fast they write the code, not what good code looks like.</a:t>
            </a:r>
          </a:p>
          <a:p/>
          <a:p>
            <a:r>
              <a:t>- The path</a:t>
            </a:r>
          </a:p>
          <a:p/>
          <a:p>
            <a:r>
              <a:t>  Fundamentals and prompting, generating each Spring Boot layer, testing and reviewing with AI, then enterprise guardrails.</a:t>
            </a:r>
          </a:p>
          <a:p/>
          <a:p>
            <a:r>
              <a:t>- Two examples</a:t>
            </a:r>
          </a:p>
          <a:p/>
          <a:p>
            <a:r>
              <a:t>  The slides build Order Service.</a:t>
            </a:r>
          </a:p>
          <a:p/>
          <a:p>
            <a:r>
              <a:t>  Exercise 5.2 and Lab 5 use Copilot on the banking Risk Assessment policy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Most poor AI output comes from vague prompts and missing context, not from the tool.</a:t>
            </a:r>
          </a:p>
          <a:p/>
          <a:p>
            <a:r>
              <a:t>- What this part covers</a:t>
            </a:r>
          </a:p>
          <a:p/>
          <a:p>
            <a:r>
              <a:t>  Copilot's role, the workflow loop, prompt structure and how to give it your project's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it is</a:t>
            </a:r>
          </a:p>
          <a:p/>
          <a:p>
            <a:r>
              <a:t>  GitHub Copilot is an AI tool that helps with software development.</a:t>
            </a:r>
          </a:p>
          <a:p/>
          <a:p>
            <a:r>
              <a:t>  It can suggest, generate, explain, test and refactor code, and help with documentation, debugging and questions.</a:t>
            </a:r>
          </a:p>
          <a:p/>
          <a:p>
            <a:r>
              <a:t>- How the workflow changes</a:t>
            </a:r>
          </a:p>
          <a:p/>
          <a:p>
            <a:r>
              <a:t>  Traditionally the developer writes code, searches documentation, writes tests and debugs.</a:t>
            </a:r>
          </a:p>
          <a:p/>
          <a:p>
            <a:r>
              <a:t>  With Copilot, the developer defines the intent, Copilot assists, and the developer checks the result.</a:t>
            </a:r>
          </a:p>
          <a:p/>
          <a:p>
            <a:r>
              <a:t>- What it works from</a:t>
            </a:r>
          </a:p>
          <a:p/>
          <a:p>
            <a:r>
              <a:t>  Copilot works from plain-language instructions, existing code, comments, open files, errors and stack traces, and project conventions.</a:t>
            </a:r>
          </a:p>
          <a:p/>
          <a:p>
            <a:r>
              <a:t>  You might ask it: generate tests for this service, explain this exception, or what edge cases am I missing?</a:t>
            </a:r>
          </a:p>
          <a:p/>
          <a:p>
            <a:r>
              <a:t>- What it is not</a:t>
            </a:r>
          </a:p>
          <a:p/>
          <a:p>
            <a:r>
              <a:t>  Copilot is not the architect, the business owner, the security approver or the production operator.</a:t>
            </a:r>
          </a:p>
          <a:p/>
          <a:p>
            <a:r>
              <a:t>  Its job is to assist the developer.</a:t>
            </a:r>
          </a:p>
          <a:p/>
          <a:p>
            <a:r>
              <a:t>  It speeds up implementation, but it does not guarantee correctness, security or good architecture.</a:t>
            </a:r>
          </a:p>
          <a:p/>
          <a:p>
            <a:r>
              <a:t>- What the diagram shows</a:t>
            </a:r>
          </a:p>
          <a:p/>
          <a:p>
            <a:r>
              <a:t>  The developer working with Copilot, which helps with code generation, explanation, tests, refactoring, documentation and debugging.</a:t>
            </a:r>
          </a:p>
          <a:p/>
          <a:p>
            <a:r>
              <a:t>- Key point</a:t>
            </a:r>
          </a:p>
          <a:p/>
          <a:p>
            <a:r>
              <a:t>  Copilot assists across the work; the developer stays in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most important workflow</a:t>
            </a:r>
          </a:p>
          <a:p/>
          <a:p>
            <a:r>
              <a:t>  This is the key workflow for the whole module: plan, prompt, generate, review, run, test, refine, and repeat.</a:t>
            </a:r>
          </a:p>
          <a:p/>
          <a:p>
            <a:r>
              <a:t>- Plan and prompt</a:t>
            </a:r>
          </a:p>
          <a:p/>
          <a:p>
            <a:r>
              <a:t>  Plan means understanding the task before asking AI.</a:t>
            </a:r>
          </a:p>
          <a:p/>
          <a:p>
            <a:r>
              <a:t>  For example, for 'add order cancellation', decide the endpoint, business rules, error behavior and existing architecture first.</a:t>
            </a:r>
          </a:p>
          <a:p/>
          <a:p>
            <a:r>
              <a:t>  Prompt means giving Copilot those constraints.</a:t>
            </a:r>
          </a:p>
          <a:p/>
          <a:p>
            <a:r>
              <a:t>- Generate and review</a:t>
            </a:r>
          </a:p>
          <a:p/>
          <a:p>
            <a:r>
              <a:t>  Copilot produces a candidate implementation.</a:t>
            </a:r>
          </a:p>
          <a:p/>
          <a:p>
            <a:r>
              <a:t>  Then read the code and ask: does this match our architecture?</a:t>
            </a:r>
          </a:p>
          <a:p/>
          <a:p>
            <a:r>
              <a:t>  Are the business rules correct?</a:t>
            </a:r>
          </a:p>
          <a:p/>
          <a:p>
            <a:r>
              <a:t>  Are there security problems?</a:t>
            </a:r>
          </a:p>
          <a:p/>
          <a:p>
            <a:r>
              <a:t>- Run, test, refine</a:t>
            </a:r>
          </a:p>
          <a:p/>
          <a:p>
            <a:r>
              <a:t>  Compile and run the application.</a:t>
            </a:r>
          </a:p>
          <a:p/>
          <a:p>
            <a:r>
              <a:t>  Test both expected and unexpected cases.</a:t>
            </a:r>
          </a:p>
          <a:p/>
          <a:p>
            <a:r>
              <a:t>  Then improve the prompt or the code based on what you learn.</a:t>
            </a:r>
          </a:p>
          <a:p/>
          <a:p>
            <a:r>
              <a:t>- Not one-shot</a:t>
            </a:r>
          </a:p>
          <a:p/>
          <a:p>
            <a:r>
              <a:t>  Avoid prompt, generate, accept everything.</a:t>
            </a:r>
          </a:p>
          <a:p/>
          <a:p>
            <a:r>
              <a:t>  Instead: prompt, inspect, validate, improve.</a:t>
            </a:r>
          </a:p>
          <a:p/>
          <a:p>
            <a:r>
              <a:t>  AI-assisted development should be iterative.</a:t>
            </a:r>
          </a:p>
          <a:p/>
          <a:p>
            <a:r>
              <a:t>- What the diagram shows</a:t>
            </a:r>
          </a:p>
          <a:p/>
          <a:p>
            <a:r>
              <a:t>  A loop of plan, prompt, generate, review, run, test and refine.</a:t>
            </a:r>
          </a:p>
          <a:p/>
          <a:p>
            <a:r>
              <a:t>- Key point</a:t>
            </a:r>
          </a:p>
          <a:p/>
          <a:p>
            <a:r>
              <a:t>  AI-assisted development is iterative, never one-shot.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 the familiar architecture</a:t>
            </a:r>
          </a:p>
          <a:p/>
          <a:p>
            <a:r>
              <a:t>  Use the Order Service: client, OrderController, OrderService, OrderRepository, Order database.</a:t>
            </a:r>
          </a:p>
          <a:p/>
          <a:p>
            <a:r>
              <a:t>- Help at every layer</a:t>
            </a:r>
          </a:p>
          <a:p/>
          <a:p>
            <a:r>
              <a:t>  Copilot can help with DTOs such as OrderRequest and OrderResponse, and with controller HTTP mappings.</a:t>
            </a:r>
          </a:p>
          <a:p/>
          <a:p>
            <a:r>
              <a:t>  It can help with service method structure and business rules, and with Spring Data repository interfaces.</a:t>
            </a:r>
          </a:p>
          <a:p/>
          <a:p>
            <a:r>
              <a:t>  It can also scaffold JUnit and Mockito tests.</a:t>
            </a:r>
          </a:p>
          <a:p/>
          <a:p>
            <a:r>
              <a:t>  It can help with configuration, validation, exceptions and documentation too.</a:t>
            </a:r>
          </a:p>
          <a:p/>
          <a:p>
            <a:r>
              <a:t>- Assist is not design</a:t>
            </a:r>
          </a:p>
          <a:p/>
          <a:p>
            <a:r>
              <a:t>  Copilot helping at every layer does not mean Copilot should design every layer.</a:t>
            </a:r>
          </a:p>
          <a:p/>
          <a:p>
            <a:r>
              <a:t>  The architecture should already be understood before you start prompting.</a:t>
            </a:r>
          </a:p>
          <a:p/>
          <a:p>
            <a:r>
              <a:t>- What the diagram shows</a:t>
            </a:r>
          </a:p>
          <a:p/>
          <a:p>
            <a:r>
              <a:t>  Copilot helping with DTOs, the controller, service, repository, validation, configuration and tests around Order Service.</a:t>
            </a:r>
          </a:p>
          <a:p/>
          <a:p>
            <a:r>
              <a:t>- Key point</a:t>
            </a:r>
          </a:p>
          <a:p/>
          <a:p>
            <a:r>
              <a:t>  Copilot helps implement each layer of an architecture you already 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Four parts of a good prompt</a:t>
            </a:r>
          </a:p>
          <a:p/>
          <a:p>
            <a:r>
              <a:t>  Backend prompts get stronger when they include context, task, constraints and expected output.</a:t>
            </a:r>
          </a:p>
          <a:p/>
          <a:p>
            <a:r>
              <a:t>- Context and task</a:t>
            </a:r>
          </a:p>
          <a:p/>
          <a:p>
            <a:r>
              <a:t>  Context tells Copilot the environment: Spring Boot 3, Java 21, Maven, an Order microservice, PostgreSQL.</a:t>
            </a:r>
          </a:p>
          <a:p/>
          <a:p>
            <a:r>
              <a:t>  Task says clearly what to build, for example: implement an endpoint for creating orders.</a:t>
            </a:r>
          </a:p>
          <a:p/>
          <a:p>
            <a:r>
              <a:t>- Constraints</a:t>
            </a:r>
          </a:p>
          <a:p/>
          <a:p>
            <a:r>
              <a:t>  Constraints are the important rules.</a:t>
            </a:r>
          </a:p>
          <a:p/>
          <a:p>
            <a:r>
              <a:t>  For example: use constructor injection, use DTOs, do not expose JPA entities, and do not put business logic in the controller.</a:t>
            </a:r>
          </a:p>
          <a:p/>
          <a:p>
            <a:r>
              <a:t>- Expected output</a:t>
            </a:r>
          </a:p>
          <a:p/>
          <a:p>
            <a:r>
              <a:t>  Say exactly what you want back.</a:t>
            </a:r>
          </a:p>
          <a:p/>
          <a:p>
            <a:r>
              <a:t>  For example: generate the controller method and the required DTOs, and do not change unrelated classes.</a:t>
            </a:r>
          </a:p>
          <a:p/>
          <a:p>
            <a:r>
              <a:t>- The formula</a:t>
            </a:r>
          </a:p>
          <a:p/>
          <a:p>
            <a:r>
              <a:t>  A good prompt is context, plus goal, plus rules, plus expected result.</a:t>
            </a:r>
          </a:p>
          <a:p/>
          <a:p>
            <a:r>
              <a:t>  People often think AI quality depends only on the tool, but the prompt matters a lot.</a:t>
            </a:r>
          </a:p>
          <a:p/>
          <a:p>
            <a:r>
              <a:t>- What the diagram shows</a:t>
            </a:r>
          </a:p>
          <a:p/>
          <a:p>
            <a:r>
              <a:t>  Context plus task plus constraints plus expected output leading to a higher-quality candidate response.</a:t>
            </a:r>
          </a:p>
          <a:p/>
          <a:p>
            <a:r>
              <a:t>- Key point</a:t>
            </a:r>
          </a:p>
          <a:p/>
          <a:p>
            <a:r>
              <a:t>  Better inputs give better candidates — still only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Ask the class</a:t>
            </a:r>
          </a:p>
          <a:p/>
          <a:p>
            <a:r>
              <a:t>  What is wrong with 'Create an order API'?</a:t>
            </a:r>
          </a:p>
          <a:p/>
          <a:p>
            <a:r>
              <a:t>  It leaves many decisions open: framework, version, endpoints, DTOs, validation, architecture, error handling and dependency injection.</a:t>
            </a:r>
          </a:p>
          <a:p/>
          <a:p>
            <a:r>
              <a:t>- AI has to fill the gaps</a:t>
            </a:r>
          </a:p>
          <a:p/>
          <a:p>
            <a:r>
              <a:t>  With a vague prompt, the AI must either ask, guess or make assumptions.</a:t>
            </a:r>
          </a:p>
          <a:p/>
          <a:p>
            <a:r>
              <a:t>- The strong prompt</a:t>
            </a:r>
          </a:p>
          <a:p/>
          <a:p>
            <a:r>
              <a:t>  The strong prompt names Spring Boot 3 and Java 21, the /orders base path, POST and GET endpoints, constructor injection, DTOs, Jakarta Validation and ResponseEntity.</a:t>
            </a:r>
          </a:p>
          <a:p/>
          <a:p>
            <a:r>
              <a:t>  It also says to delegate business logic to OrderService and not to call OrderRepository directly.</a:t>
            </a:r>
          </a:p>
          <a:p/>
          <a:p>
            <a:r>
              <a:t>  That removes most of the guesswork.</a:t>
            </a:r>
          </a:p>
          <a:p/>
          <a:p>
            <a:r>
              <a:t>- An important distinction</a:t>
            </a:r>
          </a:p>
          <a:p/>
          <a:p>
            <a:r>
              <a:t>  A detailed prompt makes useful output more likely.</a:t>
            </a:r>
          </a:p>
          <a:p/>
          <a:p>
            <a:r>
              <a:t>  It does not guarantee correct output.</a:t>
            </a:r>
          </a:p>
          <a:p/>
          <a:p>
            <a:r>
              <a:t>  The generated code still has to be checked.</a:t>
            </a:r>
          </a:p>
          <a:p/>
          <a:p>
            <a:r>
              <a:t>- What the diagram shows</a:t>
            </a:r>
          </a:p>
          <a:p/>
          <a:p>
            <a:r>
              <a:t>  A vague request next to a detailed Spring Boot prompt.</a:t>
            </a:r>
          </a:p>
          <a:p/>
          <a:p>
            <a:r>
              <a:t>- Key point</a:t>
            </a:r>
          </a:p>
          <a:p/>
          <a:p>
            <a:r>
              <a:t>  Specific prompts remove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reusable template</a:t>
            </a:r>
          </a:p>
          <a:p/>
          <a:p>
            <a:r>
              <a:t>  Give learners a structure they can reuse: project context, task, existing architecture, business rules, technical constraints, error behavior, test requirements and expected output.</a:t>
            </a:r>
          </a:p>
          <a:p/>
          <a:p>
            <a:r>
              <a:t>- The example</a:t>
            </a:r>
          </a:p>
          <a:p/>
          <a:p>
            <a:r>
              <a:t>  The project is a Spring Boot 3, Java 21, Maven Order microservice, and the task is to add order cancellation.</a:t>
            </a:r>
          </a:p>
          <a:p/>
          <a:p>
            <a:r>
              <a:t>  Architecture is controller, service, repository.</a:t>
            </a:r>
          </a:p>
          <a:p/>
          <a:p>
            <a:r>
              <a:t>  Business rules: CREATED and CONFIRMED orders can be cancelled, but SHIPPED orders cannot.</a:t>
            </a:r>
          </a:p>
          <a:p/>
          <a:p>
            <a:r>
              <a:t>- Errors, constraints, tests, output</a:t>
            </a:r>
          </a:p>
          <a:p/>
          <a:p>
            <a:r>
              <a:t>  A missing order throws OrderNotFoundException, and an invalid state throws InvalidOrderStateException.</a:t>
            </a:r>
          </a:p>
          <a:p/>
          <a:p>
            <a:r>
              <a:t>  Use constructor injection and do not change existing API contracts.</a:t>
            </a:r>
          </a:p>
          <a:p/>
          <a:p>
            <a:r>
              <a:t>  Add JUnit 5 and Mockito tests, and change only the classes that need it.</a:t>
            </a:r>
          </a:p>
          <a:p/>
          <a:p>
            <a:r>
              <a:t>- Why it helps</a:t>
            </a:r>
          </a:p>
          <a:p/>
          <a:p>
            <a:r>
              <a:t>  Filling in this template forces the developer to think before generating code.</a:t>
            </a:r>
          </a:p>
          <a:p/>
          <a:p>
            <a:r>
              <a:t>  That thinking is valuable by itself, and more useful than generic prompt tricks.</a:t>
            </a:r>
          </a:p>
          <a:p/>
          <a:p>
            <a:r>
              <a:t>- What the diagram shows</a:t>
            </a:r>
          </a:p>
          <a:p/>
          <a:p>
            <a:r>
              <a:t>  Project context, task, architecture, business rules, constraints, errors, tests and expected output, in order.</a:t>
            </a:r>
          </a:p>
          <a:p/>
          <a:p>
            <a:r>
              <a:t>- Key point</a:t>
            </a:r>
          </a:p>
          <a:p/>
          <a:p>
            <a:r>
              <a:t>  A reusable structure makes prompts consistent across a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Custom instructions</a:t>
            </a:r>
          </a:p>
          <a:p/>
          <a:p>
            <a:r>
              <a:t>  A .github/copilot-instructions.md file tells Copilot the project's standards, so they don't have to be repeated in every prompt.</a:t>
            </a:r>
          </a:p>
          <a:p/>
          <a:p>
            <a:r>
              <a:t>- The prompt</a:t>
            </a:r>
          </a:p>
          <a:p/>
          <a:p>
            <a:r>
              <a:t>  It names the class, the business rules, the exact exceptions and status codes, and asks for tests.</a:t>
            </a:r>
          </a:p>
          <a:p/>
          <a:p>
            <a:r>
              <a:t>- Why it works</a:t>
            </a:r>
          </a:p>
          <a:p/>
          <a:p>
            <a:r>
              <a:t>  Copilot has less to guess, so the draft follows the team's architecture and naming.</a:t>
            </a:r>
          </a:p>
          <a:p/>
          <a:p>
            <a:r>
              <a:t>- Still review</a:t>
            </a:r>
          </a:p>
          <a:p/>
          <a:p>
            <a:r>
              <a:t>  Even with good instructions, the developer checks the logic and runs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was missing</a:t>
            </a:r>
          </a:p>
          <a:p/>
          <a:p>
            <a:r>
              <a:t>  The prompt gave no path, no DTOs, no validation, no error codes and no security or idempotency requirements.</a:t>
            </a:r>
          </a:p>
          <a:p/>
          <a:p>
            <a:r>
              <a:t>- A good rewrite</a:t>
            </a:r>
          </a:p>
          <a:p/>
          <a:p>
            <a:r>
              <a:t>  It names the endpoint, the request and response records, the rules, the status codes and asks for tests.</a:t>
            </a:r>
          </a:p>
          <a:p/>
          <a:p>
            <a:r>
              <a:t>- Review</a:t>
            </a:r>
          </a:p>
          <a:p/>
          <a:p>
            <a:r>
              <a:t>  Even a perfect prompt can produce missing authorization checks or wrong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Rarely a blank project</a:t>
            </a:r>
          </a:p>
          <a:p/>
          <a:p>
            <a:r>
              <a:t>  Enterprise development almost never starts from an empty project.</a:t>
            </a:r>
          </a:p>
          <a:p/>
          <a:p>
            <a:r>
              <a:t>  Usually you are changing an existing system, so existing code is valuable context.</a:t>
            </a:r>
          </a:p>
          <a:p/>
          <a:p>
            <a:r>
              <a:t>- Existing conventions</a:t>
            </a:r>
          </a:p>
          <a:p/>
          <a:p>
            <a:r>
              <a:t>  Say the project already uses constructor injection, records for DTOs, @RestControllerAdvice, specific package names, JUnit 5 and Mockito.</a:t>
            </a:r>
          </a:p>
          <a:p/>
          <a:p>
            <a:r>
              <a:t>  New code should match that.</a:t>
            </a:r>
          </a:p>
          <a:p/>
          <a:p>
            <a:r>
              <a:t>- Say it in the prompt</a:t>
            </a:r>
          </a:p>
          <a:p/>
          <a:p>
            <a:r>
              <a:t>  A useful instruction is: follow the patterns already used by OrderController and PaymentController, and do not introduce a different exception-handling style.</a:t>
            </a:r>
          </a:p>
          <a:p/>
          <a:p>
            <a:r>
              <a:t>  Mention naming, package structure, exception patterns, DTO conventions, logging and testing libraries.</a:t>
            </a:r>
          </a:p>
          <a:p/>
          <a:p>
            <a:r>
              <a:t>- The goal</a:t>
            </a:r>
          </a:p>
          <a:p/>
          <a:p>
            <a:r>
              <a:t>  Give focused, relevant context.</a:t>
            </a:r>
          </a:p>
          <a:p/>
          <a:p>
            <a:r>
              <a:t>  Don't expect AI to guess every convention.</a:t>
            </a:r>
          </a:p>
          <a:p/>
          <a:p>
            <a:r>
              <a:t>  Existing architecture plus a new requirement should give a consistent change, not a completely new coding style.</a:t>
            </a:r>
          </a:p>
          <a:p/>
          <a:p>
            <a:r>
              <a:t>- What the diagram shows</a:t>
            </a:r>
          </a:p>
          <a:p/>
          <a:p>
            <a:r>
              <a:t>  Existing controller, service, repository, DTO and test patterns feeding Copilot so new code follows the same conventions.</a:t>
            </a:r>
          </a:p>
          <a:p/>
          <a:p>
            <a:r>
              <a:t>- Key point</a:t>
            </a:r>
          </a:p>
          <a:p/>
          <a:p>
            <a:r>
              <a:t>  Show Copilot your patterns and it follows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prompting to building</a:t>
            </a:r>
          </a:p>
          <a:p/>
          <a:p>
            <a:r>
              <a:t>  Part 1 was about asking well.</a:t>
            </a:r>
          </a:p>
          <a:p/>
          <a:p>
            <a:r>
              <a:t>  Part 2 generates actual layers of Order Service.</a:t>
            </a:r>
          </a:p>
          <a:p/>
          <a:p>
            <a:r>
              <a:t>- The habit</a:t>
            </a:r>
          </a:p>
          <a:p/>
          <a:p>
            <a:r>
              <a:t>  Generate one layer, review it against Modules 2–5, compile, test —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layer at a time</a:t>
            </a:r>
          </a:p>
          <a:p/>
          <a:p>
            <a:r>
              <a:t>  Show learners how to generate one layer at a time.</a:t>
            </a:r>
          </a:p>
          <a:p/>
          <a:p>
            <a:r>
              <a:t>  The target is: HTTP request, OrderController, OrderService, response DTO, HTTP response.</a:t>
            </a:r>
          </a:p>
          <a:p/>
          <a:p>
            <a:r>
              <a:t>- The prompt</a:t>
            </a:r>
          </a:p>
          <a:p/>
          <a:p>
            <a:r>
              <a:t>  Ask for OrderController with POST /orders and GET /orders/{id}.</a:t>
            </a:r>
          </a:p>
          <a:p/>
          <a:p>
            <a:r>
              <a:t>  Ask it to use @RestController, @RequestMapping, @Valid, ResponseEntity and constructor injection, and to delegate all business logic to OrderService.</a:t>
            </a:r>
          </a:p>
          <a:p/>
          <a:p>
            <a:r>
              <a:t>- The output</a:t>
            </a:r>
          </a:p>
          <a:p/>
          <a:p>
            <a:r>
              <a:t>  Copilot might generate a controller with an injected OrderService.</a:t>
            </a:r>
          </a:p>
          <a:p/>
          <a:p>
            <a:r>
              <a:t>  Its create method validates the request, calls the service, and returns 201 Created with the response.</a:t>
            </a:r>
          </a:p>
          <a:p/>
          <a:p>
            <a:r>
              <a:t>- Review it</a:t>
            </a:r>
          </a:p>
          <a:p/>
          <a:p>
            <a:r>
              <a:t>  Check the path, and that POST and 201 Created are right.</a:t>
            </a:r>
          </a:p>
          <a:p/>
          <a:p>
            <a:r>
              <a:t>  Check that validation is on and constructor injection is used.</a:t>
            </a:r>
          </a:p>
          <a:p/>
          <a:p>
            <a:r>
              <a:t>  Check that the controller does not call the repository directly, and that no business logic leaked in.</a:t>
            </a:r>
          </a:p>
          <a:p/>
          <a:p>
            <a:r>
              <a:t>- The workflow</a:t>
            </a:r>
          </a:p>
          <a:p/>
          <a:p>
            <a:r>
              <a:t>  Generate, review the architecture, review the API, compile, then test.</a:t>
            </a:r>
          </a:p>
          <a:p/>
          <a:p>
            <a:r>
              <a:t>- What the diagram shows</a:t>
            </a:r>
          </a:p>
          <a:p/>
          <a:p>
            <a:r>
              <a:t>  A requirement and prompt going to Copilot, producing OrderController, then developer review, compile and test.</a:t>
            </a:r>
          </a:p>
          <a:p/>
          <a:p>
            <a:r>
              <a:t>- Key point</a:t>
            </a:r>
          </a:p>
          <a:p/>
          <a:p>
            <a:r>
              <a:t>  Generate, then review, compile and test — one layer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draft</a:t>
            </a:r>
          </a:p>
          <a:p/>
          <a:p>
            <a:r>
              <a:t>  It works, but it uses a verb path, accepts and returns the entity, injects a repository into the controller and returns null for invalid input.</a:t>
            </a:r>
          </a:p>
          <a:p/>
          <a:p>
            <a:r>
              <a:t>- The review</a:t>
            </a:r>
          </a:p>
          <a:p/>
          <a:p>
            <a:r>
              <a:t>  Each problem maps to an earlier module: resource naming, DTOs, validation, layering and constructor injection.</a:t>
            </a:r>
          </a:p>
          <a:p/>
          <a:p>
            <a:r>
              <a:t>- The fix</a:t>
            </a:r>
          </a:p>
          <a:p/>
          <a:p>
            <a:r>
              <a:t>  A thin controller with a validated request record that delegates to the service and returns 201 with a Location.</a:t>
            </a:r>
          </a:p>
          <a:p/>
          <a:p>
            <a:r>
              <a:t>- Better prompt next time</a:t>
            </a:r>
          </a:p>
          <a:p/>
          <a:p>
            <a:r>
              <a:t>  Most of these issues disappear when the prompt and instructions file state the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riskiest layer</a:t>
            </a:r>
          </a:p>
          <a:p/>
          <a:p>
            <a:r>
              <a:t>  The service layer is riskier to generate blindly because it holds business behavior: rules, state changes, validation and coordination.</a:t>
            </a:r>
          </a:p>
          <a:p/>
          <a:p>
            <a:r>
              <a:t>- The prompt</a:t>
            </a:r>
          </a:p>
          <a:p/>
          <a:p>
            <a:r>
              <a:t>  Ask Copilot to implement cancelOrder.</a:t>
            </a:r>
          </a:p>
          <a:p/>
          <a:p>
            <a:r>
              <a:t>  It should find the order through OrderRepository, and throw OrderNotFoundException if it is missing.</a:t>
            </a:r>
          </a:p>
          <a:p/>
          <a:p>
            <a:r>
              <a:t>  CREATED and CONFIRMED orders may be cancelled, but SHIPPED orders may not.</a:t>
            </a:r>
          </a:p>
          <a:p/>
          <a:p>
            <a:r>
              <a:t>  Valid orders change to CANCELLED, and HTTP concerns stay out of the service.</a:t>
            </a:r>
          </a:p>
          <a:p/>
          <a:p>
            <a:r>
              <a:t>- What Copilot may produce</a:t>
            </a:r>
          </a:p>
          <a:p/>
          <a:p>
            <a:r>
              <a:t>  It may find the order or throw, reject SHIPPED orders, set the status to CANCELLED, save it and map it to a response.</a:t>
            </a:r>
          </a:p>
          <a:p/>
          <a:p>
            <a:r>
              <a:t>- Ask the class</a:t>
            </a:r>
          </a:p>
          <a:p/>
          <a:p>
            <a:r>
              <a:t>  Does this fully implement the business rule?</a:t>
            </a:r>
          </a:p>
          <a:p/>
          <a:p>
            <a:r>
              <a:t>  Maybe not.</a:t>
            </a:r>
          </a:p>
          <a:p/>
          <a:p>
            <a:r>
              <a:t>  What about an order that is already CANCELLED, or DELIVERED, or PAYMENT_PENDING?</a:t>
            </a:r>
          </a:p>
          <a:p/>
          <a:p>
            <a:r>
              <a:t>- The lesson</a:t>
            </a:r>
          </a:p>
          <a:p/>
          <a:p>
            <a:r>
              <a:t>  AI can implement the rules you give it.</a:t>
            </a:r>
          </a:p>
          <a:p/>
          <a:p>
            <a:r>
              <a:t>  But incomplete requirements produce incomplete business behavior.</a:t>
            </a:r>
          </a:p>
          <a:p/>
          <a:p>
            <a:r>
              <a:t>  Business rules must come from developers and domain experts.</a:t>
            </a:r>
          </a:p>
          <a:p/>
          <a:p>
            <a:r>
              <a:t>- What the diagram shows</a:t>
            </a:r>
          </a:p>
          <a:p/>
          <a:p>
            <a:r>
              <a:t>  Business rules turned into a prompt, Copilot producing OrderService and repository calls, with developer validation around the logic.</a:t>
            </a:r>
          </a:p>
          <a:p/>
          <a:p>
            <a:r>
              <a:t>- Key point</a:t>
            </a:r>
          </a:p>
          <a:p/>
          <a:p>
            <a:r>
              <a:t>  Business logic needs the closest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the draft missed</a:t>
            </a:r>
          </a:p>
          <a:p/>
          <a:p>
            <a:r>
              <a:t>  No transaction, so a failure between saves loses money.</a:t>
            </a:r>
          </a:p>
          <a:p/>
          <a:p>
            <a:r>
              <a:t>  No check for a positive amount, sufficient balance or frozen accounts.</a:t>
            </a:r>
          </a:p>
          <a:p/>
          <a:p>
            <a:r>
              <a:t>  get() on an Optional crashes.</a:t>
            </a:r>
          </a:p>
          <a:p/>
          <a:p>
            <a:r>
              <a:t>- Idempotency</a:t>
            </a:r>
          </a:p>
          <a:p/>
          <a:p>
            <a:r>
              <a:t>  A retried request would run the transfer again.</a:t>
            </a:r>
          </a:p>
          <a:p/>
          <a:p>
            <a:r>
              <a:t>  The reviewed version returns the stored result for a repeated key.</a:t>
            </a:r>
          </a:p>
          <a:p/>
          <a:p>
            <a:r>
              <a:t>- Logging</a:t>
            </a:r>
          </a:p>
          <a:p/>
          <a:p>
            <a:r>
              <a:t>  The draft logs full account numbers.</a:t>
            </a:r>
          </a:p>
          <a:p/>
          <a:p>
            <a:r>
              <a:t>  The review logs only a transfer ID.</a:t>
            </a:r>
          </a:p>
          <a:p/>
          <a:p>
            <a:r>
              <a:t>- Rules in the domain</a:t>
            </a:r>
          </a:p>
          <a:p/>
          <a:p>
            <a:r>
              <a:t>  debit enforces balance and status inside the entity, so every caller gets the same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Business rules</a:t>
            </a:r>
          </a:p>
          <a:p/>
          <a:p>
            <a:r>
              <a:t>  Amount, balance, account status and daily limits must all be checked against the requirement, not against the generated code.</a:t>
            </a:r>
          </a:p>
          <a:p/>
          <a:p>
            <a:r>
              <a:t>- Tests</a:t>
            </a:r>
          </a:p>
          <a:p/>
          <a:p>
            <a:r>
              <a:t>  Generated tests often only cover the happy path.</a:t>
            </a:r>
          </a:p>
          <a:p/>
          <a:p>
            <a:r>
              <a:t>  Add insufficient funds, frozen accounts and duplicate requests.</a:t>
            </a:r>
          </a:p>
          <a:p/>
          <a:p>
            <a:r>
              <a:t>- Security</a:t>
            </a:r>
          </a:p>
          <a:p/>
          <a:p>
            <a:r>
              <a:t>  Nothing checks whether the caller owns the source account, which is object-level authorization from Module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data flow</a:t>
            </a:r>
          </a:p>
          <a:p/>
          <a:p>
            <a:r>
              <a:t>  JSON comes in and becomes an OrderRequest.</a:t>
            </a:r>
          </a:p>
          <a:p/>
          <a:p>
            <a:r>
              <a:t>  It goes through the controller and service to the domain entity, then back out as an OrderResponse and JSON.</a:t>
            </a:r>
          </a:p>
          <a:p/>
          <a:p>
            <a:r>
              <a:t>- The prompt</a:t>
            </a:r>
          </a:p>
          <a:p/>
          <a:p>
            <a:r>
              <a:t>  Ask for OrderRequest with a required customerId and a required total greater than zero.</a:t>
            </a:r>
          </a:p>
          <a:p/>
          <a:p>
            <a:r>
              <a:t>  Ask for OrderResponse with orderId, customerId, total and status.</a:t>
            </a:r>
          </a:p>
          <a:p/>
          <a:p>
            <a:r>
              <a:t>  Use Java records and Jakarta Validation, and do not expose the JPA entity directly.</a:t>
            </a:r>
          </a:p>
          <a:p/>
          <a:p>
            <a:r>
              <a:t>- Possible output</a:t>
            </a:r>
          </a:p>
          <a:p/>
          <a:p>
            <a:r>
              <a:t>  OrderRequest can be a record with @NotNull on customerId and @NotNull @Positive on total.</a:t>
            </a:r>
          </a:p>
          <a:p/>
          <a:p>
            <a:r>
              <a:t>  OrderResponse can be a record with orderId, customerId, total and status.</a:t>
            </a:r>
          </a:p>
          <a:p/>
          <a:p>
            <a:r>
              <a:t>- Module 3 reminder</a:t>
            </a:r>
          </a:p>
          <a:p/>
          <a:p>
            <a:r>
              <a:t>  Copilot is great for DTO boilerplate.</a:t>
            </a:r>
          </a:p>
          <a:p/>
          <a:p>
            <a:r>
              <a:t>  But the external API contract should not accidentally become the persistence model.</a:t>
            </a:r>
          </a:p>
          <a:p/>
          <a:p>
            <a:r>
              <a:t>- What the diagram shows</a:t>
            </a:r>
          </a:p>
          <a:p/>
          <a:p>
            <a:r>
              <a:t>  JSON to OrderRequest, through the controller and service to the domain model, then OrderResponse and JSON, with Copilot helping create the DTOs.</a:t>
            </a:r>
          </a:p>
          <a:p/>
          <a:p>
            <a:r>
              <a:t>- Key point</a:t>
            </a:r>
          </a:p>
          <a:p/>
          <a:p>
            <a:r>
              <a:t>  DTOs keep the API contract separate from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persistence path</a:t>
            </a:r>
          </a:p>
          <a:p/>
          <a:p>
            <a:r>
              <a:t>  OrderService calls OrderRepository, which uses Spring Data JPA, then Hibernate and JDBC, then the Order database.</a:t>
            </a:r>
          </a:p>
          <a:p/>
          <a:p>
            <a:r>
              <a:t>  Copilot can help with repository interfaces, derived query methods, JPQL scaffolding, entity mappings and persistence tests.</a:t>
            </a:r>
          </a:p>
          <a:p/>
          <a:p>
            <a:r>
              <a:t>- The prompt</a:t>
            </a:r>
          </a:p>
          <a:p/>
          <a:p>
            <a:r>
              <a:t>  Ask for a Spring Data JPA repository for Order that extends JpaRepository, finds orders by status and by customerId, and pages customer orders.</a:t>
            </a:r>
          </a:p>
          <a:p/>
          <a:p>
            <a:r>
              <a:t>  It might generate a method like findByCustomerId with a Pageable.</a:t>
            </a:r>
          </a:p>
          <a:p/>
          <a:p>
            <a:r>
              <a:t>- Review more deeply</a:t>
            </a:r>
          </a:p>
          <a:p/>
          <a:p>
            <a:r>
              <a:t>  Ask: what SQL might this produce?</a:t>
            </a:r>
          </a:p>
          <a:p/>
          <a:p>
            <a:r>
              <a:t>  Does the table need an index?</a:t>
            </a:r>
          </a:p>
          <a:p/>
          <a:p>
            <a:r>
              <a:t>  How much data could come back?</a:t>
            </a:r>
          </a:p>
          <a:p/>
          <a:p>
            <a:r>
              <a:t>  Is pagination needed?</a:t>
            </a:r>
          </a:p>
          <a:p/>
          <a:p>
            <a:r>
              <a:t>  Could this cause N+1 queries, meaning many extra queries in a loop?</a:t>
            </a:r>
          </a:p>
          <a:p/>
          <a:p>
            <a:r>
              <a:t>- The lesson</a:t>
            </a:r>
          </a:p>
          <a:p/>
          <a:p>
            <a:r>
              <a:t>  AI can write repository code that compiles and still performs badly in production.</a:t>
            </a:r>
          </a:p>
          <a:p/>
          <a:p>
            <a:r>
              <a:t>  As Module 5 taught, data access is an architecture and performance concern, not just Java boilerplate.</a:t>
            </a:r>
          </a:p>
          <a:p/>
          <a:p>
            <a:r>
              <a:t>- What the diagram shows</a:t>
            </a:r>
          </a:p>
          <a:p/>
          <a:p>
            <a:r>
              <a:t>  OrderService, OrderRepository, Spring Data JPA, Hibernate and JDBC to the database, with Copilot scaffolding repository queries.</a:t>
            </a:r>
          </a:p>
          <a:p/>
          <a:p>
            <a:r>
              <a:t>- Key point</a:t>
            </a:r>
          </a:p>
          <a:p/>
          <a:p>
            <a:r>
              <a:t>  Generated queries compile easily — check what SQL they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consistent strategy</a:t>
            </a:r>
          </a:p>
          <a:p/>
          <a:p>
            <a:r>
              <a:t>  Ask Copilot for one consistent error strategy instead of local try/catch blocks everywhere.</a:t>
            </a:r>
          </a:p>
          <a:p/>
          <a:p>
            <a:r>
              <a:t>  The request is validated; invalid input returns 400.</a:t>
            </a:r>
          </a:p>
          <a:p/>
          <a:p>
            <a:r>
              <a:t>  Valid requests go to the service, business exceptions go to a global handler, and the client gets a consistent error.</a:t>
            </a:r>
          </a:p>
          <a:p/>
          <a:p>
            <a:r>
              <a:t>- The prompt</a:t>
            </a:r>
          </a:p>
          <a:p/>
          <a:p>
            <a:r>
              <a:t>  Ask for centralized error handling with @RestControllerAdvice.</a:t>
            </a:r>
          </a:p>
          <a:p/>
          <a:p>
            <a:r>
              <a:t>  OrderNotFoundException maps to 404, InvalidOrderStateException to 409, and MethodArgumentNotValidException to 400.</a:t>
            </a:r>
          </a:p>
          <a:p/>
          <a:p>
            <a:r>
              <a:t>  Return errorCode, message, timestamp and path, and do not expose stack traces.</a:t>
            </a:r>
          </a:p>
          <a:p/>
          <a:p>
            <a:r>
              <a:t>- Possible response</a:t>
            </a:r>
          </a:p>
          <a:p/>
          <a:p>
            <a:r>
              <a:t>  For example, errorCode ORDER_NOT_FOUND, the message 'Order 1001 was not found', a timestamp and the path /orders/1001.</a:t>
            </a:r>
          </a:p>
          <a:p/>
          <a:p>
            <a:r>
              <a:t>- Review it</a:t>
            </a:r>
          </a:p>
          <a:p/>
          <a:p>
            <a:r>
              <a:t>  Check the status codes, consistency, sensitive information, internal exception leakage and logging behavior.</a:t>
            </a:r>
          </a:p>
          <a:p/>
          <a:p>
            <a:r>
              <a:t>  Never assume a generated exception handler is automatically secure.</a:t>
            </a:r>
          </a:p>
          <a:p/>
          <a:p>
            <a:r>
              <a:t>- What the diagram shows</a:t>
            </a:r>
          </a:p>
          <a:p/>
          <a:p>
            <a:r>
              <a:t>  A request validated as a DTO, passing the controller and service, raising an exception handled by @RestControllerAdvice into a consistent API error.</a:t>
            </a:r>
          </a:p>
          <a:p/>
          <a:p>
            <a:r>
              <a:t>- Key point</a:t>
            </a:r>
          </a:p>
          <a:p/>
          <a:p>
            <a:r>
              <a:t>  One error strategy for the whole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Tests are where AI is most helpful and most misleading: it writes them fast, but they may prove nothing.</a:t>
            </a:r>
          </a:p>
          <a:p/>
          <a:p>
            <a:r>
              <a:t>- What comes next</a:t>
            </a:r>
          </a:p>
          <a:p/>
          <a:p>
            <a:r>
              <a:t>  Test generation and gap analysis, the official policy-rules exercise, refactoring, review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Test scaffolding</a:t>
            </a:r>
          </a:p>
          <a:p/>
          <a:p>
            <a:r>
              <a:t>  Copilot can save a lot of time creating test scaffolding.</a:t>
            </a:r>
          </a:p>
          <a:p/>
          <a:p>
            <a:r>
              <a:t>  For service tests, OrderService is tested with a mocked OrderRepository.</a:t>
            </a:r>
          </a:p>
          <a:p/>
          <a:p>
            <a:r>
              <a:t>- The prompt</a:t>
            </a:r>
          </a:p>
          <a:p/>
          <a:p>
            <a:r>
              <a:t>  Ask for JUnit 5 and Mockito tests for cancelOrder.</a:t>
            </a:r>
          </a:p>
          <a:p/>
          <a:p>
            <a:r>
              <a:t>  A CREATED order cancels successfully, a SHIPPED order throws InvalidOrderStateException, and a missing order throws OrderNotFoundException.</a:t>
            </a:r>
          </a:p>
          <a:p/>
          <a:p>
            <a:r>
              <a:t>  Use Arrange-Act-Assert, verify important repository interactions, and don't over-mock simple values.</a:t>
            </a:r>
          </a:p>
          <a:p/>
          <a:p>
            <a:r>
              <a:t>- Arrange-Act-Assert</a:t>
            </a:r>
          </a:p>
          <a:p/>
          <a:p>
            <a:r>
              <a:t>  Arrange prepares the test data and mocks.</a:t>
            </a:r>
          </a:p>
          <a:p/>
          <a:p>
            <a:r>
              <a:t>  Act runs the behavior.</a:t>
            </a:r>
          </a:p>
          <a:p/>
          <a:p>
            <a:r>
              <a:t>  Assert checks the result.</a:t>
            </a:r>
          </a:p>
          <a:p/>
          <a:p>
            <a:r>
              <a:t>- Does the test prove anything?</a:t>
            </a:r>
          </a:p>
          <a:p/>
          <a:p>
            <a:r>
              <a:t>  A generated test that only does assertNotNull(result) may pass but proves very little.</a:t>
            </a:r>
          </a:p>
          <a:p/>
          <a:p>
            <a:r>
              <a:t>  A stronger test checks that the status changed to CANCELLED, that the right repository call happened, and that the invalid state was rejected.</a:t>
            </a:r>
          </a:p>
          <a:p/>
          <a:p>
            <a:r>
              <a:t>- What the diagram shows</a:t>
            </a:r>
          </a:p>
          <a:p/>
          <a:p>
            <a:r>
              <a:t>  OrderService under test with a mocked OrderRepository, and Copilot generating happy-path, missing-order and invalid-state tests.</a:t>
            </a:r>
          </a:p>
          <a:p/>
          <a:p>
            <a:r>
              <a:t>- Key point</a:t>
            </a:r>
          </a:p>
          <a:p/>
          <a:p>
            <a:r>
              <a:t>  Copilot scaffolds tests; you check that they prove the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generated test</a:t>
            </a:r>
          </a:p>
          <a:p/>
          <a:p>
            <a:r>
              <a:t>  It passes whether or not cancelOrder works, because it only checks the object still exists.</a:t>
            </a:r>
          </a:p>
          <a:p/>
          <a:p>
            <a:r>
              <a:t>- The reviewed test</a:t>
            </a:r>
          </a:p>
          <a:p/>
          <a:p>
            <a:r>
              <a:t>  It sets a specific starting state, then asserts the new status and that the event was published.</a:t>
            </a:r>
          </a:p>
          <a:p/>
          <a:p>
            <a:r>
              <a:t>- The negative test</a:t>
            </a:r>
          </a:p>
          <a:p/>
          <a:p>
            <a:r>
              <a:t>  It proves the business rule: a shipped order throws InvalidOrderStateException.</a:t>
            </a:r>
          </a:p>
          <a:p/>
          <a:p>
            <a:r>
              <a:t>- A quick check</a:t>
            </a:r>
          </a:p>
          <a:p/>
          <a:p>
            <a:r>
              <a:t>  Break the code on purpose.</a:t>
            </a:r>
          </a:p>
          <a:p/>
          <a:p>
            <a:r>
              <a:t>  If the test still passes, it isn't testing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Testing the HTTP layer</a:t>
            </a:r>
          </a:p>
          <a:p/>
          <a:p>
            <a:r>
              <a:t>  Controller tests check the HTTP layer.</a:t>
            </a:r>
          </a:p>
          <a:p/>
          <a:p>
            <a:r>
              <a:t>  The flow is: HTTP request, MockMvc, OrderController, a mocked OrderService, HTTP response.</a:t>
            </a:r>
          </a:p>
          <a:p/>
          <a:p>
            <a:r>
              <a:t>- The prompt</a:t>
            </a:r>
          </a:p>
          <a:p/>
          <a:p>
            <a:r>
              <a:t>  Ask for Spring MVC tests using JUnit 5, @WebMvcTest and MockMvc.</a:t>
            </a:r>
          </a:p>
          <a:p/>
          <a:p>
            <a:r>
              <a:t>  POST /orders should return 201, and getting an existing order should return 200.</a:t>
            </a:r>
          </a:p>
          <a:p/>
          <a:p>
            <a:r>
              <a:t>  An invalid POST should return 400, and a missing order should map to 404.</a:t>
            </a:r>
          </a:p>
          <a:p/>
          <a:p>
            <a:r>
              <a:t>  Also verify the important JSON fields.</a:t>
            </a:r>
          </a:p>
          <a:p/>
          <a:p>
            <a:r>
              <a:t>- What they cover</a:t>
            </a:r>
          </a:p>
          <a:p/>
          <a:p>
            <a:r>
              <a:t>  These tests focus on HTTP mappings, request parsing, validation, response serialization, status codes and exception mapping.</a:t>
            </a:r>
          </a:p>
          <a:p/>
          <a:p>
            <a:r>
              <a:t>  Copilot is especially useful for this repetitive scaffolding.</a:t>
            </a:r>
          </a:p>
          <a:p/>
          <a:p>
            <a:r>
              <a:t>- Two different questions</a:t>
            </a:r>
          </a:p>
          <a:p/>
          <a:p>
            <a:r>
              <a:t>  Service tests ask: is the business logic correct?</a:t>
            </a:r>
          </a:p>
          <a:p/>
          <a:p>
            <a:r>
              <a:t>  Controller tests ask: is the HTTP contract behaving correctly?</a:t>
            </a:r>
          </a:p>
          <a:p/>
          <a:p>
            <a:r>
              <a:t>- What the diagram shows</a:t>
            </a:r>
          </a:p>
          <a:p/>
          <a:p>
            <a:r>
              <a:t>  An HTTP request through MockMvc to OrderController with a mocked OrderService, then response assertions.</a:t>
            </a:r>
          </a:p>
          <a:p/>
          <a:p>
            <a:r>
              <a:t>- Key point</a:t>
            </a:r>
          </a:p>
          <a:p/>
          <a:p>
            <a:r>
              <a:t>  Controller tests verify the HTTP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test strategy</a:t>
            </a:r>
          </a:p>
          <a:p/>
          <a:p>
            <a:r>
              <a:t>  Good confidence comes from happy paths, negative paths, boundary cases and failure cases together.</a:t>
            </a:r>
          </a:p>
          <a:p/>
          <a:p>
            <a:r>
              <a:t>  Ask: what behavior have we not tested?</a:t>
            </a:r>
          </a:p>
          <a:p/>
          <a:p>
            <a:r>
              <a:t>- Use Copilot to analyze</a:t>
            </a:r>
          </a:p>
          <a:p/>
          <a:p>
            <a:r>
              <a:t>  Instead of repeatedly asking for more tests, ask Copilot to review OrderService and its current tests.</a:t>
            </a:r>
          </a:p>
          <a:p/>
          <a:p>
            <a:r>
              <a:t>  Have it find untested behavior, group the gaps as happy path, validation, state transition, boundary or failure, and rank the five most valuable ones.</a:t>
            </a:r>
          </a:p>
          <a:p/>
          <a:p>
            <a:r>
              <a:t>  Tell it not to generate code yet.</a:t>
            </a:r>
          </a:p>
          <a:p/>
          <a:p>
            <a:r>
              <a:t>- Analyze, decide, generate</a:t>
            </a:r>
          </a:p>
          <a:p/>
          <a:p>
            <a:r>
              <a:t>  This is an important technique: analyze first, decide, then generate.</a:t>
            </a:r>
          </a:p>
          <a:p/>
          <a:p>
            <a:r>
              <a:t>  Don't generate everything.</a:t>
            </a:r>
          </a:p>
          <a:p/>
          <a:p>
            <a:r>
              <a:t>- What it might find</a:t>
            </a:r>
          </a:p>
          <a:p/>
          <a:p>
            <a:r>
              <a:t>  Examples: zero total, negative total, an order that's already cancelled, a delivered order, a duplicate request, or a repository failure.</a:t>
            </a:r>
          </a:p>
          <a:p/>
          <a:p>
            <a:r>
              <a:t>  The developer then decides which cases matter.</a:t>
            </a:r>
          </a:p>
          <a:p/>
          <a:p>
            <a:r>
              <a:t>- Coverage isn't quality</a:t>
            </a:r>
          </a:p>
          <a:p/>
          <a:p>
            <a:r>
              <a:t>  Asking to increase coverage to 100 percent is a weaker use of AI.</a:t>
            </a:r>
          </a:p>
          <a:p/>
          <a:p>
            <a:r>
              <a:t>  A coverage percentage alone does not prove quality.</a:t>
            </a:r>
          </a:p>
          <a:p/>
          <a:p>
            <a:r>
              <a:t>- What the diagram shows</a:t>
            </a:r>
          </a:p>
          <a:p/>
          <a:p>
            <a:r>
              <a:t>  Existing code and tests analysed by Copilot into happy-path, negative, boundary and failure gaps, then prioritized by the developer.</a:t>
            </a:r>
          </a:p>
          <a:p/>
          <a:p>
            <a:r>
              <a:t>- Key point</a:t>
            </a:r>
          </a:p>
          <a:p/>
          <a:p>
            <a:r>
              <a:t>  Use AI to find missing tests, not to chase a coverage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engine</a:t>
            </a:r>
          </a:p>
          <a:p/>
          <a:p>
            <a:r>
              <a:t>  The Java PolicyEngine owns the decision.</a:t>
            </a:r>
          </a:p>
          <a:p/>
          <a:p>
            <a:r>
              <a:t>  The model only supplies a score; a model failure always becomes HOLD.</a:t>
            </a:r>
          </a:p>
          <a:p/>
          <a:p>
            <a:r>
              <a:t>- Order matters</a:t>
            </a:r>
          </a:p>
          <a:p/>
          <a:p>
            <a:r>
              <a:t>  The first matching rule wins, so a high-value transfer is held even with a low score.</a:t>
            </a:r>
          </a:p>
          <a:p/>
          <a:p>
            <a:r>
              <a:t>- The test</a:t>
            </a:r>
          </a:p>
          <a:p/>
          <a:p>
            <a:r>
              <a:t>  One parameterized row per policy row, including the boundary between approve and review.</a:t>
            </a:r>
          </a:p>
          <a:p/>
          <a:p>
            <a:r>
              <a:t>- Copilot's role</a:t>
            </a:r>
          </a:p>
          <a:p/>
          <a:p>
            <a:r>
              <a:t>  Copilot can draft both the if/else chain and the test table.</a:t>
            </a:r>
          </a:p>
          <a:p/>
          <a:p>
            <a:r>
              <a:t>  The developer checks them against LAB-5-GUIDE.md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labs/day-05/exercises.</a:t>
            </a:r>
          </a:p>
          <a:p/>
          <a:p>
            <a:r>
              <a:t>- The rules</a:t>
            </a:r>
          </a:p>
          <a:p/>
          <a:p>
            <a:r>
              <a:t>  The five rows are evaluated in order, and the first match decides.</a:t>
            </a:r>
          </a:p>
          <a:p/>
          <a:p>
            <a:r>
              <a:t>- Copilot</a:t>
            </a:r>
          </a:p>
          <a:p/>
          <a:p>
            <a:r>
              <a:t>  Copilot may write the draft, but a person reviews it and the tests must prove each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Suppose OrderController has grown to 300 lines.</a:t>
            </a:r>
          </a:p>
          <a:p/>
          <a:p>
            <a:r>
              <a:t>  It handles HTTP, validation, business rules, repository access and entity mapping all in one place.</a:t>
            </a:r>
          </a:p>
          <a:p/>
          <a:p>
            <a:r>
              <a:t>- Analyze first</a:t>
            </a:r>
          </a:p>
          <a:p/>
          <a:p>
            <a:r>
              <a:t>  Ask Copilot to analyze the controller.</a:t>
            </a:r>
          </a:p>
          <a:p/>
          <a:p>
            <a:r>
              <a:t>  It should find responsibilities that don't belong in the controller layer, and propose a split into controller, service and supporting classes.</a:t>
            </a:r>
          </a:p>
          <a:p/>
          <a:p>
            <a:r>
              <a:t>  It must keep every API contract, and not change code yet.</a:t>
            </a:r>
          </a:p>
          <a:p/>
          <a:p>
            <a:r>
              <a:t>- The sequence</a:t>
            </a:r>
          </a:p>
          <a:p/>
          <a:p>
            <a:r>
              <a:t>  Analyze, propose, developer review, then refactor.</a:t>
            </a:r>
          </a:p>
          <a:p/>
          <a:p>
            <a:r>
              <a:t>  Then ask for one change at a time, for example: move the cancellation business logic into OrderService, keeping current behavior and the endpoint contract.</a:t>
            </a:r>
          </a:p>
          <a:p/>
          <a:p>
            <a:r>
              <a:t>- Small steps</a:t>
            </a:r>
          </a:p>
          <a:p/>
          <a:p>
            <a:r>
              <a:t>  Small refactoring steps are easier to review, test, revert and understand than a huge AI-generated rewrite.</a:t>
            </a:r>
          </a:p>
          <a:p/>
          <a:p>
            <a:r>
              <a:t>- What the diagram shows</a:t>
            </a:r>
          </a:p>
          <a:p/>
          <a:p>
            <a:r>
              <a:t>  A large controller mixing business and persistence logic, refactored with Copilot into controller, service and repository.</a:t>
            </a:r>
          </a:p>
          <a:p/>
          <a:p>
            <a:r>
              <a:t>- Key point</a:t>
            </a:r>
          </a:p>
          <a:p/>
          <a:p>
            <a:r>
              <a:t>  Refactor in small, tested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review assistant</a:t>
            </a:r>
          </a:p>
          <a:p/>
          <a:p>
            <a:r>
              <a:t>  AI can be a useful extra reviewer.</a:t>
            </a:r>
          </a:p>
          <a:p/>
          <a:p>
            <a:r>
              <a:t>  Ask it to review OrderService for duplicated logic, long methods and unclear naming.</a:t>
            </a:r>
          </a:p>
          <a:p/>
          <a:p>
            <a:r>
              <a:t>  Also ask about unnecessary coupling, Spring anti-patterns, transaction-boundary concerns, weak exception handling and testability.</a:t>
            </a:r>
          </a:p>
          <a:p/>
          <a:p>
            <a:r>
              <a:t>  Have it rank findings by severity and not rewrite the code.</a:t>
            </a:r>
          </a:p>
          <a:p/>
          <a:p>
            <a:r>
              <a:t>- Analyze before modifying</a:t>
            </a:r>
          </a:p>
          <a:p/>
          <a:p>
            <a:r>
              <a:t>  This produces a review report instead of changing the code right away.</a:t>
            </a:r>
          </a:p>
          <a:p/>
          <a:p>
            <a:r>
              <a:t>  It builds an important enterprise habit: ask AI to analyze before it modifies anything.</a:t>
            </a:r>
          </a:p>
          <a:p/>
          <a:p>
            <a:r>
              <a:t>- Challenge the suggestions</a:t>
            </a:r>
          </a:p>
          <a:p/>
          <a:p>
            <a:r>
              <a:t>  Copilot may suggest a pattern that adds needless abstraction, conflicts with team conventions, makes simple code more complex, or changes behavior.</a:t>
            </a:r>
          </a:p>
          <a:p/>
          <a:p>
            <a:r>
              <a:t>- Who decides</a:t>
            </a:r>
          </a:p>
          <a:p/>
          <a:p>
            <a:r>
              <a:t>  AI review is one more input into engineering judgment.</a:t>
            </a:r>
          </a:p>
          <a:p/>
          <a:p>
            <a:r>
              <a:t>  It is not the final review authority.</a:t>
            </a:r>
          </a:p>
          <a:p/>
          <a:p>
            <a:r>
              <a:t>- What the diagram shows</a:t>
            </a:r>
          </a:p>
          <a:p/>
          <a:p>
            <a:r>
              <a:t>  Existing code reviewed by AI for smells, complexity, coupling and testability, then a developer decision and targeted improvements.</a:t>
            </a:r>
          </a:p>
          <a:p/>
          <a:p>
            <a:r>
              <a:t>- Key point</a:t>
            </a:r>
          </a:p>
          <a:p/>
          <a:p>
            <a:r>
              <a:t>  AI suggests; the developer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High value</a:t>
            </a:r>
          </a:p>
          <a:p/>
          <a:p>
            <a:r>
              <a:t>  Troubleshooting is one of the most valuable ways to use AI.</a:t>
            </a:r>
          </a:p>
          <a:p/>
          <a:p>
            <a:r>
              <a:t>  The flow is: error, stack trace or log, Copilot analysis, possible root causes, diagnostic steps, developer verification, fix, retest.</a:t>
            </a:r>
          </a:p>
          <a:p/>
          <a:p>
            <a:r>
              <a:t>- Don't just say 'fix this'</a:t>
            </a:r>
          </a:p>
          <a:p/>
          <a:p>
            <a:r>
              <a:t>  Suppose Spring Boot fails with APPLICATION FAILED TO START.</a:t>
            </a:r>
          </a:p>
          <a:p/>
          <a:p>
            <a:r>
              <a:t>  Instead of 'fix this', ask Copilot to find the first real root-cause exception and separate it from the follow-on exceptions.</a:t>
            </a:r>
          </a:p>
          <a:p/>
          <a:p>
            <a:r>
              <a:t>  Ask for the three most likely causes and diagnostic steps before any code change, and only then the smallest fix.</a:t>
            </a:r>
          </a:p>
          <a:p/>
          <a:p>
            <a:r>
              <a:t>- Common startup problems</a:t>
            </a:r>
          </a:p>
          <a:p/>
          <a:p>
            <a:r>
              <a:t>  Examples: a missing bean, a duplicate bean, a circular dependency, a port conflict, an invalid property, a database login failure, a migration failure, or a missing environment variable.</a:t>
            </a:r>
          </a:p>
          <a:p/>
          <a:p>
            <a:r>
              <a:t>- The right habit</a:t>
            </a:r>
          </a:p>
          <a:p/>
          <a:p>
            <a:r>
              <a:t>  Observe, form a hypothesis, verify, then fix.</a:t>
            </a:r>
          </a:p>
          <a:p/>
          <a:p>
            <a:r>
              <a:t>  Don't go from error, to a random AI change, to a new error.</a:t>
            </a:r>
          </a:p>
          <a:p/>
          <a:p>
            <a:r>
              <a:t>- What the diagram shows</a:t>
            </a:r>
          </a:p>
          <a:p/>
          <a:p>
            <a:r>
              <a:t>  An error or stack trace analysed by Copilot into possible root causes and diagnostic steps, then developer verification, a fix and a retest.</a:t>
            </a:r>
          </a:p>
          <a:p/>
          <a:p>
            <a:r>
              <a:t>- Key point</a:t>
            </a:r>
          </a:p>
          <a:p/>
          <a:p>
            <a:r>
              <a:t>  Diagnose first, verify, then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prompt</a:t>
            </a:r>
          </a:p>
          <a:p/>
          <a:p>
            <a:r>
              <a:t>  Include the full error, the package of the main class, and what the merge changed.</a:t>
            </a:r>
          </a:p>
          <a:p/>
          <a:p>
            <a:r>
              <a:t>- Likely causes</a:t>
            </a:r>
          </a:p>
          <a:p/>
          <a:p>
            <a:r>
              <a:t>  com.example.billing is outside com.example.order, so scanning misses it; or the class lacks a stereotype; or a @Profile bean isn't active.</a:t>
            </a:r>
          </a:p>
          <a:p/>
          <a:p>
            <a:r>
              <a:t>- Verify</a:t>
            </a:r>
          </a:p>
          <a:p/>
          <a:p>
            <a:r>
              <a:t>  Run with --debug, check the conditions report and the active profiles, then make the smallest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In a bank, AI-generated code must meet the same security, compliance and review standards as any other code.</a:t>
            </a:r>
          </a:p>
          <a:p/>
          <a:p>
            <a:r>
              <a:t>- What comes next</a:t>
            </a:r>
          </a:p>
          <a:p/>
          <a:p>
            <a:r>
              <a:t>  Guardrails, the enterprise workflow, the human responsibility boundary, the lab, and the full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Same security rules</a:t>
            </a:r>
          </a:p>
          <a:p/>
          <a:p>
            <a:r>
              <a:t>  AI-generated code is not automatically trusted code.</a:t>
            </a:r>
          </a:p>
          <a:p/>
          <a:p>
            <a:r>
              <a:t>  It must pass the same security standards as any other code.</a:t>
            </a:r>
          </a:p>
          <a:p/>
          <a:p>
            <a:r>
              <a:t>- Secrets</a:t>
            </a:r>
          </a:p>
          <a:p/>
          <a:p>
            <a:r>
              <a:t>  Do not paste production passwords, private keys, access tokens or customer secrets into prompts.</a:t>
            </a:r>
          </a:p>
          <a:p/>
          <a:p>
            <a:r>
              <a:t>  The only exception is when your organization's approved environment and policy explicitly allow it.</a:t>
            </a:r>
          </a:p>
          <a:p/>
          <a:p>
            <a:r>
              <a:t>- Authentication and authorization</a:t>
            </a:r>
          </a:p>
          <a:p/>
          <a:p>
            <a:r>
              <a:t>  Check that generated endpoints correctly establish who the user is.</a:t>
            </a:r>
          </a:p>
          <a:p/>
          <a:p>
            <a:r>
              <a:t>  Then ask whether every authenticated user should be allowed to do this.</a:t>
            </a:r>
          </a:p>
          <a:p/>
          <a:p>
            <a:r>
              <a:t>  For example, DELETE /orders/1001 may need specific permission.</a:t>
            </a:r>
          </a:p>
          <a:p/>
          <a:p>
            <a:r>
              <a:t>- Input, logging, dependencies</a:t>
            </a:r>
          </a:p>
          <a:p/>
          <a:p>
            <a:r>
              <a:t>  Generated endpoints should not blindly trust input.</a:t>
            </a:r>
          </a:p>
          <a:p/>
          <a:p>
            <a:r>
              <a:t>  Watch for logging of tokens or sensitive customer data.</a:t>
            </a:r>
          </a:p>
          <a:p/>
          <a:p>
            <a:r>
              <a:t>  Don't add every library the AI suggests.</a:t>
            </a:r>
          </a:p>
          <a:p/>
          <a:p>
            <a:r>
              <a:t>  Review the need, version, license, known vulnerabilities and maintenance.</a:t>
            </a:r>
          </a:p>
          <a:p/>
          <a:p>
            <a:r>
              <a:t>- Link to Module 7</a:t>
            </a:r>
          </a:p>
          <a:p/>
          <a:p>
            <a:r>
              <a:t>  AI code still goes through a pull request, tests, static security analysis, dependency scanning and security review.</a:t>
            </a:r>
          </a:p>
          <a:p/>
          <a:p>
            <a:r>
              <a:t>  The bad path is prompt, generated security code, accept, production.</a:t>
            </a:r>
          </a:p>
          <a:p/>
          <a:p>
            <a:r>
              <a:t>- What the diagram shows</a:t>
            </a:r>
          </a:p>
          <a:p/>
          <a:p>
            <a:r>
              <a:t>  Copilot-generated code surrounded by guardrails for secrets, authentication, authorization, validation, dependency scanning, sensitive logging and policies.</a:t>
            </a:r>
          </a:p>
          <a:p/>
          <a:p>
            <a:r>
              <a:t>- Key point</a:t>
            </a:r>
          </a:p>
          <a:p/>
          <a:p>
            <a:r>
              <a:t>  AI-written code passes the same security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enterprise workflow</a:t>
            </a:r>
          </a:p>
          <a:p/>
          <a:p>
            <a:r>
              <a:t>  Understand the requirement and give focused context.</a:t>
            </a:r>
          </a:p>
          <a:p/>
          <a:p>
            <a:r>
              <a:t>  Set constraints, generate small changes and review them.</a:t>
            </a:r>
          </a:p>
          <a:p/>
          <a:p>
            <a:r>
              <a:t>  Compile, test, check security and keep the architecture.</a:t>
            </a:r>
          </a:p>
          <a:p/>
          <a:p>
            <a:r>
              <a:t>  Use pull requests, and let CI/CD enforce the quality gates.</a:t>
            </a:r>
          </a:p>
          <a:p/>
          <a:p>
            <a:r>
              <a:t>- Think, then give context</a:t>
            </a:r>
          </a:p>
          <a:p/>
          <a:p>
            <a:r>
              <a:t>  Rule 1: think before prompting.</a:t>
            </a:r>
          </a:p>
          <a:p/>
          <a:p>
            <a:r>
              <a:t>  AI can't reliably rescue an undefined requirement.</a:t>
            </a:r>
          </a:p>
          <a:p/>
          <a:p>
            <a:r>
              <a:t>  Rule 2: give relevant context, such as framework, version, architecture, business rules and existing conventions.</a:t>
            </a:r>
          </a:p>
          <a:p/>
          <a:p>
            <a:r>
              <a:t>- Small steps and understanding</a:t>
            </a:r>
          </a:p>
          <a:p/>
          <a:p>
            <a:r>
              <a:t>  Rule 3: work in small steps.</a:t>
            </a:r>
          </a:p>
          <a:p/>
          <a:p>
            <a:r>
              <a:t>  Generate a DTO and review it, then a service method and review it.</a:t>
            </a:r>
          </a:p>
          <a:p/>
          <a:p>
            <a:r>
              <a:t>  Don't ask it to build a whole system.</a:t>
            </a:r>
          </a:p>
          <a:p/>
          <a:p>
            <a:r>
              <a:t>  Rule 4: ask AI to explain important code.</a:t>
            </a:r>
          </a:p>
          <a:p/>
          <a:p>
            <a:r>
              <a:t>  If you can't explain it, be careful about owning it in production.</a:t>
            </a:r>
          </a:p>
          <a:p/>
          <a:p>
            <a:r>
              <a:t>- Tests and gates</a:t>
            </a:r>
          </a:p>
          <a:p/>
          <a:p>
            <a:r>
              <a:t>  Rule 5: test everything meaningful.</a:t>
            </a:r>
          </a:p>
          <a:p/>
          <a:p>
            <a:r>
              <a:t>  Rule 6: keep the quality gates.</a:t>
            </a:r>
          </a:p>
          <a:p/>
          <a:p>
            <a:r>
              <a:t>  Copilot works inside the engineering process: developer, Git, PR, CI/CD, security, deployment.</a:t>
            </a:r>
          </a:p>
          <a:p/>
          <a:p>
            <a:r>
              <a:t>  It does not go straight from Copilot to production.</a:t>
            </a:r>
          </a:p>
          <a:p/>
          <a:p>
            <a:r>
              <a:t>- What the diagram shows</a:t>
            </a:r>
          </a:p>
          <a:p/>
          <a:p>
            <a:r>
              <a:t>  Requirement, context, prompt, a small change, review, test, security, pull request and CI/CD.</a:t>
            </a:r>
          </a:p>
          <a:p/>
          <a:p>
            <a:r>
              <a:t>- Key point</a:t>
            </a:r>
          </a:p>
          <a:p/>
          <a:p>
            <a:r>
              <a:t>  Copilot speeds up the process — it doesn't skip any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 the whole course</a:t>
            </a:r>
          </a:p>
          <a:p/>
          <a:p>
            <a:r>
              <a:t>  Copilot can help with implementation.</a:t>
            </a:r>
          </a:p>
          <a:p/>
          <a:p>
            <a:r>
              <a:t>  But humans and organizational controls stay responsible for business requirements, service boundaries, API and data ownership, and transaction strategy.</a:t>
            </a:r>
          </a:p>
          <a:p/>
          <a:p>
            <a:r>
              <a:t>  They also own security policy, compliance, SLA and SLO decisions, production access, deployment approval and final code acceptance.</a:t>
            </a:r>
          </a:p>
          <a:p/>
          <a:p>
            <a:r>
              <a:t>- Modules 2 and 4</a:t>
            </a:r>
          </a:p>
          <a:p/>
          <a:p>
            <a:r>
              <a:t>  Should Order and Payment be separate services?</a:t>
            </a:r>
          </a:p>
          <a:p/>
          <a:p>
            <a:r>
              <a:t>  That's an architecture decision.</a:t>
            </a:r>
          </a:p>
          <a:p/>
          <a:p>
            <a:r>
              <a:t>  Should Order talk to Inventory with REST or an OrderCreated event?</a:t>
            </a:r>
          </a:p>
          <a:p/>
          <a:p>
            <a:r>
              <a:t>  That depends on the system's requirements: business meaning, coupling, latency and reliability.</a:t>
            </a:r>
          </a:p>
          <a:p/>
          <a:p>
            <a:r>
              <a:t>- Module 5</a:t>
            </a:r>
          </a:p>
          <a:p/>
          <a:p>
            <a:r>
              <a:t>  Should several services share one database?</a:t>
            </a:r>
          </a:p>
          <a:p/>
          <a:p>
            <a:r>
              <a:t>  Copilot may generate that code easily, but that doesn't make it good architecture.</a:t>
            </a:r>
          </a:p>
          <a:p/>
          <a:p>
            <a:r>
              <a:t>- Modules 6 and 8</a:t>
            </a:r>
          </a:p>
          <a:p/>
          <a:p>
            <a:r>
              <a:t>  What timeout should Payment use?</a:t>
            </a:r>
          </a:p>
          <a:p/>
          <a:p>
            <a:r>
              <a:t>  Base it on latency, dependency behavior, SLOs and user experience, not a number the AI picked.</a:t>
            </a:r>
          </a:p>
          <a:p/>
          <a:p>
            <a:r>
              <a:t>  How much CPU and memory should pods get?</a:t>
            </a:r>
          </a:p>
          <a:p/>
          <a:p>
            <a:r>
              <a:t>  Measure the real workload.</a:t>
            </a:r>
          </a:p>
          <a:p/>
          <a:p>
            <a:r>
              <a:t>- The message</a:t>
            </a:r>
          </a:p>
          <a:p/>
          <a:p>
            <a:r>
              <a:t>  Copilot can help implement a decision.</a:t>
            </a:r>
          </a:p>
          <a:p/>
          <a:p>
            <a:r>
              <a:t>  It should not quietly become the authority that makes every decision.</a:t>
            </a:r>
          </a:p>
          <a:p/>
          <a:p>
            <a:r>
              <a:t>- What the diagram shows</a:t>
            </a:r>
          </a:p>
          <a:p/>
          <a:p>
            <a:r>
              <a:t>  Copilot generating, explaining, testing and refactoring on one side; people owning architecture, requirements, security policy, production decisions and final approval on the other.</a:t>
            </a:r>
          </a:p>
          <a:p/>
          <a:p>
            <a:r>
              <a:t>- Key point</a:t>
            </a:r>
          </a:p>
          <a:p/>
          <a:p>
            <a:r>
              <a:t>  Accountability never moves to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real AI-assisted exercise</a:t>
            </a:r>
          </a:p>
          <a:p/>
          <a:p>
            <a:r>
              <a:t>  This should be a genuine AI-assisted exercise, not a copy-and-paste lab.</a:t>
            </a:r>
          </a:p>
          <a:p/>
          <a:p>
            <a:r>
              <a:t>  Build POST /orders, GET /orders/{id} and PATCH /orders/{id}/cancel with Spring Boot 3, Java 21, Maven, Spring Web, Validation, Spring Data JPA, JUnit 5 and Mockito.</a:t>
            </a:r>
          </a:p>
          <a:p/>
          <a:p>
            <a:r>
              <a:t>- The requirement</a:t>
            </a:r>
          </a:p>
          <a:p/>
          <a:p>
            <a:r>
              <a:t>  An order has orderId, customerId, total and status.</a:t>
            </a:r>
          </a:p>
          <a:p/>
          <a:p>
            <a:r>
              <a:t>  Statuses are CREATED, CONFIRMED, SHIPPED and CANCELLED.</a:t>
            </a:r>
          </a:p>
          <a:p/>
          <a:p>
            <a:r>
              <a:t>  Customer ID is required, the total must be positive, and new orders start as CREATED.</a:t>
            </a:r>
          </a:p>
          <a:p/>
          <a:p>
            <a:r>
              <a:t>  Missing orders return 404, and SHIPPED orders cannot be cancelled.</a:t>
            </a:r>
          </a:p>
          <a:p/>
          <a:p>
            <a:r>
              <a:t>- Don't use one giant prompt</a:t>
            </a:r>
          </a:p>
          <a:p/>
          <a:p>
            <a:r>
              <a:t>  Work step by step.</a:t>
            </a:r>
          </a:p>
          <a:p/>
          <a:p>
            <a:r>
              <a:t>  First ask Copilot to list the classes and responsibilities, with no code yet, and review that.</a:t>
            </a:r>
          </a:p>
          <a:p/>
          <a:p>
            <a:r>
              <a:t>  Then generate DTOs, the controller, service logic, persistence, and exception handling for 400, 404 and 409.</a:t>
            </a:r>
          </a:p>
          <a:p/>
          <a:p>
            <a:r>
              <a:t>- Quality steps</a:t>
            </a:r>
          </a:p>
          <a:p/>
          <a:p>
            <a:r>
              <a:t>  Next generate unit tests and controller tests.</a:t>
            </a:r>
          </a:p>
          <a:p/>
          <a:p>
            <a:r>
              <a:t>  Ask Copilot for the five highest-risk missing test cases without changing code.</a:t>
            </a:r>
          </a:p>
          <a:p/>
          <a:p>
            <a:r>
              <a:t>  Then ask it to spot duplicated or overly complex code and suggest improvements without changing API behavior.</a:t>
            </a:r>
          </a:p>
          <a:p/>
          <a:p>
            <a:r>
              <a:t>- Definition of done</a:t>
            </a:r>
          </a:p>
          <a:p/>
          <a:p>
            <a:r>
              <a:t>  The lab is not finished until the project compiles, tests pass, the API behaves correctly and the code has been reviewed.</a:t>
            </a:r>
          </a:p>
          <a:p/>
          <a:p>
            <a:r>
              <a:t>- What the diagram shows</a:t>
            </a:r>
          </a:p>
          <a:p/>
          <a:p>
            <a:r>
              <a:t>  The lab path: analyze the requirement, then DTO, controller, service, repository, validation, tests, review and refactor.</a:t>
            </a:r>
          </a:p>
          <a:p/>
          <a:p>
            <a:r>
              <a:t>- Key point</a:t>
            </a:r>
          </a:p>
          <a:p/>
          <a:p>
            <a:r>
              <a:t>  Build incrementally, verifying each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Requirement and analysis</a:t>
            </a:r>
          </a:p>
          <a:p/>
          <a:p>
            <a:r>
              <a:t>  Use this slide to connect all nine modules.</a:t>
            </a:r>
          </a:p>
          <a:p/>
          <a:p>
            <a:r>
              <a:t>  A business requirement comes first, for example: customers must be able to cancel an order before it ships.</a:t>
            </a:r>
          </a:p>
          <a:p/>
          <a:p>
            <a:r>
              <a:t>  AI does not own this.</a:t>
            </a:r>
          </a:p>
          <a:p/>
          <a:p>
            <a:r>
              <a:t>  The developer works out the endpoint, states, errors, security and data impact.</a:t>
            </a:r>
          </a:p>
          <a:p/>
          <a:p>
            <a:r>
              <a:t>- Architecture, prompt, candidate</a:t>
            </a:r>
          </a:p>
          <a:p/>
          <a:p>
            <a:r>
              <a:t>  Earlier modules give the constraints: controller, service, repository; Order owns its data; no direct access to the Payment database.</a:t>
            </a:r>
          </a:p>
          <a:p/>
          <a:p>
            <a:r>
              <a:t>  Give Copilot focused context.</a:t>
            </a:r>
          </a:p>
          <a:p/>
          <a:p>
            <a:r>
              <a:t>  It generates a candidate DTO, controller, service, repository, validation, exceptions and tests.</a:t>
            </a:r>
          </a:p>
          <a:p/>
          <a:p>
            <a:r>
              <a:t>- Review, test, refactor</a:t>
            </a:r>
          </a:p>
          <a:p/>
          <a:p>
            <a:r>
              <a:t>  The developer checks that it meets the requirement, follows the architecture, and is maintainable and secure.</a:t>
            </a:r>
          </a:p>
          <a:p/>
          <a:p>
            <a:r>
              <a:t>  Automated tests check behavior: unit, controller and integration here, plus contract, end-to-end, performance, resilience and security where they fit.</a:t>
            </a:r>
          </a:p>
          <a:p/>
          <a:p>
            <a:r>
              <a:t>  Refactor carefully without changing behavior.</a:t>
            </a:r>
          </a:p>
          <a:p/>
          <a:p>
            <a:r>
              <a:t>- Delivery and operations</a:t>
            </a:r>
          </a:p>
          <a:p/>
          <a:p>
            <a:r>
              <a:t>  AI code goes through the same review as human code.</a:t>
            </a:r>
          </a:p>
          <a:p/>
          <a:p>
            <a:r>
              <a:t>  Module 7 takes over with commit, pull request, quality gates and CI/CD.</a:t>
            </a:r>
          </a:p>
          <a:p/>
          <a:p>
            <a:r>
              <a:t>  Module 8 packages the JAR as a container image, stores it in the registry, and deploys it on OpenShift.</a:t>
            </a:r>
          </a:p>
          <a:p/>
          <a:p>
            <a:r>
              <a:t>- Feedback and the final message</a:t>
            </a:r>
          </a:p>
          <a:p/>
          <a:p>
            <a:r>
              <a:t>  Module 6 observability with logs, metrics, traces and health feeds back bug fixes, performance work, new requirements and refactoring ideas.</a:t>
            </a:r>
          </a:p>
          <a:p/>
          <a:p>
            <a:r>
              <a:t>  That starts the next cycle.</a:t>
            </a:r>
          </a:p>
          <a:p/>
          <a:p>
            <a:r>
              <a:t>  Use GitHub Copilot as an engineering accelerator, not an engineering authority.</a:t>
            </a:r>
          </a:p>
          <a:p/>
          <a:p>
            <a:r>
              <a:t>  Architecture, business correctness, security, review, CI/CD and production decisions stay in the enterprise process.</a:t>
            </a:r>
          </a:p>
          <a:p/>
          <a:p>
            <a:r>
              <a:t>- What the diagram shows</a:t>
            </a:r>
          </a:p>
          <a:p/>
          <a:p>
            <a:r>
              <a:t>  A business requirement and human architecture decisions, Copilot-assisted layers and tests, security review, Git and PR, CI/CD, container, registry, OpenShift, observability and feedback.</a:t>
            </a:r>
          </a:p>
          <a:p/>
          <a:p>
            <a:r>
              <a:t>- Key point</a:t>
            </a:r>
          </a:p>
          <a:p/>
          <a:p>
            <a:r>
              <a:t>  The whole course, with Copilot accelerating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AI-assisted defects.</a:t>
            </a:r>
          </a:p>
          <a:p/>
          <a:p>
            <a:r>
              <a:t>- Correctness</a:t>
            </a:r>
          </a:p>
          <a:p/>
          <a:p>
            <a:r>
              <a:t>  Code that compiles and tests that pass can both be wrong.</a:t>
            </a:r>
          </a:p>
          <a:p/>
          <a:p>
            <a:r>
              <a:t>  Review and meaningful assertions are still required.</a:t>
            </a:r>
          </a:p>
          <a:p/>
          <a:p>
            <a:r>
              <a:t>- Context and accountability</a:t>
            </a:r>
          </a:p>
          <a:p/>
          <a:p>
            <a:r>
              <a:t>  Copilot only knows what's in its context, and the team is responsible for everything that merges.</a:t>
            </a:r>
          </a:p>
          <a:p/>
          <a:p>
            <a:r>
              <a:t>- Anti-patterns</a:t>
            </a:r>
          </a:p>
          <a:p/>
          <a:p>
            <a:r>
              <a:t>  Giant prompts, sensitive data in prompts, invented dependencies, skipped reviews, coverage chasing and AI-chosen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Copilot</a:t>
            </a:r>
          </a:p>
          <a:p/>
          <a:p>
            <a:r>
              <a:t>  Suggestions, generation, explanations, tests, refactoring and documentation.</a:t>
            </a:r>
          </a:p>
          <a:p/>
          <a:p>
            <a:r>
              <a:t>- 2. Prompt clarity</a:t>
            </a:r>
          </a:p>
          <a:p/>
          <a:p>
            <a:r>
              <a:t>  Context and constraints improve the quality of the output.</a:t>
            </a:r>
          </a:p>
          <a:p/>
          <a:p>
            <a:r>
              <a:t>- 3. Controller prompt</a:t>
            </a:r>
          </a:p>
          <a:p/>
          <a:p>
            <a:r>
              <a:t>  Paths, methods, DTOs, validation, service delegation and status codes.</a:t>
            </a:r>
          </a:p>
          <a:p/>
          <a:p>
            <a:r>
              <a:t>- 4. Service code</a:t>
            </a:r>
          </a:p>
          <a:p/>
          <a:p>
            <a:r>
              <a:t>  It holds business rules, transactions, events and exception behavior.</a:t>
            </a:r>
          </a:p>
          <a:p/>
          <a:p>
            <a:r>
              <a:t>- 5. Repository risk</a:t>
            </a:r>
          </a:p>
          <a:p/>
          <a:p>
            <a:r>
              <a:t>  Methods may reference non-existent fields or produce inefficient queries.</a:t>
            </a:r>
          </a:p>
          <a:p/>
          <a:p>
            <a:r>
              <a:t>- 6. Generated tests</a:t>
            </a:r>
          </a:p>
          <a:p/>
          <a:p>
            <a:r>
              <a:t>  Weak assertions, missing edge cases, or testing the wrong behavior.</a:t>
            </a:r>
          </a:p>
          <a:p/>
          <a:p>
            <a:r>
              <a:t>- 7. Refactoring</a:t>
            </a:r>
          </a:p>
          <a:p/>
          <a:p>
            <a:r>
              <a:t>  Changing structure without changing external behavior.</a:t>
            </a:r>
          </a:p>
          <a:p/>
          <a:p>
            <a:r>
              <a:t>- 8. Never in prompts</a:t>
            </a:r>
          </a:p>
          <a:p/>
          <a:p>
            <a:r>
              <a:t>  Customer data, account numbers, passwords, tokens, keys and confidential information.</a:t>
            </a:r>
          </a:p>
          <a:p/>
          <a:p>
            <a:r>
              <a:t>- 9. Hallucination</a:t>
            </a:r>
          </a:p>
          <a:p/>
          <a:p>
            <a:r>
              <a:t>  Plausible but incorrect information or code.</a:t>
            </a:r>
          </a:p>
          <a:p/>
          <a:p>
            <a:r>
              <a:t>- 10. Responsibility</a:t>
            </a:r>
          </a:p>
          <a:p/>
          <a:p>
            <a:r>
              <a:t>  The developer and engineering team.</a:t>
            </a:r>
          </a:p>
          <a:p/>
          <a:p>
            <a:r>
              <a:t>- Practical scenario</a:t>
            </a:r>
          </a:p>
          <a:p/>
          <a:p>
            <a:r>
              <a:t>  For a generated transferFunds method: check every business rule, add negative and duplicate tests, review authorization, make it transactional, and reject logged account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used Copilot for prompting, generating layers, testing, refactoring and troubleshooting, all inside the normal engineering controls.</a:t>
            </a:r>
          </a:p>
          <a:p/>
          <a:p>
            <a:r>
              <a:t>- Next module</a:t>
            </a:r>
          </a:p>
          <a:p/>
          <a:p>
            <a:r>
              <a:t>  Module 10 introduces agentic AI with Microsoft services: agents that plan and call tools against our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"Copilot is an engineering accelerator, not an engineering authority."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GitHub Copilot for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Spring Boot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AI-assisted development from requirement to tested microservice.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Copilot fundamentals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Backend prompting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Spring Boot code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Controllers and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AI-assisted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Refactoring and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Enterprise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Hands-on microservice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Prompting, code generation, tests, refactoring and enterprise best practices.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52728"/>
            <a:ext cx="4965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349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where GitHub Copilot fits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Write effective backend prompts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Provide useful project context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Generate controllers and services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Generate DTOs, repositories and validation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Create tests with AI assistance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Identify missing test scenarios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Refactor existing code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Copilot for troubleshooting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enterprise AI guardrails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a microservice iteratively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18888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18888"/>
            <a:ext cx="49834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GOAL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Not who generates the most code — who builds correct, secure software faster.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FOUR SECTIONS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764792"/>
            <a:ext cx="329184" cy="32918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728216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AI-assisted fundamentals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167128"/>
            <a:ext cx="1722120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167128"/>
            <a:ext cx="1722120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Developer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2472" y="2167128"/>
            <a:ext cx="1722120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Project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70632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81928" y="2843784"/>
            <a:ext cx="329184" cy="32918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807208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AI-assisted implementation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246120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DTO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9091" y="3246120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Controller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6254" y="3246120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13417" y="3246120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Repository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90580" y="3246120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849624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81928" y="3922776"/>
            <a:ext cx="329184" cy="329184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886200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AI-assisted 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325112"/>
            <a:ext cx="1273302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8382" y="4325112"/>
            <a:ext cx="1273302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Code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4836" y="4325112"/>
            <a:ext cx="1273302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Refactoring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21290" y="4325112"/>
            <a:ext cx="1273302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Troubleshooting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928616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81928" y="5001768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4965192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Enterprise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5404104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9091" y="5404104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Human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6254" y="5404104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CI/CD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13417" y="5404104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Policies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90580" y="5404104"/>
            <a:ext cx="1004011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Production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AI to produce correct, maintainable, secure software more efficiently.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GitHub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AI coding assistant in the editor that suggests code, tests and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instruction and context you give the AI to get a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files, code and rules the AI can see when it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Custom 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repository file of team conventions that Copilot applies to every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Hallucination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Confident AI output that is wrong, such as a method or library that doesn't exist.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Human in the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person reviews and approves AI output before it's used.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Refactoring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Improving the structure of code without changing what it does.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Guardrails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Rules and controls that limit what AI tools may see, generate or change.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Transfer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Jakarta Persistence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Pull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Identifier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YAML Ain't Markup Language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8 TO 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We know how to design, build, ship and run services — now build them faster with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1–8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 design and REST contracts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Layered Spring Boot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Data, messaging and resilience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Pipelines with tests and scans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Containers running on OpenShift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Use GitHub Copilot to go faster — without lowering the bar.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9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Copilot is and how it fits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Prompts that give real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Generate controllers, services and DTOs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Persistence and error handling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Tests, refactoring and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Troubleshooting with Copilot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Security, governance and responsibility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Everything from Modules 1–8 still applies — Copilot helps you apply it faster.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AI-ASSISTED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Before generating code, understand the assistant and how to talk to 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implementation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quality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We know what good Spring Boot code looks like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Pipelines test and scan every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Architecture decisions are already made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can Copilot actually do for a backend developer — and how do we ask it well?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Copilot is — and isn't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AI-assisted workflow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Copilot across a Spring Boot project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Prompting fundamentals and structure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Repository instructions — in code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improve a weak prompt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GITHUB COPILOT?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AI coding assistant capabilities and where it fits in the development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87718"/>
            <a:ext cx="7415783" cy="33568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0870"/>
            <a:ext cx="7269480" cy="3210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WAYS TO USE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Inline suggestions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Agent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Code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Explain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Generate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WHAT IT IS NOT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 an architect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67588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 a security reviewer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0" y="401421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98678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 accountable for defects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42569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42569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suggestion is a candidate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Copilot assists the developer — the developer stays responsible for correctness.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COPILOT SUPPORTS THE DEVELOPER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Plan → prompt → generate → review → run → test → refine.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2027" y="1316736"/>
            <a:ext cx="602270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9" y="1389888"/>
            <a:ext cx="5876400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Know the requirement and the design before prompting.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Review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 every line; compile and run before trusting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Feed errors and failing tests back into the next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ONE-SHOT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Small loops beat one giant prompt.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AI-assisted development is iterative: plan, prompt, generate, review, run, test, refine.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COPILOT IN A 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Help across controllers, services, repositories, DTOs, tests and config.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6148"/>
            <a:ext cx="7415783" cy="422002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9300"/>
            <a:ext cx="7269480" cy="40737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Great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DTOs, mappings, boilerplate, test scaffolds, YAML and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Review closely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rules, transactions, security and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ASSIST ≠ DESIGN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Boundaries and contracts stay your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Copilot helps implement each layer of an architecture you already understand.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PROMPTING FUNDAMENTALS FOR BACKEND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Context, intent, constraints and output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506193"/>
            <a:ext cx="11210544" cy="26873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79345"/>
            <a:ext cx="11064240" cy="25410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 Boot 3, Java 21, the package and existing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Exactly what to build — one layer or method at a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Validation, status codes, no entities in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Which files, and whether to include 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Prompt quality matters: give context, task, constraints and the output you expect.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WEAK PROMPT VS. STRONG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Compare vague and precise prompts.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53441"/>
            <a:ext cx="7415783" cy="44254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6593"/>
            <a:ext cx="7269480" cy="42791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50901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create order api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29209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2264664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Strong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93848"/>
            <a:ext cx="3520440" cy="13014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Spring Boot 3 REST controller for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POST /api/v1/orders. Accept a validated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CreateOrderRequest, call OrderService,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return 201 with OrderResponse. Map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validation errors to 400. No entities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in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02336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02336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STILL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strong prompt's output needs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Better prompts reduce ambiguity, but generated output still needs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PROMPT STRUCTURE FOR SPRING BOOT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Context → task → constraints → standards → expected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82486" y="1316736"/>
            <a:ext cx="5001787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38" y="1389888"/>
            <a:ext cx="4855483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REUSABLE TEMPLATE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Project context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Task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Architecture and layer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rules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Errors and status codes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3227831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0039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Tests expected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39312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39312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Everyone on the team gets consistent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reusable prompt structure beats generic prompt-engineering tricks.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GIVE COPILOT YOUR STANDARDS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Repository instructions apply to every chat; a structured prompt handles the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.github/copilot-instructions.md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2509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Order Service conventions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Java 21, Spring Boot 3, Maven.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Layers: controller -&gt; service -&gt; repository. No logic in controllers.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Request/response DTOs are Java records; never return JPA entities.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Validate with Jakarta Validation; errors via GlobalExceptionHandler.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Constructor injection only. No field @Autowired.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Tests: JUnit 5, Mockito, AssertJ; @WebMvcTest for controllers.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 Never log request bodies, tokens or account numbers.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 structured task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2509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Context: OrderService in com.example.order.service (open file).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Task: add cancelOrder(Long orderId).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Rules: only CREATED or PAID orders can be cancelled;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PAID orders publish OrderCancelled for a refund.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Errors: missing order -&gt; OrderNotFoundException (404);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other status -&gt; InvalidOrderStateException (409).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Constraints: @Transactional; follow existing naming.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Output: the method plus unit tests for all three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07179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620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Instructions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729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Team standards apply to every Copilot chat in the repo.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107179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1620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4729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Context, task, rules, errors, constraints,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107179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1620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4729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Code that fits the codebase — still reviewed.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Put team conventions in the repository once, and give each task a structured prompt.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IMPROVE A WEAK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Rewrite a vague request into a prompt a teammate could reuse.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953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developer typed this into Copilot Chat and got an insecure, entity-returning controller: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4925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make a transfer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53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what Copilot had to guess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Rewrite the prompt with context, task, rules, errors and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two things you'd still check in the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953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Guessed: path, DTOs, validation, status codes, security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320116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314629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POST /api/v1/transfers with a validated TransferRequest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95173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89686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Idempotency-Key; 201, 400, 404, 409 defined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50087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44601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entities, no logged account numbers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505002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99516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Still check: authorization and the business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good prompt states context, rules, errors and output — and the result still gets reviewed.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USING EXISTING CODE AS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Extend existing classes without breaking conventions.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85973"/>
            <a:ext cx="7415783" cy="31603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9125"/>
            <a:ext cx="7269480" cy="30140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Open the right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Keep a similar controller, service and test open while prompting.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Say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“Follow the pattern in PaymentController and its tests.”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GOAL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New code that looks like the team wrote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Give Copilot the existing patterns so new code fits the codebase you already have.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AI-ASSISTED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Generate one Spring Boot layer at a time — and review each one.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implementation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quality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 drafts; the developer decides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Structured prompts carry the rules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Instructions files hold team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use Copilot to build real service layers without importing bugs?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Generating a REST controller — with a review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Service-layer logic — with a 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review AI-generated transfer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DTOs and API contracts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Persistence code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Validation and error handling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A SPRING BOOT REST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HTTP request → OrderController → OrderService → response DTO → HTTP response.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06067"/>
            <a:ext cx="7415783" cy="2920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9219"/>
            <a:ext cx="7269480" cy="2773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REVIEW CHECKLIST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Resource paths and methods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@Valid on request bodies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201 with Location on create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business logic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entities returned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ONE LAYER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at a time — then compile and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Generate one layer at a time — then review architecture and API before you compile and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REVIEWING A GENERATED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Copilot's first draft compiled — review turned it into a proper API.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First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class OrderController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@Autowired OrderRepository repo;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@PostMapping("/createOrder")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public Order create(@RequestBody Order order)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if (order.getTotal().signum() &lt;= 0)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return null;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repo.save(order);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After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@RequestMapping("/api/v1/orders")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class OrderController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final OrderService orders;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OrderController(OrderService orders) { this.orders = orders;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@PostMapping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ResponseEntity&lt;OrderResponse&gt; create(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@Valid @RequestBody CreateOrderRequest req)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OrderResponse created = orders.create(req);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ResponseEntity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.created(URI.create("/api/v1/orders/" + created.id()))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.body(created);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Verb path, entity in and out, repository in the controller.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 injection, logic in the controller, null instead of 400.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Resource path, DTOs, @Valid, service call, 201 Created.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Generated code that compiles can still break every rule from Modules 2 and 3 — review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SERVICE-LAYER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Business rules, validation, dependency injection and separation of concerns.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51459"/>
            <a:ext cx="7415783" cy="3229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4611"/>
            <a:ext cx="7269480" cy="3083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VERIFY BY HAND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business rule present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Correct transaction boundary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Idempotency for money movement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Right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Why riskiest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Missing rules compile fine — they only fail in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LESSON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Incomplete requirements give incomplete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Incomplete requirements produce incomplete business behavior — even from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REVIEWING GENERATED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draft moved money — the review made it correct, atomic and repeat-safe.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Copilot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void transferFunds(String from, String to,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            BigDecimal amount)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Account a = accounts.findById(from).get();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Account b = accounts.findById(to).get();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a.setBalance(a.getBalance().subtract(amount));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b.setBalance(b.getBalance().add(amount));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accounts.save(a);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accounts.save(b);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log.info("Transferred {} from {} to {}", amount, from, to);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After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TransferResult transferFunds(TransferCommand cmd)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results.findByKey(cmd.idempotencyKey()).orElseGet(() -&gt;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if (cmd.amount().signum() &lt;= 0) throw new InvalidAmountException();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Account from = accounts.findById(cmd.from())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.orElseThrow(() -&gt; new AccountNotFoundException(cmd.from()));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Account to = accounts.findById(cmd.to())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.orElseThrow(() -&gt; new AccountNotFoundException(cmd.to()));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from.debit(cmd.amount());   // throws if insufficient or frozen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to.credit(cmd.amount());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log.info("Transfer done transferId={}", cmd.transferId());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return results.save(TransferResult.of(cmd));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Transaction, amount and balance checks, account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Idempotency — a retry would move money twice.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Account numbers logged in plain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Money-moving code needs a transaction, every rule, idempotency and safe logs — check each one by hand.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REVIEW AI-GENERATED TRANSFER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what must be checked before this code could merge.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Copilot generated a transferFunds method for Transaction Service (the draft on the previous slide). The PR author says “tests pass”.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business rules must be checked manually?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tests should be added?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security issues should be reviewed?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Should the method be transactional — and what would be unacceptable?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Positive amount, balance, account status, limits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Tests: insufficient funds, frozen, duplicate key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Authorization: may this caller move this money?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Yes, @Transactional — both updates or neither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Unacceptable: logged account numbers, get()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“Tests pass” proves little if the tests and the rules came from the same prompt.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DTOS AND API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Request/response DTOs, validation annotations and stable API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10414"/>
            <a:ext cx="7415783" cy="27114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3566"/>
            <a:ext cx="7269480" cy="25651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Good boilerplate for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8061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record CreateOrderRequest(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@NotBlank String customerId,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@NotEmpty List&lt;@Valid Item&gt; items) {}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184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67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760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the fields clients need — no IDs or audit fields in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8526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98526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3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DTOs keep the contract separate from entities.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Copilot write DTO boilerplate — you keep the API contract separate from persistence.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REPOSITORY AND PERSISTENCE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Spring Data JPA repositories, query methods and persistence concerns.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43030"/>
            <a:ext cx="7415783" cy="40462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6182"/>
            <a:ext cx="7269480" cy="3899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COMMON GENERATED PROBLEMS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Fields that don't exist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N+1 queries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findAll() on big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Missing indexes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How to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Turn on SQL logging in a test and read the queries it runs.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5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Relationships stop at the service boundary.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Generated persistence code compiles easily — review its SQL, indexes, volume and N+1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USING COPILOT FOR ERROR HANDLING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@Valid, exception handling and API error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26431"/>
            <a:ext cx="11210544" cy="24506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99583"/>
            <a:ext cx="11064240" cy="2304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279392"/>
            <a:ext cx="362712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33425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Ask for one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45152"/>
            <a:ext cx="3352800" cy="1133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GlobalExceptionHandler and one error record for every endpoint.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0" y="4279392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REJECT</a:t>
            </a:r>
          </a:p>
        </p:txBody>
      </p:sp>
      <p:sp>
        <p:nvSpPr>
          <p:cNvPr id="10" name="Oval 9"/>
          <p:cNvSpPr/>
          <p:nvPr/>
        </p:nvSpPr>
        <p:spPr>
          <a:xfrm>
            <a:off x="4267200" y="465429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Stack traces in responses</a:t>
            </a:r>
          </a:p>
        </p:txBody>
      </p:sp>
      <p:sp>
        <p:nvSpPr>
          <p:cNvPr id="12" name="Oval 11"/>
          <p:cNvSpPr/>
          <p:nvPr/>
        </p:nvSpPr>
        <p:spPr>
          <a:xfrm>
            <a:off x="4267200" y="496519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500 for validation errors</a:t>
            </a:r>
          </a:p>
        </p:txBody>
      </p:sp>
      <p:sp>
        <p:nvSpPr>
          <p:cNvPr id="14" name="Oval 13"/>
          <p:cNvSpPr/>
          <p:nvPr/>
        </p:nvSpPr>
        <p:spPr>
          <a:xfrm>
            <a:off x="4267200" y="527608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SQL details in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279392"/>
            <a:ext cx="3627120" cy="15544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0080" y="4279392"/>
            <a:ext cx="32613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MAP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400 validation · 404 missing · 409 conflict.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Ask for one consistent error strategy — and review it for leaks and wrong status codes.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AI-ASSISTED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Copilot to test, refactor, review and debug — with proof.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implementation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quality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Generate and review one layer at a time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Business logic checked rule by rule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DTOs, queries and errors reviewed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Can AI help prove the code is right — and keep it clean?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Unit and controller tests — with an example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Finding test gaps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Testing a policy table — and Exercise 5.2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Refactoring and code review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Troubleshooting — with an exercise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UNIT TESTS WITH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JUnit, Mockito and service-layer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51725"/>
            <a:ext cx="7415783" cy="38288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4877"/>
            <a:ext cx="7269480" cy="36825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Prompt for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“Test happy path, missing order and invalid state for cancelOrder.”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Arrange-Act-Assert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688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Keep each test to one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59352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959352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Would this test fail if the code were wrong?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Copilot scaffold tests, then check that they actually verify the behavior.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TEST THAT PROVES NOTHING — AND ONE THAT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Generated tests often assert that code runs, not that it's correct.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Generated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void cancelOrderWorks()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when(repo.findById(1L))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.thenReturn(Optional.of(order));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service.cancelOrder(1L);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assertNotNull(order);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After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void paidOrderIsCancelledAndRefundRequested()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Order order = Order.withStatus(PAID);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when(repo.findById(1L)).thenReturn(Optional.of(order));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service.cancelOrder(1L);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assertThat(order.getStatus()).isEqualTo(CANCELLED);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verify(events).publish(any(OrderCancelled.class));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void shippedOrderCannotBeCancelled()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when(repo.findById(1L))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.thenReturn(Optional.of(Order.withStatus(SHIPPED)));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assertThatThrownBy(() -&gt; service.cancelOrder(1L))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.isInstanceOf(InvalidOrderStateException.class);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assertNotNull passes even if cancel does nothing.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Asserts the new state and the published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Negative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Proves the rule that shipped orders can't cancel.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test is only useful if it fails when the behavior is wrong — check every generated assertion.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GENERATING CONTROLLER AND API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MockMvc/WebMvcTest, HTTP status and JSON assertions.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45196"/>
            <a:ext cx="7415783" cy="264192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8348"/>
            <a:ext cx="7269480" cy="2495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HTTP contract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971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mvc.perform(post("/api/v1/orders")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.contentType(APPLICATION_JSON)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.content("{}"))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.andExpect(status().isBadRequest());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72694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7818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9270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Status codes, JSON shape, validation and security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15036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15036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TWO QUESTIONS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Service: is the logic right? Controller: is the contract?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 tests check business logic; controller tests check the HTTP contract.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IMPROVING TEST COVERAGE WITH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Edge cases, negative tests and boundary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95199"/>
            <a:ext cx="7415783" cy="31419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8351"/>
            <a:ext cx="7269480" cy="29956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“List untested behaviors in OrderService, grouped by risk.”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GAPS IT OFTEN FINDS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0676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Concurrency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0020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0020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COVERAGE ≠ QUALITY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Prioritize risk, not a percentage.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Copilot to find the missing high-value tests — not to chase a coverage number.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PROVING A POLICY TABLE WITH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5's policy-v1 rules as deterministic Java — and one test row per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PolicyEngine.java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Decision decide(ModelResult model, BigDecimal amount)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if (!model.ok())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Decision.hold("MODEL_UNAVAILABLE");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if (amount.compareTo(policy.highValue()) &gt;= 0)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Decision.hold("HIGH_VALUE");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if (model.score() &gt;= policy.declineScore())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Decision.decline("HIGH_SCORE");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if (model.score() &lt; policy.approveScore()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&amp;&amp; amount.compareTo(policy.lowValue()) &lt; 0)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Decision.approve("LOW_SCORE_LOW_VALUE");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Decision.hold("REVIEW_BAND");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PolicyEngineTest.java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@ParameterizedTest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@CsvSource({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"false, 10, 100,  HOLD,    MODEL_UNAVAILABLE",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"true,  10, 5000, HOLD,    HIGH_VALUE",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"true,  70, 100,  DECLINE, HIGH_SCORE",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"true,  39, 999,  APPROVE, LOW_SCORE_LOW_VALUE",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"true,  40, 999,  HOLD,    REVIEW_BAND"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void appliesPolicyV1(boolean ok, int score, BigDecimal amount,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    Disposition expected, String reason)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Decision d = engine.decide(new ModelResult(ok, score), amount);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assertThat(d.disposition()).isEqualTo(expected);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assertThat(d.reason()).isEqualTo(reason);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First match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of the if statements is the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39 vs. 40 and 4999 vs. 5000 are where bugs hide.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Thresholds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From configuration — no magic numbers.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Copilot draft the rules, then let a test row per rule — including model failure — prove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5.2 — APPROVE / HOLD / DECLINE POLICY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5 checkpoint B: synthetic approve, hold and decline thresholds.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298448"/>
            <a:ext cx="4297680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labs/day-05/exercises/exercise-5.2-policy-rules.md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5's Risk Assessment Service gets a score from a model, then a deterministic Java PolicyEngine decides the disposition.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First match wins: model not OK → HOLD MODEL_UNAVAILABLE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Amount ≥ 5000 → HOLD HIGH_VALUE; score ≥ 70 → DECLINE HIGH_SCORE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Score &lt; 40 and amount &lt; 1000 → APPROVE LOW_SCORE_LOW_VALUE; else HOLD REVIEW_BAND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46278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407916"/>
            <a:ext cx="3218688" cy="977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Use GitHub Copilot (Free, on the VM) to draft the if/else — review before accepting; tests must prove the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policy-v1 table in Java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test per row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Model failure tested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Implemented in Lab 5 Step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policy-v1 table written in Java, with a test for every row — including model failure.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REFACTORING CODE WITH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Simplification, duplication removal, method extraction and naming.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9984"/>
            <a:ext cx="7415783" cy="34723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3136"/>
            <a:ext cx="7269480" cy="33260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Analyze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“What responsibilities does this class have?”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change at a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Extract the service, run tests; move queries, run tests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SAFETY NET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tests yet? Write them before refactoring.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Refactor incrementally with Copilot — analyze, propose, review, then change one 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USING COPILOT FOR CODE REVIEW AND 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Smells, complexity, maintainability and improvement suggestions.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3401" y="1316736"/>
            <a:ext cx="8834717" cy="27980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53" y="1389888"/>
            <a:ext cx="8688413" cy="2651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07407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USEFUL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Long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7336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Duplication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Tight coupling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Null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407407"/>
            <a:ext cx="3627120" cy="142646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462271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Challenge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773168"/>
            <a:ext cx="335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Ask why — and reject changes that alter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07407"/>
            <a:ext cx="3627120" cy="14264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07407"/>
            <a:ext cx="326136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WHO DECIDES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human reviewer still approves the PR.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Copilot as an extra reviewer — the developer still decides what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USING COPILOT FOR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Explain stack traces and diagnose Spring Boot startup and configuration issues.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4891" y="1316736"/>
            <a:ext cx="9511736" cy="27980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043" y="1389888"/>
            <a:ext cx="9365432" cy="2651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7"/>
            <a:ext cx="3627120" cy="142646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62271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Give it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73168"/>
            <a:ext cx="335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full stack trace, the config and what changed — not “fix this”.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0" y="4407407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COMMON STARTUP 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Missing bean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Bad property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Port in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DB refused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07407"/>
            <a:ext cx="3627120" cy="14264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07407"/>
            <a:ext cx="326136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HABIT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Verify the root cause before applying a fix.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Diagnose first: separate root cause from noise, verify, then make the smallest fix.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TROUBLESHOOT A STARTUP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Copilot as a diagnostic partner — then verify its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 Service fails at startup after a teammate's merge: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APPLICATION FAILED TO START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Parameter 0 of constructor in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com.example.order.web.OrderController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required a bean of type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com.example.billing.PaymentClient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that could not be found.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prompt you'd give Copilot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likely causes it should consider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how you'd verify before changing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Prompt: error, package layout, recent change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Package outside component scan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Missing @Component or @Bean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Profile-conditional bean not active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Verify with --debug and the bean 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Give Copilot the evidence, weigh its hypotheses, and verify the cause before you fix anything.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Speed is only valuable if safety, quality and accountability stay intact.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implementation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AI-assisted quality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Tests must fail when behavior is wrong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Refactor in small, tested steps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Troubleshooting starts with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an enterprise team use Copilot safely — and who is accountable?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Security guardrails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Enterprise best practices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Copilot should not decide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hands-on lab workflow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AI-assisted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SECURITY AND ENTERPRISE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Secrets, insecure code, auth, dependency risk, sensitive data and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7148" y="1316736"/>
            <a:ext cx="7372463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00" y="1389888"/>
            <a:ext cx="7226159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 PUT IN PROMPTS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or account data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Passwords, tokens, keys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Internal URLs and confidential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Invented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Check that suggested libraries and APIs actually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GATES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Scans, review and tests apply to AI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AI-generated code passes the same security gates as any other 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COPILOT BEST PRACTICES FOR ENTERPRISE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Copilot to accelerate — not bypass — the engineering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57706"/>
            <a:ext cx="7415783" cy="34169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0858"/>
            <a:ext cx="7269480" cy="3270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TEAM HABITS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Small, reviewable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Understand before accepting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Tests for every generated behavior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 and CI gates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Measure the right 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Lead time and defect rates — not lines of code generated.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GOVERNANCE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Org policies control features and data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AI for speed while keeping every existing engineering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COPILOT SHOULD NOT DECIDE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Architecture, business correctness, security policy and production approval.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35071"/>
            <a:ext cx="7415783" cy="4262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223"/>
            <a:ext cx="7269480" cy="41158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Modules 2 and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boundaries and integration style.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Module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ownership and transaction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Modules 6, 7, 8 and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Resilience policy, release approval and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MESSAGE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Accountability stays with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AI doesn't replace the architectural principles learned in Modules 1–8.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HANDS-ON LAB — BUILD AN ORDER MICROSERVICE WITH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guided, incremental AI-assisted development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06623"/>
            <a:ext cx="7415783" cy="39190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9775"/>
            <a:ext cx="7269480" cy="3772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DEFINITION OF DONE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Endpoints match the contract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Validation and errors tested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entity leaks or secrets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Tests fail when code breaks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Reviewed like any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DON'T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one giant prompt for the whole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Work incrementally: plan, prompt, generate, review, test, refine — one layer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AI-ASSISTED DEVELOPMENT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requirement to production feedback, with Copilot inside every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COURSE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People own requirements and architecture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1183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9092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Copilot drafts code and tests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42925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0182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Review, security and CI/CD gate it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7401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127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OpenShift runs it; observability feeds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285744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285744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Accelerator, not authority.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GitHub Copilot as an engineering accelerator, not an engineering authority.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COPILOT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turn AI speed into production defects.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It compiles, so it's correct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Compiling code can break every business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Generated tests prove the code works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Weak assertions prove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good prompt removes the need to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Better candidates still need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Copilot knows our architecture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Only what you give it as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AI is responsible for AI-written bugs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 team owns every merged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giant prompt for a whole service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Pasting real customer data into prompts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Accepting unknown dependencies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Skipping review for “simple” code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Chasing coverage percentages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Letting AI choose service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Accelerator, not authority.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AI speeds up good engineering habits — and multiplies the damage of bad ones.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GitHub Copilot used for?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is prompt clarity important?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should a controller prompt include?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review generated service code carefully?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risk of generated repository methods?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aren't generated tests automatically trustworthy?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refactoring?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must never go into prompts?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AI hallucination mean?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Who is responsible for final code quality?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9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vague prompts to reviewed, tested, AI-assisted Spring Boot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Structure prompts with context, rules, errors and output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Generate Spring Boot layers one at a time and review them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Turn weak generated tests into ones that prove behavior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Refactor, review and troubleshoot with Copilot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Apply enterprise guardrails and keep accountability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10 — AGENTIC AI WITH MICROSOFT SERVICES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makes an AI system an agent?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agents call tools and business APIs safely?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Where do humans stay in the loop?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5 PolicyEngine — agents must respect rules like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10 moves from AI that writes code to AI that takes actions — under control.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