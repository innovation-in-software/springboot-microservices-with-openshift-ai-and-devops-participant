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does it run?</a:t>
            </a:r>
          </a:p>
          <a:p/>
          <a:p>
            <a:r>
              <a:t>  Modules 1 to 7 covered designing, building, integrating, securing, testing and delivering microservices.</a:t>
            </a:r>
          </a:p>
          <a:p/>
          <a:p>
            <a:r>
              <a:t>  Now ask: once the CI/CD pipeline has created our Spring Boot application, where does it run?</a:t>
            </a:r>
          </a:p>
          <a:p/>
          <a:p>
            <a:r>
              <a:t>- The traditional way</a:t>
            </a:r>
          </a:p>
          <a:p/>
          <a:p>
            <a:r>
              <a:t>  Traditionally, you copy the JAR to a server, install Java, configure the operating system and start the application.</a:t>
            </a:r>
          </a:p>
          <a:p/>
          <a:p>
            <a:r>
              <a:t>  That approach creates differences between environments.</a:t>
            </a:r>
          </a:p>
          <a:p/>
          <a:p>
            <a:r>
              <a:t>- A new deployment unit</a:t>
            </a:r>
          </a:p>
          <a:p/>
          <a:p>
            <a:r>
              <a:t>  Containerization changes the deployment unit.</a:t>
            </a:r>
          </a:p>
          <a:p/>
          <a:p>
            <a:r>
              <a:t>  The Spring Boot application, its runtime and its dependencies become one container image.</a:t>
            </a:r>
          </a:p>
          <a:p/>
          <a:p>
            <a:r>
              <a:t>  Then OpenShift manages the running containers.</a:t>
            </a:r>
          </a:p>
          <a:p/>
          <a:p>
            <a:r>
              <a:t>- The main idea</a:t>
            </a:r>
          </a:p>
          <a:p/>
          <a:p>
            <a:r>
              <a:t>  We go from application, to container image, to registry, to OpenShift, then pods, services and routes, with scaling, health and operations around them.</a:t>
            </a:r>
          </a:p>
          <a:p/>
          <a:p>
            <a:r>
              <a:t>  The container packages the application, and OpenShift manages it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compare containers and virtual machines, and explain images and containers.</a:t>
            </a:r>
          </a:p>
          <a:p/>
          <a:p>
            <a:r>
              <a:t>  They should build a Spring Boot container image, apply build best practices and explain registries.</a:t>
            </a:r>
          </a:p>
          <a:p/>
          <a:p>
            <a:r>
              <a:t>  They should describe OpenShift architecture, key objects, and how to deploy a microservice.</a:t>
            </a:r>
          </a:p>
          <a:p/>
          <a:p>
            <a:r>
              <a:t>  They should externalize configuration and secrets, configure health checks, scale applications, and understand rolling updates and resources.</a:t>
            </a:r>
          </a:p>
          <a:p/>
          <a:p>
            <a:r>
              <a:t>- Four sections</a:t>
            </a:r>
          </a:p>
          <a:p/>
          <a:p>
            <a:r>
              <a:t>  Section 1 is container fundamentals: containers versus VMs, images and running containers.</a:t>
            </a:r>
          </a:p>
          <a:p/>
          <a:p>
            <a:r>
              <a:t>  Section 2 is building and distributing: JAR, container build, image, registry.</a:t>
            </a:r>
          </a:p>
          <a:p/>
          <a:p>
            <a:r>
              <a:t>  Section 3 is OpenShift architecture: cluster, control plane, worker nodes, pods.</a:t>
            </a:r>
          </a:p>
          <a:p/>
          <a:p>
            <a:r>
              <a:t>  Section 4 is running applications: deployment, pods, service, route, then scaling, health and updates.</a:t>
            </a:r>
          </a:p>
          <a:p/>
          <a:p>
            <a:r>
              <a:t>- The destination</a:t>
            </a:r>
          </a:p>
          <a:p/>
          <a:p>
            <a:r>
              <a:t>  By the end, learners understand the full path from Spring Boot source to a production workload on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Container image</a:t>
            </a:r>
          </a:p>
          <a:p/>
          <a:p>
            <a:r>
              <a:t>  A read-only package of the application, its runtime and its dependencies.</a:t>
            </a:r>
          </a:p>
          <a:p/>
          <a:p>
            <a:r>
              <a:t>- Container</a:t>
            </a:r>
          </a:p>
          <a:p/>
          <a:p>
            <a:r>
              <a:t>  A running instance of an image, isolated from other processes.</a:t>
            </a:r>
          </a:p>
          <a:p/>
          <a:p>
            <a:r>
              <a:t>- Multi-stage build</a:t>
            </a:r>
          </a:p>
          <a:p/>
          <a:p>
            <a:r>
              <a:t>  Build in one stage, then copy only the result into a small runtime image.</a:t>
            </a:r>
          </a:p>
          <a:p/>
          <a:p>
            <a:r>
              <a:t>- Registry</a:t>
            </a:r>
          </a:p>
          <a:p/>
          <a:p>
            <a:r>
              <a:t>  A server that stores and distributes container images.</a:t>
            </a:r>
          </a:p>
          <a:p/>
          <a:p>
            <a:r>
              <a:t>- Pod</a:t>
            </a:r>
          </a:p>
          <a:p/>
          <a:p>
            <a:r>
              <a:t>  The smallest unit OpenShift runs — one or more containers sharing a network.</a:t>
            </a:r>
          </a:p>
          <a:p/>
          <a:p>
            <a:r>
              <a:t>- Deployment</a:t>
            </a:r>
          </a:p>
          <a:p/>
          <a:p>
            <a:r>
              <a:t>  Keeps the desired number of pods running and manages rolling updates.</a:t>
            </a:r>
          </a:p>
          <a:p/>
          <a:p>
            <a:r>
              <a:t>- Service and Route</a:t>
            </a:r>
          </a:p>
          <a:p/>
          <a:p>
            <a:r>
              <a:t>  A Service gives pods a stable internal address; a Route exposes it outside the cluster.</a:t>
            </a:r>
          </a:p>
          <a:p/>
          <a:p>
            <a:r>
              <a:t>- ConfigMap and Secret</a:t>
            </a:r>
          </a:p>
          <a:p/>
          <a:p>
            <a:r>
              <a:t>  Objects that inject configuration and sensitive values into pods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AI is Artificial Intelligence; API is Application Programming Interface; CI is Continuous Integration; CI/CD is Continuous Integration / Continuous Delivery; CPU is Central Processing Unit; CVE is Common Vulnerabilities and Exposures; DB is Database; HPA is Horizontal Pod Autoscaler; HTTP is HyperText Transfer Protocol; HTTPS is HyperText Transfer Protocol Secure; ID is Identifier; IP is Internet Protocol; JAR is Java ARchive; JDBC is Java Database Connectivity; JDK is Java Development Kit; JRE is Java Runtime Environment; JWT is JSON Web Token; OOM is Out Of Memory; OS is Operating System; SBOM is Software Bill of Materials; TLS is Transport Layer Security; UBI is Universal Base Image; URL is Uniform Resource Locator; YAML is YAML Ain't Markup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7</a:t>
            </a:r>
          </a:p>
          <a:p/>
          <a:p>
            <a:r>
              <a:t>  The pipeline ends by pushing an image and deploying it.</a:t>
            </a:r>
          </a:p>
          <a:p/>
          <a:p>
            <a:r>
              <a:t>  This module explains what that image is and how OpenShift runs it.</a:t>
            </a:r>
          </a:p>
          <a:p/>
          <a:p>
            <a:r>
              <a:t>- The path</a:t>
            </a:r>
          </a:p>
          <a:p/>
          <a:p>
            <a:r>
              <a:t>  Container basics, building and distributing images, OpenShift architecture, then running, configuring, scaling and troubleshooting applications.</a:t>
            </a:r>
          </a:p>
          <a:p/>
          <a:p>
            <a:r>
              <a:t>- Two examples</a:t>
            </a:r>
          </a:p>
          <a:p/>
          <a:p>
            <a:r>
              <a:t>  The slides use Order Service.</a:t>
            </a:r>
          </a:p>
          <a:p/>
          <a:p>
            <a:r>
              <a:t>  Exercises 4.2 and 4.1 and Lab 4 use the banking Account and Transaction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Everything on OpenShift runs as containers, so learners need a clear mental model before touching YAML.</a:t>
            </a:r>
          </a:p>
          <a:p/>
          <a:p>
            <a:r>
              <a:t>- What this part covers</a:t>
            </a:r>
          </a:p>
          <a:p/>
          <a:p>
            <a:r>
              <a:t>  The problem containers solve, how they differ from VMs, how they isolate processes, and how images are built from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Many services, many needs</a:t>
            </a:r>
          </a:p>
          <a:p/>
          <a:p>
            <a:r>
              <a:t>  Microservices usually mean many independently deployable services, like Order, Payment, Inventory and Shipping.</a:t>
            </a:r>
          </a:p>
          <a:p/>
          <a:p>
            <a:r>
              <a:t>  Each may need a specific Java runtime, libraries, configuration and startup commands.</a:t>
            </a:r>
          </a:p>
          <a:p/>
          <a:p>
            <a:r>
              <a:t>- Environments drift</a:t>
            </a:r>
          </a:p>
          <a:p/>
          <a:p>
            <a:r>
              <a:t>  Without containers, environments differ.</a:t>
            </a:r>
          </a:p>
          <a:p/>
          <a:p>
            <a:r>
              <a:t>  The developer's laptop has Java 21, but the test server has Java 17, or a dependency is missing.</a:t>
            </a:r>
          </a:p>
          <a:p/>
          <a:p>
            <a:r>
              <a:t>- What a container packages</a:t>
            </a:r>
          </a:p>
          <a:p/>
          <a:p>
            <a:r>
              <a:t>  Containers package the application code, runtime, libraries and startup command into an image.</a:t>
            </a:r>
          </a:p>
          <a:p/>
          <a:p>
            <a:r>
              <a:t>  The same image can then run in DEV, TEST, STAGE and PROD.</a:t>
            </a:r>
          </a:p>
          <a:p/>
          <a:p>
            <a:r>
              <a:t>  This supports Module 7's principle: build once, promote the same artifact.</a:t>
            </a:r>
          </a:p>
          <a:p/>
          <a:p>
            <a:r>
              <a:t>- Why they suit microservices</a:t>
            </a:r>
          </a:p>
          <a:p/>
          <a:p>
            <a:r>
              <a:t>  Each service can be packaged, versioned, deployed and scaled independently.</a:t>
            </a:r>
          </a:p>
          <a:p/>
          <a:p>
            <a:r>
              <a:t>- What the diagram shows</a:t>
            </a:r>
          </a:p>
          <a:p/>
          <a:p>
            <a:r>
              <a:t>  Several microservices each packaged in their own container, highlighting portability, consistency, isolation and independent deployment.</a:t>
            </a:r>
          </a:p>
          <a:p/>
          <a:p>
            <a:r>
              <a:t>- Key point</a:t>
            </a:r>
          </a:p>
          <a:p/>
          <a:p>
            <a:r>
              <a:t>  Each service ships and runs as its own self-contained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Different layers of isolation</a:t>
            </a:r>
          </a:p>
          <a:p/>
          <a:p>
            <a:r>
              <a:t>  Virtual machines and containers isolate at different layers.</a:t>
            </a:r>
          </a:p>
          <a:p/>
          <a:p>
            <a:r>
              <a:t>  A VM virtualizes hardware, and each VM usually contains the application, libraries and a full guest operating system.</a:t>
            </a:r>
          </a:p>
          <a:p/>
          <a:p>
            <a:r>
              <a:t>- Containers share the kernel</a:t>
            </a:r>
          </a:p>
          <a:p/>
          <a:p>
            <a:r>
              <a:t>  Containers isolate processes while sharing the host operating system's kernel.</a:t>
            </a:r>
          </a:p>
          <a:p/>
          <a:p>
            <a:r>
              <a:t>  A container holds the application and its required user-space dependencies, but not its own kernel.</a:t>
            </a:r>
          </a:p>
          <a:p/>
          <a:p>
            <a:r>
              <a:t>  That usually makes containers faster to start, more lightweight and higher density.</a:t>
            </a:r>
          </a:p>
          <a:p/>
          <a:p>
            <a:r>
              <a:t>- Not a replacement</a:t>
            </a:r>
          </a:p>
          <a:p/>
          <a:p>
            <a:r>
              <a:t>  Containers do not replace virtual machines.</a:t>
            </a:r>
          </a:p>
          <a:p/>
          <a:p>
            <a:r>
              <a:t>  A very common architecture is physical hardware, then virtual machines, then OpenShift worker nodes, then containers.</a:t>
            </a:r>
          </a:p>
          <a:p/>
          <a:p>
            <a:r>
              <a:t>  VMs and containers often work together.</a:t>
            </a:r>
          </a:p>
          <a:p/>
          <a:p>
            <a:r>
              <a:t>- What the diagram shows</a:t>
            </a:r>
          </a:p>
          <a:p/>
          <a:p>
            <a:r>
              <a:t>  Virtual machines each carrying a guest operating system, next to containers sharing the host kernel.</a:t>
            </a:r>
          </a:p>
          <a:p/>
          <a:p>
            <a:r>
              <a:t>- Key point</a:t>
            </a:r>
          </a:p>
          <a:p/>
          <a:p>
            <a:r>
              <a:t>  VMs virtualize hardware; containers isolate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isolated process</a:t>
            </a:r>
          </a:p>
          <a:p/>
          <a:p>
            <a:r>
              <a:t>  A container is basically an isolated process, or group of processes.</a:t>
            </a:r>
          </a:p>
          <a:p/>
          <a:p>
            <a:r>
              <a:t>  When we run the Order Service container, it behaves as if it has its own environment.</a:t>
            </a:r>
          </a:p>
          <a:p/>
          <a:p>
            <a:r>
              <a:t>- Four kinds of isolation</a:t>
            </a:r>
          </a:p>
          <a:p/>
          <a:p>
            <a:r>
              <a:t>  Process isolation keeps processes in one container separate from another.</a:t>
            </a:r>
          </a:p>
          <a:p/>
          <a:p>
            <a:r>
              <a:t>  Filesystem isolation gives each container its own view of files, based on its image.</a:t>
            </a:r>
          </a:p>
          <a:p/>
          <a:p>
            <a:r>
              <a:t>  Network isolation gives containers their own network interfaces and addresses.</a:t>
            </a:r>
          </a:p>
          <a:p/>
          <a:p>
            <a:r>
              <a:t>  Resource isolation lets CPU and memory be limited.</a:t>
            </a:r>
          </a:p>
          <a:p/>
          <a:p>
            <a:r>
              <a:t>- Enough depth for this course</a:t>
            </a:r>
          </a:p>
          <a:p/>
          <a:p>
            <a:r>
              <a:t>  Under the hood, container runtimes use Linux features such as namespaces and resource controls.</a:t>
            </a:r>
          </a:p>
          <a:p/>
          <a:p>
            <a:r>
              <a:t>  Learners don't need deep kernel internals.</a:t>
            </a:r>
          </a:p>
          <a:p/>
          <a:p>
            <a:r>
              <a:t>  The main idea: containers isolate applications while sharing the underlying kernel.</a:t>
            </a:r>
          </a:p>
          <a:p/>
          <a:p>
            <a:r>
              <a:t>- What the diagram shows</a:t>
            </a:r>
          </a:p>
          <a:p/>
          <a:p>
            <a:r>
              <a:t>  One host kernel running isolated containers for the Order, Payment and Inventory services.</a:t>
            </a:r>
          </a:p>
          <a:p/>
          <a:p>
            <a:r>
              <a:t>- Key point</a:t>
            </a:r>
          </a:p>
          <a:p/>
          <a:p>
            <a:r>
              <a:t>  Containers are isolated processes on a shared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fundamental distinction</a:t>
            </a:r>
          </a:p>
          <a:p/>
          <a:p>
            <a:r>
              <a:t>  A container image is not the running application.</a:t>
            </a:r>
          </a:p>
          <a:p/>
          <a:p>
            <a:r>
              <a:t>  Think of the image, order-service:1.0, as a template that holds the packaged application.</a:t>
            </a:r>
          </a:p>
          <a:p/>
          <a:p>
            <a:r>
              <a:t>- Running it</a:t>
            </a:r>
          </a:p>
          <a:p/>
          <a:p>
            <a:r>
              <a:t>  When the platform starts the image, it creates a running container.</a:t>
            </a:r>
          </a:p>
          <a:p/>
          <a:p>
            <a:r>
              <a:t>  One image can produce many containers, for example three pods all running the same version.</a:t>
            </a:r>
          </a:p>
          <a:p/>
          <a:p>
            <a:r>
              <a:t>- The link to scaling</a:t>
            </a:r>
          </a:p>
          <a:p/>
          <a:p>
            <a:r>
              <a:t>  This is exactly how horizontal scaling works in OpenShift.</a:t>
            </a:r>
          </a:p>
          <a:p/>
          <a:p>
            <a:r>
              <a:t>  If traffic rises from one instance to three, OpenShift does not need three images.</a:t>
            </a:r>
          </a:p>
          <a:p/>
          <a:p>
            <a:r>
              <a:t>  It launches three running instances from the same image.</a:t>
            </a:r>
          </a:p>
          <a:p/>
          <a:p>
            <a:r>
              <a:t>- What the diagram shows</a:t>
            </a:r>
          </a:p>
          <a:p/>
          <a:p>
            <a:r>
              <a:t>  One image starting several identical running containers.</a:t>
            </a:r>
          </a:p>
          <a:p/>
          <a:p>
            <a:r>
              <a:t>- Key point</a:t>
            </a:r>
          </a:p>
          <a:p/>
          <a:p>
            <a:r>
              <a:t>  The image is the template; containers are its running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Built in layers</a:t>
            </a:r>
          </a:p>
          <a:p/>
          <a:p>
            <a:r>
              <a:t>  Container images are usually built in layers.</a:t>
            </a:r>
          </a:p>
          <a:p/>
          <a:p>
            <a:r>
              <a:t>  The base image provides a minimal operating-system user space.</a:t>
            </a:r>
          </a:p>
          <a:p/>
          <a:p>
            <a:r>
              <a:t>  The Java runtime provides the JVM.</a:t>
            </a:r>
          </a:p>
          <a:p/>
          <a:p>
            <a:r>
              <a:t>  The application layer holds order-service.jar.</a:t>
            </a:r>
          </a:p>
          <a:p/>
          <a:p>
            <a:r>
              <a:t>  Metadata defines how it starts, such as java -jar app.jar.</a:t>
            </a:r>
          </a:p>
          <a:p/>
          <a:p>
            <a:r>
              <a:t>- Why layers matter</a:t>
            </a:r>
          </a:p>
          <a:p/>
          <a:p>
            <a:r>
              <a:t>  Unchanged layers can often be reused during builds and distribution.</a:t>
            </a:r>
          </a:p>
          <a:p/>
          <a:p>
            <a:r>
              <a:t>  If only the JAR changes, the lower layers may not need to be rebuilt or transferred.</a:t>
            </a:r>
          </a:p>
          <a:p/>
          <a:p>
            <a:r>
              <a:t>  That improves build efficiency, registry storage and distribution speed.</a:t>
            </a:r>
          </a:p>
          <a:p/>
          <a:p>
            <a:r>
              <a:t>- Keep it small</a:t>
            </a:r>
          </a:p>
          <a:p/>
          <a:p>
            <a:r>
              <a:t>  Smaller, simpler runtime images are generally easier to scan, transfer, maintain and secure.</a:t>
            </a:r>
          </a:p>
          <a:p/>
          <a:p>
            <a:r>
              <a:t>- What the diagram shows</a:t>
            </a:r>
          </a:p>
          <a:p/>
          <a:p>
            <a:r>
              <a:t>  Layers stacked from the base image, Java runtime and dependencies up to the Spring Boot JAR and the entrypoint metadata.</a:t>
            </a:r>
          </a:p>
          <a:p/>
          <a:p>
            <a:r>
              <a:t>- Key point</a:t>
            </a:r>
          </a:p>
          <a:p/>
          <a:p>
            <a:r>
              <a:t>  Unchanged layers are reused, so rebuilds and pulls stay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idea to artifact</a:t>
            </a:r>
          </a:p>
          <a:p/>
          <a:p>
            <a:r>
              <a:t>  Part 1 explained containers.</a:t>
            </a:r>
          </a:p>
          <a:p/>
          <a:p>
            <a:r>
              <a:t>  Part 2 builds one for a Spring Boot service and distributes it.</a:t>
            </a:r>
          </a:p>
          <a:p/>
          <a:p>
            <a:r>
              <a:t>- What comes next</a:t>
            </a:r>
          </a:p>
          <a:p/>
          <a:p>
            <a:r>
              <a:t>  The build flow, a real Containerfile, image best practices, tagging, registries and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Build the application first</a:t>
            </a:r>
          </a:p>
          <a:p/>
          <a:p>
            <a:r>
              <a:t>  The application build comes first.</a:t>
            </a:r>
          </a:p>
          <a:p/>
          <a:p>
            <a:r>
              <a:t>  Running ./mvnw clean package produces target/order-service.jar.</a:t>
            </a:r>
          </a:p>
          <a:p/>
          <a:p>
            <a:r>
              <a:t>  Then a Containerfile or Dockerfile tells the build tool how to build the image.</a:t>
            </a:r>
          </a:p>
          <a:p/>
          <a:p>
            <a:r>
              <a:t>- Line by line</a:t>
            </a:r>
          </a:p>
          <a:p/>
          <a:p>
            <a:r>
              <a:t>  FROM selects a base runtime image.</a:t>
            </a:r>
          </a:p>
          <a:p/>
          <a:p>
            <a:r>
              <a:t>  WORKDIR sets the working directory.</a:t>
            </a:r>
          </a:p>
          <a:p/>
          <a:p>
            <a:r>
              <a:t>  COPY copies the application JAR into the image.</a:t>
            </a:r>
          </a:p>
          <a:p/>
          <a:p>
            <a:r>
              <a:t>  ENTRYPOINT defines how the application starts.</a:t>
            </a:r>
          </a:p>
          <a:p/>
          <a:p>
            <a:r>
              <a:t>- The result</a:t>
            </a:r>
          </a:p>
          <a:p/>
          <a:p>
            <a:r>
              <a:t>  The output is an image like order-service:1.0.</a:t>
            </a:r>
          </a:p>
          <a:p/>
          <a:p>
            <a:r>
              <a:t>- Choose base images carefully</a:t>
            </a:r>
          </a:p>
          <a:p/>
          <a:p>
            <a:r>
              <a:t>  The exact base image should follow your organization's security and platform standards.</a:t>
            </a:r>
          </a:p>
          <a:p/>
          <a:p>
            <a:r>
              <a:t>  Do not pick one casually.</a:t>
            </a:r>
          </a:p>
          <a:p/>
          <a:p>
            <a:r>
              <a:t>  Teach the process, not a specific base image as a universal rule.</a:t>
            </a:r>
          </a:p>
          <a:p/>
          <a:p>
            <a:r>
              <a:t>- What the diagram shows</a:t>
            </a:r>
          </a:p>
          <a:p/>
          <a:p>
            <a:r>
              <a:t>  Java source built by Maven into a JAR, then a Containerfile turning it into an image.</a:t>
            </a:r>
          </a:p>
          <a:p/>
          <a:p>
            <a:r>
              <a:t>- Key point</a:t>
            </a:r>
          </a:p>
          <a:p/>
          <a:p>
            <a:r>
              <a:t>  Build the application, then package it into an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Build stage</a:t>
            </a:r>
          </a:p>
          <a:p/>
          <a:p>
            <a:r>
              <a:t>  The JDK image downloads dependencies in their own layer, then compiles and packages the JAR.</a:t>
            </a:r>
          </a:p>
          <a:p/>
          <a:p>
            <a:r>
              <a:t>- Runtime stage</a:t>
            </a:r>
          </a:p>
          <a:p/>
          <a:p>
            <a:r>
              <a:t>  Only the JRE and the JAR are copied into the final image, so it's smaller and has fewer vulnerabilities.</a:t>
            </a:r>
          </a:p>
          <a:p/>
          <a:p>
            <a:r>
              <a:t>- Non-root</a:t>
            </a:r>
          </a:p>
          <a:p/>
          <a:p>
            <a:r>
              <a:t>  The app runs as user 1001 in group 0.</a:t>
            </a:r>
          </a:p>
          <a:p/>
          <a:p>
            <a:r>
              <a:t>  OpenShift assigns a random UID but keeps group 0, so the files stay readable.</a:t>
            </a:r>
          </a:p>
          <a:p/>
          <a:p>
            <a:r>
              <a:t>- Memory</a:t>
            </a:r>
          </a:p>
          <a:p/>
          <a:p>
            <a:r>
              <a:t>  MaxRAMPercentage lets the JVM size its heap from the container's memory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Part of the supply chain</a:t>
            </a:r>
          </a:p>
          <a:p/>
          <a:p>
            <a:r>
              <a:t>  A container image becomes part of your production software supply chain, so its quality matters.</a:t>
            </a:r>
          </a:p>
          <a:p/>
          <a:p>
            <a:r>
              <a:t>- Trusted and small</a:t>
            </a:r>
          </a:p>
          <a:p/>
          <a:p>
            <a:r>
              <a:t>  Use maintained, approved base images.</a:t>
            </a:r>
          </a:p>
          <a:p/>
          <a:p>
            <a:r>
              <a:t>  Keep the runtime image small.</a:t>
            </a:r>
          </a:p>
          <a:p/>
          <a:p>
            <a:r>
              <a:t>  A bad image includes Maven, source code, debug tools, caches and temporary files.</a:t>
            </a:r>
          </a:p>
          <a:p/>
          <a:p>
            <a:r>
              <a:t>  A better image has just the runtime, the application and the libraries it needs.</a:t>
            </a:r>
          </a:p>
          <a:p/>
          <a:p>
            <a:r>
              <a:t>- No secrets in images</a:t>
            </a:r>
          </a:p>
          <a:p/>
          <a:p>
            <a:r>
              <a:t>  Never bake values like database passwords, API keys or private keys into an image.</a:t>
            </a:r>
          </a:p>
          <a:p/>
          <a:p>
            <a:r>
              <a:t>  Anyone with access to the image may be able to inspect its contents.</a:t>
            </a:r>
          </a:p>
          <a:p/>
          <a:p>
            <a:r>
              <a:t>- Least privilege and scanning</a:t>
            </a:r>
          </a:p>
          <a:p/>
          <a:p>
            <a:r>
              <a:t>  Run as non-root, so the application has only the permissions it needs.</a:t>
            </a:r>
          </a:p>
          <a:p/>
          <a:p>
            <a:r>
              <a:t>  Make builds reproducible, so the same inputs give predictable results.</a:t>
            </a:r>
          </a:p>
          <a:p/>
          <a:p>
            <a:r>
              <a:t>  Scan images for known vulnerabilities and policy violations, which connects to Module 7 DevSecOps.</a:t>
            </a:r>
          </a:p>
          <a:p/>
          <a:p>
            <a:r>
              <a:t>- What the diagram shows</a:t>
            </a:r>
          </a:p>
          <a:p/>
          <a:p>
            <a:r>
              <a:t>  A bloated image with build tools and secrets next to a minimal runtime image with only what the service needs.</a:t>
            </a:r>
          </a:p>
          <a:p/>
          <a:p>
            <a:r>
              <a:t>- Key point</a:t>
            </a:r>
          </a:p>
          <a:p/>
          <a:p>
            <a:r>
              <a:t>  Smaller images are faster, cheaper and safer.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Use the worksheet in labs/day-04/exercises.</a:t>
            </a:r>
          </a:p>
          <a:p/>
          <a:p>
            <a:r>
              <a:t>- The image</a:t>
            </a:r>
          </a:p>
          <a:p/>
          <a:p>
            <a:r>
              <a:t>  A multi-stage Containerfile keeps Maven out of the runtime image, and USER md287 means a compromised process isn't root.</a:t>
            </a:r>
          </a:p>
          <a:p/>
          <a:p>
            <a:r>
              <a:t>- The tag</a:t>
            </a:r>
          </a:p>
          <a:p/>
          <a:p>
            <a:r>
              <a:t>  An immutable 1.0.0 tag makes the deployment traceable and rollback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Traceable deployments</a:t>
            </a:r>
          </a:p>
          <a:p/>
          <a:p>
            <a:r>
              <a:t>  A deployment must be traceable.</a:t>
            </a:r>
          </a:p>
          <a:p/>
          <a:p>
            <a:r>
              <a:t>  If someone asks what version is running in production, the answer should not be 'probably latest'.</a:t>
            </a:r>
          </a:p>
          <a:p/>
          <a:p>
            <a:r>
              <a:t>- Why latest alone is weak</a:t>
            </a:r>
          </a:p>
          <a:p/>
          <a:p>
            <a:r>
              <a:t>  Using only the latest tag is ambiguous, because the content it points to can change.</a:t>
            </a:r>
          </a:p>
          <a:p/>
          <a:p>
            <a:r>
              <a:t>- Better identifiers</a:t>
            </a:r>
          </a:p>
          <a:p/>
          <a:p>
            <a:r>
              <a:t>  Use identifiers that trace back to a release, such as order-service:2.3.1, or a Git commit SHA like a8f42c9.</a:t>
            </a:r>
          </a:p>
          <a:p/>
          <a:p>
            <a:r>
              <a:t>  Organizations use different conventions.</a:t>
            </a:r>
          </a:p>
          <a:p/>
          <a:p>
            <a:r>
              <a:t>  The principle is that the running deployment maps clearly to an exact image and source revision.</a:t>
            </a:r>
          </a:p>
          <a:p/>
          <a:p>
            <a:r>
              <a:t>- What it enables</a:t>
            </a:r>
          </a:p>
          <a:p/>
          <a:p>
            <a:r>
              <a:t>  Traceability helps with auditing, rollback, incident investigation and comparing releases.</a:t>
            </a:r>
          </a:p>
          <a:p/>
          <a:p>
            <a:r>
              <a:t>- What the diagram shows</a:t>
            </a:r>
          </a:p>
          <a:p/>
          <a:p>
            <a:r>
              <a:t>  A Git commit flowing through a CI build to an image tag and an OpenShift deployment.</a:t>
            </a:r>
          </a:p>
          <a:p/>
          <a:p>
            <a:r>
              <a:t>- Key point</a:t>
            </a:r>
          </a:p>
          <a:p/>
          <a:p>
            <a:r>
              <a:t>  Every running pod traces back to an exact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 registry does</a:t>
            </a:r>
          </a:p>
          <a:p/>
          <a:p>
            <a:r>
              <a:t>  A container registry stores and distributes container images.</a:t>
            </a:r>
          </a:p>
          <a:p/>
          <a:p>
            <a:r>
              <a:t>  Think of it as the repository for deployable container artifacts.</a:t>
            </a:r>
          </a:p>
          <a:p/>
          <a:p>
            <a:r>
              <a:t>- The flow</a:t>
            </a:r>
          </a:p>
          <a:p/>
          <a:p>
            <a:r>
              <a:t>  The CI pipeline builds, tags and pushes an image such as order-service:1.0.0 to the registry.</a:t>
            </a:r>
          </a:p>
          <a:p/>
          <a:p>
            <a:r>
              <a:t>  OpenShift later pulls that image to create running pods.</a:t>
            </a:r>
          </a:p>
          <a:p/>
          <a:p>
            <a:r>
              <a:t>- Examples</a:t>
            </a:r>
          </a:p>
          <a:p/>
          <a:p>
            <a:r>
              <a:t>  Examples include Red Hat Quay, the OpenShift integrated registry, GitHub Container Registry, Docker Hub and cloud-provider registries.</a:t>
            </a:r>
          </a:p>
          <a:p/>
          <a:p>
            <a:r>
              <a:t>- Why it matters</a:t>
            </a:r>
          </a:p>
          <a:p/>
          <a:p>
            <a:r>
              <a:t>  Build once, store centrally, and deploy wherever authorized.</a:t>
            </a:r>
          </a:p>
          <a:p/>
          <a:p>
            <a:r>
              <a:t>  If the registry or permissions are misconfigured, OpenShift may fail to start a pod because it cannot pull the image.</a:t>
            </a:r>
          </a:p>
          <a:p/>
          <a:p>
            <a:r>
              <a:t>- What the diagram shows</a:t>
            </a:r>
          </a:p>
          <a:p/>
          <a:p>
            <a:r>
              <a:t>  CI building and tagging an image, pushing it to the registry, and OpenShift pulling it to run pods.</a:t>
            </a:r>
          </a:p>
          <a:p/>
          <a:p>
            <a:r>
              <a:t>- Key point</a:t>
            </a:r>
          </a:p>
          <a:p/>
          <a:p>
            <a:r>
              <a:t>  The registry is the hand-off between CI and the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security boundary</a:t>
            </a:r>
          </a:p>
          <a:p/>
          <a:p>
            <a:r>
              <a:t>  Registries are not just file stores.</a:t>
            </a:r>
          </a:p>
          <a:p/>
          <a:p>
            <a:r>
              <a:t>  They are security boundaries.</a:t>
            </a:r>
          </a:p>
          <a:p/>
          <a:p>
            <a:r>
              <a:t>- Authentication and authorization</a:t>
            </a:r>
          </a:p>
          <a:p/>
          <a:p>
            <a:r>
              <a:t>  Authentication decides who can push, pull, delete or manage images.</a:t>
            </a:r>
          </a:p>
          <a:p/>
          <a:p>
            <a:r>
              <a:t>  Authorization gives teams the right permissions.</a:t>
            </a:r>
          </a:p>
          <a:p/>
          <a:p>
            <a:r>
              <a:t>  For example, developers push to a development repository, and the production platform pulls approved releases.</a:t>
            </a:r>
          </a:p>
          <a:p/>
          <a:p>
            <a:r>
              <a:t>- Vulnerability scanning</a:t>
            </a:r>
          </a:p>
          <a:p/>
          <a:p>
            <a:r>
              <a:t>  Images can contain vulnerable operating-system packages, runtime components or libraries.</a:t>
            </a:r>
          </a:p>
          <a:p/>
          <a:p>
            <a:r>
              <a:t>  Scanning finds known issues.</a:t>
            </a:r>
          </a:p>
          <a:p/>
          <a:p>
            <a:r>
              <a:t>- Policy gates</a:t>
            </a:r>
          </a:p>
          <a:p/>
          <a:p>
            <a:r>
              <a:t>  Organizations can set policies.</a:t>
            </a:r>
          </a:p>
          <a:p/>
          <a:p>
            <a:r>
              <a:t>  For example, a critical vulnerability blocks deployment, or only approved base images are allowed.</a:t>
            </a:r>
          </a:p>
          <a:p/>
          <a:p>
            <a:r>
              <a:t>  This connects directly to Module 7's security pipeline.</a:t>
            </a:r>
          </a:p>
          <a:p/>
          <a:p>
            <a:r>
              <a:t>- What the diagram shows</a:t>
            </a:r>
          </a:p>
          <a:p/>
          <a:p>
            <a:r>
              <a:t>  Authentication, scanning and policy validation deciding whether an image is approved or blocked.</a:t>
            </a:r>
          </a:p>
          <a:p/>
          <a:p>
            <a:r>
              <a:t>- Key point</a:t>
            </a:r>
          </a:p>
          <a:p/>
          <a:p>
            <a:r>
              <a:t>  Only authenticated, scanned, policy-compliant images get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Size and speed</a:t>
            </a:r>
          </a:p>
          <a:p/>
          <a:p>
            <a:r>
              <a:t>  The Maven image with source and build output is huge, and copying everything first means any change invalidates the dependency layer.</a:t>
            </a:r>
          </a:p>
          <a:p/>
          <a:p>
            <a:r>
              <a:t>- Security</a:t>
            </a:r>
          </a:p>
          <a:p/>
          <a:p>
            <a:r>
              <a:t>  The password is stored in the image history, the process runs as root, and latest can change without notice.</a:t>
            </a:r>
          </a:p>
          <a:p/>
          <a:p>
            <a:r>
              <a:t>- Runtime</a:t>
            </a:r>
          </a:p>
          <a:p/>
          <a:p>
            <a:r>
              <a:t>  Running mvn spring-boot:run in production recompiles at startup.</a:t>
            </a:r>
          </a:p>
          <a:p/>
          <a:p>
            <a:r>
              <a:t>  Run the packaged JAR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Before deploying, learners need to know which objects they will create and what the platform does with them.</a:t>
            </a:r>
          </a:p>
          <a:p/>
          <a:p>
            <a:r>
              <a:t>- What comes next</a:t>
            </a:r>
          </a:p>
          <a:p/>
          <a:p>
            <a:r>
              <a:t>  OpenShift versus Kubernetes, the control plane and workers, and the objects that carry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Built around Kubernetes</a:t>
            </a:r>
          </a:p>
          <a:p/>
          <a:p>
            <a:r>
              <a:t>  OpenShift is built around Kubernetes.</a:t>
            </a:r>
          </a:p>
          <a:p/>
          <a:p>
            <a:r>
              <a:t>  Think of it as Kubernetes concepts plus enterprise platform capabilities.</a:t>
            </a:r>
          </a:p>
          <a:p/>
          <a:p>
            <a:r>
              <a:t>- What it provides</a:t>
            </a:r>
          </a:p>
          <a:p/>
          <a:p>
            <a:r>
              <a:t>  OpenShift handles scheduling workloads, managing containers, service discovery, networking and routing.</a:t>
            </a:r>
          </a:p>
          <a:p/>
          <a:p>
            <a:r>
              <a:t>  It also covers scaling, security controls, configuration, lifecycle management and platform operations.</a:t>
            </a:r>
          </a:p>
          <a:p/>
          <a:p>
            <a:r>
              <a:t>- A useful distinction</a:t>
            </a:r>
          </a:p>
          <a:p/>
          <a:p>
            <a:r>
              <a:t>  Kubernetes provides the core container orchestration model.</a:t>
            </a:r>
          </a:p>
          <a:p/>
          <a:p>
            <a:r>
              <a:t>  OpenShift packages and extends that model into an enterprise application platform.</a:t>
            </a:r>
          </a:p>
          <a:p/>
          <a:p>
            <a:r>
              <a:t>- Not a different world</a:t>
            </a:r>
          </a:p>
          <a:p/>
          <a:p>
            <a:r>
              <a:t>  Don't teach OpenShift as unrelated to Kubernetes.</a:t>
            </a:r>
          </a:p>
          <a:p/>
          <a:p>
            <a:r>
              <a:t>  The key Kubernetes ideas, such as pods, deployments, services and namespaces, stay central.</a:t>
            </a:r>
          </a:p>
          <a:p/>
          <a:p>
            <a:r>
              <a:t>- What the diagram shows</a:t>
            </a:r>
          </a:p>
          <a:p/>
          <a:p>
            <a:r>
              <a:t>  Kubernetes at the core, surrounded by routing, security, operators, developer tooling, networking, CI/CD integration and observability.</a:t>
            </a:r>
          </a:p>
          <a:p/>
          <a:p>
            <a:r>
              <a:t>- Key point</a:t>
            </a:r>
          </a:p>
          <a:p/>
          <a:p>
            <a:r>
              <a:t>  OpenShift is Kubernetes plus the enterprise platform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Two parts</a:t>
            </a:r>
          </a:p>
          <a:p/>
          <a:p>
            <a:r>
              <a:t>  An OpenShift cluster has a control plane, which makes cluster decisions and stores cluster state.</a:t>
            </a:r>
          </a:p>
          <a:p/>
          <a:p>
            <a:r>
              <a:t>  It also has worker nodes, which run the application workloads.</a:t>
            </a:r>
          </a:p>
          <a:p/>
          <a:p>
            <a:r>
              <a:t>- API server and scheduler</a:t>
            </a:r>
          </a:p>
          <a:p/>
          <a:p>
            <a:r>
              <a:t>  The API server is the central entry point for cluster operations.</a:t>
            </a:r>
          </a:p>
          <a:p/>
          <a:p>
            <a:r>
              <a:t>  When you run oc get pods, you are talking to the platform API.</a:t>
            </a:r>
          </a:p>
          <a:p/>
          <a:p>
            <a:r>
              <a:t>  The scheduler decides which eligible worker node runs a new pod.</a:t>
            </a:r>
          </a:p>
          <a:p/>
          <a:p>
            <a:r>
              <a:t>- Controllers and etcd</a:t>
            </a:r>
          </a:p>
          <a:p/>
          <a:p>
            <a:r>
              <a:t>  Controllers keep comparing desired state with actual state and try to bring them together.</a:t>
            </a:r>
          </a:p>
          <a:p/>
          <a:p>
            <a:r>
              <a:t>  If three replicas are desired but only two exist, the controller creates another pod.</a:t>
            </a:r>
          </a:p>
          <a:p/>
          <a:p>
            <a:r>
              <a:t>  etcd stores important cluster state.</a:t>
            </a:r>
          </a:p>
          <a:p/>
          <a:p>
            <a:r>
              <a:t>- The key principle</a:t>
            </a:r>
          </a:p>
          <a:p/>
          <a:p>
            <a:r>
              <a:t>  OpenShift continuously reconciles actual state toward desired state.</a:t>
            </a:r>
          </a:p>
          <a:p/>
          <a:p>
            <a:r>
              <a:t>- What the diagram shows</a:t>
            </a:r>
          </a:p>
          <a:p/>
          <a:p>
            <a:r>
              <a:t>  The control plane with API server, scheduler, controllers and etcd, connected to worker nodes running pods.</a:t>
            </a:r>
          </a:p>
          <a:p/>
          <a:p>
            <a:r>
              <a:t>- Key point</a:t>
            </a:r>
          </a:p>
          <a:p/>
          <a:p>
            <a:r>
              <a:t>  The control plane decides; worker nodes run the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Project and deployment</a:t>
            </a:r>
          </a:p>
          <a:p/>
          <a:p>
            <a:r>
              <a:t>  A project, or namespace, groups and isolates resources, for example order-platform-dev, test and prod.</a:t>
            </a:r>
          </a:p>
          <a:p/>
          <a:p>
            <a:r>
              <a:t>  A deployment defines how the application should run, such as image order-service:1.0 with three replicas.</a:t>
            </a:r>
          </a:p>
          <a:p/>
          <a:p>
            <a:r>
              <a:t>- Pod</a:t>
            </a:r>
          </a:p>
          <a:p/>
          <a:p>
            <a:r>
              <a:t>  A pod is the smallest runtime unit in Kubernetes and OpenShift.</a:t>
            </a:r>
          </a:p>
          <a:p/>
          <a:p>
            <a:r>
              <a:t>  It holds one or more closely related containers.</a:t>
            </a:r>
          </a:p>
          <a:p/>
          <a:p>
            <a:r>
              <a:t>  In this course, most examples use one main application container per pod.</a:t>
            </a:r>
          </a:p>
          <a:p/>
          <a:p>
            <a:r>
              <a:t>- Service and route</a:t>
            </a:r>
          </a:p>
          <a:p/>
          <a:p>
            <a:r>
              <a:t>  A service gives a group of pods a stable network endpoint.</a:t>
            </a:r>
          </a:p>
          <a:p/>
          <a:p>
            <a:r>
              <a:t>  A route exposes a service outside the cluster.</a:t>
            </a:r>
          </a:p>
          <a:p/>
          <a:p>
            <a:r>
              <a:t>- ConfigMap and secret</a:t>
            </a:r>
          </a:p>
          <a:p/>
          <a:p>
            <a:r>
              <a:t>  A ConfigMap stores non-sensitive configuration.</a:t>
            </a:r>
          </a:p>
          <a:p/>
          <a:p>
            <a:r>
              <a:t>  A secret stores sensitive configuration such as credentials or tokens.</a:t>
            </a:r>
          </a:p>
          <a:p/>
          <a:p>
            <a:r>
              <a:t>- What the diagram shows</a:t>
            </a:r>
          </a:p>
          <a:p/>
          <a:p>
            <a:r>
              <a:t>  A project containing a Deployment, its pods, a Service and a Route, with a ConfigMap and Secret feeding the pods.</a:t>
            </a:r>
          </a:p>
          <a:p/>
          <a:p>
            <a:r>
              <a:t>- Key point</a:t>
            </a:r>
          </a:p>
          <a:p/>
          <a:p>
            <a:r>
              <a:t>  A few objects describe where an app lives, how it runs and how traffic reaches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of the most important diagrams</a:t>
            </a:r>
          </a:p>
          <a:p/>
          <a:p>
            <a:r>
              <a:t>  Start from the bottom.</a:t>
            </a:r>
          </a:p>
          <a:p/>
          <a:p>
            <a:r>
              <a:t>  The deployment says: I want three Order Service replicas.</a:t>
            </a:r>
          </a:p>
          <a:p/>
          <a:p>
            <a:r>
              <a:t>  OpenShift makes sure three pods exist, all running the Order Service image.</a:t>
            </a:r>
          </a:p>
          <a:p/>
          <a:p>
            <a:r>
              <a:t>- The service</a:t>
            </a:r>
          </a:p>
          <a:p/>
          <a:p>
            <a:r>
              <a:t>  Pods can be temporary, and their identities and addresses may change.</a:t>
            </a:r>
          </a:p>
          <a:p/>
          <a:p>
            <a:r>
              <a:t>  The service gives them a stable internal endpoint.</a:t>
            </a:r>
          </a:p>
          <a:p/>
          <a:p>
            <a:r>
              <a:t>  Callers use order-service instead of knowing each pod's IP address.</a:t>
            </a:r>
          </a:p>
          <a:p/>
          <a:p>
            <a:r>
              <a:t>- The route</a:t>
            </a:r>
          </a:p>
          <a:p/>
          <a:p>
            <a:r>
              <a:t>  When external access is needed, the route gives external HTTP or HTTPS access to the service.</a:t>
            </a:r>
          </a:p>
          <a:p/>
          <a:p>
            <a:r>
              <a:t>- The mental model</a:t>
            </a:r>
          </a:p>
          <a:p/>
          <a:p>
            <a:r>
              <a:t>  Traffic flows route, then service, then pods.</a:t>
            </a:r>
          </a:p>
          <a:p/>
          <a:p>
            <a:r>
              <a:t>  Separately, the deployment manages the pods.</a:t>
            </a:r>
          </a:p>
          <a:p/>
          <a:p>
            <a:r>
              <a:t>- What the diagram shows</a:t>
            </a:r>
          </a:p>
          <a:p/>
          <a:p>
            <a:r>
              <a:t>  An external client reaching a Route, then a Service, then several pods managed by a Deployment.</a:t>
            </a:r>
          </a:p>
          <a:p/>
          <a:p>
            <a:r>
              <a:t>- Key point</a:t>
            </a:r>
          </a:p>
          <a:p/>
          <a:p>
            <a:r>
              <a:t>  Route → Service → Pods carries traffic; the Deployment manages the pods.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This is what Lab 4 does: apply manifests, prove probes, roll forward and roll back.</a:t>
            </a:r>
          </a:p>
          <a:p/>
          <a:p>
            <a:r>
              <a:t>- What comes next</a:t>
            </a:r>
          </a:p>
          <a:p/>
          <a:p>
            <a:r>
              <a:t>  Deployment YAML, configuration and secrets, probes, scaling, updates, resources and a troubleshooting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Starting point</a:t>
            </a:r>
          </a:p>
          <a:p/>
          <a:p>
            <a:r>
              <a:t>  Suppose Module 7 produced registry.example.com/order-service:1.0.</a:t>
            </a:r>
          </a:p>
          <a:p/>
          <a:p>
            <a:r>
              <a:t>  Now the OpenShift deployment begins.</a:t>
            </a:r>
          </a:p>
          <a:p/>
          <a:p>
            <a:r>
              <a:t>- The steps</a:t>
            </a:r>
          </a:p>
          <a:p/>
          <a:p>
            <a:r>
              <a:t>  First, create a deployment that references the image, with three replicas.</a:t>
            </a:r>
          </a:p>
          <a:p/>
          <a:p>
            <a:r>
              <a:t>  OpenShift schedules pods onto worker nodes, and the nodes pull the image from the registry.</a:t>
            </a:r>
          </a:p>
          <a:p/>
          <a:p>
            <a:r>
              <a:t>  The containers start, and health probes decide when the pods are ready.</a:t>
            </a:r>
          </a:p>
          <a:p/>
          <a:p>
            <a:r>
              <a:t>  A service gives the pods a stable identity, and a route may expose the application externally.</a:t>
            </a:r>
          </a:p>
          <a:p/>
          <a:p>
            <a:r>
              <a:t>- The key idea</a:t>
            </a:r>
          </a:p>
          <a:p/>
          <a:p>
            <a:r>
              <a:t>  The CI/CD pipeline does not run the JAR on a server.</a:t>
            </a:r>
          </a:p>
          <a:p/>
          <a:p>
            <a:r>
              <a:t>  It declares the desired workload to the platform.</a:t>
            </a:r>
          </a:p>
          <a:p/>
          <a:p>
            <a:r>
              <a:t>- What the diagram shows</a:t>
            </a:r>
          </a:p>
          <a:p/>
          <a:p>
            <a:r>
              <a:t>  A registry image becoming a Deployment, pods, a Service and a Route reached by a client.</a:t>
            </a:r>
          </a:p>
          <a:p/>
          <a:p>
            <a:r>
              <a:t>- Key point</a:t>
            </a:r>
          </a:p>
          <a:p/>
          <a:p>
            <a:r>
              <a:t>  Declare what should run; OpenShift makes it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Deployment</a:t>
            </a:r>
          </a:p>
          <a:p/>
          <a:p>
            <a:r>
              <a:t>  Two replicas of the immutable 1.0.0 image, with runAsNonRoot enforced by the platform.</a:t>
            </a:r>
          </a:p>
          <a:p/>
          <a:p>
            <a:r>
              <a:t>- Config and secrets</a:t>
            </a:r>
          </a:p>
          <a:p/>
          <a:p>
            <a:r>
              <a:t>  envFrom turns every ConfigMap and Secret key into an environment variable the Spring Boot app can read.</a:t>
            </a:r>
          </a:p>
          <a:p/>
          <a:p>
            <a:r>
              <a:t>- Service</a:t>
            </a:r>
          </a:p>
          <a:p/>
          <a:p>
            <a:r>
              <a:t>  The selector matches the pod label, so traffic reaches whichever pods are ready.</a:t>
            </a:r>
          </a:p>
          <a:p/>
          <a:p>
            <a:r>
              <a:t>- Route</a:t>
            </a:r>
          </a:p>
          <a:p/>
          <a:p>
            <a:r>
              <a:t>  Edge termination serves HTTPS on the platform's certificate.</a:t>
            </a:r>
          </a:p>
          <a:p/>
          <a:p>
            <a:r>
              <a:t>  Internal services such as databases get no Route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image everywhere</a:t>
            </a:r>
          </a:p>
          <a:p/>
          <a:p>
            <a:r>
              <a:t>  We want one image to move through every environment.</a:t>
            </a:r>
          </a:p>
          <a:p/>
          <a:p>
            <a:r>
              <a:t>  The bad model builds separate dev, test and prod images just because configuration differs.</a:t>
            </a:r>
          </a:p>
          <a:p/>
          <a:p>
            <a:r>
              <a:t>  The better model uses one image, order-service:1.0, with different external configuration.</a:t>
            </a:r>
          </a:p>
          <a:p/>
          <a:p>
            <a:r>
              <a:t>- ConfigMaps</a:t>
            </a:r>
          </a:p>
          <a:p/>
          <a:p>
            <a:r>
              <a:t>  Use a ConfigMap for non-sensitive values, such as log level, the payment service URL or a feature flag.</a:t>
            </a:r>
          </a:p>
          <a:p/>
          <a:p>
            <a:r>
              <a:t>- Secrets</a:t>
            </a:r>
          </a:p>
          <a:p/>
          <a:p>
            <a:r>
              <a:t>  Use a secret for sensitive values, such as a database password, API token or private key.</a:t>
            </a:r>
          </a:p>
          <a:p/>
          <a:p>
            <a:r>
              <a:t>- How Spring Boot gets them</a:t>
            </a:r>
          </a:p>
          <a:p/>
          <a:p>
            <a:r>
              <a:t>  Spring Boot can receive these as environment variables, mounted configuration files or other external configuration sources.</a:t>
            </a:r>
          </a:p>
          <a:p/>
          <a:p>
            <a:r>
              <a:t>  This connects directly to externalized configuration in Module 3.</a:t>
            </a:r>
          </a:p>
          <a:p/>
          <a:p>
            <a:r>
              <a:t>- What the diagram shows</a:t>
            </a:r>
          </a:p>
          <a:p/>
          <a:p>
            <a:r>
              <a:t>  A pod receiving settings from a ConfigMap and credentials from a Secret.</a:t>
            </a:r>
          </a:p>
          <a:p/>
          <a:p>
            <a:r>
              <a:t>- Key point</a:t>
            </a:r>
          </a:p>
          <a:p/>
          <a:p>
            <a:r>
              <a:t>  Same image everywhere; configuration and secrets arrive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ConfigMap</a:t>
            </a:r>
          </a:p>
          <a:p/>
          <a:p>
            <a:r>
              <a:t>  It holds the profile, the JDBC URL and the Kafka address — exactly what Lab 4 puts there.</a:t>
            </a:r>
          </a:p>
          <a:p/>
          <a:p>
            <a:r>
              <a:t>  No password.</a:t>
            </a:r>
          </a:p>
          <a:p/>
          <a:p>
            <a:r>
              <a:t>- Secret</a:t>
            </a:r>
          </a:p>
          <a:p/>
          <a:p>
            <a:r>
              <a:t>  Credentials and the JWT signing secret live in a Secret, applied from a secure source rather than committed to Git.</a:t>
            </a:r>
          </a:p>
          <a:p/>
          <a:p>
            <a:r>
              <a:t>- Binding</a:t>
            </a:r>
          </a:p>
          <a:p/>
          <a:p>
            <a:r>
              <a:t>  Spring Boot's relaxed binding turns SPRING_DATASOURCE_URL into spring.datasource.url.</a:t>
            </a:r>
          </a:p>
          <a:p/>
          <a:p>
            <a:r>
              <a:t>- Module 12</a:t>
            </a:r>
          </a:p>
          <a:p/>
          <a:p>
            <a:r>
              <a:t>  Secret stores, rotation and access control are covered in depth in Module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Link to Module 6</a:t>
            </a:r>
          </a:p>
          <a:p/>
          <a:p>
            <a:r>
              <a:t>  Connect this back to health checks in Module 6.</a:t>
            </a:r>
          </a:p>
          <a:p/>
          <a:p>
            <a:r>
              <a:t>- Startup probe</a:t>
            </a:r>
          </a:p>
          <a:p/>
          <a:p>
            <a:r>
              <a:t>  A startup probe suits applications that take time to initialize.</a:t>
            </a:r>
          </a:p>
          <a:p/>
          <a:p>
            <a:r>
              <a:t>  It asks whether startup has finished, so the platform does not treat a slow starter as broken too early.</a:t>
            </a:r>
          </a:p>
          <a:p/>
          <a:p>
            <a:r>
              <a:t>- Readiness probe</a:t>
            </a:r>
          </a:p>
          <a:p/>
          <a:p>
            <a:r>
              <a:t>  A readiness probe asks whether this pod should receive traffic.</a:t>
            </a:r>
          </a:p>
          <a:p/>
          <a:p>
            <a:r>
              <a:t>  An application can be running while its database initialization is still incomplete.</a:t>
            </a:r>
          </a:p>
          <a:p/>
          <a:p>
            <a:r>
              <a:t>  Then liveness is fine but readiness is false, so the service avoids sending it normal traffic.</a:t>
            </a:r>
          </a:p>
          <a:p/>
          <a:p>
            <a:r>
              <a:t>- Liveness probe</a:t>
            </a:r>
          </a:p>
          <a:p/>
          <a:p>
            <a:r>
              <a:t>  A liveness probe asks whether the application is healthy enough to keep running.</a:t>
            </a:r>
          </a:p>
          <a:p/>
          <a:p>
            <a:r>
              <a:t>  If it stays unhealthy according to its settings, the platform can restart the container.</a:t>
            </a:r>
          </a:p>
          <a:p/>
          <a:p>
            <a:r>
              <a:t>- A warning</a:t>
            </a:r>
          </a:p>
          <a:p/>
          <a:p>
            <a:r>
              <a:t>  Bad probe settings can make an outage worse.</a:t>
            </a:r>
          </a:p>
          <a:p/>
          <a:p>
            <a:r>
              <a:t>  If every temporary database slowdown makes every pod fail liveness, the platform may keep restarting healthy processes.</a:t>
            </a:r>
          </a:p>
          <a:p/>
          <a:p>
            <a:r>
              <a:t>- What the diagram shows</a:t>
            </a:r>
          </a:p>
          <a:p/>
          <a:p>
            <a:r>
              <a:t>  A pod lifecycle with a startup probe, a readiness gate before traffic, and a liveness check that triggers recovery.</a:t>
            </a:r>
          </a:p>
          <a:p/>
          <a:p>
            <a:r>
              <a:t>- Key point</a:t>
            </a:r>
          </a:p>
          <a:p/>
          <a:p>
            <a:r>
              <a:t>  Three probes, three decisions: started, ready, still alive.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Actuator</a:t>
            </a:r>
          </a:p>
          <a:p/>
          <a:p>
            <a:r>
              <a:t>  With probes enabled, Actuator exposes separate liveness and readiness health groups.</a:t>
            </a:r>
          </a:p>
          <a:p/>
          <a:p>
            <a:r>
              <a:t>- Startup probe</a:t>
            </a:r>
          </a:p>
          <a:p/>
          <a:p>
            <a:r>
              <a:t>  It allows up to 150 seconds for startup.</a:t>
            </a:r>
          </a:p>
          <a:p/>
          <a:p>
            <a:r>
              <a:t>  Until it passes, the liveness probe can't restart a slowly booting pod.</a:t>
            </a:r>
          </a:p>
          <a:p/>
          <a:p>
            <a:r>
              <a:t>- Readiness and liveness</a:t>
            </a:r>
          </a:p>
          <a:p/>
          <a:p>
            <a:r>
              <a:t>  Readiness failing removes the pod from traffic; liveness failing three times restarts it.</a:t>
            </a:r>
          </a:p>
          <a:p/>
          <a:p>
            <a:r>
              <a:t>- Lab 4</a:t>
            </a:r>
          </a:p>
          <a:p/>
          <a:p>
            <a:r>
              <a:t>  Health endpoints stay public for the platform, while /actuator/metrics still requires a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Use the worksheet in labs/day-04/exercises.</a:t>
            </a:r>
          </a:p>
          <a:p/>
          <a:p>
            <a:r>
              <a:t>- Probes</a:t>
            </a:r>
          </a:p>
          <a:p/>
          <a:p>
            <a:r>
              <a:t>  Liveness and readiness use the Actuator health groups; startup gives Spring time to boot before liveness can restart it.</a:t>
            </a:r>
          </a:p>
          <a:p/>
          <a:p>
            <a:r>
              <a:t>- Correlation</a:t>
            </a:r>
          </a:p>
          <a:p/>
          <a:p>
            <a:r>
              <a:t>  The X-Correlation-Id header from Module 6 appears as correlationId= in every log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instances</a:t>
            </a:r>
          </a:p>
          <a:p/>
          <a:p>
            <a:r>
              <a:t>  OpenShift can run many instances of the same application.</a:t>
            </a:r>
          </a:p>
          <a:p/>
          <a:p>
            <a:r>
              <a:t>  If the Order Service has one replica and needs more capacity, change it to three.</a:t>
            </a:r>
          </a:p>
          <a:p/>
          <a:p>
            <a:r>
              <a:t>  OpenShift creates more pods from the same image, and the service spreads traffic across them.</a:t>
            </a:r>
          </a:p>
          <a:p/>
          <a:p>
            <a:r>
              <a:t>- Stateless scales best</a:t>
            </a:r>
          </a:p>
          <a:p/>
          <a:p>
            <a:r>
              <a:t>  This works best for stateless services, which connects back to Module 2.</a:t>
            </a:r>
          </a:p>
          <a:p/>
          <a:p>
            <a:r>
              <a:t>  If critical session state lives only in Pod A's memory, sending the next request to Pod B may break behavior.</a:t>
            </a:r>
          </a:p>
          <a:p/>
          <a:p>
            <a:r>
              <a:t>- Autoscaling</a:t>
            </a:r>
          </a:p>
          <a:p/>
          <a:p>
            <a:r>
              <a:t>  Horizontal autoscaling works like this: demand rises, an observed metric crosses a threshold, and replicas increase.</a:t>
            </a:r>
          </a:p>
          <a:p/>
          <a:p>
            <a:r>
              <a:t>- The whole chain</a:t>
            </a:r>
          </a:p>
          <a:p/>
          <a:p>
            <a:r>
              <a:t>  Scaling the service tier does not automatically scale the database, external APIs or the message broker.</a:t>
            </a:r>
          </a:p>
          <a:p/>
          <a:p>
            <a:r>
              <a:t>  Capacity planning must consider the whole dependency chain.</a:t>
            </a:r>
          </a:p>
          <a:p/>
          <a:p>
            <a:r>
              <a:t>- What the diagram shows</a:t>
            </a:r>
          </a:p>
          <a:p/>
          <a:p>
            <a:r>
              <a:t>  One pod scaling out to several replicas behind a Service, with an autoscaling trigger.</a:t>
            </a:r>
          </a:p>
          <a:p/>
          <a:p>
            <a:r>
              <a:t>- Key point</a:t>
            </a:r>
          </a:p>
          <a:p/>
          <a:p>
            <a:r>
              <a:t>  Add replicas behind the same Service to handle more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Progressive replacement</a:t>
            </a:r>
          </a:p>
          <a:p/>
          <a:p>
            <a:r>
              <a:t>  A rolling update gradually replaces old instances with new ones.</a:t>
            </a:r>
          </a:p>
          <a:p/>
          <a:p>
            <a:r>
              <a:t>  Say we move from order-service:1.0 to 1.1.</a:t>
            </a:r>
          </a:p>
          <a:p/>
          <a:p>
            <a:r>
              <a:t>  Instead of stopping all version 1 pods first, the platform replaces them one at a time.</a:t>
            </a:r>
          </a:p>
          <a:p/>
          <a:p>
            <a:r>
              <a:t>- Readiness protects traffic</a:t>
            </a:r>
          </a:p>
          <a:p/>
          <a:p>
            <a:r>
              <a:t>  A new version 2 pod should not receive production traffic until it is ready.</a:t>
            </a:r>
          </a:p>
          <a:p/>
          <a:p>
            <a:r>
              <a:t>  That keeps the service available during the deployment.</a:t>
            </a:r>
          </a:p>
          <a:p/>
          <a:p>
            <a:r>
              <a:t>- Rollback</a:t>
            </a:r>
          </a:p>
          <a:p/>
          <a:p>
            <a:r>
              <a:t>  If version 2 shows serious problems, rolling back to version 1 may be possible.</a:t>
            </a:r>
          </a:p>
          <a:p/>
          <a:p>
            <a:r>
              <a:t>- An important limit</a:t>
            </a:r>
          </a:p>
          <a:p/>
          <a:p>
            <a:r>
              <a:t>  Rolling back the application does not automatically reverse database changes.</a:t>
            </a:r>
          </a:p>
          <a:p/>
          <a:p>
            <a:r>
              <a:t>  If version 2 made an incompatible schema change, rolling back only the image might not restore compatibility.</a:t>
            </a:r>
          </a:p>
          <a:p/>
          <a:p>
            <a:r>
              <a:t>  That is why backward-compatible schema evolution matters.</a:t>
            </a:r>
          </a:p>
          <a:p/>
          <a:p>
            <a:r>
              <a:t>- What the diagram shows</a:t>
            </a:r>
          </a:p>
          <a:p/>
          <a:p>
            <a:r>
              <a:t>  Version 1 pods progressively replaced by version 2 pods, with a rollback path.</a:t>
            </a:r>
          </a:p>
          <a:p/>
          <a:p>
            <a:r>
              <a:t>- Key point</a:t>
            </a:r>
          </a:p>
          <a:p/>
          <a:p>
            <a:r>
              <a:t>  Readiness gates each new pod; rollback restores the previous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Resources aren't unlimited</a:t>
            </a:r>
          </a:p>
          <a:p/>
          <a:p>
            <a:r>
              <a:t>  Applications should not act as if cluster resources are unlimited.</a:t>
            </a:r>
          </a:p>
          <a:p/>
          <a:p>
            <a:r>
              <a:t>- Requests</a:t>
            </a:r>
          </a:p>
          <a:p/>
          <a:p>
            <a:r>
              <a:t>  Resource requests describe what the workload needs for scheduling.</a:t>
            </a:r>
          </a:p>
          <a:p/>
          <a:p>
            <a:r>
              <a:t>  The scheduler uses them to choose a node.</a:t>
            </a:r>
          </a:p>
          <a:p/>
          <a:p>
            <a:r>
              <a:t>  For example, the Order Service might request 500m of CPU, which is half a core, and 512Mi of memory.</a:t>
            </a:r>
          </a:p>
          <a:p/>
          <a:p>
            <a:r>
              <a:t>- Limits</a:t>
            </a:r>
          </a:p>
          <a:p/>
          <a:p>
            <a:r>
              <a:t>  Resource limits set upper boundaries.</a:t>
            </a:r>
          </a:p>
          <a:p/>
          <a:p>
            <a:r>
              <a:t>  If a container uses too much memory for its configured limit, it may be terminated.</a:t>
            </a:r>
          </a:p>
          <a:p/>
          <a:p>
            <a:r>
              <a:t>  CPU may be throttled, depending on configuration.</a:t>
            </a:r>
          </a:p>
          <a:p/>
          <a:p>
            <a:r>
              <a:t>- Why it matters</a:t>
            </a:r>
          </a:p>
          <a:p/>
          <a:p>
            <a:r>
              <a:t>  Without sensible settings, one service can consume too much capacity.</a:t>
            </a:r>
          </a:p>
          <a:p/>
          <a:p>
            <a:r>
              <a:t>  Scheduling gets less predictable, autoscaling less meaningful, and cost planning harder.</a:t>
            </a:r>
          </a:p>
          <a:p/>
          <a:p>
            <a:r>
              <a:t>  But arbitrary, aggressive limits can also cause instability.</a:t>
            </a:r>
          </a:p>
          <a:p/>
          <a:p>
            <a:r>
              <a:t>- Measure first</a:t>
            </a:r>
          </a:p>
          <a:p/>
          <a:p>
            <a:r>
              <a:t>  Measure application behavior before setting production values.</a:t>
            </a:r>
          </a:p>
          <a:p/>
          <a:p>
            <a:r>
              <a:t>  This connects to the saturation and performance metrics in Module 6.</a:t>
            </a:r>
          </a:p>
          <a:p/>
          <a:p>
            <a:r>
              <a:t>- What the diagram shows</a:t>
            </a:r>
          </a:p>
          <a:p/>
          <a:p>
            <a:r>
              <a:t>  A container with CPU and memory requests and limits, and what the scheduler and runtime do with each.</a:t>
            </a:r>
          </a:p>
          <a:p/>
          <a:p>
            <a:r>
              <a:t>- Key point</a:t>
            </a:r>
          </a:p>
          <a:p/>
          <a:p>
            <a:r>
              <a:t>  Requests drive scheduling; limits cap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Be systematic</a:t>
            </a:r>
          </a:p>
          <a:p/>
          <a:p>
            <a:r>
              <a:t>  Suppose a user reports that the Order API is unavailable.</a:t>
            </a:r>
          </a:p>
          <a:p/>
          <a:p>
            <a:r>
              <a:t>  Do not restart the application straight away.</a:t>
            </a:r>
          </a:p>
          <a:p/>
          <a:p>
            <a:r>
              <a:t>  Follow the request path.</a:t>
            </a:r>
          </a:p>
          <a:p/>
          <a:p>
            <a:r>
              <a:t>- Route, service, pods</a:t>
            </a:r>
          </a:p>
          <a:p/>
          <a:p>
            <a:r>
              <a:t>  First, check that the route exists and points to the right service.</a:t>
            </a:r>
          </a:p>
          <a:p/>
          <a:p>
            <a:r>
              <a:t>  Next, check that the service selects the right pods.</a:t>
            </a:r>
          </a:p>
          <a:p/>
          <a:p>
            <a:r>
              <a:t>  Then check that the pods are running, and that they are ready.</a:t>
            </a:r>
          </a:p>
          <a:p/>
          <a:p>
            <a:r>
              <a:t>  A pod can be running but not ready.</a:t>
            </a:r>
          </a:p>
          <a:p/>
          <a:p>
            <a:r>
              <a:t>- Logs and events</a:t>
            </a:r>
          </a:p>
          <a:p/>
          <a:p>
            <a:r>
              <a:t>  Check logs for application failures.</a:t>
            </a:r>
          </a:p>
          <a:p/>
          <a:p>
            <a:r>
              <a:t>  Check platform events, which may show a failed image pull, a scheduling problem, a probe failure or a resource issue.</a:t>
            </a:r>
          </a:p>
          <a:p/>
          <a:p>
            <a:r>
              <a:t>- Dependencies</a:t>
            </a:r>
          </a:p>
          <a:p/>
          <a:p>
            <a:r>
              <a:t>  OpenShift itself may be healthy while, for example, the database is unavailable.</a:t>
            </a:r>
          </a:p>
          <a:p/>
          <a:p>
            <a:r>
              <a:t>  Troubleshoot layer by layer instead of guessing.</a:t>
            </a:r>
          </a:p>
          <a:p/>
          <a:p>
            <a:r>
              <a:t>- What the diagram shows</a:t>
            </a:r>
          </a:p>
          <a:p/>
          <a:p>
            <a:r>
              <a:t>  A user issue traced through the Route, Service, pods, readiness, logs, events and dependencies.</a:t>
            </a:r>
          </a:p>
          <a:p/>
          <a:p>
            <a:r>
              <a:t>- Key point</a:t>
            </a:r>
          </a:p>
          <a:p/>
          <a:p>
            <a:r>
              <a:t>  Follow the traffic path in order instead of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clue</a:t>
            </a:r>
          </a:p>
          <a:p/>
          <a:p>
            <a:r>
              <a:t>  The pod is Running but 0 of 1 containers are ready, and the Service has no endpoints, so the Route has nowhere to send traffic.</a:t>
            </a:r>
          </a:p>
          <a:p/>
          <a:p>
            <a:r>
              <a:t>- Likely causes</a:t>
            </a:r>
          </a:p>
          <a:p/>
          <a:p>
            <a:r>
              <a:t>  Readiness fails because the database URL or secret is wrong, or the Service selector doesn't match the pod labels.</a:t>
            </a:r>
          </a:p>
          <a:p/>
          <a:p>
            <a:r>
              <a:t>- How to confirm</a:t>
            </a:r>
          </a:p>
          <a:p/>
          <a:p>
            <a:r>
              <a:t>  oc describe pod shows probe failures in events; oc logs shows the underlying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Connecting Modules 7 and 8</a:t>
            </a:r>
          </a:p>
          <a:p/>
          <a:p>
            <a:r>
              <a:t>  Module 7 ended with Git, CI/CD, a container image and the registry.</a:t>
            </a:r>
          </a:p>
          <a:p/>
          <a:p>
            <a:r>
              <a:t>  Module 8 continues from the registry into OpenShift, then the deployment, pods, service and route.</a:t>
            </a:r>
          </a:p>
          <a:p/>
          <a:p>
            <a:r>
              <a:t>- The lifecycle</a:t>
            </a:r>
          </a:p>
          <a:p/>
          <a:p>
            <a:r>
              <a:t>  A developer changes code, and Git stores the change.</a:t>
            </a:r>
          </a:p>
          <a:p/>
          <a:p>
            <a:r>
              <a:t>  CI validates it, the build creates a Spring Boot JAR, and the container build creates the image.</a:t>
            </a:r>
          </a:p>
          <a:p/>
          <a:p>
            <a:r>
              <a:t>  Security checks validate the image, and the registry stores it.</a:t>
            </a:r>
          </a:p>
          <a:p/>
          <a:p>
            <a:r>
              <a:t>- Running it</a:t>
            </a:r>
          </a:p>
          <a:p/>
          <a:p>
            <a:r>
              <a:t>  OpenShift deploys it, and health checks decide when it is ready.</a:t>
            </a:r>
          </a:p>
          <a:p/>
          <a:p>
            <a:r>
              <a:t>  The service gives internal access, and the route exposes it externally.</a:t>
            </a:r>
          </a:p>
          <a:p/>
          <a:p>
            <a:r>
              <a:t>  Observability validates how it behaves at runtime, and feedback reaches the engineering team.</a:t>
            </a:r>
          </a:p>
          <a:p/>
          <a:p>
            <a:r>
              <a:t>- Two halves of one story</a:t>
            </a:r>
          </a:p>
          <a:p/>
          <a:p>
            <a:r>
              <a:t>  Module 7 explained how the delivery pipeline creates the release.</a:t>
            </a:r>
          </a:p>
          <a:p/>
          <a:p>
            <a:r>
              <a:t>  Module 8 explains where and how that release runs.</a:t>
            </a:r>
          </a:p>
          <a:p/>
          <a:p>
            <a:r>
              <a:t>- What the diagram shows</a:t>
            </a:r>
          </a:p>
          <a:p/>
          <a:p>
            <a:r>
              <a:t>  GitHub and CI/CD producing a JAR and a scanned image in the registry, deployed to OpenShift pods, Service and Route, with observability.</a:t>
            </a:r>
          </a:p>
          <a:p/>
          <a:p>
            <a:r>
              <a:t>- Key point</a:t>
            </a:r>
          </a:p>
          <a:p/>
          <a:p>
            <a:r>
              <a:t>  CI/CD produces the release; OpenShift runs it; observability feeds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code to images</a:t>
            </a:r>
          </a:p>
          <a:p/>
          <a:p>
            <a:r>
              <a:t>  Use this slide to rebuild the module.</a:t>
            </a:r>
          </a:p>
          <a:p/>
          <a:p>
            <a:r>
              <a:t>  Developers write the Order, Payment and Inventory services.</a:t>
            </a:r>
          </a:p>
          <a:p/>
          <a:p>
            <a:r>
              <a:t>  CI/CD builds each one with Maven into a JAR, and then into a container image.</a:t>
            </a:r>
          </a:p>
          <a:p/>
          <a:p>
            <a:r>
              <a:t>  The images are stored in a registry for controlled distribution.</a:t>
            </a:r>
          </a:p>
          <a:p/>
          <a:p>
            <a:r>
              <a:t>- Deployments and pods</a:t>
            </a:r>
          </a:p>
          <a:p/>
          <a:p>
            <a:r>
              <a:t>  OpenShift deployments reference those images and declare the desired state, such as three Order Service replicas.</a:t>
            </a:r>
          </a:p>
          <a:p/>
          <a:p>
            <a:r>
              <a:t>  OpenShift schedules the pods, possibly across several worker nodes.</a:t>
            </a:r>
          </a:p>
          <a:p/>
          <a:p>
            <a:r>
              <a:t>- Networking and configuration</a:t>
            </a:r>
          </a:p>
          <a:p/>
          <a:p>
            <a:r>
              <a:t>  Services give stable networking, so Order does not need to know the IP address of each Payment pod.</a:t>
            </a:r>
          </a:p>
          <a:p/>
          <a:p>
            <a:r>
              <a:t>  Routes provide controlled external access.</a:t>
            </a:r>
          </a:p>
          <a:p/>
          <a:p>
            <a:r>
              <a:t>  ConfigMaps and secrets keep configuration outside the image, so the same image runs in DEV, TEST and PROD.</a:t>
            </a:r>
          </a:p>
          <a:p/>
          <a:p>
            <a:r>
              <a:t>- Health, scale and updates</a:t>
            </a:r>
          </a:p>
          <a:p/>
          <a:p>
            <a:r>
              <a:t>  Startup, readiness and liveness probes protect traffic and recovery.</a:t>
            </a:r>
          </a:p>
          <a:p/>
          <a:p>
            <a:r>
              <a:t>  Scaling changes capacity, for example from 3 to 6 pods, without rebuilding.</a:t>
            </a:r>
          </a:p>
          <a:p/>
          <a:p>
            <a:r>
              <a:t>  Resource controls protect cluster stability, and rolling updates replace versions progressively.</a:t>
            </a:r>
          </a:p>
          <a:p/>
          <a:p>
            <a:r>
              <a:t>- Final message</a:t>
            </a:r>
          </a:p>
          <a:p/>
          <a:p>
            <a:r>
              <a:t>  Containers package Spring Boot microservices into consistent, portable images, and registries distribute them.</a:t>
            </a:r>
          </a:p>
          <a:p/>
          <a:p>
            <a:r>
              <a:t>  OpenShift schedules pods, keeps replicas running, and provides service networking and routes.</a:t>
            </a:r>
          </a:p>
          <a:p/>
          <a:p>
            <a:r>
              <a:t>  It injects configuration, checks health, manages resources, and supports scaling and rolling updates.</a:t>
            </a:r>
          </a:p>
          <a:p/>
          <a:p>
            <a:r>
              <a:t>- What the diagram shows</a:t>
            </a:r>
          </a:p>
          <a:p/>
          <a:p>
            <a:r>
              <a:t>  Gateway, Order, Payment and Inventory services running as replicated pods with Routes, Services, Deployments, ConfigMaps, Secrets, probes, scaling, databases and the delivery flow.</a:t>
            </a:r>
          </a:p>
          <a:p/>
          <a:p>
            <a:r>
              <a:t>- Key point</a:t>
            </a:r>
          </a:p>
          <a:p/>
          <a:p>
            <a:r>
              <a:t>  The whole module in one platform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behind most failed deployments.</a:t>
            </a:r>
          </a:p>
          <a:p/>
          <a:p>
            <a:r>
              <a:t>- Images</a:t>
            </a:r>
          </a:p>
          <a:p/>
          <a:p>
            <a:r>
              <a:t>  Containers aren't VMs, and a latest tag hides which version is running.</a:t>
            </a:r>
          </a:p>
          <a:p/>
          <a:p>
            <a:r>
              <a:t>- Health and data</a:t>
            </a:r>
          </a:p>
          <a:p/>
          <a:p>
            <a:r>
              <a:t>  A running pod may still be unready, Secrets are only encoded, and rolling back an image doesn't undo a migration.</a:t>
            </a:r>
          </a:p>
          <a:p/>
          <a:p>
            <a:r>
              <a:t>- Anti-patterns</a:t>
            </a:r>
          </a:p>
          <a:p/>
          <a:p>
            <a:r>
              <a:t>  Root images, baked-in secrets, no limits, dependency-coupled liveness, over-exposed Routes and hand-edited live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Image vs. container</a:t>
            </a:r>
          </a:p>
          <a:p/>
          <a:p>
            <a:r>
              <a:t>  An image is a packaged template; a container is a running instance of it.</a:t>
            </a:r>
          </a:p>
          <a:p/>
          <a:p>
            <a:r>
              <a:t>- 2. Why containers</a:t>
            </a:r>
          </a:p>
          <a:p/>
          <a:p>
            <a:r>
              <a:t>  Consistent, portable, lightweight packaging and runtime behavior.</a:t>
            </a:r>
          </a:p>
          <a:p/>
          <a:p>
            <a:r>
              <a:t>- 3. Containerfile</a:t>
            </a:r>
          </a:p>
          <a:p/>
          <a:p>
            <a:r>
              <a:t>  The instructions for building an image.</a:t>
            </a:r>
          </a:p>
          <a:p/>
          <a:p>
            <a:r>
              <a:t>- 4. Traceable tags</a:t>
            </a:r>
          </a:p>
          <a:p/>
          <a:p>
            <a:r>
              <a:t>  They show exactly which version is deployed.</a:t>
            </a:r>
          </a:p>
          <a:p/>
          <a:p>
            <a:r>
              <a:t>- 5. Registry</a:t>
            </a:r>
          </a:p>
          <a:p/>
          <a:p>
            <a:r>
              <a:t>  It stores and distributes container images.</a:t>
            </a:r>
          </a:p>
          <a:p/>
          <a:p>
            <a:r>
              <a:t>- 6. Project</a:t>
            </a:r>
          </a:p>
          <a:p/>
          <a:p>
            <a:r>
              <a:t>  It organizes related resources and access control.</a:t>
            </a:r>
          </a:p>
          <a:p/>
          <a:p>
            <a:r>
              <a:t>- 7. Deployment</a:t>
            </a:r>
          </a:p>
          <a:p/>
          <a:p>
            <a:r>
              <a:t>  Pods, replicas, the image and rollouts.</a:t>
            </a:r>
          </a:p>
          <a:p/>
          <a:p>
            <a:r>
              <a:t>- 8. Service vs. Route</a:t>
            </a:r>
          </a:p>
          <a:p/>
          <a:p>
            <a:r>
              <a:t>  A Service gives internal access; a Route exposes a Service externally over HTTP or HTTPS.</a:t>
            </a:r>
          </a:p>
          <a:p/>
          <a:p>
            <a:r>
              <a:t>- 9. Secret</a:t>
            </a:r>
          </a:p>
          <a:p/>
          <a:p>
            <a:r>
              <a:t>  For sensitive values such as passwords, tokens and keys.</a:t>
            </a:r>
          </a:p>
          <a:p/>
          <a:p>
            <a:r>
              <a:t>- 10. Readiness</a:t>
            </a:r>
          </a:p>
          <a:p/>
          <a:p>
            <a:r>
              <a:t>  It stops traffic reaching pods that can't serve requests yet.</a:t>
            </a:r>
          </a:p>
          <a:p/>
          <a:p>
            <a:r>
              <a:t>- Practical scenario</a:t>
            </a:r>
          </a:p>
          <a:p/>
          <a:p>
            <a:r>
              <a:t>  Pod running but unreachable: check the Deployment, the Service selector, the Route target, readiness, then events and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built secure images, distributed them through registries, and ran them on OpenShift with configuration, probes, scaling and rollouts.</a:t>
            </a:r>
          </a:p>
          <a:p/>
          <a:p>
            <a:r>
              <a:t>- Next module</a:t>
            </a:r>
          </a:p>
          <a:p/>
          <a:p>
            <a:r>
              <a:t>  Module 9 introduces GitHub Copilot for Spring Boot development, with review and testing still in human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"The container packages the application; OpenShift manages it at scale."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Containerization with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Red Hat OpenShift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Packaging, deploying, scaling and operating Spring Boot microservices.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Containers vs. virtual machines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Building container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Container registries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OpenShift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Deploying microservices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Configuration and secrets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Health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Scaling and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Containers vs. VMs, images, registries, OpenShift concepts, deployment and scaling.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52728"/>
            <a:ext cx="4965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34924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Compare containers and virtual machines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container images and containers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Build a Spring Boot container image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Apply container build best practices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container registries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Describe OpenShift architecture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Identify key OpenShift objects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Deploy a microservice to OpenShift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Externalize configuration and secrets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Configure application health checks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Scale applications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Understand rolling updates and resources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FOUR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81928" y="1764792"/>
            <a:ext cx="329184" cy="32918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1728216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Container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167128"/>
            <a:ext cx="17099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Containers vs VMs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167128"/>
            <a:ext cx="17099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84664" y="2167128"/>
            <a:ext cx="17099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Running containers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70632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81928" y="2843784"/>
            <a:ext cx="329184" cy="329184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2807208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Building &amp; distributing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246120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JAR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86650" y="3447288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60386" y="3246120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Container Build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5107" y="3447288"/>
            <a:ext cx="146305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38844" y="3246120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Image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243565" y="3447288"/>
            <a:ext cx="146305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17302" y="3246120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Registry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849624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81928" y="3922776"/>
            <a:ext cx="329184" cy="32918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886200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OpenShift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4325112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Cluster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86650" y="4526280"/>
            <a:ext cx="14630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60386" y="4325112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Control Plane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5107" y="4526280"/>
            <a:ext cx="146305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38844" y="4325112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Worker Nodes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43565" y="4526280"/>
            <a:ext cx="146305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417302" y="4325112"/>
            <a:ext cx="1177290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Pods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928616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81928" y="5001768"/>
            <a:ext cx="329184" cy="329184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4965192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Running applications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1928" y="5404104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Deployment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69480" y="5605272"/>
            <a:ext cx="7315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70064" y="5404104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Pods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57616" y="5605272"/>
            <a:ext cx="7315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458200" y="5404104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Service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45752" y="5605272"/>
            <a:ext cx="7315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546336" y="5404104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Route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533888" y="5605272"/>
            <a:ext cx="7315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634472" y="5404104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Scale/Health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Follow the full path from Spring Boot source to a production workload on OpenShift.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Container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read-only package of the application, its runtime and its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running instance of an image, isolated from other processes.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Multi-stage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Build in one stage, then copy only the result into a small runtime 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server that stores and distributes container images.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Pod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smallest unit OpenShift runs — one or more containers sharing a network.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Keeps the desired number of pods running and manages rolling updates.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Service and 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Service gives pods a stable internal address; a Route exposes it outside the cluster.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ConfigMap and Secret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Objects that inject configuration and sensitive values into pods at runtime.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 / Continuous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Central Processing Unit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Common Vulnerabilities and Exposures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45736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70001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1266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26694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Horizontal Pod Autoscaler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 Secure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Internet Protocol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ARchive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JDBC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Database Connectivity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2440" y="4745736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JDK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8008" y="470001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Development Kit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2440" y="531266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8008" y="526694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Runtime Environment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JWT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Web Token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OOM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Out Of Memory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Operating System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SBOM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Software Bill of Materials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768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324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Transport Layer Security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768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UBI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324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Universal Base Image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07680" y="4745736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23248" y="470001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Locator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7680" y="531266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YAML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3248" y="526694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YAML Ain't Markup Language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7 TO 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pipeline produces a tested image — now look inside it and the platform that runs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7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Git workflows and pull-request gates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CI/CD pipelines with tests and scans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once, promote the same image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Blue/Green and canary releases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Security in the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Package each service as an image and run it reliably on OpenShift.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8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Containers, VMs and images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a secure Spring Boot image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Tag, push and scan in a registry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2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OpenShift architecture and objects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3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Deploy with config, secrets and probes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4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Scale, roll out and set resources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4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Troubleshoot and see the whole picture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7 automated the delivery; Module 8 is what gets delivered — and where it runs.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CONTAINER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a container really is — and why microservices need one.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Container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&amp; distribute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OpenShift architecture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Running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CI builds and tests every change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pipeline publishes a versioned image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Releases promote that same image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exactly is this “image” the pipeline builds — and why use containers at 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containers for microservices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Containers vs. virtual machines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How containers work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Images vs. running containers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Anatomy of an image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CONTAINERS FOR MICROSERVICES?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Portability, isolation, consistency, fast startup and independent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60423"/>
            <a:ext cx="7415783" cy="4211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3575"/>
            <a:ext cx="7269480" cy="40651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“Works on my machine”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Different JDKs, libraries and OS settings make environments drift.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A CONTAINER PACKAGES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096767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933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JRE and dependencies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407663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38023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application JAR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71856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69112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Startup command and defaults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FITS MICROSERVICES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Each service versions, deploys and scales alone.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Containers let each microservice be packaged, versioned, deployed and scaled independently.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CONTAINERS VS. VIRTUAL MACHINES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Architecture, startup, resource overhead and isolation.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77865"/>
            <a:ext cx="7415783" cy="377658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017"/>
            <a:ext cx="7269480" cy="36302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Virtual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Full guest OS; boots in minutes; strong isolation; gigabytes.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Shares the host kernel; starts in seconds; megabytes.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A REPLACEMENT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OpenShift worker nodes are often VMs running containers.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VMs virtualize hardware; containers isolate processes on a shared kernel — and they coexist.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CONTAINERS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Application and dependencies sharing the host kernel with process isolation.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46192"/>
            <a:ext cx="7415783" cy="34399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9344"/>
            <a:ext cx="7269480" cy="3293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WHAT MAKES THE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Namespaces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cgroups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Layered filesystem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Own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78608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334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Namespaces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44368"/>
            <a:ext cx="3246120" cy="652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Give each container its own view of processes, files and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779519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834383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45280"/>
            <a:ext cx="3246120" cy="652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Limit how much CPU and memory each container may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4980431"/>
            <a:ext cx="3520440" cy="85343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980431"/>
            <a:ext cx="3154680" cy="8534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ENOUGH DEPTH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 don't manage these directly on OpenShift.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container is an isolated process — with its own view of files, network and resources.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 IMAGE VS. RUNNING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immutable image template versus running instances.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94018"/>
            <a:ext cx="7415783" cy="374428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7170"/>
            <a:ext cx="7269480" cy="35979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Read-only, versioned, stored in a registry.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running instance with its own writable layer — lost when it stops.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LINK TO SCALING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Three replicas = three containers from one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image can create many identical running containers.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ANATOMY OF A CONTAINER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Base image, runtime, application JAR, config defaults, metadata and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97229" y="1316736"/>
            <a:ext cx="5372301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381" y="1389888"/>
            <a:ext cx="5225997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Why layers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Change only your code and only the top layer is rebuilt and pushed.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layers well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Put rarely changing things first: base, JRE, dependencies, then the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KEEP IT SMALL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 build tools, caches or test files in the final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Layered images reuse unchanged layers — so only what changed gets rebuilt and moved.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BUILDING AND DISTRIBUTING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 Spring Boot JAR to a trusted image in a registry.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Container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&amp; distribute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OpenShift architecture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Running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Containers isolate processes on a shared kernel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image runs as many containers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Images are built from reusable layers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build a small, secure image — and get it safely to the cluster?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Spring Boot build flow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multi-stage, non-root Containerfile — in code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Good vs. bad images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 4.2: containerize Account Service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Tags, registries and scanning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review a Containerfile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BUILDING A SPRING BOOT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JAR → Dockerfile/Containerfile → build → image.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49" y="1316736"/>
            <a:ext cx="10008821" cy="276529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01" y="1389888"/>
            <a:ext cx="9862517" cy="2618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374642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Build and run locally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3826"/>
            <a:ext cx="3627120" cy="113004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./mvnw -B package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podman build -t order-service:1.0.0 .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podman run -p 8080:8080 order-service:1.0.0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4374642"/>
            <a:ext cx="3627120" cy="145923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442950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Docker or Podman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360" y="4740402"/>
            <a:ext cx="3352800" cy="1038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Same Containerfile syntax; Podman is common in Red Hat environments.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4374642"/>
            <a:ext cx="3627120" cy="145923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0080" y="4374642"/>
            <a:ext cx="3261360" cy="1459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BASE IMAGES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Use trusted, maintained images such as UBI or Temurin.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Build the JAR, describe the image, then build it into a versioned container image.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MULTI-STAGE, NON-ROOT CONTAINERFILE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Compile in a builder stage; ship only the JRE and the JAR, running as a normal user.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6986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Containerfile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7315200" cy="395960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# ---- build stage ----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FROM eclipse-temurin:21-jdk AS build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WORKDIR /src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COPY mvnw pom.xml ./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COPY .mvn .mvn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RUN ./mvnw -B dependency:go-offline      # cached layer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COPY src src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RUN ./mvnw -B package -DskipTests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# ---- runtime stage ----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FROM eclipse-temurin:21-jre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RUN useradd --uid 1001 --gid 0 md287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WORKDIR /app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COPY --from=build --chown=1001:0 /src/target/*.jar app.jar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USER 1001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EXPOSE 8080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ENTRYPOINT ["java", "-XX:MaxRAMPercentage=75", "-jar", "app.jar"]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98448"/>
            <a:ext cx="365760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353312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Two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664208"/>
            <a:ext cx="338328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Maven and the JDK stay in the builder — not in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19172"/>
            <a:ext cx="365760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574036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Dependency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884932"/>
            <a:ext cx="338328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Unchanged dependencies are reused on every rebuild.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739896"/>
            <a:ext cx="365760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794759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Non-root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105656"/>
            <a:ext cx="338328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USER 1001, group 0 — fits OpenShift's random UIDs.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960620"/>
            <a:ext cx="365760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960620"/>
            <a:ext cx="329184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TESTS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ran earlier in CI, so the image build skips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Build in one stage, run in another — as a non-root user with only what the service needs.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 BUILD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Minimal base image, non-root, reproducible builds, small layers, secrets outside.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48604"/>
            <a:ext cx="7415783" cy="44351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1756"/>
            <a:ext cx="7269480" cy="42888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 SHIP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Maven, JDK and source code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Passwords in ENV or files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Running as root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:latest base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ALWAYS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39242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Pinned, trusted base image</a:t>
            </a:r>
          </a:p>
        </p:txBody>
      </p:sp>
      <p:sp>
        <p:nvSpPr>
          <p:cNvPr id="18" name="Oval 17"/>
          <p:cNvSpPr/>
          <p:nvPr/>
        </p:nvSpPr>
        <p:spPr>
          <a:xfrm>
            <a:off x="8183880" y="370332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67588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Non-root user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0" y="4014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98678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the runtime and JAR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42569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42569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IMAGES 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secret in any layer stays in the image.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Ship only what the application needs to run — and never ship secrets.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4.2 — CONTAINERIZE ACCOUNT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4 checkpoint B: a secure, non-root image.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4848" y="1298448"/>
            <a:ext cx="4919472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labs/day-04/exercises/exercise-4.2-containerize-account.md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2740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4 ships the banking Account and Transaction services from Lab 3 as container images, then runs them with Docker Compose and on OpenShift.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2740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Multi-stage build: Maven compile in the builder, JRE runtime in the final image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USER md287 (non-root); OpenShift also sets runAsNonRoot: true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86435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80949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Immutable tag 1.0.0 — not :latest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32155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26669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Build from the Lab 3 solution context — don't recopy Java trees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2740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Explain why the runtime user isn't root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Say what stays in the builder stage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Tag md287/account-service:1.0.0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Ready before running docker build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You can explain why the runtime user is not root before you run docker build.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 IMAGE TAGGING AND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Semantic versions, commit SHAs and immutable references.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6509"/>
            <a:ext cx="7415783" cy="41593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9661"/>
            <a:ext cx="7269480" cy="401299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Good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85572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account-service:1.0.0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account-service:1.4.0-a13f92c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account-service@sha256:9f2c…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61137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WEAK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298627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95884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:latest — which version is running?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39775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39775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ENABLES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audits, incident analysis and exact rollback.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Map every running deployment to an exact image and source revision.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 REGISTRIES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Build → tag → push → registry → pull.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06070"/>
            <a:ext cx="7415783" cy="332017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9222"/>
            <a:ext cx="7269480" cy="3173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Push to a registry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9712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IMG=quay.io/md287/account-service:1.0.0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podman login quay.io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podman tag account-service:1.0.0 $IMG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podman push $IMG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726944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7818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Name anatomy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92704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registry / namespace / image :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396443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3119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Quay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0676" y="43119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OpenShift internal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7508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GHCR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80676" y="47508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ACR / ECR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registry stores and distributes the images OpenShift pulls to run pods.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REGISTRY SECURITY AND IMAGE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Authentication, access control, vulnerability scanning and trusted images.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45197"/>
            <a:ext cx="7415783" cy="28419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8349"/>
            <a:ext cx="7269480" cy="2695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BEFORE PRODUCTION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Authenticated push and pull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Scanned for CVEs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Signed (for example, Cosign)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SBOM attached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Policy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CRITICAL CVE or a missing signature blocks the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Only signed images from approved registries run in prod.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registry is a security boundary — authenticate, authorize, scan and gate.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REVIEW A CONTAINERFILE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Find what makes this image slow, large and unsafe.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teammate wrote: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FROM maven:latest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COPY . /app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WORKDIR /app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ENV DB_PASSWORD=Secret123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RUN mvn package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EXPOSE 8080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CMD mvn spring-boot:run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at least five problems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the risk of each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Sketch the improved Containerfile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:latest base → pin a version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Maven and source in runtime → multi-stage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 baked in → Secret at runtime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Runs as root → USER 1001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COPY . breaks caching → copy pom first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Pin the base, build in stages, run as non-root, and keep secrets out of every layer.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OPENSHIFT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platform that runs, heals and exposes our containers.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Container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&amp; distribute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OpenShift architecture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Running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Multi-stage, non-root images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Immutable tags trace to commits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Registries scan and gate images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Once the image is in the registry, what runs it — and how?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Red Hat OpenShift is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Cluster architecture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Core objects and how they relate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Route → Service → Pods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IS RED HAT OPENSHIFT?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enterprise Kubernetes platform with developer, security, routing and operations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3484" y="1316736"/>
            <a:ext cx="7259790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36" y="1389888"/>
            <a:ext cx="7113486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Kubernetes gives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Scheduling, self-healing, Services and declarative Deployments.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OpenShift adds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Routes, a web console, security defaults, builds, a registry and operators.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SAME WORLD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Kubernetes YAML and kubectl skills carry 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OpenShift packages and extends Kubernetes into an enterprise application platform.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OPENSHIFT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Control plane, worker nodes, API server, scheduler, etcd and operators.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9865" y="1316736"/>
            <a:ext cx="7407028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17" y="1389888"/>
            <a:ext cx="7260724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oc command and console action goes through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Places pods on nodes with enough requested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etcd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Stores the desired state of every object.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RECONCILIATION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Controllers keep moving actual state toward desired.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OpenShift continuously reconciles actual state toward desired state.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CORE OPENSHIFT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Project/namespace, pod, deployment, service, route, ConfigMap and secret.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06068"/>
            <a:ext cx="7415783" cy="31201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9220"/>
            <a:ext cx="7269480" cy="29738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Namespace plus access control for a team or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Deployment → Pods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Desired replicas of one image; pods are replaceable.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Service →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Stable internal name; optional external HTTPS URL.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CONFIG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ConfigMaps and Secrets feed pods at runtime.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Seven core objects describe where an app lives, how it runs, and how traffic and config reach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POD, DEPLOYMENT, SERVICE, AND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traffic reaches Spring Boot pods.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95201"/>
            <a:ext cx="7415783" cy="35419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8353"/>
            <a:ext cx="7269480" cy="3395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Inside the cluster — the Service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49250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http://account-service:8080</a:t>
            </a:r>
          </a:p>
        </p:txBody>
      </p:sp>
      <p:sp>
        <p:nvSpPr>
          <p:cNvPr id="8" name="Oval 7"/>
          <p:cNvSpPr/>
          <p:nvPr/>
        </p:nvSpPr>
        <p:spPr>
          <a:xfrm>
            <a:off x="8183880" y="227558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3064" y="2248154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Outside — through the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577338"/>
            <a:ext cx="3520440" cy="4759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https://account-service-md287.apps.example.com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18135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18135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SELECTORS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Service finds pods by label, not by 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Route → Service → Pods carries traffic, while the Deployment manages the pods.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RUNNING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Deploy, configure, check, scale, update — and troubleshoot.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Container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&amp; distribute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OpenShift architecture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Running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OpenShift reconciles desired state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Deployments manage replaceable pods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and Routes carry traffic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run a Spring Boot service on OpenShift so it stays healthy under change and load?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Deploying — with YAML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ConfigMaps and Secrets — with YAML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Probes — and Exercise 4.1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Scaling, rolling updates and resources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Troubleshooting — with an exercise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picture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DEPLOYING A MICROSERVICE TO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Image → Deployment → Pods → Service → Route.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90849"/>
            <a:ext cx="7415783" cy="275062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4001"/>
            <a:ext cx="7269480" cy="2604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Apply and watch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8557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oc apply -f openshift/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oc get pods -w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oc get route account-service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61137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66623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OpenShift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97713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Pulls the image, schedules pods, runs probes, then routes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03479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03479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DECLARATIVE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Change the YAML in Git; reapply — don't edit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Declare the image and replicas; OpenShift schedules, starts, checks and exposes the pods.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DEPLOYMENT, SERVICE AND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manifests take Account Service from image to HTTPS URL.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10-account.yaml (Deployment)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apiVersion: apps/v1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kind: Deployment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metadata: { name: account-service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spec: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replicas: 2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selector: { matchLabels: { app: account-service }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template: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metadata: { labels: { app: account-service }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spec: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securityContext: { runAsNonRoot: true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containers: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- name: account-service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image: &lt;registry&gt;/md287/account-service:1.0.0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ports: [ { containerPort: 8080 } ]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envFrom: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- configMapRef: { name: account-config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- secretRef: { name: account-secret 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Service and 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apiVersion: v1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kind: 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metadata: { name: account-service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spec: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selector: { app: account-service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ports: [ { port: 8080, targetPort: 8080 } ]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---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apiVersion: route.openshift.io/v1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kind: Route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metadata: { name: account-service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spec: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to: { kind: Service, name: account-service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port: { targetPort: 8080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tls: { termination: edge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app: account-service ties the Service to the pods.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envFrom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Config and secrets arrive as environment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Edge TLS — HTTPS outside, plain HTTP to the pod.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Deployment runs the pods, a Service names them, and a Route exposes only what must be public.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CONFIGURATION AND SECRETS IN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ConfigMaps, secrets, environment variables and mounted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72977"/>
            <a:ext cx="7415783" cy="41863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6129"/>
            <a:ext cx="7269480" cy="40400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JDBC URL, Kafka bootstrap servers, feature 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Secret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DB password, JWT signing secret, API keys — tightly restricted.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Spring binding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SPRING_DATASOURCE_URL maps to spring.datasource.url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Secrets are base64 — restrict who can read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Same image + environment-specific ConfigMaps and secrets — for DEV, TEST and PROD.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CONFIGMAP AND SECRET FOR ACCOUNT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Non-sensitive settings in a ConfigMap; credentials in a Secret — never in the 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48208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apiVersion: v1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kind: ConfigMap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metadata: { name: account-config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data: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SPRING_PROFILES_ACTIVE: openshift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SPRING_DATASOURCE_URL: jdbc:postgresql://account-db:5432/account_db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SPRING_KAFKA_BOOTSTRAP_SERVERS: kafka:19092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48208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apiVersion: v1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kind: Secret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metadata: { name: account-secret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type: Opaque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stringData: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SPRING_DATASOURCE_USERNAME: account_app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SPRING_DATASOURCE_PASSWORD: &lt;from the vault&gt;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MD287_JWT_SECRET: &lt;from the vault&gt;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apply from a secure source — not from Git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383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9318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Relaxed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040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Environment names map to Spring properties.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3383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39318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Per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7040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project gets its own values; the image is unchanged.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3383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39318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Secrets in Git?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7040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— use a vault, sealed or external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Change behavior per environment with ConfigMaps and Secrets — the image stays exactly the same.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HEALTH CHECKS IN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Startup, readiness and liveness probes.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84581"/>
            <a:ext cx="7415783" cy="336315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7733"/>
            <a:ext cx="7269480" cy="32168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Gives Spring Boot time to boot before other probes start.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Fails → the pod is removed from the Service, not restarted.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Liveness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Fails repeatedly → OpenShift restarts the container.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WARNING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Never make liveness depend on the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Probes tell OpenShift when a pod has started, can take traffic, or needs a restart.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PROBES BACKED BY SPRING BOOT ACTUATOR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Actuator's health groups become OpenShift's startup, readiness and liveness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7462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management: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endpoint: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health: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probes: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enabled: true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endpoints: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web: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exposure: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include: health, info, metrics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/actuator/health/liveness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/actuator/health/readiness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Container probes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74624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startupProbe: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httpGet: { path: /actuator/health/liveness, port: 8080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periodSeconds: 5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failureThreshold: 30          # up to 150 s to boot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readinessProbe: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httpGet: { path: /actuator/health/readiness, port: 8080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periodSeconds: 10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livenessProbe: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httpGet: { path: /actuator/health/liveness, port: 8080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periodSeconds: 15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failureThreshold: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Holds off liveness until the app has booted.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Controls whether the Service sends traffic.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Health stays public; metrics still need a JWT.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Let Actuator report health and OpenShift act on it — start, route, or restart.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4.1 — ADD HEALTH PROBES AND CORRELATION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4 checkpoint A: operability basics.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0296" y="1298448"/>
            <a:ext cx="476402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labs/day-04/exercises/exercise-4.1-probes-correlation.md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4 runs Account and Transaction services with Docker Compose, then deploys them to OpenShift with the same probes.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Liveness vs. readiness vs. startup — which Actuator paths, and why startup exists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X-Correlation-Id on the request must appear as correlationId= in logs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08127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02640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Health stays public; /actuator/metrics still needs a JWT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67969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62483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Tracing (OpenTelemetry) is a demonstration — no Jaeger to stand 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Tell liveness from readiness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Explain why startup probes exist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Find a correlationId in a log line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Know which endpoints need a token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You can tell liveness from readiness and find a correlation ID in a log line.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SCALING APPLICATIONS IN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Replica scaling and horizontal scaling concepts.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3557"/>
            <a:ext cx="7415783" cy="36652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6709"/>
            <a:ext cx="7269480" cy="351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Manual and automatic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1363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oc scale deploy/account-service \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--replicas=4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oc autoscale deploy/account-service \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--min=2 --max=8 --cpu-percent=70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28920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CHECK BEFORE SCALING OUT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3266948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2395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Stateless pods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3577844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5504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 connection limits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3888740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8613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Downstream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30022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30022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HPA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needs CPU requests set to calculate utilization.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Scale out by adding replicas — but check stateless design and downstream capacity.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ROLLING UPDATES AND ROLLBACKS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Progressive pod replacement, readiness gates and reverting failed releases.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19113"/>
            <a:ext cx="7415783" cy="329409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2265"/>
            <a:ext cx="7269480" cy="31477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Roll forward, then 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9712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oc set image deploy/account-service \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account-service=$IMG:1.0.1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oc rollout status deploy/account-service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oc rollout undo deploy/account-service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72694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7818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Readiness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9270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Old pods keep serving until new ones are ready.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15036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15036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LIMIT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Rollback restores the image — not the database schema.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Rolling updates replace pods gradually; readiness keeps traffic safe during the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MANAGING RESOURCES AND APPLICATION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CPU and memory requests and limits, scheduling and stability.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79979"/>
            <a:ext cx="7415783" cy="2772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53131"/>
            <a:ext cx="7269480" cy="2626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starting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8557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resources: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requests: { cpu: 250m, memory: 512Mi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limits:   { cpu: "1",  memory: 1Gi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611374"/>
            <a:ext cx="3520440" cy="106197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66623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Over the memory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977134"/>
            <a:ext cx="3246120" cy="641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container is OOM-killed and restarted.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801364"/>
            <a:ext cx="3520440" cy="106197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8562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Over the CPU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167124"/>
            <a:ext cx="3246120" cy="641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container is throttled — slower, not killed.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991354"/>
            <a:ext cx="3520440" cy="84251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991354"/>
            <a:ext cx="3154680" cy="8425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MEASURE FIRST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Set values from real usage, then adjust.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Requests guide scheduling, limits cap usage — both should come from measurement.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OBSERVING AND MANAGING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Logs, events, status, metrics and troubleshooting.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344301"/>
            <a:ext cx="11210544" cy="25285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17453"/>
            <a:ext cx="11064240" cy="2382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93031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Walk the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2215"/>
            <a:ext cx="3627120" cy="131165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oc get route,svc,endpoints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oc get pods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oc describe pod &lt;pod&gt;      # events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oc logs &lt;pod&gt; --previous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4193031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COMMON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540503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ImagePullBackOff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6" y="4540503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CrashLoopBackOff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979415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OOMKilled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4979415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0/2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4193031"/>
            <a:ext cx="3627120" cy="16408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0080" y="4193031"/>
            <a:ext cx="3261360" cy="1640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Read events and logs before restarting anything.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Troubleshoot systematically along the traffic path, not by restarting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WHY CAN'T USERS REACH THE API?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Troubleshoot a deployed service along the traffic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Account Service is deployed. oc get pods shows the pod Running, but users get an error from the Route URL.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11363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$ oc get pods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account-service-7c9d  0/1  Running  0  4m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$ oc get endpoints account-service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account-service   &lt;none&gt;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what to check, in order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what 0/1 and &lt;none&gt; tell you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two likely causes and their fixes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Route → Service → endpoints → pod readiness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0/1: running but not ready; no endpoints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Readiness failing — a DB or config issue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 the Service selector doesn't match the labels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Check describe events and logs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Running isn't ready: follow Route, Service, endpoints, readiness, events and logs — in that order.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OPENSHIFT MICROSERVICES DEPLOYMENT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Git → CI/CD → registry → OpenShift → service and route →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86588"/>
            <a:ext cx="7415783" cy="355914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9740"/>
            <a:ext cx="7269480" cy="3412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Module 7 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Git, CI, tests, scans, image, SBOM, signature and registry.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Module 8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Deployment, pods, probes, Service, Route, scaling and rollout.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LAB 4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walks this workflow on the classroom cluster.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Git and CI/CD produce the release; OpenShift runs it; observability feeds 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SPRING BOOT MICROSERVICES ON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Containers, registry, OpenShift, scaling, config, health and routing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PART OF THE MODULE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Non-root images from the registry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Deployments with replicas and resources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ConfigMaps and Secrets per environment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Startup, readiness and liveness probes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inside, Routes only at the 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46252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46252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Same image everywhere; the platform does the rest.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Containers package the service; OpenShift runs, scales, updates and manages it reliably.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 AND OPENSHIFT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make platform deployments fragile or unsafe.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Containers are lightweight VMs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They're isolated processes on a shared kernel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latest is fine for deployments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Immutable tags make releases traceable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Running means healthy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Only readiness means it can take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Secrets are encrypted by default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Base64 isn't encryption — restrict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Rollback also restores the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restores the image, not the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Root user in the image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Secrets baked into layers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resource requests or limits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Liveness checks that call the database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Route for every internal service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Editing live objects instead of Git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Same image, external config, honest probes.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Reliable platforms come from immutable images, runtime config and probes that tell the truth.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Container image vs. container?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containers useful for microservices?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Dockerfile or Containerfile for?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image tags be traceable?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container registry?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an OpenShift project?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a Deployment manage?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 vs. Route?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use a Secret instead of a ConfigMap?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readiness probes important?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8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 Spring Boot JAR to a healthy, scalable service on OpenShift.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containers, images and how they differ from VMs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Write a multi-stage, non-root Containerfile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Tag, push and gate images in a registry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Deploy with Deployments, Services, Routes, ConfigMaps and Secrets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Use probes, scaling, rollouts and a troubleshooting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9 — GITHUB COPILOT FOR SPRING BOOT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can AI speed up Spring Boot development safely?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makes a good prompt for backend code?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Who stays responsible for AI-generated code?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4 services and manifests — they're the context for Copilot.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9 uses AI to build these services faster — without lowering the bar.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