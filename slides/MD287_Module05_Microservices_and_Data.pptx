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we are</a:t>
            </a:r>
          </a:p>
          <a:p/>
          <a:p>
            <a:r>
              <a:t>  So far we have answered four questions.</a:t>
            </a:r>
          </a:p>
          <a:p/>
          <a:p>
            <a:r>
              <a:t>  Module 1: why microservices.</a:t>
            </a:r>
          </a:p>
          <a:p/>
          <a:p>
            <a:r>
              <a:t>  Module 2: how to design them.</a:t>
            </a:r>
          </a:p>
          <a:p/>
          <a:p>
            <a:r>
              <a:t>  Module 3: how to build them.</a:t>
            </a:r>
          </a:p>
          <a:p/>
          <a:p>
            <a:r>
              <a:t>  Module 4: how they communicate.</a:t>
            </a:r>
          </a:p>
          <a:p/>
          <a:p>
            <a:r>
              <a:t>  Now we ask another critical question: how do microservices manage data?</a:t>
            </a:r>
          </a:p>
          <a:p/>
          <a:p>
            <a:r>
              <a:t>- From one database to many</a:t>
            </a:r>
          </a:p>
          <a:p/>
          <a:p>
            <a:r>
              <a:t>  In a monolith, one application often uses one database.</a:t>
            </a:r>
          </a:p>
          <a:p/>
          <a:p>
            <a:r>
              <a:t>  With microservices, the Order, Payment and Inventory services may each have their own database.</a:t>
            </a:r>
          </a:p>
          <a:p/>
          <a:p>
            <a:r>
              <a:t>- The trade-off</a:t>
            </a:r>
          </a:p>
          <a:p/>
          <a:p>
            <a:r>
              <a:t>  This improves autonomy.</a:t>
            </a:r>
          </a:p>
          <a:p/>
          <a:p>
            <a:r>
              <a:t>  But it brings new challenges around consistency, transactions and data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integrate Spring Boot with SQL, explain service-owned data and use Spring Data JPA repositories.</a:t>
            </a:r>
          </a:p>
          <a:p/>
          <a:p>
            <a:r>
              <a:t>  They should understand persistence patterns and implement local transactions.</a:t>
            </a:r>
          </a:p>
          <a:p/>
          <a:p>
            <a:r>
              <a:t>  They should explain distributed transaction challenges, Sagas and compensating transactions.</a:t>
            </a:r>
          </a:p>
          <a:p/>
          <a:p>
            <a:r>
              <a:t>  They should also explain Redis caching and design cache expiration and invalidation.</a:t>
            </a:r>
          </a:p>
          <a:p/>
          <a:p>
            <a:r>
              <a:t>- Four parts</a:t>
            </a:r>
          </a:p>
          <a:p/>
          <a:p>
            <a:r>
              <a:t>  Part one is SQL persistence: Spring Boot, a repository and a SQL database.</a:t>
            </a:r>
          </a:p>
          <a:p/>
          <a:p>
            <a:r>
              <a:t>  Part two is data ownership: each microservice owns its data.</a:t>
            </a:r>
          </a:p>
          <a:p/>
          <a:p>
            <a:r>
              <a:t>  Part three is transactions: local ACID transactions versus distributed business transactions.</a:t>
            </a:r>
          </a:p>
          <a:p/>
          <a:p>
            <a:r>
              <a:t>  Part four is caching: the application, Redis and the database.</a:t>
            </a:r>
          </a:p>
          <a:p/>
          <a:p>
            <a:r>
              <a:t>- Why this module matters</a:t>
            </a:r>
          </a:p>
          <a:p/>
          <a:p>
            <a:r>
              <a:t>  Data is one of the areas where moving from a monolith to microservices changes the architecture the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Database per service</a:t>
            </a:r>
          </a:p>
          <a:p/>
          <a:p>
            <a:r>
              <a:t>  Each service owns its own database; no other service reads its tables.</a:t>
            </a:r>
          </a:p>
          <a:p/>
          <a:p>
            <a:r>
              <a:t>- Flyway migration</a:t>
            </a:r>
          </a:p>
          <a:p/>
          <a:p>
            <a:r>
              <a:t>  A versioned SQL script that changes the database schema in a controlled order.</a:t>
            </a:r>
          </a:p>
          <a:p/>
          <a:p>
            <a:r>
              <a:t>- Entity</a:t>
            </a:r>
          </a:p>
          <a:p/>
          <a:p>
            <a:r>
              <a:t>  A Java class mapped to a database table with JPA.</a:t>
            </a:r>
          </a:p>
          <a:p/>
          <a:p>
            <a:r>
              <a:t>- Repository</a:t>
            </a:r>
          </a:p>
          <a:p/>
          <a:p>
            <a:r>
              <a:t>  An interface that loads and saves entities without hand-written SQL.</a:t>
            </a:r>
          </a:p>
          <a:p/>
          <a:p>
            <a:r>
              <a:t>- Local transaction</a:t>
            </a:r>
          </a:p>
          <a:p/>
          <a:p>
            <a:r>
              <a:t>  Changes in one service's database that either all commit or all roll back.</a:t>
            </a:r>
          </a:p>
          <a:p/>
          <a:p>
            <a:r>
              <a:t>- Optimistic locking</a:t>
            </a:r>
          </a:p>
          <a:p/>
          <a:p>
            <a:r>
              <a:t>  Detecting, with a version column, that someone changed a row since you read it.</a:t>
            </a:r>
          </a:p>
          <a:p/>
          <a:p>
            <a:r>
              <a:t>- Saga</a:t>
            </a:r>
          </a:p>
          <a:p/>
          <a:p>
            <a:r>
              <a:t>  A sequence of local transactions across services, with compensating steps if one fails.</a:t>
            </a:r>
          </a:p>
          <a:p/>
          <a:p>
            <a:r>
              <a:t>- Cache-aside</a:t>
            </a:r>
          </a:p>
          <a:p/>
          <a:p>
            <a:r>
              <a:t>  Check the cache first; on a miss, load from the database and store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ACID is Atomicity, Consistency, Isolation, Durability; API is Application Programming Interface; ATM is Automated Teller Machine; CRUD is Create, Read, Update, Delete; DB is Database; DTO is Data Transfer Object; ID is Identifier; JDBC is Java Database Connectivity; JPA is Jakarta Persistence API; JSON is JavaScript Object Notation; ORM is Object-Relational Mapping; REST is Representational State Transfer; SQL is Structured Query Language; TTL is Time To Live; URL is Uniform Resource Locator; YAML is YAML Ain't Markup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4</a:t>
            </a:r>
          </a:p>
          <a:p/>
          <a:p>
            <a:r>
              <a:t>  Module 4 connected services with REST and events.</a:t>
            </a:r>
          </a:p>
          <a:p/>
          <a:p>
            <a:r>
              <a:t>  Every one of those services has data behind it, and that data now lives in separate databases.</a:t>
            </a:r>
          </a:p>
          <a:p/>
          <a:p>
            <a:r>
              <a:t>- The path</a:t>
            </a:r>
          </a:p>
          <a:p/>
          <a:p>
            <a:r>
              <a:t>  We persist data in one service, draw ownership lines, replace shared transactions with Sagas, and finish with caching.</a:t>
            </a:r>
          </a:p>
          <a:p/>
          <a:p>
            <a:r>
              <a:t>- Two examples</a:t>
            </a:r>
          </a:p>
          <a:p/>
          <a:p>
            <a:r>
              <a:t>  The slides follow the e-commerce Order Service.</a:t>
            </a:r>
          </a:p>
          <a:p/>
          <a:p>
            <a:r>
              <a:t>  Exercise 2.1 and Lab 2 use the banking Account and Transaction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monolith</a:t>
            </a:r>
          </a:p>
          <a:p/>
          <a:p>
            <a:r>
              <a:t>  A monolithic application usually works against one database.</a:t>
            </a:r>
          </a:p>
          <a:p/>
          <a:p>
            <a:r>
              <a:t>  It can begin a transaction, insert the order, update payment, update inventory and commit.</a:t>
            </a:r>
          </a:p>
          <a:p/>
          <a:p>
            <a:r>
              <a:t>  The database transaction manager provides atomicity, which means all or nothing.</a:t>
            </a:r>
          </a:p>
          <a:p/>
          <a:p>
            <a:r>
              <a:t>- Microservices</a:t>
            </a:r>
          </a:p>
          <a:p/>
          <a:p>
            <a:r>
              <a:t>  Microservices change this, because different business capabilities own different data.</a:t>
            </a:r>
          </a:p>
          <a:p/>
          <a:p>
            <a:r>
              <a:t>  Order Service uses the Order DB, Payment Service the Payment DB, and Inventory Service the Inventory DB.</a:t>
            </a:r>
          </a:p>
          <a:p/>
          <a:p>
            <a:r>
              <a:t>  Now a single business operation may cross several databases.</a:t>
            </a:r>
          </a:p>
          <a:p/>
          <a:p>
            <a:r>
              <a:t>- What you now have to handle</a:t>
            </a:r>
          </a:p>
          <a:p/>
          <a:p>
            <a:r>
              <a:t>  We gain service autonomy.</a:t>
            </a:r>
          </a:p>
          <a:p/>
          <a:p>
            <a:r>
              <a:t>  But we must explicitly deal with distributed state, eventual consistency and cross-service workflows.</a:t>
            </a:r>
          </a:p>
          <a:p/>
          <a:p>
            <a:r>
              <a:t>  We also need failure recovery, data duplication and clear transaction boundaries.</a:t>
            </a:r>
          </a:p>
          <a:p/>
          <a:p>
            <a:r>
              <a:t>- What it shows</a:t>
            </a:r>
          </a:p>
          <a:p/>
          <a:p>
            <a:r>
              <a:t>  On the left, one monolith with Order, Payment and Inventory modules sharing one database.</a:t>
            </a:r>
          </a:p>
          <a:p/>
          <a:p>
            <a:r>
              <a:t>  On the right, three services, each with its own database.</a:t>
            </a:r>
          </a:p>
          <a:p/>
          <a:p>
            <a:r>
              <a:t>- Key point</a:t>
            </a:r>
          </a:p>
          <a:p/>
          <a:p>
            <a:r>
              <a:t>  The data moves apart with the services — and so do the transactions.</a:t>
            </a:r>
          </a:p>
          <a:p/>
          <a:p>
            <a:r>
              <a:t>- Bridge from Module 4</a:t>
            </a:r>
          </a:p>
          <a:p/>
          <a:p>
            <a:r>
              <a:t>  Module 4 connected services with events.</a:t>
            </a:r>
          </a:p>
          <a:p/>
          <a:p>
            <a:r>
              <a:t>  Now we look at the data behind each service, and what happens when one operation touches several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Every later topic, from ownership to Sagas, assumes one service can persist its data cleanly.</a:t>
            </a:r>
          </a:p>
          <a:p/>
          <a:p>
            <a:r>
              <a:t>- What this part covers</a:t>
            </a:r>
          </a:p>
          <a:p/>
          <a:p>
            <a:r>
              <a:t>  The Spring Data JPA stack, configuration and migrations, entity mapping, repositories, and one request from JSON to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Separate the technologies</a:t>
            </a:r>
          </a:p>
          <a:p/>
          <a:p>
            <a:r>
              <a:t>  Walk down the stack and name each piece clearly.</a:t>
            </a:r>
          </a:p>
          <a:p/>
          <a:p>
            <a:r>
              <a:t>- JDBC and JPA</a:t>
            </a:r>
          </a:p>
          <a:p/>
          <a:p>
            <a:r>
              <a:t>  JDBC is the low-level Java API for connecting to databases.</a:t>
            </a:r>
          </a:p>
          <a:p/>
          <a:p>
            <a:r>
              <a:t>  JPA is a Java persistence specification for ORM-style persistence.</a:t>
            </a:r>
          </a:p>
          <a:p/>
          <a:p>
            <a:r>
              <a:t>  ORM means object-relational mapping.</a:t>
            </a:r>
          </a:p>
          <a:p/>
          <a:p>
            <a:r>
              <a:t>- Hibernate and Spring Data JPA</a:t>
            </a:r>
          </a:p>
          <a:p/>
          <a:p>
            <a:r>
              <a:t>  Hibernate is a widely used JPA implementation.</a:t>
            </a:r>
          </a:p>
          <a:p/>
          <a:p>
            <a:r>
              <a:t>  Spring Data JPA adds repository abstractions and integrates persistence neatly with Spring.</a:t>
            </a:r>
          </a:p>
          <a:p/>
          <a:p>
            <a:r>
              <a:t>- Less plumbing</a:t>
            </a:r>
          </a:p>
          <a:p/>
          <a:p>
            <a:r>
              <a:t>  Instead of writing CRUD plumbing for every entity, developers define an interface like OrderRepository extending JpaRepository.</a:t>
            </a:r>
          </a:p>
          <a:p/>
          <a:p>
            <a:r>
              <a:t>  Spring Data creates the implementation at runtime.</a:t>
            </a:r>
          </a:p>
          <a:p/>
          <a:p>
            <a:r>
              <a:t>- What it shows</a:t>
            </a:r>
          </a:p>
          <a:p/>
          <a:p>
            <a:r>
              <a:t>  The chain from the Order entity through OrderRepository, Spring Data JPA, Hibernate as the JPA provider, and JDBC to the relational database.</a:t>
            </a:r>
          </a:p>
          <a:p/>
          <a:p>
            <a:r>
              <a:t>- Key point</a:t>
            </a:r>
          </a:p>
          <a:p/>
          <a:p>
            <a:r>
              <a:t>  Each layer hides the one below it, so application code works with entities and repositories.</a:t>
            </a:r>
          </a:p>
          <a:p/>
          <a:p>
            <a:r>
              <a:t>- Connect to Module 3</a:t>
            </a:r>
          </a:p>
          <a:p/>
          <a:p>
            <a:r>
              <a:t>  In Module 3 we had controller, service and repository.</a:t>
            </a:r>
          </a:p>
          <a:p/>
          <a:p>
            <a:r>
              <a:t>  Now we complete the path all the way to the database.</a:t>
            </a:r>
          </a:p>
          <a:p/>
          <a:p>
            <a:r>
              <a:t>- Each layer's job</a:t>
            </a:r>
          </a:p>
          <a:p/>
          <a:p>
            <a:r>
              <a:t>  The controller handles HTTP.</a:t>
            </a:r>
          </a:p>
          <a:p/>
          <a:p>
            <a:r>
              <a:t>  The service handles business behavior.</a:t>
            </a:r>
          </a:p>
          <a:p/>
          <a:p>
            <a:r>
              <a:t>  The repository handles persistence access.</a:t>
            </a:r>
          </a:p>
          <a:p/>
          <a:p>
            <a:r>
              <a:t>- Below the repository</a:t>
            </a:r>
          </a:p>
          <a:p/>
          <a:p>
            <a:r>
              <a:t>  Spring Data JPA reduces repository boilerplate.</a:t>
            </a:r>
          </a:p>
          <a:p/>
          <a:p>
            <a:r>
              <a:t>  The JPA implementation turns persistence operations into SQL through JDBC.</a:t>
            </a:r>
          </a:p>
          <a:p/>
          <a:p>
            <a:r>
              <a:t>  The relational database stores the durable business state.</a:t>
            </a:r>
          </a:p>
          <a:p/>
          <a:p>
            <a:r>
              <a:t>- Our example</a:t>
            </a:r>
          </a:p>
          <a:p/>
          <a:p>
            <a:r>
              <a:t>  POST /orders goes to OrderController, then OrderService, then OrderRepository, and finally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Connection details</a:t>
            </a:r>
          </a:p>
          <a:p/>
          <a:p>
            <a:r>
              <a:t>  A Spring Boot application needs to know how to connect to its database.</a:t>
            </a:r>
          </a:p>
          <a:p/>
          <a:p>
            <a:r>
              <a:t>  Typical values are the JDBC URL, username, password, driver and connection pool settings.</a:t>
            </a:r>
          </a:p>
          <a:p/>
          <a:p>
            <a:r>
              <a:t>- Never hard-code secrets</a:t>
            </a:r>
          </a:p>
          <a:p/>
          <a:p>
            <a:r>
              <a:t>  Do not teach learners to hard-code a production password in the configuration.</a:t>
            </a:r>
          </a:p>
          <a:p/>
          <a:p>
            <a:r>
              <a:t>  Use a placeholder like DB_PASSWORD, and let the deployment environment supply the secret.</a:t>
            </a:r>
          </a:p>
          <a:p/>
          <a:p>
            <a:r>
              <a:t>  This connects back to external configuration and secrets in Module 3.</a:t>
            </a:r>
          </a:p>
          <a:p/>
          <a:p>
            <a:r>
              <a:t>  Later, it maps to OpenShift Secrets and ConfigMaps.</a:t>
            </a:r>
          </a:p>
          <a:p/>
          <a:p>
            <a:r>
              <a:t>- ddl-auto: validate</a:t>
            </a:r>
          </a:p>
          <a:p/>
          <a:p>
            <a:r>
              <a:t>  Setting Hibernate's ddl-auto to validate checks that the entities match the schema, without changing the schema.</a:t>
            </a:r>
          </a:p>
          <a:p/>
          <a:p>
            <a:r>
              <a:t>- Connection pooling</a:t>
            </a:r>
          </a:p>
          <a:p/>
          <a:p>
            <a:r>
              <a:t>  Applications normally reuse a pool of database connections.</a:t>
            </a:r>
          </a:p>
          <a:p/>
          <a:p>
            <a:r>
              <a:t>  They do not open a brand-new physical connection for every request.</a:t>
            </a:r>
          </a:p>
          <a:p/>
          <a:p>
            <a:r>
              <a:t>- What it shows</a:t>
            </a:r>
          </a:p>
          <a:p/>
          <a:p>
            <a:r>
              <a:t>  Order Service takes its datasource properties and environment variables, builds a connection pool, and reaches the SQL database through it.</a:t>
            </a:r>
          </a:p>
          <a:p/>
          <a:p>
            <a:r>
              <a:t>- Key point</a:t>
            </a:r>
          </a:p>
          <a:p/>
          <a:p>
            <a:r>
              <a:t>  No database settings are hard-coded; the pool reuses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migration</a:t>
            </a:r>
          </a:p>
          <a:p/>
          <a:p>
            <a:r>
              <a:t>  Each SQL file has a version number.</a:t>
            </a:r>
          </a:p>
          <a:p/>
          <a:p>
            <a:r>
              <a:t>  Flyway runs new files once, in order, and records them in the flyway_schema_history table.</a:t>
            </a:r>
          </a:p>
          <a:p/>
          <a:p>
            <a:r>
              <a:t>- validate, not update</a:t>
            </a:r>
          </a:p>
          <a:p/>
          <a:p>
            <a:r>
              <a:t>  Hibernate only checks that entities match the tables.</a:t>
            </a:r>
          </a:p>
          <a:p/>
          <a:p>
            <a:r>
              <a:t>  Letting Hibernate change a production schema is risky and untraceable.</a:t>
            </a:r>
          </a:p>
          <a:p/>
          <a:p>
            <a:r>
              <a:t>- Pool settings</a:t>
            </a:r>
          </a:p>
          <a:p/>
          <a:p>
            <a:r>
              <a:t>  HikariCP is Spring Boot's default pool.</a:t>
            </a:r>
          </a:p>
          <a:p/>
          <a:p>
            <a:r>
              <a:t>  Size it to what the database can handle, and fail fast when no connection is free.</a:t>
            </a:r>
          </a:p>
          <a:p/>
          <a:p>
            <a:r>
              <a:t>- In the labs</a:t>
            </a:r>
          </a:p>
          <a:p/>
          <a:p>
            <a:r>
              <a:t>  Labs 1 and 2 use Flyway, not Hibernate DDL, so this is exactly the pattern learners will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Object-relational mapping</a:t>
            </a:r>
          </a:p>
          <a:p/>
          <a:p>
            <a:r>
              <a:t>  Object-relational mapping connects Java objects to relational tables.</a:t>
            </a:r>
          </a:p>
          <a:p/>
          <a:p>
            <a:r>
              <a:t>  Here the Order class maps to the orders table.</a:t>
            </a:r>
          </a:p>
          <a:p/>
          <a:p>
            <a:r>
              <a:t>  Its fields map to columns, for example customerId maps to customer_id.</a:t>
            </a:r>
          </a:p>
          <a:p/>
          <a:p>
            <a:r>
              <a:t>- The annotations</a:t>
            </a:r>
          </a:p>
          <a:p/>
          <a:p>
            <a:r>
              <a:t>  @Entity marks a persistent entity.</a:t>
            </a:r>
          </a:p>
          <a:p/>
          <a:p>
            <a:r>
              <a:t>  @Table can name the matching table.</a:t>
            </a:r>
          </a:p>
          <a:p/>
          <a:p>
            <a:r>
              <a:t>  @Id marks the primary key, and @GeneratedValue sets how IDs are generated.</a:t>
            </a:r>
          </a:p>
          <a:p/>
          <a:p>
            <a:r>
              <a:t>- You still need SQL</a:t>
            </a:r>
          </a:p>
          <a:p/>
          <a:p>
            <a:r>
              <a:t>  ORM does not remove the need to understand SQL.</a:t>
            </a:r>
          </a:p>
          <a:p/>
          <a:p>
            <a:r>
              <a:t>  Developers still need to understand tables, keys, relationships, indexes, query behavior, transactions and performance.</a:t>
            </a:r>
          </a:p>
          <a:p/>
          <a:p>
            <a:r>
              <a:t>  A production Spring developer understands both the Java object model and the relational data model.</a:t>
            </a:r>
          </a:p>
          <a:p/>
          <a:p>
            <a:r>
              <a:t>- What it shows</a:t>
            </a:r>
          </a:p>
          <a:p/>
          <a:p>
            <a:r>
              <a:t>  The Java Order entity on the left and the orders table on the right, with id, customerId, status and total mapped across.</a:t>
            </a:r>
          </a:p>
          <a:p/>
          <a:p>
            <a:r>
              <a:t>- Key point</a:t>
            </a:r>
          </a:p>
          <a:p/>
          <a:p>
            <a:r>
              <a:t>  customerId becomes customer_id — the mapping handles naming, types and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Inside the boundary</a:t>
            </a:r>
          </a:p>
          <a:p/>
          <a:p>
            <a:r>
              <a:t>  OrderItem belongs to Order.</a:t>
            </a:r>
          </a:p>
          <a:p/>
          <a:p>
            <a:r>
              <a:t>  They live in the same database and change together, so a one-to-many relationship is right.</a:t>
            </a:r>
          </a:p>
          <a:p/>
          <a:p>
            <a:r>
              <a:t>- Across the boundary</a:t>
            </a:r>
          </a:p>
          <a:p/>
          <a:p>
            <a:r>
              <a:t>  Customer and Payment are owned by other services.</a:t>
            </a:r>
          </a:p>
          <a:p/>
          <a:p>
            <a:r>
              <a:t>  Mapping them with @ManyToOne would need their tables in Order's database.</a:t>
            </a:r>
          </a:p>
          <a:p/>
          <a:p>
            <a:r>
              <a:t>- What to store</a:t>
            </a:r>
          </a:p>
          <a:p/>
          <a:p>
            <a:r>
              <a:t>  Keep customerId as a plain value.</a:t>
            </a:r>
          </a:p>
          <a:p/>
          <a:p>
            <a:r>
              <a:t>  When the order screen needs the customer's name, call Customer Service or keep a local read model.</a:t>
            </a:r>
          </a:p>
          <a:p/>
          <a:p>
            <a:r>
              <a:t>- N+1 queries</a:t>
            </a:r>
          </a:p>
          <a:p/>
          <a:p>
            <a:r>
              <a:t>  Loading 100 orders and then touching each one's items can run 101 queries.</a:t>
            </a:r>
          </a:p>
          <a:p/>
          <a:p>
            <a:r>
              <a:t>  Fetch joins, entity graphs or DTO projections avoid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persistence abstraction</a:t>
            </a:r>
          </a:p>
          <a:p/>
          <a:p>
            <a:r>
              <a:t>  The repository gives us a persistence abstraction.</a:t>
            </a:r>
          </a:p>
          <a:p/>
          <a:p>
            <a:r>
              <a:t>  We do not mix SQL into the OrderController.</a:t>
            </a:r>
          </a:p>
          <a:p/>
          <a:p>
            <a:r>
              <a:t>  Instead the controller calls OrderService, which calls OrderRepository.</a:t>
            </a:r>
          </a:p>
          <a:p/>
          <a:p>
            <a:r>
              <a:t>- CRUD for free</a:t>
            </a:r>
          </a:p>
          <a:p/>
          <a:p>
            <a:r>
              <a:t>  Spring Data JPA provides common operations automatically: save, findById, findAll, delete and existsById.</a:t>
            </a:r>
          </a:p>
          <a:p/>
          <a:p>
            <a:r>
              <a:t>- Derived queries</a:t>
            </a:r>
          </a:p>
          <a:p/>
          <a:p>
            <a:r>
              <a:t>  It can also build some queries from method names.</a:t>
            </a:r>
          </a:p>
          <a:p/>
          <a:p>
            <a:r>
              <a:t>  For example, findByStatus with CREATED becomes a query on the status property.</a:t>
            </a:r>
          </a:p>
          <a:p/>
          <a:p>
            <a:r>
              <a:t>  For more complex needs, you can write explicit queries or use other persistence approaches.</a:t>
            </a:r>
          </a:p>
          <a:p/>
          <a:p>
            <a:r>
              <a:t>- Keep responsibilities clear</a:t>
            </a:r>
          </a:p>
          <a:p/>
          <a:p>
            <a:r>
              <a:t>  Do not put all your business logic into repository query methods.</a:t>
            </a:r>
          </a:p>
          <a:p/>
          <a:p>
            <a:r>
              <a:t>  The repository's job is persistence access.</a:t>
            </a:r>
          </a:p>
          <a:p/>
          <a:p>
            <a:r>
              <a:t>- What it shows</a:t>
            </a:r>
          </a:p>
          <a:p/>
          <a:p>
            <a:r>
              <a:t>  OrderService uses OrderRepository, which offers save, findById, findAll and delete and talks to the database.</a:t>
            </a:r>
          </a:p>
          <a:p/>
          <a:p>
            <a:r>
              <a:t>- Key point</a:t>
            </a:r>
          </a:p>
          <a:p/>
          <a:p>
            <a:r>
              <a:t>  The crossed-out dashed line means the service never runs SQL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request</a:t>
            </a:r>
          </a:p>
          <a:p/>
          <a:p>
            <a:r>
              <a:t>  The client sends POST /orders with JSON, for example customerId 501 and total 199.99.</a:t>
            </a:r>
          </a:p>
          <a:p/>
          <a:p>
            <a:r>
              <a:t>  Spring converts the JSON into the request DTO.</a:t>
            </a:r>
          </a:p>
          <a:p/>
          <a:p>
            <a:r>
              <a:t>- Through the layers</a:t>
            </a:r>
          </a:p>
          <a:p/>
          <a:p>
            <a:r>
              <a:t>  The controller hands off to the Order Service.</a:t>
            </a:r>
          </a:p>
          <a:p/>
          <a:p>
            <a:r>
              <a:t>  The service does business validation and creates the Order entity.</a:t>
            </a:r>
          </a:p>
          <a:p/>
          <a:p>
            <a:r>
              <a:t>  The repository calls orderRepository.save(order).</a:t>
            </a:r>
          </a:p>
          <a:p/>
          <a:p>
            <a:r>
              <a:t>- Down to the database</a:t>
            </a:r>
          </a:p>
          <a:p/>
          <a:p>
            <a:r>
              <a:t>  JPA and Hibernate generate the SQL INSERT, which runs against PostgreSQL.</a:t>
            </a:r>
          </a:p>
          <a:p/>
          <a:p>
            <a:r>
              <a:t>- The response</a:t>
            </a:r>
          </a:p>
          <a:p/>
          <a:p>
            <a:r>
              <a:t>  After the save succeeds, the application returns an OrderResponse DTO with 201 Created.</a:t>
            </a:r>
          </a:p>
          <a:p/>
          <a:p>
            <a:r>
              <a:t>  This connects REST from Module 3 to SQL persistence in Module 5.</a:t>
            </a:r>
          </a:p>
          <a:p/>
          <a:p>
            <a:r>
              <a:t>- What it shows</a:t>
            </a:r>
          </a:p>
          <a:p/>
          <a:p>
            <a:r>
              <a:t>  The request becomes a DTO, passes through the controller, service and repository, turns into a SQL INSERT on Order DB, and returns as an order response.</a:t>
            </a:r>
          </a:p>
          <a:p/>
          <a:p>
            <a:r>
              <a:t>- Key point</a:t>
            </a:r>
          </a:p>
          <a:p/>
          <a:p>
            <a:r>
              <a:t>  Every layer from Module 3 and this module appears in one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Schema and secrets</a:t>
            </a:r>
          </a:p>
          <a:p/>
          <a:p>
            <a:r>
              <a:t>  Hibernate should not alter a production schema, and a password must never be committed.</a:t>
            </a:r>
          </a:p>
          <a:p/>
          <a:p>
            <a:r>
              <a:t>  Use Flyway with validate, and environment variables.</a:t>
            </a:r>
          </a:p>
          <a:p/>
          <a:p>
            <a:r>
              <a:t>- Cross-service mapping</a:t>
            </a:r>
          </a:p>
          <a:p/>
          <a:p>
            <a:r>
              <a:t>  Customer belongs to another service, so Order stores only customerId.</a:t>
            </a:r>
          </a:p>
          <a:p/>
          <a:p>
            <a:r>
              <a:t>- The endpoint</a:t>
            </a:r>
          </a:p>
          <a:p/>
          <a:p>
            <a:r>
              <a:t>  It returns entities, exposing internals, and loads every order at once.</a:t>
            </a:r>
          </a:p>
          <a:p/>
          <a:p>
            <a:r>
              <a:t>  Return DTOs and accept a Pageable.</a:t>
            </a:r>
          </a:p>
          <a:p/>
          <a:p>
            <a:r>
              <a:t>- Bonus</a:t>
            </a:r>
          </a:p>
          <a:p/>
          <a:p>
            <a:r>
              <a:t>  If the DTO mapping touches each order's items, the list may also cause N+1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one service to many</a:t>
            </a:r>
          </a:p>
          <a:p/>
          <a:p>
            <a:r>
              <a:t>  Part 1 was about persisting data inside a service.</a:t>
            </a:r>
          </a:p>
          <a:p/>
          <a:p>
            <a:r>
              <a:t>  Part 2 is about the lines between services.</a:t>
            </a:r>
          </a:p>
          <a:p/>
          <a:p>
            <a:r>
              <a:t>- Key question</a:t>
            </a:r>
          </a:p>
          <a:p/>
          <a:p>
            <a:r>
              <a:t>  If Payment needs order data, what may it do: call an API, consume an event, or query Order's tables?</a:t>
            </a:r>
          </a:p>
          <a:p/>
          <a:p>
            <a:r>
              <a:t>  Only the first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Ownership</a:t>
            </a:r>
          </a:p>
          <a:p/>
          <a:p>
            <a:r>
              <a:t>  The database per service pattern sets up data ownership.</a:t>
            </a:r>
          </a:p>
          <a:p/>
          <a:p>
            <a:r>
              <a:t>  The Order Service owns its schema and its persistence decisions.</a:t>
            </a:r>
          </a:p>
          <a:p/>
          <a:p>
            <a:r>
              <a:t>- What not to do</a:t>
            </a:r>
          </a:p>
          <a:p/>
          <a:p>
            <a:r>
              <a:t>  The Payment Service should not run an UPDATE statement against the Order Service's tables to set an order to PAID.</a:t>
            </a:r>
          </a:p>
          <a:p/>
          <a:p>
            <a:r>
              <a:t>- What to do instead</a:t>
            </a:r>
          </a:p>
          <a:p/>
          <a:p>
            <a:r>
              <a:t>  Payment communicates through an approved contract, an API or an event, such as PaymentAuthorized.</a:t>
            </a:r>
          </a:p>
          <a:p/>
          <a:p>
            <a:r>
              <a:t>  The Order Service receives that information and updates its own state.</a:t>
            </a:r>
          </a:p>
          <a:p/>
          <a:p>
            <a:r>
              <a:t>- An important clarification</a:t>
            </a:r>
          </a:p>
          <a:p/>
          <a:p>
            <a:r>
              <a:t>  Database per service is mainly about ownership and access boundaries.</a:t>
            </a:r>
          </a:p>
          <a:p/>
          <a:p>
            <a:r>
              <a:t>  It does not necessarily mean one physical database server per service.</a:t>
            </a:r>
          </a:p>
          <a:p/>
          <a:p>
            <a:r>
              <a:t>  Separate schemas, separate databases, clusters or other isolation approaches can all work, depending on requirements.</a:t>
            </a:r>
          </a:p>
          <a:p/>
          <a:p>
            <a:r>
              <a:t>- What it shows</a:t>
            </a:r>
          </a:p>
          <a:p/>
          <a:p>
            <a:r>
              <a:t>  Order, Payment and Inventory services, each with an arrow labelled owns to its own database.</a:t>
            </a:r>
          </a:p>
          <a:p/>
          <a:p>
            <a:r>
              <a:t>- Key point</a:t>
            </a:r>
          </a:p>
          <a:p/>
          <a:p>
            <a:r>
              <a:t>  Only the owning service reads or writes its database directly.</a:t>
            </a:r>
          </a:p>
          <a:p/>
          <a:p>
            <a:r>
              <a:t>- Why shared looks attractive</a:t>
            </a:r>
          </a:p>
          <a:p/>
          <a:p>
            <a:r>
              <a:t>  A shared database looks attractive because it is simple.</a:t>
            </a:r>
          </a:p>
          <a:p/>
          <a:p>
            <a:r>
              <a:t>  Cross-table joins and local ACID transactions are easy.</a:t>
            </a:r>
          </a:p>
          <a:p/>
          <a:p>
            <a:r>
              <a:t>- The hidden cost</a:t>
            </a:r>
          </a:p>
          <a:p/>
          <a:p>
            <a:r>
              <a:t>  But now every service may depend on the same schema.</a:t>
            </a:r>
          </a:p>
          <a:p/>
          <a:p>
            <a:r>
              <a:t>  Suppose the Order Service changes orders.customer_id to another structure.</a:t>
            </a:r>
          </a:p>
          <a:p/>
          <a:p>
            <a:r>
              <a:t>  If the Payment Service reads that table directly, it may break unexpectedly.</a:t>
            </a:r>
          </a:p>
          <a:p/>
          <a:p>
            <a:r>
              <a:t>- With service ownership</a:t>
            </a:r>
          </a:p>
          <a:p/>
          <a:p>
            <a:r>
              <a:t>  With ownership, Order uses the Order DB and Payment uses the Payment DB.</a:t>
            </a:r>
          </a:p>
          <a:p/>
          <a:p>
            <a:r>
              <a:t>  Payment depends on an API or event contract, not on Order's physical schema.</a:t>
            </a:r>
          </a:p>
          <a:p/>
          <a:p>
            <a:r>
              <a:t>- The trade-off</a:t>
            </a:r>
          </a:p>
          <a:p/>
          <a:p>
            <a:r>
              <a:t>  Queries and transactions that span services become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bad example</a:t>
            </a:r>
          </a:p>
          <a:p/>
          <a:p>
            <a:r>
              <a:t>  Suppose the Payment Service directly changes orders.status in the Order database.</a:t>
            </a:r>
          </a:p>
          <a:p/>
          <a:p>
            <a:r>
              <a:t>- What Payment now has to know</a:t>
            </a:r>
          </a:p>
          <a:p/>
          <a:p>
            <a:r>
              <a:t>  Payment now needs to know Order's table structure, valid status values, constraints and business rules.</a:t>
            </a:r>
          </a:p>
          <a:p/>
          <a:p>
            <a:r>
              <a:t>  It also has to keep up with every schema change.</a:t>
            </a:r>
          </a:p>
          <a:p/>
          <a:p>
            <a:r>
              <a:t>  And it bypasses the Order Service's business logic.</a:t>
            </a:r>
          </a:p>
          <a:p/>
          <a:p>
            <a:r>
              <a:t>- The database becomes the API</a:t>
            </a:r>
          </a:p>
          <a:p/>
          <a:p>
            <a:r>
              <a:t>  The database effectively becomes the integration API.</a:t>
            </a:r>
          </a:p>
          <a:p/>
          <a:p>
            <a:r>
              <a:t>  That is dangerous, because it creates tight data coupling.</a:t>
            </a:r>
          </a:p>
          <a:p/>
          <a:p>
            <a:r>
              <a:t>- The better way</a:t>
            </a:r>
          </a:p>
          <a:p/>
          <a:p>
            <a:r>
              <a:t>  Payment communicates PaymentAuthorized to the Order Service.</a:t>
            </a:r>
          </a:p>
          <a:p/>
          <a:p>
            <a:r>
              <a:t>  Order decides how its own state should change.</a:t>
            </a:r>
          </a:p>
          <a:p/>
          <a:p>
            <a:r>
              <a:t>  Data ownership is part of the microservice contract boundary.</a:t>
            </a:r>
          </a:p>
          <a:p/>
          <a:p>
            <a:r>
              <a:t>- Bad side</a:t>
            </a:r>
          </a:p>
          <a:p/>
          <a:p>
            <a:r>
              <a:t>  Payment Service reaches directly into Order DB — the shared database anti-pattern.</a:t>
            </a:r>
          </a:p>
          <a:p/>
          <a:p>
            <a:r>
              <a:t>- Good side</a:t>
            </a:r>
          </a:p>
          <a:p/>
          <a:p>
            <a:r>
              <a:t>  Order and Payment talk through APIs or events, and each keeps its own database.</a:t>
            </a:r>
          </a:p>
          <a:p/>
          <a:p>
            <a:r>
              <a:t>- Key point</a:t>
            </a:r>
          </a:p>
          <a:p/>
          <a:p>
            <a:r>
              <a:t>  Service-owned data keeps the database from becoming a hidden integration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than choosing PostgreSQL</a:t>
            </a:r>
          </a:p>
          <a:p/>
          <a:p>
            <a:r>
              <a:t>  Microservices data architecture involves several patterns, not just picking a database.</a:t>
            </a:r>
          </a:p>
          <a:p/>
          <a:p>
            <a:r>
              <a:t>- Database per service and repository</a:t>
            </a:r>
          </a:p>
          <a:p/>
          <a:p>
            <a:r>
              <a:t>  Database per service defines ownership.</a:t>
            </a:r>
          </a:p>
          <a:p/>
          <a:p>
            <a:r>
              <a:t>  The repository pattern separates application logic from persistence access.</a:t>
            </a:r>
          </a:p>
          <a:p/>
          <a:p>
            <a:r>
              <a:t>- Polyglot persistence</a:t>
            </a:r>
          </a:p>
          <a:p/>
          <a:p>
            <a:r>
              <a:t>  Polyglot persistence lets different services choose different data technologies, where that is justified.</a:t>
            </a:r>
          </a:p>
          <a:p/>
          <a:p>
            <a:r>
              <a:t>- Replication through events</a:t>
            </a:r>
          </a:p>
          <a:p/>
          <a:p>
            <a:r>
              <a:t>  A service can keep a local copy of information that another service owns.</a:t>
            </a:r>
          </a:p>
          <a:p/>
          <a:p>
            <a:r>
              <a:t>  For example, Customer Service publishes CustomerUpdated, and Order Service updates its local customer view.</a:t>
            </a:r>
          </a:p>
          <a:p/>
          <a:p>
            <a:r>
              <a:t>  This can reduce synchronous calls, but it introduces eventual consistency.</a:t>
            </a:r>
          </a:p>
          <a:p/>
          <a:p>
            <a:r>
              <a:t>- API call</a:t>
            </a:r>
          </a:p>
          <a:p/>
          <a:p>
            <a:r>
              <a:t>  Simplest and freshest, but the caller depends on the owner being up.</a:t>
            </a:r>
          </a:p>
          <a:p/>
          <a:p>
            <a:r>
              <a:t>- API composition</a:t>
            </a:r>
          </a:p>
          <a:p/>
          <a:p>
            <a:r>
              <a:t>  A composer calls several services and merges the results, for example for a customer dashboard.</a:t>
            </a:r>
          </a:p>
          <a:p/>
          <a:p>
            <a:r>
              <a:t>- Read model</a:t>
            </a:r>
          </a:p>
          <a:p/>
          <a:p>
            <a:r>
              <a:t>  Order Service consumes CustomerUpdated events and keeps a small local view.</a:t>
            </a:r>
          </a:p>
          <a:p/>
          <a:p>
            <a:r>
              <a:t>  Reads are fast and local, but slightly behind.</a:t>
            </a:r>
          </a:p>
          <a:p/>
          <a:p>
            <a:r>
              <a:t>  This is the read side of CQRS.</a:t>
            </a:r>
          </a:p>
          <a:p/>
          <a:p>
            <a:r>
              <a:t>- Never</a:t>
            </a:r>
          </a:p>
          <a:p/>
          <a:p>
            <a:r>
              <a:t>  Joining into another service's tables recreates the shared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Pick storage per service</a:t>
            </a:r>
          </a:p>
          <a:p/>
          <a:p>
            <a:r>
              <a:t>  One advantage of independent services is choosing storage based on each service's needs.</a:t>
            </a:r>
          </a:p>
          <a:p/>
          <a:p>
            <a:r>
              <a:t>  An Order Service may benefit from relational transactions.</a:t>
            </a:r>
          </a:p>
          <a:p/>
          <a:p>
            <a:r>
              <a:t>  A Catalog Service may have flexible product structures that suit a document model.</a:t>
            </a:r>
          </a:p>
          <a:p/>
          <a:p>
            <a:r>
              <a:t>  Redis may suit low-latency cache access, and analytics may need a different storage architecture.</a:t>
            </a:r>
          </a:p>
          <a:p/>
          <a:p>
            <a:r>
              <a:t>- The operational cost</a:t>
            </a:r>
          </a:p>
          <a:p/>
          <a:p>
            <a:r>
              <a:t>  Warn learners that polyglot persistence has an operational cost.</a:t>
            </a:r>
          </a:p>
          <a:p/>
          <a:p>
            <a:r>
              <a:t>  Every new technology adds operational knowledge, monitoring, backups, security, patching, disaster recovery and developer expertise.</a:t>
            </a:r>
          </a:p>
          <a:p/>
          <a:p>
            <a:r>
              <a:t>- The rule</a:t>
            </a:r>
          </a:p>
          <a:p/>
          <a:p>
            <a:r>
              <a:t>  Use the right tool when the benefit justifies the complexity.</a:t>
            </a:r>
          </a:p>
          <a:p/>
          <a:p>
            <a:r>
              <a:t>  Do not add a technology just because microservices allow it.</a:t>
            </a:r>
          </a:p>
          <a:p/>
          <a:p>
            <a:r>
              <a:t>- What it shows</a:t>
            </a:r>
          </a:p>
          <a:p/>
          <a:p>
            <a:r>
              <a:t>  Order on PostgreSQL, Catalog on a document database, a cache on Redis, and Analytics on an analytical store.</a:t>
            </a:r>
          </a:p>
          <a:p/>
          <a:p>
            <a:r>
              <a:t>- Key point</a:t>
            </a:r>
          </a:p>
          <a:p/>
          <a:p>
            <a:r>
              <a:t>  Each store is chosen for how its data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an official OUTLINE.md checkpoint for Day 2.</a:t>
            </a:r>
          </a:p>
          <a:p/>
          <a:p>
            <a:r>
              <a:t>  Use the worksheet in labs/day-02/exercises.</a:t>
            </a:r>
          </a:p>
          <a:p/>
          <a:p>
            <a:r>
              <a:t>- Two databases</a:t>
            </a:r>
          </a:p>
          <a:p/>
          <a:p>
            <a:r>
              <a:t>  Account data stays in account_db and transaction data in transaction_db.</a:t>
            </a:r>
          </a:p>
          <a:p/>
          <a:p>
            <a:r>
              <a:t>  Lab 2 runs transaction_db on host port 5434.</a:t>
            </a:r>
          </a:p>
          <a:p/>
          <a:p>
            <a:r>
              <a:t>- References, not joins</a:t>
            </a:r>
          </a:p>
          <a:p/>
          <a:p>
            <a:r>
              <a:t>  Transaction keeps accountId as a value.</a:t>
            </a:r>
          </a:p>
          <a:p/>
          <a:p>
            <a:r>
              <a:t>  To check eligibility it calls GET on Account Service; it never joins account_db.</a:t>
            </a:r>
          </a:p>
          <a:p/>
          <a:p>
            <a:r>
              <a:t>- Scope</a:t>
            </a:r>
          </a:p>
          <a:p/>
          <a:p>
            <a:r>
              <a:t>  Redis appears in this module's lectures only; the capstone does not install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Data ownership removes the single shared transaction.</a:t>
            </a:r>
          </a:p>
          <a:p/>
          <a:p>
            <a:r>
              <a:t>  This part shows what replaces it.</a:t>
            </a:r>
          </a:p>
          <a:p/>
          <a:p>
            <a:r>
              <a:t>- How it builds</a:t>
            </a:r>
          </a:p>
          <a:p/>
          <a:p>
            <a:r>
              <a:t>  We start with transactions inside one service, see why they can't span services, then build Sagas and compensation.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Local transactions still matter</a:t>
            </a:r>
          </a:p>
          <a:p/>
          <a:p>
            <a:r>
              <a:t>  Inside one service and one database, traditional database transactions are still extremely useful.</a:t>
            </a:r>
          </a:p>
          <a:p/>
          <a:p>
            <a:r>
              <a:t>- An example</a:t>
            </a:r>
          </a:p>
          <a:p/>
          <a:p>
            <a:r>
              <a:t>  Creating an order may mean inserting the order, inserting its items and updating related local state.</a:t>
            </a:r>
          </a:p>
          <a:p/>
          <a:p>
            <a:r>
              <a:t>  We do not want only part of that committed.</a:t>
            </a:r>
          </a:p>
          <a:p/>
          <a:p>
            <a:r>
              <a:t>- @Transactional</a:t>
            </a:r>
          </a:p>
          <a:p/>
          <a:p>
            <a:r>
              <a:t>  @Transactional lets Spring manage a transaction around the method.</a:t>
            </a:r>
          </a:p>
          <a:p/>
          <a:p>
            <a:r>
              <a:t>  If everything succeeds, it commits.</a:t>
            </a:r>
          </a:p>
          <a:p/>
          <a:p>
            <a:r>
              <a:t>  If an applicable failure happens, it rolls back.</a:t>
            </a:r>
          </a:p>
          <a:p/>
          <a:p>
            <a:r>
              <a:t>- A caution</a:t>
            </a:r>
          </a:p>
          <a:p/>
          <a:p>
            <a:r>
              <a:t>  Transaction behavior depends on configuration and on which exceptions are thrown.</a:t>
            </a:r>
          </a:p>
          <a:p/>
          <a:p>
            <a:r>
              <a:t>  Learners should not assume every exception behaves the same way.</a:t>
            </a:r>
          </a:p>
          <a:p/>
          <a:p>
            <a:r>
              <a:t>- The key idea</a:t>
            </a:r>
          </a:p>
          <a:p/>
          <a:p>
            <a:r>
              <a:t>  Local ACID transactions remain valuable inside microservices.</a:t>
            </a:r>
          </a:p>
          <a:p/>
          <a:p>
            <a:r>
              <a:t>- What it shows</a:t>
            </a:r>
          </a:p>
          <a:p/>
          <a:p>
            <a:r>
              <a:t>  Inside Order DB: begin, insert the order, insert items, update state, commit.</a:t>
            </a:r>
          </a:p>
          <a:p/>
          <a:p>
            <a:r>
              <a:t>  Any failure goes to ROLLBACK, which undoes all changes.</a:t>
            </a:r>
          </a:p>
          <a:p/>
          <a:p>
            <a:r>
              <a:t>- Key point</a:t>
            </a:r>
          </a:p>
          <a:p/>
          <a:p>
            <a:r>
              <a:t>  Inside one database, all-or-nothing is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Two requests load the same order.</a:t>
            </a:r>
          </a:p>
          <a:p/>
          <a:p>
            <a:r>
              <a:t>  Both change it and save.</a:t>
            </a:r>
          </a:p>
          <a:p/>
          <a:p>
            <a:r>
              <a:t>  Without protection, the second save silently overwrites the first.</a:t>
            </a:r>
          </a:p>
          <a:p/>
          <a:p>
            <a:r>
              <a:t>- @Version</a:t>
            </a:r>
          </a:p>
          <a:p/>
          <a:p>
            <a:r>
              <a:t>  Hibernate reads the version and adds it to the UPDATE's WHERE clause, then increments it.</a:t>
            </a:r>
          </a:p>
          <a:p/>
          <a:p>
            <a:r>
              <a:t>  If the version changed meanwhile, zero rows update.</a:t>
            </a:r>
          </a:p>
          <a:p/>
          <a:p>
            <a:r>
              <a:t>- Handling it</a:t>
            </a:r>
          </a:p>
          <a:p/>
          <a:p>
            <a:r>
              <a:t>  Spring throws ObjectOptimisticLockingFailureException.</a:t>
            </a:r>
          </a:p>
          <a:p/>
          <a:p>
            <a:r>
              <a:t>  Map it to 409 so the client reloads and tries again.</a:t>
            </a:r>
          </a:p>
          <a:p/>
          <a:p>
            <a:r>
              <a:t>- Pessimistic locking</a:t>
            </a:r>
          </a:p>
          <a:p/>
          <a:p>
            <a:r>
              <a:t>  Locking the row up front also works, but it reduces concurrency and risks deadlocks.</a:t>
            </a:r>
          </a:p>
          <a:p/>
          <a:p>
            <a:r>
              <a:t>  Prefer optimistic locking for typical web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bigger scope</a:t>
            </a:r>
          </a:p>
          <a:p/>
          <a:p>
            <a:r>
              <a:t>  Now widen the scope.</a:t>
            </a:r>
          </a:p>
          <a:p/>
          <a:p>
            <a:r>
              <a:t>  Placing an order means creating the order, charging the payment and reserving inventory.</a:t>
            </a:r>
          </a:p>
          <a:p/>
          <a:p>
            <a:r>
              <a:t>  Each of these belongs to a different service and a different database.</a:t>
            </a:r>
          </a:p>
          <a:p/>
          <a:p>
            <a:r>
              <a:t>- Partial failure</a:t>
            </a:r>
          </a:p>
          <a:p/>
          <a:p>
            <a:r>
              <a:t>  Imagine the order is created and the payment is charged, but the inventory reservation fails.</a:t>
            </a:r>
          </a:p>
          <a:p/>
          <a:p>
            <a:r>
              <a:t>  What happens now?</a:t>
            </a:r>
          </a:p>
          <a:p/>
          <a:p>
            <a:r>
              <a:t>- No simple rollback</a:t>
            </a:r>
          </a:p>
          <a:p/>
          <a:p>
            <a:r>
              <a:t>  We cannot just tell the Order Service's local transaction to roll back everything.</a:t>
            </a:r>
          </a:p>
          <a:p/>
          <a:p>
            <a:r>
              <a:t>  The Payment Service may already have committed its own transaction.</a:t>
            </a:r>
          </a:p>
          <a:p/>
          <a:p>
            <a:r>
              <a:t>  It may even have called an external payment provider.</a:t>
            </a:r>
          </a:p>
          <a:p/>
          <a:p>
            <a:r>
              <a:t>- The core challenge</a:t>
            </a:r>
          </a:p>
          <a:p/>
          <a:p>
            <a:r>
              <a:t>  This is the fundamental distributed transaction problem: who commits or rolls back the whole business operation?</a:t>
            </a:r>
          </a:p>
          <a:p/>
          <a:p>
            <a:r>
              <a:t>- What it shows</a:t>
            </a:r>
          </a:p>
          <a:p/>
          <a:p>
            <a:r>
              <a:t>  Placing an order commits in Order DB and Payment DB, then fails in Inventory DB.</a:t>
            </a:r>
          </a:p>
          <a:p/>
          <a:p>
            <a:r>
              <a:t>- Key point</a:t>
            </a:r>
          </a:p>
          <a:p/>
          <a:p>
            <a:r>
              <a:t>  The result is partial success: order and payment saved, inventory not reserved — and no single transaction can undo it.</a:t>
            </a:r>
          </a:p>
          <a:p/>
          <a:p>
            <a:r>
              <a:t>- Two-phase commit</a:t>
            </a:r>
          </a:p>
          <a:p/>
          <a:p>
            <a:r>
              <a:t>  2PC asks every participant to prepare, then commit.</a:t>
            </a:r>
          </a:p>
          <a:p/>
          <a:p>
            <a:r>
              <a:t>  If the coordinator fails in between, participants stay locked.</a:t>
            </a:r>
          </a:p>
          <a:p/>
          <a:p>
            <a:r>
              <a:t>  That's why microservices usually avoid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ACID</a:t>
            </a:r>
          </a:p>
          <a:p/>
          <a:p>
            <a:r>
              <a:t>  Atomicity means all or nothing within the transaction.</a:t>
            </a:r>
          </a:p>
          <a:p/>
          <a:p>
            <a:r>
              <a:t>  Consistency means the transaction keeps the database's defined rules.</a:t>
            </a:r>
          </a:p>
          <a:p/>
          <a:p>
            <a:r>
              <a:t>  Isolation means concurrent transactions are controlled according to the chosen isolation level.</a:t>
            </a:r>
          </a:p>
          <a:p/>
          <a:p>
            <a:r>
              <a:t>  Durability means committed data survives failures, within the database's guarantees.</a:t>
            </a:r>
          </a:p>
          <a:p/>
          <a:p>
            <a:r>
              <a:t>- Works inside one database</a:t>
            </a:r>
          </a:p>
          <a:p/>
          <a:p>
            <a:r>
              <a:t>  These guarantees work very well inside one database transaction, like the Order Service with @Transactional on the Order DB.</a:t>
            </a:r>
          </a:p>
          <a:p/>
          <a:p>
            <a:r>
              <a:t>- Microservices add boundaries</a:t>
            </a:r>
          </a:p>
          <a:p/>
          <a:p>
            <a:r>
              <a:t>  But microservices deliberately introduce multiple databases, multiple processes and network boundaries.</a:t>
            </a:r>
          </a:p>
          <a:p/>
          <a:p>
            <a:r>
              <a:t>  They also bring independent deployments and independent failures.</a:t>
            </a:r>
          </a:p>
          <a:p/>
          <a:p>
            <a:r>
              <a:t>- The shift</a:t>
            </a:r>
          </a:p>
          <a:p/>
          <a:p>
            <a:r>
              <a:t>  So the design moves away from one large technical transaction.</a:t>
            </a:r>
          </a:p>
          <a:p/>
          <a:p>
            <a:r>
              <a:t>  It moves toward a sequence of local transactions coordinated as a business workflow.</a:t>
            </a:r>
          </a:p>
          <a:p/>
          <a:p>
            <a:r>
              <a:t>  That leads directly to the Saga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Smaller local transactions</a:t>
            </a:r>
          </a:p>
          <a:p/>
          <a:p>
            <a:r>
              <a:t>  A Saga breaks a distributed business transaction into smaller local transactions.</a:t>
            </a:r>
          </a:p>
          <a:p/>
          <a:p>
            <a:r>
              <a:t>- The three steps</a:t>
            </a:r>
          </a:p>
          <a:p/>
          <a:p>
            <a:r>
              <a:t>  Transaction 1: the Order Service creates the order and commits to the Order DB.</a:t>
            </a:r>
          </a:p>
          <a:p/>
          <a:p>
            <a:r>
              <a:t>  Transaction 2: the Payment Service processes the payment and commits to the Payment DB.</a:t>
            </a:r>
          </a:p>
          <a:p/>
          <a:p>
            <a:r>
              <a:t>  Transaction 3: the Inventory Service reserves inventory and commits to the Inventory DB.</a:t>
            </a:r>
          </a:p>
          <a:p/>
          <a:p>
            <a:r>
              <a:t>- Coordination and compensation</a:t>
            </a:r>
          </a:p>
          <a:p/>
          <a:p>
            <a:r>
              <a:t>  Steps communicate through commands or events.</a:t>
            </a:r>
          </a:p>
          <a:p/>
          <a:p>
            <a:r>
              <a:t>  If a later step fails, the system runs compensating business operations.</a:t>
            </a:r>
          </a:p>
          <a:p/>
          <a:p>
            <a:r>
              <a:t>- What a Saga is not</a:t>
            </a:r>
          </a:p>
          <a:p/>
          <a:p>
            <a:r>
              <a:t>  A Saga does not create one ACID transaction across every service.</a:t>
            </a:r>
          </a:p>
          <a:p/>
          <a:p>
            <a:r>
              <a:t>  It coordinates local transactions to maintain business consistency.</a:t>
            </a:r>
          </a:p>
          <a:p/>
          <a:p>
            <a:r>
              <a:t>- What it shows</a:t>
            </a:r>
          </a:p>
          <a:p/>
          <a:p>
            <a:r>
              <a:t>  Three local transactions in Order, Payment and Inventory, each with its own local commit, linked by OrderCreated and PaymentAuthorized.</a:t>
            </a:r>
          </a:p>
          <a:p/>
          <a:p>
            <a:r>
              <a:t>- Key point</a:t>
            </a:r>
          </a:p>
          <a:p/>
          <a:p>
            <a:r>
              <a:t>  A saga is a chain of small commits, not one big transaction.</a:t>
            </a:r>
          </a:p>
          <a:p/>
          <a:p>
            <a:r>
              <a:t>- No isolation</a:t>
            </a:r>
          </a:p>
          <a:p/>
          <a:p>
            <a:r>
              <a:t>  Unlike a database transaction, a Saga's intermediate states are visible.</a:t>
            </a:r>
          </a:p>
          <a:p/>
          <a:p>
            <a:r>
              <a:t>  An order can be PENDING while payment is still running, so status values must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Familiar from Module 4</a:t>
            </a:r>
          </a:p>
          <a:p/>
          <a:p>
            <a:r>
              <a:t>  This should feel familiar.</a:t>
            </a:r>
          </a:p>
          <a:p/>
          <a:p>
            <a:r>
              <a:t>  In choreography, each service reacts to events.</a:t>
            </a:r>
          </a:p>
          <a:p/>
          <a:p>
            <a:r>
              <a:t>  Order publishes OrderCreated, Payment reacts and publishes PaymentAuthorized, Inventory reacts and publishes InventoryReserved, and Shipping reacts.</a:t>
            </a:r>
          </a:p>
          <a:p/>
          <a:p>
            <a:r>
              <a:t>- A different perspective</a:t>
            </a:r>
          </a:p>
          <a:p/>
          <a:p>
            <a:r>
              <a:t>  In Module 4 we studied event-driven integration.</a:t>
            </a:r>
          </a:p>
          <a:p/>
          <a:p>
            <a:r>
              <a:t>  Here we ask how these events can coordinate a multi-service business transaction while each service commits locally.</a:t>
            </a:r>
          </a:p>
          <a:p/>
          <a:p>
            <a:r>
              <a:t>- Benefits</a:t>
            </a:r>
          </a:p>
          <a:p/>
          <a:p>
            <a:r>
              <a:t>  It is decentralized and fits event-driven systems.</a:t>
            </a:r>
          </a:p>
          <a:p/>
          <a:p>
            <a:r>
              <a:t>  There is no central workflow controller.</a:t>
            </a:r>
          </a:p>
          <a:p/>
          <a:p>
            <a:r>
              <a:t>- Challenges</a:t>
            </a:r>
          </a:p>
          <a:p/>
          <a:p>
            <a:r>
              <a:t>  The whole Saga is harder to see, and failure paths get complex.</a:t>
            </a:r>
          </a:p>
          <a:p/>
          <a:p>
            <a:r>
              <a:t>  Debugging is harder, and event chains can become complicated.</a:t>
            </a:r>
          </a:p>
          <a:p/>
          <a:p>
            <a:r>
              <a:t>- Choreography</a:t>
            </a:r>
          </a:p>
          <a:p/>
          <a:p>
            <a:r>
              <a:t>  Order, Payment and Inventory each react to the previous event and publish the next.</a:t>
            </a:r>
          </a:p>
          <a:p/>
          <a:p>
            <a:r>
              <a:t>- Orchestration</a:t>
            </a:r>
          </a:p>
          <a:p/>
          <a:p>
            <a:r>
              <a:t>  A Saga Orchestrator sends create order, authorize payment and reserve inventory, and receives each result.</a:t>
            </a:r>
          </a:p>
          <a:p/>
          <a:p>
            <a:r>
              <a:t>- Key point</a:t>
            </a:r>
          </a:p>
          <a:p/>
          <a:p>
            <a:r>
              <a:t>  The same local transactions, coordinated two different ways.</a:t>
            </a:r>
          </a:p>
          <a:p/>
          <a:p>
            <a:r>
              <a:t>- Familiar from Module 4</a:t>
            </a:r>
          </a:p>
          <a:p/>
          <a:p>
            <a:r>
              <a:t>  This should feel familiar.</a:t>
            </a:r>
          </a:p>
          <a:p/>
          <a:p>
            <a:r>
              <a:t>  In choreography, each service reacts to events.</a:t>
            </a:r>
          </a:p>
          <a:p/>
          <a:p>
            <a:r>
              <a:t>  Order publishes OrderCreated, Payment reacts and publishes PaymentAuthorized, Inventory reacts and publishes InventoryReserved, and Shipping reacts.</a:t>
            </a:r>
          </a:p>
          <a:p/>
          <a:p>
            <a:r>
              <a:t>- A different perspective</a:t>
            </a:r>
          </a:p>
          <a:p/>
          <a:p>
            <a:r>
              <a:t>  In Module 4 we studied event-driven integration.</a:t>
            </a:r>
          </a:p>
          <a:p/>
          <a:p>
            <a:r>
              <a:t>  Here we ask how these events can coordinate a multi-service business transaction while each service commits locally.</a:t>
            </a:r>
          </a:p>
          <a:p/>
          <a:p>
            <a:r>
              <a:t>- Benefits</a:t>
            </a:r>
          </a:p>
          <a:p/>
          <a:p>
            <a:r>
              <a:t>  It is decentralized and fits event-driven systems.</a:t>
            </a:r>
          </a:p>
          <a:p/>
          <a:p>
            <a:r>
              <a:t>  There is no central workflow controller.</a:t>
            </a:r>
          </a:p>
          <a:p/>
          <a:p>
            <a:r>
              <a:t>- Challenges</a:t>
            </a:r>
          </a:p>
          <a:p/>
          <a:p>
            <a:r>
              <a:t>  The whole Saga is harder to see, and failure paths get complex.</a:t>
            </a:r>
          </a:p>
          <a:p/>
          <a:p>
            <a:r>
              <a:t>  Debugging is harder, and event chains can become complicated.</a:t>
            </a:r>
          </a:p>
          <a:p/>
          <a:p>
            <a:r>
              <a:t>- One component knows the workflow</a:t>
            </a:r>
          </a:p>
          <a:p/>
          <a:p>
            <a:r>
              <a:t>  In orchestration, a Saga orchestrator knows the workflow.</a:t>
            </a:r>
          </a:p>
          <a:p/>
          <a:p>
            <a:r>
              <a:t>  It issues commands such as CreateOrder, ProcessPayment and ReserveInventory, and reacts to the results.</a:t>
            </a:r>
          </a:p>
          <a:p/>
          <a:p>
            <a:r>
              <a:t>- Handling failure</a:t>
            </a:r>
          </a:p>
          <a:p/>
          <a:p>
            <a:r>
              <a:t>  If inventory fails, the orchestrator decides the compensation sequence.</a:t>
            </a:r>
          </a:p>
          <a:p/>
          <a:p>
            <a:r>
              <a:t>  For example, InventoryReservationFailed leads to RefundPayment, then CancelOrder.</a:t>
            </a:r>
          </a:p>
          <a:p/>
          <a:p>
            <a:r>
              <a:t>- Benefits</a:t>
            </a:r>
          </a:p>
          <a:p/>
          <a:p>
            <a:r>
              <a:t>  The workflow is explicit and easier to visualize.</a:t>
            </a:r>
          </a:p>
          <a:p/>
          <a:p>
            <a:r>
              <a:t>  There is one central place for complex decisions.</a:t>
            </a:r>
          </a:p>
          <a:p/>
          <a:p>
            <a:r>
              <a:t>- Challenges</a:t>
            </a:r>
          </a:p>
          <a:p/>
          <a:p>
            <a:r>
              <a:t>  The orchestrator becomes an important component.</a:t>
            </a:r>
          </a:p>
          <a:p/>
          <a:p>
            <a:r>
              <a:t>  If poorly designed, it collects too much business logic.</a:t>
            </a:r>
          </a:p>
          <a:p/>
          <a:p>
            <a:r>
              <a:t>  It must itself be resilient and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of the most important slides</a:t>
            </a:r>
          </a:p>
          <a:p/>
          <a:p>
            <a:r>
              <a:t>  A Saga does not roll back transactions that were already committed.</a:t>
            </a:r>
          </a:p>
          <a:p/>
          <a:p>
            <a:r>
              <a:t>  Instead, we run business actions that compensate for them.</a:t>
            </a:r>
          </a:p>
          <a:p/>
          <a:p>
            <a:r>
              <a:t>- Examples</a:t>
            </a:r>
          </a:p>
          <a:p/>
          <a:p>
            <a:r>
              <a:t>  The original action charged the customer 200 dollars, so the compensation refunds 200 dollars.</a:t>
            </a:r>
          </a:p>
          <a:p/>
          <a:p>
            <a:r>
              <a:t>  The original action created an order, so the compensation cancels the order.</a:t>
            </a:r>
          </a:p>
          <a:p/>
          <a:p>
            <a:r>
              <a:t>  A refund is not a database rollback.</a:t>
            </a:r>
          </a:p>
          <a:p/>
          <a:p>
            <a:r>
              <a:t>  It is a new business transaction.</a:t>
            </a:r>
          </a:p>
          <a:p/>
          <a:p>
            <a:r>
              <a:t>- Business logic, not a technical undo</a:t>
            </a:r>
          </a:p>
          <a:p/>
          <a:p>
            <a:r>
              <a:t>  Compensation is business logic.</a:t>
            </a:r>
          </a:p>
          <a:p/>
          <a:p>
            <a:r>
              <a:t>  It is not necessarily the technical opposite of the original database operation.</a:t>
            </a:r>
          </a:p>
          <a:p/>
          <a:p>
            <a:r>
              <a:t>- Compensations can fail too</a:t>
            </a:r>
          </a:p>
          <a:p/>
          <a:p>
            <a:r>
              <a:t>  Production systems need retry policies, idempotency, audit trails and monitoring.</a:t>
            </a:r>
          </a:p>
          <a:p/>
          <a:p>
            <a:r>
              <a:t>  They also need manual recovery procedures for exceptional cases.</a:t>
            </a:r>
          </a:p>
          <a:p/>
          <a:p>
            <a:r>
              <a:t>  Connect this back to reliable messaging in Module 4.</a:t>
            </a:r>
          </a:p>
          <a:p/>
          <a:p>
            <a:r>
              <a:t>- What it shows</a:t>
            </a:r>
          </a:p>
          <a:p/>
          <a:p>
            <a:r>
              <a:t>  Create order and authorize payment succeed, reserve inventory fails, so the saga refunds the payment and cancels the order.</a:t>
            </a:r>
          </a:p>
          <a:p/>
          <a:p>
            <a:r>
              <a:t>- Key point</a:t>
            </a:r>
          </a:p>
          <a:p/>
          <a:p>
            <a:r>
              <a:t>  Compensations run in reverse and are new business actions, not rollbacks.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Order Service</a:t>
            </a:r>
          </a:p>
          <a:p/>
          <a:p>
            <a:r>
              <a:t>  When inventory reservation fails, Order marks the order as cancelling and writes a RefundPayment command to its outbox, in one local transaction.</a:t>
            </a:r>
          </a:p>
          <a:p/>
          <a:p>
            <a:r>
              <a:t>- Payment Service</a:t>
            </a:r>
          </a:p>
          <a:p/>
          <a:p>
            <a:r>
              <a:t>  It checks whether this order was already refunded.</a:t>
            </a:r>
          </a:p>
          <a:p/>
          <a:p>
            <a:r>
              <a:t>  If not, it records the refund and publishes PaymentRefunded through its own outbox.</a:t>
            </a:r>
          </a:p>
          <a:p/>
          <a:p>
            <a:r>
              <a:t>- Closing the loop</a:t>
            </a:r>
          </a:p>
          <a:p/>
          <a:p>
            <a:r>
              <a:t>  Order consumes PaymentRefunded and marks the order CANCELLED.</a:t>
            </a:r>
          </a:p>
          <a:p/>
          <a:p>
            <a:r>
              <a:t>- Why idempotency</a:t>
            </a:r>
          </a:p>
          <a:p/>
          <a:p>
            <a:r>
              <a:t>  Messages can arrive twice.</a:t>
            </a:r>
          </a:p>
          <a:p/>
          <a:p>
            <a:r>
              <a:t>  Without the checks, a customer could be refunded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Reverse order</a:t>
            </a:r>
          </a:p>
          <a:p/>
          <a:p>
            <a:r>
              <a:t>  Undo the most recent completed step first: release inventory, then refund the payment, then close the order.</a:t>
            </a:r>
          </a:p>
          <a:p/>
          <a:p>
            <a:r>
              <a:t>- A business choice</a:t>
            </a:r>
          </a:p>
          <a:p/>
          <a:p>
            <a:r>
              <a:t>  Instead of cancelling, the business may pause the saga and ask the customer for a valid address.</a:t>
            </a:r>
          </a:p>
          <a:p/>
          <a:p>
            <a:r>
              <a:t>  Compensation isn't always the only answer.</a:t>
            </a:r>
          </a:p>
          <a:p/>
          <a:p>
            <a:r>
              <a:t>- Idempotency</a:t>
            </a:r>
          </a:p>
          <a:p/>
          <a:p>
            <a:r>
              <a:t>  Every step and every compensation can receive the same message twice, so each checks whether it already ran.</a:t>
            </a:r>
          </a:p>
          <a:p/>
          <a:p>
            <a:r>
              <a:t>- Customer view</a:t>
            </a:r>
          </a:p>
          <a:p/>
          <a:p>
            <a:r>
              <a:t>  The order shows PENDING during the saga, then either CONFIRMED or a clear failure message with the refund.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caching now</a:t>
            </a:r>
          </a:p>
          <a:p/>
          <a:p>
            <a:r>
              <a:t>  Once data is split across services, reads can get slow.</a:t>
            </a:r>
          </a:p>
          <a:p/>
          <a:p>
            <a:r>
              <a:t>  Caching helps, but it adds another copy to keep consistent.</a:t>
            </a:r>
          </a:p>
          <a:p/>
          <a:p>
            <a:r>
              <a:t>- Course scope</a:t>
            </a:r>
          </a:p>
          <a:p/>
          <a:p>
            <a:r>
              <a:t>  Redis is taught here but not installed in the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every request needs the database</a:t>
            </a:r>
          </a:p>
          <a:p/>
          <a:p>
            <a:r>
              <a:t>  Not every request should cause an expensive database query.</a:t>
            </a:r>
          </a:p>
          <a:p/>
          <a:p>
            <a:r>
              <a:t>  Suppose clients often request GET /products/1001, and product data changes rarely.</a:t>
            </a:r>
          </a:p>
          <a:p/>
          <a:p>
            <a:r>
              <a:t>- What Redis is</a:t>
            </a:r>
          </a:p>
          <a:p/>
          <a:p>
            <a:r>
              <a:t>  A cache stores frequently used data close to the application.</a:t>
            </a:r>
          </a:p>
          <a:p/>
          <a:p>
            <a:r>
              <a:t>  Redis is an in-memory data platform, commonly used for caching and other purposes.</a:t>
            </a:r>
          </a:p>
          <a:p/>
          <a:p>
            <a:r>
              <a:t>  It works as an external key-value store.</a:t>
            </a:r>
          </a:p>
          <a:p/>
          <a:p>
            <a:r>
              <a:t>- Benefits</a:t>
            </a:r>
          </a:p>
          <a:p/>
          <a:p>
            <a:r>
              <a:t>  Caching can improve response latency, reduce database load and help read-heavy workloads scale.</a:t>
            </a:r>
          </a:p>
          <a:p/>
          <a:p>
            <a:r>
              <a:t>- The catch</a:t>
            </a:r>
          </a:p>
          <a:p/>
          <a:p>
            <a:r>
              <a:t>  A cache is another copy of the data.</a:t>
            </a:r>
          </a:p>
          <a:p/>
          <a:p>
            <a:r>
              <a:t>  That immediately creates a consistency problem.</a:t>
            </a:r>
          </a:p>
          <a:p/>
          <a:p>
            <a:r>
              <a:t>- What it shows</a:t>
            </a:r>
          </a:p>
          <a:p/>
          <a:p>
            <a:r>
              <a:t>  Order Service reads through a Redis cache that sits in front of Order DB on PostgreSQL.</a:t>
            </a:r>
          </a:p>
          <a:p/>
          <a:p>
            <a:r>
              <a:t>- Key point</a:t>
            </a:r>
          </a:p>
          <a:p/>
          <a:p>
            <a:r>
              <a:t>  Redis is a fast copy; PostgreSQL stays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common pattern</a:t>
            </a:r>
          </a:p>
          <a:p/>
          <a:p>
            <a:r>
              <a:t>  Cache-aside is one of the most common caching patterns.</a:t>
            </a:r>
          </a:p>
          <a:p/>
          <a:p>
            <a:r>
              <a:t>  Suppose we need product 1001.</a:t>
            </a:r>
          </a:p>
          <a:p/>
          <a:p>
            <a:r>
              <a:t>- Hit</a:t>
            </a:r>
          </a:p>
          <a:p/>
          <a:p>
            <a:r>
              <a:t>  The application checks Redis for the key product:1001.</a:t>
            </a:r>
          </a:p>
          <a:p/>
          <a:p>
            <a:r>
              <a:t>  If it is there, that is a hit.</a:t>
            </a:r>
          </a:p>
          <a:p/>
          <a:p>
            <a:r>
              <a:t>  Redis returns the data, and no database query is needed.</a:t>
            </a:r>
          </a:p>
          <a:p/>
          <a:p>
            <a:r>
              <a:t>- Miss</a:t>
            </a:r>
          </a:p>
          <a:p/>
          <a:p>
            <a:r>
              <a:t>  If it is not there, that is a miss.</a:t>
            </a:r>
          </a:p>
          <a:p/>
          <a:p>
            <a:r>
              <a:t>  The application reads from the database, stores the result in Redis, and returns the response.</a:t>
            </a:r>
          </a:p>
          <a:p/>
          <a:p>
            <a:r>
              <a:t>  The next request can then be served from the cache.</a:t>
            </a:r>
          </a:p>
          <a:p/>
          <a:p>
            <a:r>
              <a:t>- Who owns the logic</a:t>
            </a:r>
          </a:p>
          <a:p/>
          <a:p>
            <a:r>
              <a:t>  The application is responsible for the cache-aside logic, although frameworks can hide parts of it.</a:t>
            </a:r>
          </a:p>
          <a:p/>
          <a:p>
            <a:r>
              <a:t>- Hit</a:t>
            </a:r>
          </a:p>
          <a:p/>
          <a:p>
            <a:r>
              <a:t>  Order Service reads Redis, gets the order and returns it.</a:t>
            </a:r>
          </a:p>
          <a:p/>
          <a:p>
            <a:r>
              <a:t>- Miss</a:t>
            </a:r>
          </a:p>
          <a:p/>
          <a:p>
            <a:r>
              <a:t>  Redis has no entry, so the service queries Order DB, writes the result to Redis, and returns it.</a:t>
            </a:r>
          </a:p>
          <a:p/>
          <a:p>
            <a:r>
              <a:t>- Key point</a:t>
            </a:r>
          </a:p>
          <a:p/>
          <a:p>
            <a:r>
              <a:t>  The application manages the cache around its database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Stale data</a:t>
            </a:r>
          </a:p>
          <a:p/>
          <a:p>
            <a:r>
              <a:t>  Caching is easy until the underlying data changes.</a:t>
            </a:r>
          </a:p>
          <a:p/>
          <a:p>
            <a:r>
              <a:t>  Redis says order 1001 is PROCESSING, but the database now says SHIPPED.</a:t>
            </a:r>
          </a:p>
          <a:p/>
          <a:p>
            <a:r>
              <a:t>  Redis still has the old value.</a:t>
            </a:r>
          </a:p>
          <a:p/>
          <a:p>
            <a:r>
              <a:t>  This is stale cache data.</a:t>
            </a:r>
          </a:p>
          <a:p/>
          <a:p>
            <a:r>
              <a:t>- TTL</a:t>
            </a:r>
          </a:p>
          <a:p/>
          <a:p>
            <a:r>
              <a:t>  TTL means time to live.</a:t>
            </a:r>
          </a:p>
          <a:p/>
          <a:p>
            <a:r>
              <a:t>  You set the cache entry to expire after some seconds or minutes, so it eventually disappears.</a:t>
            </a:r>
          </a:p>
          <a:p/>
          <a:p>
            <a:r>
              <a:t>- Invalidation</a:t>
            </a:r>
          </a:p>
          <a:p/>
          <a:p>
            <a:r>
              <a:t>  With explicit invalidation, you delete the cache entry when the record changes, and the next read repopulates it.</a:t>
            </a:r>
          </a:p>
          <a:p/>
          <a:p>
            <a:r>
              <a:t>  With event-driven invalidation, a service reacts to an event like OrderUpdated and invalidates or refreshes the cached copy.</a:t>
            </a:r>
          </a:p>
          <a:p/>
          <a:p>
            <a:r>
              <a:t>- The trade-off</a:t>
            </a:r>
          </a:p>
          <a:p/>
          <a:p>
            <a:r>
              <a:t>  A long TTL gives a better hit rate, but data may be staler.</a:t>
            </a:r>
          </a:p>
          <a:p/>
          <a:p>
            <a:r>
              <a:t>  A short TTL gives fresher data, but more database traffic.</a:t>
            </a:r>
          </a:p>
          <a:p/>
          <a:p>
            <a:r>
              <a:t>  There is no universal TTL.</a:t>
            </a:r>
          </a:p>
          <a:p/>
          <a:p>
            <a:r>
              <a:t>  It depends on business requirements.</a:t>
            </a:r>
          </a:p>
          <a:p/>
          <a:p>
            <a:r>
              <a:t>- What it shows</a:t>
            </a:r>
          </a:p>
          <a:p/>
          <a:p>
            <a:r>
              <a:t>  Order Service updates the order in the database, then deletes the cache key.</a:t>
            </a:r>
          </a:p>
          <a:p/>
          <a:p>
            <a:r>
              <a:t>  A TTL is the fallback.</a:t>
            </a:r>
          </a:p>
          <a:p/>
          <a:p>
            <a:r>
              <a:t>- The warning</a:t>
            </a:r>
          </a:p>
          <a:p/>
          <a:p>
            <a:r>
              <a:t>  If invalidation is skipped, Redis keeps serving a stale cached order.</a:t>
            </a:r>
          </a:p>
          <a:p/>
          <a:p>
            <a:r>
              <a:t>- Key point</a:t>
            </a:r>
          </a:p>
          <a:p/>
          <a:p>
            <a:r>
              <a:t>  Every write path needs an invalidation plan.</a:t>
            </a:r>
          </a:p>
          <a:p/>
          <a:p>
            <a:r>
              <a:t>- Stampede</a:t>
            </a:r>
          </a:p>
          <a:p/>
          <a:p>
            <a:r>
              <a:t>  When a popular key expires, many requests can hit the database at once.</a:t>
            </a:r>
          </a:p>
          <a:p/>
          <a:p>
            <a:r>
              <a:t>  Locking the recomputation or refreshing early prevents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Enable it</a:t>
            </a:r>
          </a:p>
          <a:p/>
          <a:p>
            <a:r>
              <a:t>  Add spring-boot-starter-data-redis, put @EnableCaching on the application, and point spring.data.redis.host at the Redis server.</a:t>
            </a:r>
          </a:p>
          <a:p/>
          <a:p>
            <a:r>
              <a:t>- @Cacheable</a:t>
            </a:r>
          </a:p>
          <a:p/>
          <a:p>
            <a:r>
              <a:t>  Spring checks the orders cache for the ID.</a:t>
            </a:r>
          </a:p>
          <a:p/>
          <a:p>
            <a:r>
              <a:t>  On a hit it skips the method; on a miss it runs it and stores the DTO.</a:t>
            </a:r>
          </a:p>
          <a:p/>
          <a:p>
            <a:r>
              <a:t>- @CacheEvict</a:t>
            </a:r>
          </a:p>
          <a:p/>
          <a:p>
            <a:r>
              <a:t>  After cancel succeeds, the cached entry is removed so the next read reloads it.</a:t>
            </a:r>
          </a:p>
          <a:p/>
          <a:p>
            <a:r>
              <a:t>- Safety nets</a:t>
            </a:r>
          </a:p>
          <a:p/>
          <a:p>
            <a:r>
              <a:t>  A default TTL of ten minutes limits damage from any missed eviction.</a:t>
            </a:r>
          </a:p>
          <a:p/>
          <a:p>
            <a:r>
              <a:t>  Cached objects need a serializer, such as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Easy wins</a:t>
            </a:r>
          </a:p>
          <a:p/>
          <a:p>
            <a:r>
              <a:t>  The product catalog and branch list change rarely, so long TTLs are safe.</a:t>
            </a:r>
          </a:p>
          <a:p/>
          <a:p>
            <a:r>
              <a:t>- Short-lived</a:t>
            </a:r>
          </a:p>
          <a:p/>
          <a:p>
            <a:r>
              <a:t>  Exchange rates, order status and dashboards change, so use short TTLs and evict when the data changes.</a:t>
            </a:r>
          </a:p>
          <a:p/>
          <a:p>
            <a:r>
              <a:t>- Don't cache</a:t>
            </a:r>
          </a:p>
          <a:p/>
          <a:p>
            <a:r>
              <a:t>  Balances and fraud decisions must be exact now.</a:t>
            </a:r>
          </a:p>
          <a:p/>
          <a:p>
            <a:r>
              <a:t>  A stale value can approve a payment that should fail.</a:t>
            </a:r>
          </a:p>
          <a:p/>
          <a:p>
            <a:r>
              <a:t>- Discussion</a:t>
            </a:r>
          </a:p>
          <a:p/>
          <a:p>
            <a:r>
              <a:t>  Ask learners what the business impact of five minutes of staleness would be for each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Ownership and local persistence</a:t>
            </a:r>
          </a:p>
          <a:p/>
          <a:p>
            <a:r>
              <a:t>  Use this slide to rebuild the module.</a:t>
            </a:r>
          </a:p>
          <a:p/>
          <a:p>
            <a:r>
              <a:t>  Each service owns its data: Order, Payment, Inventory and Shipping each have their own database.</a:t>
            </a:r>
          </a:p>
          <a:p/>
          <a:p>
            <a:r>
              <a:t>  Inside a service, Spring Boot goes from controller to service to repository, then through JPA to the SQL database.</a:t>
            </a:r>
          </a:p>
          <a:p/>
          <a:p>
            <a:r>
              <a:t>- Local transactions</a:t>
            </a:r>
          </a:p>
          <a:p/>
          <a:p>
            <a:r>
              <a:t>  @Transactional gives atomic transaction management inside one local persistence boundary.</a:t>
            </a:r>
          </a:p>
          <a:p/>
          <a:p>
            <a:r>
              <a:t>- Saga across services</a:t>
            </a:r>
          </a:p>
          <a:p/>
          <a:p>
            <a:r>
              <a:t>  The business workflow spans Order, Payment, Inventory and Shipping, but they do not share one local transaction.</a:t>
            </a:r>
          </a:p>
          <a:p/>
          <a:p>
            <a:r>
              <a:t>  A Saga coordinates them, with each participant doing a local transaction linked by events or commands.</a:t>
            </a:r>
          </a:p>
          <a:p/>
          <a:p>
            <a:r>
              <a:t>- Compensation and eventual consistency</a:t>
            </a:r>
          </a:p>
          <a:p/>
          <a:p>
            <a:r>
              <a:t>  If payment succeeds but inventory fails, we refund the payment and cancel the order.</a:t>
            </a:r>
          </a:p>
          <a:p/>
          <a:p>
            <a:r>
              <a:t>  Services may briefly see different states while events and compensations propagate.</a:t>
            </a:r>
          </a:p>
          <a:p/>
          <a:p>
            <a:r>
              <a:t>- Redis</a:t>
            </a:r>
          </a:p>
          <a:p/>
          <a:p>
            <a:r>
              <a:t>  Redis improves read performance.</a:t>
            </a:r>
          </a:p>
          <a:p/>
          <a:p>
            <a:r>
              <a:t>  A hit returns quickly, and a miss goes to the database.</a:t>
            </a:r>
          </a:p>
          <a:p/>
          <a:p>
            <a:r>
              <a:t>  Expiration and invalidation must be designed carefully.</a:t>
            </a:r>
          </a:p>
          <a:p/>
          <a:p>
            <a:r>
              <a:t>- Final message</a:t>
            </a:r>
          </a:p>
          <a:p/>
          <a:p>
            <a:r>
              <a:t>  Microservices need explicit data ownership, with local transactions for each service's own data.</a:t>
            </a:r>
          </a:p>
          <a:p/>
          <a:p>
            <a:r>
              <a:t>  Cross-service business transactions are coordinated with patterns like Sagas.</a:t>
            </a:r>
          </a:p>
          <a:p/>
          <a:p>
            <a:r>
              <a:t>  Redis can speed up reads, but it adds consistency, expiration and invalidation concerns.</a:t>
            </a:r>
          </a:p>
          <a:p/>
          <a:p>
            <a:r>
              <a:t>- What it shows</a:t>
            </a:r>
          </a:p>
          <a:p/>
          <a:p>
            <a:r>
              <a:t>  Order Service with its local transaction, Order DB and Redis cache publishes OrderCreated.</a:t>
            </a:r>
          </a:p>
          <a:p/>
          <a:p>
            <a:r>
              <a:t>  Payment and Inventory commit locally and publish their results through the broker.</a:t>
            </a:r>
          </a:p>
          <a:p/>
          <a:p>
            <a:r>
              <a:t>- How to read it</a:t>
            </a:r>
          </a:p>
          <a:p/>
          <a:p>
            <a:r>
              <a:t>  The dashed line at the bottom marks eventual consistency across the service-owned databases.</a:t>
            </a:r>
          </a:p>
          <a:p/>
          <a:p>
            <a:r>
              <a:t>- Key point</a:t>
            </a:r>
          </a:p>
          <a:p/>
          <a:p>
            <a:r>
              <a:t>  Every data idea in the module fits together in this one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that recreate a distributed monolith through data.</a:t>
            </a:r>
          </a:p>
          <a:p/>
          <a:p>
            <a:r>
              <a:t>- Ownership and transactions</a:t>
            </a:r>
          </a:p>
          <a:p/>
          <a:p>
            <a:r>
              <a:t>  Database per service is about who may access the data, not about servers.</a:t>
            </a:r>
          </a:p>
          <a:p/>
          <a:p>
            <a:r>
              <a:t>  And local transactions are still the right tool inside one service.</a:t>
            </a:r>
          </a:p>
          <a:p/>
          <a:p>
            <a:r>
              <a:t>- Sagas and ORM</a:t>
            </a:r>
          </a:p>
          <a:p/>
          <a:p>
            <a:r>
              <a:t>  A Saga never rolls back committed work; it compensates.</a:t>
            </a:r>
          </a:p>
          <a:p/>
          <a:p>
            <a:r>
              <a:t>  ORM still needs good keys, indexes and awareness of N+1 queries.</a:t>
            </a:r>
          </a:p>
          <a:p/>
          <a:p>
            <a:r>
              <a:t>- Anti-patterns</a:t>
            </a:r>
          </a:p>
          <a:p/>
          <a:p>
            <a:r>
              <a:t>  Shared databases, cross-service mappings, Hibernate-managed production schemas, exposed entities, 2PC by default and stale cached balances.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Ownership</a:t>
            </a:r>
          </a:p>
          <a:p/>
          <a:p>
            <a:r>
              <a:t>  It allows independent schema changes, deployments and service autonomy.</a:t>
            </a:r>
          </a:p>
          <a:p/>
          <a:p>
            <a:r>
              <a:t>- 2. Spring Data JPA</a:t>
            </a:r>
          </a:p>
          <a:p/>
          <a:p>
            <a:r>
              <a:t>  Repository abstractions that remove persistence boilerplate.</a:t>
            </a:r>
          </a:p>
          <a:p/>
          <a:p>
            <a:r>
              <a:t>- 3. Cross-service relationships</a:t>
            </a:r>
          </a:p>
          <a:p/>
          <a:p>
            <a:r>
              <a:t>  They create database coupling and break service ownership.</a:t>
            </a:r>
          </a:p>
          <a:p/>
          <a:p>
            <a:r>
              <a:t>- 4. Repository pattern</a:t>
            </a:r>
          </a:p>
          <a:p/>
          <a:p>
            <a:r>
              <a:t>  It separates persistence access from business logic.</a:t>
            </a:r>
          </a:p>
          <a:p/>
          <a:p>
            <a:r>
              <a:t>- 5. @Transactional</a:t>
            </a:r>
          </a:p>
          <a:p/>
          <a:p>
            <a:r>
              <a:t>  In the service layer, where business operations are coordinated.</a:t>
            </a:r>
          </a:p>
          <a:p/>
          <a:p>
            <a:r>
              <a:t>- 6. Distributed transactions</a:t>
            </a:r>
          </a:p>
          <a:p/>
          <a:p>
            <a:r>
              <a:t>  They need coordination across services and databases, which adds coupling and operational risk.</a:t>
            </a:r>
          </a:p>
          <a:p/>
          <a:p>
            <a:r>
              <a:t>- 7. Saga</a:t>
            </a:r>
          </a:p>
          <a:p/>
          <a:p>
            <a:r>
              <a:t>  A sequence of local transactions across services, with compensation for failures.</a:t>
            </a:r>
          </a:p>
          <a:p/>
          <a:p>
            <a:r>
              <a:t>- 8. Eventual consistency</a:t>
            </a:r>
          </a:p>
          <a:p/>
          <a:p>
            <a:r>
              <a:t>  Services become consistent after a delay rather than instantly.</a:t>
            </a:r>
          </a:p>
          <a:p/>
          <a:p>
            <a:r>
              <a:t>- 9. Redis</a:t>
            </a:r>
          </a:p>
          <a:p/>
          <a:p>
            <a:r>
              <a:t>  For fast access to frequently read or short-lived data.</a:t>
            </a:r>
          </a:p>
          <a:p/>
          <a:p>
            <a:r>
              <a:t>- 10. Pagination</a:t>
            </a:r>
          </a:p>
          <a:p/>
          <a:p>
            <a:r>
              <a:t>  It stops huge result sets from overloading the database, service, network and client.</a:t>
            </a:r>
          </a:p>
          <a:p/>
          <a:p>
            <a:r>
              <a:t>- Practical scenario</a:t>
            </a:r>
          </a:p>
          <a:p/>
          <a:p>
            <a:r>
              <a:t>  Account Service publishes AccountOpened and Reporting updates its dashboard.</a:t>
            </a:r>
          </a:p>
          <a:p/>
          <a:p>
            <a:r>
              <a:t>  Account owns the data; reporting is eventually consistent; if Reporting is down it catches up later; Account never writes Reporting's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persisted data with Spring Data JPA, drew ownership boundaries, replaced shared transactions with Sagas, and added caching.</a:t>
            </a:r>
          </a:p>
          <a:p/>
          <a:p>
            <a:r>
              <a:t>- Next module</a:t>
            </a:r>
          </a:p>
          <a:p/>
          <a:p>
            <a:r>
              <a:t>  Module 6 is about resilience and performance: timeouts, retries, circuit breakers and finding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"Each microservice should control its own persistence boundary."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 and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Managing persistence, transactions, consistency and caching.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SQL integration with 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9606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2013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Persistence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4420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Local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6827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Distributed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9234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Saga pattern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1641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Redis caching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SQL integration, persistence patterns, transaction strategies and Redis caching.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34811" cy="33481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34811" cy="3348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2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163" y="1252728"/>
            <a:ext cx="4804117" cy="334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5860"/>
            <a:ext cx="5212080" cy="2422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Integrate Spring Boot with SQL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service-owned data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Use Spring Data JPA repositories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Understand persistence patterns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Implement local transactions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distributed transaction challenges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Describe Saga patterns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Understand compensating transactions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Redis caching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Design cache expiration and invalidation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243584"/>
            <a:ext cx="52852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FOUR PARTS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91640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44768" y="1764792"/>
            <a:ext cx="329184" cy="32918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28216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SQL persistence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67128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Spring Boot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44967" y="2368296"/>
            <a:ext cx="310897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83296" y="2167128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Repository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83496" y="2368296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21824" y="2167128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SQL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770632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44768" y="2843784"/>
            <a:ext cx="329184" cy="32918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07208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Data ownership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246120"/>
            <a:ext cx="2542032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Microservice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44728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52560" y="3246120"/>
            <a:ext cx="2542032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Owns its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849624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44768" y="3922776"/>
            <a:ext cx="329184" cy="329184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88620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Transactions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325112"/>
            <a:ext cx="2542032" cy="402336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Local ACID transaction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4325112"/>
            <a:ext cx="2542032" cy="402336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Distributed business transaction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325112"/>
            <a:ext cx="3657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Nirmala UI"/>
              </a:rPr>
              <a:t>vs.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928616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44768" y="5001768"/>
            <a:ext cx="329184" cy="32918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965192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Caching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5404104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Application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44967" y="5605272"/>
            <a:ext cx="310897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83296" y="5404104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Redis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83496" y="5605272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21824" y="5404104"/>
            <a:ext cx="1572768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Database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Data is where moving from a monolith to microservices changes architecture the most.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Database per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service owns its own database; no other service reads its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Flyway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versioned SQL script that changes the database schema in a controlled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Java class mapped to a database table with JPA.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interface that loads and saves entities without hand-written SQL.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Local 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Changes in one service's database that either all commit or all roll 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Optimistic locking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Detecting, with a version column, that someone changed a row since you read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Saga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sequence of local transactions across services, with compensating steps if one fails.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Cache-aside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Check the cache first; on a miss, load from the database and store the result.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Atomicity, Consistency, Isolation, Durability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Automated Teller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CRUD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Create, Read, Update,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Transfer Object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JDBC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Database Connectivity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Jakarta Persistence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Object-Relational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TTL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 To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Locator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YAML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YAML Ain't Markup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4 TO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Services now talk to each other — this module is about the data behind each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4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REST and events between services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Brokers, topics and consumer groups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Idempotent consumers and dead letters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Choreography and orchestration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transactional outbox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Give each service its own data — and keep the business outcome correct.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5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Persist an order with Spring Data JPA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Configure the DataSource and migrations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Keep each service's data private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Get data you don't 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Commit locally; coordinate with Sagas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3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Compensate when a step fails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3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Cache reads with Redis, safely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4 connected services; Module 5 makes each one own its data and stay correct.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DATA MANAGEMENT CHANGES WITH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one shared database toward independently owned service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3121"/>
            <a:ext cx="7415783" cy="36660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6273"/>
            <a:ext cx="7269480" cy="35197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NOW YOU MUST HANDLE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Distributed state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Eventual consistency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Cross-service 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Failure recovery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business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Placing an order may now touch the Order, Payment and Inventory databases.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FOUR WORDS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Ownership, autonomy, consistency, distribution.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Microservices gain autonomy, but one business operation may now cross several databases.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SQL PERSISTENCE WITH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Before sharing data across services, store it well inside one.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SQL persistence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ownership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Transactions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integrate through REST and events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Consumers are idempotent; failures dead-letter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An outbox publishes events safely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a Spring Boot service store and read its own data correctly?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persistence stack: JDBC, JPA, Hibernate, Spring Data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DataSource configuration and Flyway migrations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Mapping entities — and references across services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Repositories and the end-to-end flow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spot the persistence problems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SQL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Entity → repository → Spring Data JPA → Hibernate → JDBC → SQL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622544"/>
            <a:ext cx="11210544" cy="245467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95696"/>
            <a:ext cx="11064240" cy="23083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JDBC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low-level Java API that talks to the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JPA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specification for mapping Java objects to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Hibernate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JPA implementation Spring Boot uses by default.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6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 Data JPA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Generates repository implementations at runtime.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JDBC talks to the database, JPA and Hibernate map objects, and Spring Data removes the plumbing.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CONFIGURING A SQL DATASOURCE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Spring Boot datasource configuration and connection properties.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7196" y="1316736"/>
            <a:ext cx="7327126" cy="2359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348" y="1389888"/>
            <a:ext cx="7180822" cy="22128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7200" y="399592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968496"/>
            <a:ext cx="23454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application.yml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2674620" cy="1536191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datasource: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url: ${DB_URL}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username: ${DB_USER}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password: ${DB_PASSWORD}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3968496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TYPICAL VALUES</a:t>
            </a:r>
          </a:p>
        </p:txBody>
      </p:sp>
      <p:sp>
        <p:nvSpPr>
          <p:cNvPr id="10" name="Oval 9"/>
          <p:cNvSpPr/>
          <p:nvPr/>
        </p:nvSpPr>
        <p:spPr>
          <a:xfrm>
            <a:off x="3314700" y="434340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0460" y="4315968"/>
            <a:ext cx="23088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JDBC URL</a:t>
            </a:r>
          </a:p>
        </p:txBody>
      </p:sp>
      <p:sp>
        <p:nvSpPr>
          <p:cNvPr id="12" name="Oval 11"/>
          <p:cNvSpPr/>
          <p:nvPr/>
        </p:nvSpPr>
        <p:spPr>
          <a:xfrm>
            <a:off x="3314700" y="465429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0460" y="4626864"/>
            <a:ext cx="23088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Username and password</a:t>
            </a:r>
          </a:p>
        </p:txBody>
      </p:sp>
      <p:sp>
        <p:nvSpPr>
          <p:cNvPr id="14" name="Oval 13"/>
          <p:cNvSpPr/>
          <p:nvPr/>
        </p:nvSpPr>
        <p:spPr>
          <a:xfrm>
            <a:off x="3314700" y="496519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0460" y="4937759"/>
            <a:ext cx="23088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Driver</a:t>
            </a:r>
          </a:p>
        </p:txBody>
      </p:sp>
      <p:sp>
        <p:nvSpPr>
          <p:cNvPr id="16" name="Oval 15"/>
          <p:cNvSpPr/>
          <p:nvPr/>
        </p:nvSpPr>
        <p:spPr>
          <a:xfrm>
            <a:off x="3314700" y="527608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0460" y="5248655"/>
            <a:ext cx="23088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Pool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68496"/>
            <a:ext cx="2674620" cy="1865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59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Connection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34256"/>
            <a:ext cx="24003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HikariCP reuses connections instead of opening one per request.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9700" y="3968496"/>
            <a:ext cx="26746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2580" y="3968496"/>
            <a:ext cx="23088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SECRETS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From the environment — later, OpenShift Secrets.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Never commit database credentials — reference them and let the environment supply them.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SCHEMA MIGRATIONS WITH FLYWAY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Versioned SQL files own the schema; Hibernate only checks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db/migration/V1__create_orders.sql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CREATE TABLE orders 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id           BIGSERIAL      PRIMARY KEY,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customer_id  VARCHAR(20)    NOT NULL,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status       VARCHAR(20)    NOT NULL,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total        NUMERIC(12, 2) NOT NULL,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version      BIGINT         NOT NULL DEFAULT 0,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created_at   TIMESTAMP      NOT NULL DEFAULT now()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CREATE INDEX idx_orders_customer ON orders (customer_id);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application.yml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jpa: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hibernate: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ddl-auto: validate      # Flyway owns the schema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flyway: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locations: classpath:db/migration   # the default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datasource: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hikari: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maximum-pool-size: 10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connection-timeout: 3000   # milliseconds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Versioned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V1, V2 … run once, in order, recorded in flyway_schema_history.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Hibernate checks the entities match — it never changes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Never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applied migration. Add V2 instead.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Flyway create and evolve the schema; let Hibernate validate it — never ddl-auto: update in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MAPPING JAVA OBJECTS TO RELATIONAL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@Entity, @Id, columns, tables and object-relational mapping.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5560"/>
            <a:ext cx="7415783" cy="312119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8712"/>
            <a:ext cx="7269480" cy="29748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Order.java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7967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@Entity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@Table(name = "orders")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class Order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@Id @GeneratedValue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Long id;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String customerId;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String status;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BigDecimal total;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552444"/>
            <a:ext cx="3520440" cy="118643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6073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918204"/>
            <a:ext cx="3246120" cy="7658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Spring Boot maps customerId to customer_id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866894"/>
            <a:ext cx="3520440" cy="96697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866894"/>
            <a:ext cx="3154680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ORM ≠ NO SQL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 still need keys, indexes and query 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ORM maps Java objects to tables — production developers understand both models.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RELATIONSHIPS INSIDE A SERVICE, IDS ACROSS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Map what shares a lifecycle and a database; reference everything else by ID.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Inside Order Service — map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74624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@Entity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@Table(name = "orders")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@Id @GeneratedValue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Long id;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@OneToMany(mappedBy = "order", cascade = CascadeType.ALL,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orphanRemoval = true)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List&lt;OrderItem&gt; items = new ArrayList&lt;&gt;();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String customerId;   // owned by Customer 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Across services — don't map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746247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@Entity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@ManyToOne                    // Customer lives in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Customer customer;    // another service's DB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@ManyToOne                    // a join into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Payment payment;      // Payment's tables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Inside one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and OrderItem share a lifecycle and a database — map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Across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 only the ID; call Customer Service when you need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LAZY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Load collections only when needed — watch for N+1 queries.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JPA relationships stop at the service boundary — across it, keep an ID and use the owner's API or events.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REPOSITORY PATTERN WITH SPRING DATA JPA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JpaRepository, CRUD operations and query abstraction.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14999"/>
            <a:ext cx="7415783" cy="310232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8151"/>
            <a:ext cx="7269480" cy="2956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DERIVED QUERY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findByStatus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findByCustomerId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existsByIdAndStatus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countByCustomerId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57860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When a name gets too long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907792"/>
            <a:ext cx="3520440" cy="9712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@Query("select o from Order o "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+ "where o.total &gt; :min")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List&lt;Order&gt; bigOrders(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@Param("min") BigDecimal min);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00710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00710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KEEP IT CLEAN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Queries in the repository; business rules in the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Repositories give CRUD and derived queries — business logic stays in the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PERSISTENCE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REST request → controller → service → repository → SQL → response.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67612" y="1316736"/>
            <a:ext cx="9626294" cy="2583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764" y="1389888"/>
            <a:ext cx="9479990" cy="2437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93031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Request body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2215"/>
            <a:ext cx="3627120" cy="131165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"customerId": "CUST-501",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"total": 199.99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4267200" y="4220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6384" y="4193031"/>
            <a:ext cx="32979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The key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4522215"/>
            <a:ext cx="3627120" cy="131165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Order saved = orders.save(order);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// INSERT INTO orders (...) VALUES (...)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4193031"/>
            <a:ext cx="3627120" cy="16408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0080" y="4193031"/>
            <a:ext cx="3261360" cy="1640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CONNECTS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REST from Module 3 with SQL persistence from this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request travels from JSON to a SQL INSERT and back as a 201 Created response.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SPOT THE PERSISTENCE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Review a pull request for Order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pull request contains: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23086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application.yml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spring.jpa.hibernate.ddl-auto: update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spring.datasource.password: Prod#2026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@ManyToOne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private Customer customer;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@GetMapping("/orders")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List&lt;Order&gt; all()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return orders.findAll();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at least four problems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why each one hurts in production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Propose a fix for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ddl-auto update → Flyway + validate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 in YAML → environment secret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@ManyToOne Customer → store customerId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Returns entities → return DTOs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findAll, no paging → Pageable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Schema by migration, secrets from the environment, IDs across services, DTOs out, and pages for lists.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DATA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Each service's data is private — like its code.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SQL persistence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ownership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Transactions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Spring Data JPA maps entities and generates repositories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Flyway owns the schema; secrets come from the environment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757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request becomes SQL and a DTO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Who is allowed to touch which data — and how do others get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Database per service — and its trade-offs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shared database access is dangerous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Getting data you don't own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Polyglot persistence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2.1: map data ownership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DATABASE PER SERVICE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Each microservice owns and controls its persistence boundary.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40417"/>
            <a:ext cx="7415783" cy="38514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3569"/>
            <a:ext cx="7269480" cy="3705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YOU GAIN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Independent schema changes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Independent deployment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Clear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066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GIVE UP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Easy cross-table joins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ACID transaction for everything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0390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80390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OWNERSHIP, NOT SERVERS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Separate schemas on one server can still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service owns its data — others go through its API or events, never its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SHARED DATABASE ACCESS IS DANGEROUS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service reading or writing another service's tables creates coupling.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2474"/>
            <a:ext cx="7415783" cy="42473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5626"/>
            <a:ext cx="7269480" cy="410106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Payment writes Order's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855725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UPDATE orders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SET status = 'PAID'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WHERE id = 1001;   -- run by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61137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PAYMENT NOW DEPENDS ON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298627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95884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Order's table structure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29717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26974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Valid status values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60807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58063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future schema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01955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01955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BETTER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Payment publishes PaymentAuthorized; Order updates its own row.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Data ownership is part of the microservice contract boundary.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GETTING DATA YOU DON'T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API calls, API composition and event-built read models — never a cross-service join.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265176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How it works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Trade-off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REST API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Ask the owner at request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Fresh, but a runtime dependency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API composition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Combine several owners' APIs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Many calls per request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Read model (CQRS)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 local copy built from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Fast, but eventually consistent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Shared table or join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Query another service's database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✕ Breaks ownership — never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83667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95944" y="1298448"/>
            <a:ext cx="30083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 keeps a local customer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627632"/>
            <a:ext cx="3337560" cy="105384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@KafkaListener(topics = "customer.events")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void on(CustomerUpdated e)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views.save(new CustomerView(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e.customerId(), e.name()));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809494"/>
            <a:ext cx="333756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809494"/>
            <a:ext cx="297180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Copy only the fields you need; the owner stays the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Get other services' data through their APIs or their events — the owner stays the source of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POLYGLOT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Services choose SQL, document, key-value or other stores based on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49938"/>
            <a:ext cx="7415783" cy="34324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3090"/>
            <a:ext cx="7269480" cy="32861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EVERY NEW STORE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Operations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Backups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Security patching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Disaster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Developer 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79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lab service uses PostgreSQL. Redis and document stores are lecture-only.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Add a technology only when the benefit justifies the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Pick the right store per service — but only when the benefit outweighs the operational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2.1 — MAP ACCOUNT VS. TRANSACTION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2 checkpoint A: separate databases and no cross-service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1192" y="1298448"/>
            <a:ext cx="4453128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labs/day-02/exercises/exercise-2.1-data-ownership.md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Day 2 splits the banking platform into Account Service (Lab 1) and Transaction Service (Lab 2).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Account table lives only in account_db; transaction table only in transaction_db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Transaction stores accountId as a reference, not a cross-service foreign key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Eligibility is a REST GET to Account Service, not a SQL join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67969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62483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Redis is lecture-only — not part of this capstone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two-column ownership map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Zero shared tables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2369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accountId kept as a plain reference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7861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Eligibility checked over REST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two-column ownership map with zero shared tables.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TRANSACTIONS AND SAGAS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All-or-nothing inside a service; coordinated steps across services.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SQL persistence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ownership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Transactions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Each service owns its database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Others use APIs, events or read models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Extra stores only when justified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If one order touches three databases, how do we keep the business outcome correct?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Local transactions and optimistic locking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distributed transaction problem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ACID stops at the service boundary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Sagas: choreography and orchestration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Compensating transactions, in code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design the compensation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LOCAL TRANSACTIONS WITH @TRANSACTIONAL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Atomic operations inside a single Spring Boot service and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90219"/>
            <a:ext cx="7415783" cy="33518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3371"/>
            <a:ext cx="7269480" cy="320557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One service, one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113639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void create(CreateOrderRequest r)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Order order = orders.save(Order.from(r));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items.saveAll(OrderItem.from(r, order));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8920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RULES OF THUMB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2669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2395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Put it on service methods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5778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5504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Keep it short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88874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8613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remote calls inside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30022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30022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ROLLBACK 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Runtime exceptions roll back by default; checked ones don't.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@Transactional makes a service's local changes all-or-nothing.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CONCURRENT UPDATES: OPTIMISTIC 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users change the same order — only one update may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5646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@Entity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class Order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@Id @GeneratedValue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Long id;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@Version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long version;   // checked on every update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private String status;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Service and error handler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5646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OrderResponse cancel(Long id)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Order order = orders.findById(id)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.orElseThrow(() -&gt; new OrderNotFoundException(id));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order.cancel();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OrderResponse.from(order);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  // UPDATE ... WHERE id = ? AND version = ?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@ExceptionHandler(ObjectOptimisticLockingFailureException.class)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@ResponseStatus(HttpStatus.CONFLICT)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ErrorResponse conflict() { ... }   // 409: reload, retry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208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47573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66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Hibernate adds the version to every UPDATE's WHERE clause.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4208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47573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7866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If someone changed the row first, the update matches nothing.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4208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47573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7866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409 and let the client reload — no lost updates.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@Version column turns silent lost updates into a clear 409 Conflict.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DISTRIBUTED TRANSACTION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business operation spanning Order, Payment and Inventory databases.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63341"/>
            <a:ext cx="7415783" cy="40056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493"/>
            <a:ext cx="7269480" cy="3859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WHY IT'S HARD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single transaction manager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Networks fail mid-way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providers can't roll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Two-phase commit?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coordinator locks every participant until all agree. It blocks, scales poorly and breaks on network splits.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31596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31596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THE QUESTION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Who commits or undoes the whole business operation?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one business operation spans several databases, no single local transaction can undo it 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TRADITIONAL ACID TRANSACTIONS DON'T SPAN MICROSERVICES EASILY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Local transaction boundary versus distributed business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971800" cy="36576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INSIDE ONE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06040" cy="50292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Order 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43100" y="2587752"/>
            <a:ext cx="0" cy="201168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816352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400" b="0" i="0">
                <a:solidFill>
                  <a:srgbClr val="2E7D32"/>
                </a:solidFill>
                <a:latin typeface="Consolas"/>
              </a:rPr>
              <a:t>@Transactional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43100" y="3300984"/>
            <a:ext cx="0" cy="201168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n 8"/>
          <p:cNvSpPr/>
          <p:nvPr/>
        </p:nvSpPr>
        <p:spPr>
          <a:xfrm>
            <a:off x="1051560" y="3520440"/>
            <a:ext cx="1783080" cy="777240"/>
          </a:xfrm>
          <a:prstGeom prst="can">
            <a:avLst>
              <a:gd name="adj" fmla="val 18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91432"/>
            <a:ext cx="1783080" cy="5751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Order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2971800" cy="566928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Atomic local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554480"/>
            <a:ext cx="3154680" cy="36576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ACROSS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029968"/>
            <a:ext cx="2697480" cy="34747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C9690C"/>
                </a:solidFill>
                <a:latin typeface="Nirmala UI"/>
              </a:rPr>
              <a:t>Order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40864"/>
            <a:ext cx="26974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505456"/>
            <a:ext cx="2697480" cy="34747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C9690C"/>
                </a:solidFill>
                <a:latin typeface="Nirmala UI"/>
              </a:rPr>
              <a:t>Payment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816352"/>
            <a:ext cx="26974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980944"/>
            <a:ext cx="2697480" cy="34747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C9690C"/>
                </a:solidFill>
                <a:latin typeface="Nirmala UI"/>
              </a:rPr>
              <a:t>Inventory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291840"/>
            <a:ext cx="26974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456432"/>
            <a:ext cx="2697480" cy="34747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C9690C"/>
                </a:solidFill>
                <a:latin typeface="Nirmala UI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67328"/>
            <a:ext cx="26974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95959"/>
                </a:solidFill>
                <a:latin typeface="Nirmala UI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3931920"/>
            <a:ext cx="2697480" cy="34747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C9690C"/>
                </a:solidFill>
                <a:latin typeface="Nirmala UI"/>
              </a:rPr>
              <a:t>Independent processes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72100" y="4334256"/>
            <a:ext cx="0" cy="128016"/>
          </a:xfrm>
          <a:prstGeom prst="line">
            <a:avLst/>
          </a:prstGeom>
          <a:ln w="22225">
            <a:solidFill>
              <a:srgbClr val="A86D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94760" y="4480560"/>
            <a:ext cx="3154680" cy="566928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Distributed business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43216" y="1691640"/>
            <a:ext cx="502920" cy="5029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 i="0">
                <a:solidFill>
                  <a:srgbClr val="FFFFFF"/>
                </a:solidFill>
                <a:latin typeface="Nirmala UI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591056"/>
            <a:ext cx="3520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Atomicity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920240"/>
            <a:ext cx="3520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All or nothing within the transaction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441448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43216" y="2578608"/>
            <a:ext cx="502920" cy="50292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 i="0">
                <a:solidFill>
                  <a:srgbClr val="FFFFFF"/>
                </a:solidFill>
                <a:latin typeface="Nirmala U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478024"/>
            <a:ext cx="3520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Consistency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807208"/>
            <a:ext cx="3520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Preserves defined database rules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328416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43216" y="3465576"/>
            <a:ext cx="502920" cy="50292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 i="0">
                <a:solidFill>
                  <a:srgbClr val="FFFFFF"/>
                </a:solidFill>
                <a:latin typeface="Nirmala UI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364992"/>
            <a:ext cx="3520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Isolation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694176"/>
            <a:ext cx="3520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Controls concurrent transactions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4215384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43216" y="4352544"/>
            <a:ext cx="502920" cy="50292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800" b="1" i="0">
                <a:solidFill>
                  <a:srgbClr val="FFFFFF"/>
                </a:solidFill>
                <a:latin typeface="Nirmala UI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251960"/>
            <a:ext cx="3520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Durability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581144"/>
            <a:ext cx="3520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Committed data survives failures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193792"/>
            <a:ext cx="11247120" cy="566928"/>
          </a:xfrm>
          <a:prstGeom prst="roundRect">
            <a:avLst>
              <a:gd name="adj" fmla="val 14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One large technical transaction  →  a sequence of local transactions coordinated as a business workflow  →  Saga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ACID works inside one database; across services we coordinate local transactions instead.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SAGA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sequence of local transactions coordinated through commands or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68221"/>
            <a:ext cx="7415783" cy="33958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1373"/>
            <a:ext cx="7269480" cy="32495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Saga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sequence of local transactions + coordination + compensation.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Between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commit publishes an event or sends a command that starts the next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Visible in-between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Others may see an order as PENDING — design screens and rules for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ACID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Saga coordinates small transactions — it never makes one big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Saga breaks one distributed business transaction into local transactions that each commit.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SAGA CHOREOGRAPHY VS. SAGA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Events trigger each local transaction, or an orchestrator commands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04918"/>
            <a:ext cx="7415783" cy="43224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8070"/>
            <a:ext cx="7269480" cy="41761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19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Choreography saga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1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local commit publishes the event that triggers the next step. Suits a few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8664"/>
            <a:ext cx="3520440" cy="109219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35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Orchestration saga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423"/>
            <a:ext cx="3246120" cy="671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orchestrator sends commands and stores saga state. Suits many steps and compensation.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738879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EITHER WAY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11378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8635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 saga state durably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42468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39724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Make every step idempotent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473557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70814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Trace with a correlation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5147056"/>
            <a:ext cx="3520440" cy="6868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147056"/>
            <a:ext cx="3154680" cy="686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FROM MODULE 4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Same styles — now each step is a local transaction.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Choreography chains local transactions through events; orchestration commands them from one place.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COMPENSATING TRANSACTIONS AND FAILURE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Undo completed business actions when a later step fails.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336998"/>
            <a:ext cx="7415783" cy="245832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10150"/>
            <a:ext cx="7269480" cy="23120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EVERY STEP NEEDS ITS UNDO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Charge $200 → refund $200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 order → cancel order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Reserve stock → release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Refund ≠ 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It's a new business transaction, with its own record and audit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COMPENSATIONS FAIL TOO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Retry them, make them idempotent, alert on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Sagas don't roll back committed work — they run compensating business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COMPENSATION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Inventory failed: Order asks for a refund, Payment refunds exactly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Service — start compensating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@KafkaListener(topics = "inventory.reservation-failed",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groupId = "order-service")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void on(InventoryReservationFailed e)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Order order = orders.findById(e.orderId()).orElseThrow();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if (order.isCancelled()) return;          // idempotent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order.markCancelling();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outbox.save(OutboxEvent.of("payments.refund-requested",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order.getId(),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new RefundPayment(order.getId(), order.getTotal())));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 Service — compensate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@KafkaListener(topics = "payments.refund-requested",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groupId = "payment-service")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void on(RefundPayment cmd)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if (refunds.existsByOrderId(cmd.orderId())) return;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refunds.save(Refund.of(cmd.orderId(), cmd.amount()));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outbox.save(OutboxEvent.of("payments.refunded",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cmd.orderId(), new PaymentRefunded(cmd.orderId())));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Command, then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asks for a refund; Payment reports PaymentRefunded.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Idempotent both sides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repeated message never refunds or cancels twice.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Outbox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State change and message commit together — from Module 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Compensation is ordinary, idempotent business code — triggered by a failure event and published through the outbox.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DESIGN THE COMPENSATION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late step fails — decide how the saga recovers.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411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order saga runs: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Create Order → Authorize Payment → Reserve Inventory → Create Shipment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Shipping rejects the address after payment and inventory both succeeded.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compensations, in order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which steps must be idempotent — and why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the customer sees at each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Release the reserved inventory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Refund or void the payment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Mark the order CANCELLED — or ask for a new address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compensation is idempotent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 sees PENDING, then a clear notice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Compensate in reverse order, make every step idempotent, and keep the customer informed.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CACHING WITH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Faster reads — at the cost of a second copy of the data.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SQL persistence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ownership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Transactions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Local transactions inside one service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Sagas coordinate steps across services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Compensations undo committed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Reads are slow and repeated — how do we speed them up without serving wrong data?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Redis as an external cache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cache-aside pattern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Expiration and invalidation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Caching in Spring Boot, in code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what should we cache?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data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INTRODUCTION TO REDIS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Redis as an external in-memory store for frequently accessed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68977" y="1316736"/>
            <a:ext cx="9623565" cy="27980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129" y="1389888"/>
            <a:ext cx="9477261" cy="2651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07407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WHAT REDIS IS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In-memory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7336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Key-value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Shared by all pods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7336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Not the system of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407407"/>
            <a:ext cx="3627120" cy="142646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4462271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Good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773168"/>
            <a:ext cx="335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Product details, reference data, dashboard summaries — read often, change rarely.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407407"/>
            <a:ext cx="3627120" cy="14264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407407"/>
            <a:ext cx="326136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WARNING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cache is a second copy of data — a consistency problem.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Redis speeds up repeated reads — but every cache is a second copy to keep consistent.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CACHE-ASIDE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Cache → miss → database → populate cache → next request hits.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86815"/>
            <a:ext cx="7415783" cy="35586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9967"/>
            <a:ext cx="7269480" cy="3412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What's stored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061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Key:   order:1001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Value: {"id":1001,"status":"PAID"}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TTL:   600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561844"/>
            <a:ext cx="3520440" cy="120243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6167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Key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927604"/>
            <a:ext cx="3246120" cy="781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Namespace by entity — order:1001, customer:501:profile. Cache DTOs, not entity graphs.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892295"/>
            <a:ext cx="3520440" cy="10165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9471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Cache down?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258056"/>
            <a:ext cx="3246120" cy="5958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Fall back to the database — the service must still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5036820"/>
            <a:ext cx="3520440" cy="797051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036820"/>
            <a:ext cx="3154680" cy="7970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OWNER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application decides what to cache and when.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Check the cache first; on a miss, read the database and populate the cache for next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CACHE EXPIRATION, INVALIDATION AND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TTL, stale data, invalidation and cache/database consistency.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07142"/>
            <a:ext cx="7415783" cy="33180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0294"/>
            <a:ext cx="7269480" cy="31717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109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Long TTL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90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More cache hits, but staler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37384"/>
            <a:ext cx="3520440" cy="10109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9224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Short TTL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03144"/>
            <a:ext cx="3246120" cy="590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Fresher data, but more database traffic.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5763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MATCH TTL TO THE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92379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Status: short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392379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Profile: moderate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3627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Products: long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3627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Balances: don't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856480"/>
            <a:ext cx="3520440" cy="977391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856480"/>
            <a:ext cx="3154680" cy="977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cached read needs a matching evict on write.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Caching improves performance by accepting extra state-management complexity.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CACHING IN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@Cacheable for cache-aside, @CacheEvict for invalidation, a TTL as the safety net.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OrderService.java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@Cacheable(cacheNames = "orders", key = "#id")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OrderResponse find(Long id)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return orders.findById(id)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.map(OrderResponse::from)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.orElseThrow(() -&gt; new OrderNotFoundException(id));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@CacheEvict(cacheNames = "orders", key = "#id")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OrderResponse cancel(Long id) { ...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Enable Redis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@SpringBootApplication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@EnableCaching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class OrderApplication {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application.yml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data: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redis: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host: ${REDIS_HOST}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cache: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type: redis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redis: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time-to-live: 10m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@Cacheable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Checks Redis first; on a miss runs the method and stores the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@CacheEvict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Removes the entry when the order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Eviction can run before commit — a short TTL limits the stale window.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Cache the read, evict on the write, and keep a TTL as the safety net.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WHAT SHOULD WE CACHE?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Choose a caching strategy for each kind of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the strategy for each item: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Product catalog page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 status for tracking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 balance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Exchange rates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Fraud decision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Branch and ATM list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Customer dashboard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Cache it — or not?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If yes, choose a TTL and an invalidation trigger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one item where stale data causes real harm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Catalog, branch list: cache, long TTL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Exchange rates: cache for minutes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Dashboard, order status: short TTL + evict on change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Balance, fraud decision: don't cache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stale balance → a wrong spending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Cache what is read often and tolerates staleness; never cache what must be exact right now.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MICROSERVICES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Service-owned SQL databases, local transactions, events and Sagas, and Redis caching.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10223"/>
            <a:ext cx="7415783" cy="41118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3375"/>
            <a:ext cx="7269480" cy="39655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EVERYTHING IN ONE PICTURE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Service-owned databases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 transactions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Saga events through the broker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Eventual consistency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Redis for fast reads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20548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94176"/>
            <a:ext cx="3246120" cy="784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Follow OrderCreated out, and PaymentAuthorized and InventoryReserved 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661916"/>
            <a:ext cx="3520440" cy="117195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661916"/>
            <a:ext cx="3154680" cy="1171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database is the source of truth — not the cache, not the broker.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Own your data, commit locally, coordinate with Sagas, and cache with care.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quietly couple services through their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Database per service means a server each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means ownership — schemas can share a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Microservices can't use transactions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Local ACID transactions still work inside a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Saga rolls back like a 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runs new, compensating business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ORM means you don't need SQL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Keys, indexes and N+1 queries still 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cache is the source of truth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 database is; the cache is a 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database shared by services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@ManyToOne into another service's data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ddl-auto: update in production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Returning entities from APIs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Two-phase commit by default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Caching balances without invalidation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Data is the hardest coupling — own a store, not a shared schema.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data owned, transactions local, compensations explicit and caches honest.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each service own its database or schema?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Spring Data JPA provide?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avoid JPA relationships across service boundaries?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repository pattern for?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Where does @Transactional usually belong?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distributed transactions hard?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saga?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eventual consistency?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is Redis useful?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large list APIs use pagination?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5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one service's SQL tables to a consistent, cached, multi-service data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8424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Persist data with Spring Data JPA, Flyway and a pooled DataSource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Keep each service's data private — share through APIs and events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9125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Use local transactions and optimistic locking inside a service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5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Coordinate cross-service work with Sagas and compensation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9826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Cache reads with Redis, with TTLs and invalidation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6 — RESILIENT, HIGH-PERFORMANCE SERVICES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happens when a dependency slows down?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timeouts, retries and circuit breakers work together?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find and fix performance bottlenecks?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2 Transaction Service and its own transaction_db.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6 keeps these services responsive when dependencies slow down or fail.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