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Microservices are an architecture approach</a:t>
            </a:r>
          </a:p>
          <a:p/>
          <a:p>
            <a:r>
              <a:t>  Start by saying that microservices are a way to design a system.</a:t>
            </a:r>
          </a:p>
          <a:p/>
          <a:p>
            <a:r>
              <a:t>  They are not a Java feature.</a:t>
            </a:r>
          </a:p>
          <a:p/>
          <a:p>
            <a:r>
              <a:t>  They are not a Spring Boot feature either.</a:t>
            </a:r>
          </a:p>
          <a:p/>
          <a:p>
            <a:r>
              <a:t>  A microservices application splits a large business system into several smaller services.</a:t>
            </a:r>
          </a:p>
          <a:p/>
          <a:p>
            <a:r>
              <a:t>  Each service usually covers one business capability.</a:t>
            </a:r>
          </a:p>
          <a:p/>
          <a:p>
            <a:r>
              <a:t>  Each one can change and deploy with some independence.</a:t>
            </a:r>
          </a:p>
          <a:p/>
          <a:p>
            <a:r>
              <a:t>- What really matters</a:t>
            </a:r>
          </a:p>
          <a:p/>
          <a:p>
            <a:r>
              <a:t>  Microservices are not simply small REST APIs.</a:t>
            </a:r>
          </a:p>
          <a:p/>
          <a:p>
            <a:r>
              <a:t>  The important ideas are service boundaries, autonomy and independent deployment.</a:t>
            </a:r>
          </a:p>
          <a:p/>
          <a:p>
            <a:r>
              <a:t>  Data ownership, resilience and automated operations matter just as much.</a:t>
            </a:r>
          </a:p>
          <a:p/>
          <a:p>
            <a:r>
              <a:t>- Where the course goes next</a:t>
            </a:r>
          </a:p>
          <a:p/>
          <a:p>
            <a:r>
              <a:t>  Tell learners that Spring Boot, containers and OpenShift come later.</a:t>
            </a:r>
          </a:p>
          <a:p/>
          <a:p>
            <a:r>
              <a:t>  They are the tools we use to build and run these ideas.</a:t>
            </a:r>
          </a:p>
          <a:p/>
          <a:p/>
          <a:p>
            <a:r>
              <a:t>REAL-WORLD EXAMPLES</a:t>
            </a:r>
          </a:p>
          <a:p>
            <a:r>
              <a:t>-------------------</a:t>
            </a:r>
          </a:p>
          <a:p/>
          <a:p>
            <a:r>
              <a:t>- An e-commerce platform might have a Customer Service, Product Service and Order Service.</a:t>
            </a:r>
          </a:p>
          <a:p/>
          <a:p>
            <a:r>
              <a:t>  It might also have an Inventory Service, Payment Service and Shipping Service.</a:t>
            </a:r>
          </a:p>
          <a:p/>
          <a:p>
            <a:r>
              <a:t>  Each service has one clear responsibility.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By the end of this module</a:t>
            </a:r>
          </a:p>
          <a:p/>
          <a:p>
            <a:r>
              <a:t>  Walk through the six objectives on the left.</a:t>
            </a:r>
          </a:p>
          <a:p/>
          <a:p>
            <a:r>
              <a:t>  Learners should be able to explain the limits of a monolith.</a:t>
            </a:r>
          </a:p>
          <a:p/>
          <a:p>
            <a:r>
              <a:t>  They should be able to describe microservices principles, benefits and tradeoffs.</a:t>
            </a:r>
          </a:p>
          <a:p/>
          <a:p>
            <a:r>
              <a:t>  They should be able to choose between a monolith and microservices.</a:t>
            </a:r>
          </a:p>
          <a:p/>
          <a:p>
            <a:r>
              <a:t>  They should also be able to explain Twelve-Factor principles and connect microservices with DevOps.</a:t>
            </a:r>
          </a:p>
          <a:p/>
          <a:p>
            <a:r>
              <a:t>- Six questions this module answers</a:t>
            </a:r>
          </a:p>
          <a:p/>
          <a:p>
            <a:r>
              <a:t>  Why did microservices become popular?</a:t>
            </a:r>
          </a:p>
          <a:p/>
          <a:p>
            <a:r>
              <a:t>  What exactly is a microservice?</a:t>
            </a:r>
          </a:p>
          <a:p/>
          <a:p>
            <a:r>
              <a:t>  How should services be separated?</a:t>
            </a:r>
          </a:p>
          <a:p/>
          <a:p>
            <a:r>
              <a:t>  What problems do microservices solve?</a:t>
            </a:r>
          </a:p>
          <a:p/>
          <a:p>
            <a:r>
              <a:t>  What new problems do they introduce?</a:t>
            </a:r>
          </a:p>
          <a:p/>
          <a:p>
            <a:r>
              <a:t>  How do DevOps, containers and OpenShift support them?</a:t>
            </a:r>
          </a:p>
          <a:p/>
          <a:p>
            <a:r>
              <a:t>- Set the expectation</a:t>
            </a:r>
          </a:p>
          <a:p/>
          <a:p>
            <a:r>
              <a:t>  Choosing microservices is an architecture decision.</a:t>
            </a:r>
          </a:p>
          <a:p/>
          <a:p>
            <a:r>
              <a:t>  It is not automatically a modernization decision.</a:t>
            </a:r>
          </a:p>
          <a:p/>
          <a:p>
            <a:r>
              <a:t>  The roadmap at the bottom shows the path: monolith, why microservices, principles, tradeoffs, decision, Twelve-Factor and DevOps.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run this slide</a:t>
            </a:r>
          </a:p>
          <a:p/>
          <a:p>
            <a:r>
              <a:t>  Read each term once and give a quick example from the order platform or the banking lab.</a:t>
            </a:r>
          </a:p>
          <a:p/>
          <a:p>
            <a:r>
              <a:t>- Monolith</a:t>
            </a:r>
          </a:p>
          <a:p/>
          <a:p>
            <a:r>
              <a:t>  One deployable application where every feature shares one codebase and usually one database.</a:t>
            </a:r>
          </a:p>
          <a:p/>
          <a:p>
            <a:r>
              <a:t>- Microservice</a:t>
            </a:r>
          </a:p>
          <a:p/>
          <a:p>
            <a:r>
              <a:t>  A small, independently deployable service built around one business capability.</a:t>
            </a:r>
          </a:p>
          <a:p/>
          <a:p>
            <a:r>
              <a:t>- Business capability</a:t>
            </a:r>
          </a:p>
          <a:p/>
          <a:p>
            <a:r>
              <a:t>  Something the business does, such as taking payments, that one service owns end to end.</a:t>
            </a:r>
          </a:p>
          <a:p/>
          <a:p>
            <a:r>
              <a:t>- Independent deployment</a:t>
            </a:r>
          </a:p>
          <a:p/>
          <a:p>
            <a:r>
              <a:t>  Releasing one service without redeploying or coordinating the others.</a:t>
            </a:r>
          </a:p>
          <a:p/>
          <a:p>
            <a:r>
              <a:t>- Fault isolation</a:t>
            </a:r>
          </a:p>
          <a:p/>
          <a:p>
            <a:r>
              <a:t>  Designing so a failure in one service doesn't take the rest of the system down.</a:t>
            </a:r>
          </a:p>
          <a:p/>
          <a:p>
            <a:r>
              <a:t>- Decentralized data ownership</a:t>
            </a:r>
          </a:p>
          <a:p/>
          <a:p>
            <a:r>
              <a:t>  Each service owns its data; others reach it only through that service's API or events.</a:t>
            </a:r>
          </a:p>
          <a:p/>
          <a:p>
            <a:r>
              <a:t>- Twelve-Factor App</a:t>
            </a:r>
          </a:p>
          <a:p/>
          <a:p>
            <a:r>
              <a:t>  Twelve practices for cloud-ready apps, such as config in the environment and stateless processes.</a:t>
            </a:r>
          </a:p>
          <a:p/>
          <a:p>
            <a:r>
              <a:t>- Modular monolith</a:t>
            </a:r>
          </a:p>
          <a:p/>
          <a:p>
            <a:r>
              <a:t>  One deployable app split into strict internal modules — often a step before microservices.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run this slide</a:t>
            </a:r>
          </a:p>
          <a:p/>
          <a:p>
            <a:r>
              <a:t>  Don't read every row.</a:t>
            </a:r>
          </a:p>
          <a:p/>
          <a:p>
            <a:r>
              <a:t>  Point out the few this module uses most, and say the full list is here for reference.</a:t>
            </a:r>
          </a:p>
          <a:p/>
          <a:p>
            <a:r>
              <a:t>- Reference</a:t>
            </a:r>
          </a:p>
          <a:p/>
          <a:p>
            <a:r>
              <a:t>  API is Application Programming Interface; CI is Continuous Integration; CI/CD is Continuous Integration / Continuous Delivery; DB is Database; DDD is Domain-Driven Design; ESB is Enterprise Service Bus; HTTP is HyperText Transfer Protocol; MVP is Minimum Viable Product; REST is Representational State Transfer; SOA is Service-Oriented Architecture; SRE is Site Reliability Engineering; UI is User Interface; URL is Uniform Resource Locator.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a running example</a:t>
            </a:r>
          </a:p>
          <a:p/>
          <a:p>
            <a:r>
              <a:t>  Instead of jumping between unrelated examples, we follow one e-commerce order platform through the whole module.</a:t>
            </a:r>
          </a:p>
          <a:p/>
          <a:p>
            <a:r>
              <a:t>- The platform</a:t>
            </a:r>
          </a:p>
          <a:p/>
          <a:p>
            <a:r>
              <a:t>  It has six business capabilities: Customer, Catalog, Order, Payment, Inventory and Shipping.</a:t>
            </a:r>
          </a:p>
          <a:p/>
          <a:p>
            <a:r>
              <a:t>  A checkout touches most of them.</a:t>
            </a:r>
          </a:p>
          <a:p/>
          <a:p>
            <a:r>
              <a:t>- The question</a:t>
            </a:r>
          </a:p>
          <a:p/>
          <a:p>
            <a:r>
              <a:t>  Should all of this live in one application, or in separate services?</a:t>
            </a:r>
          </a:p>
          <a:p/>
          <a:p>
            <a:r>
              <a:t>  Every part of the module helps answer that.</a:t>
            </a:r>
          </a:p>
          <a:p/>
          <a:p>
            <a:r>
              <a:t>- Link to the lab</a:t>
            </a:r>
          </a:p>
          <a:p/>
          <a:p>
            <a:r>
              <a:t>  In Lab 1 you build an Account Service for the course's banking platform.</a:t>
            </a:r>
          </a:p>
          <a:p/>
          <a:p>
            <a:r>
              <a:t>  The same ideas apply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Where we start</a:t>
            </a:r>
          </a:p>
          <a:p/>
          <a:p>
            <a:r>
              <a:t>  Most systems begin as one application, and that is often the right choice.</a:t>
            </a:r>
          </a:p>
          <a:p/>
          <a:p>
            <a:r>
              <a:t>- What this part answers</a:t>
            </a:r>
          </a:p>
          <a:p/>
          <a:p>
            <a:r>
              <a:t>  We look at how architecture evolved, then at exactly where a growing monolith starts to hurt.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architecture evolved</a:t>
            </a:r>
          </a:p>
          <a:p/>
          <a:p>
            <a:r>
              <a:t>  Applications traditionally started as monoliths.</a:t>
            </a:r>
          </a:p>
          <a:p/>
          <a:p>
            <a:r>
              <a:t>  A monolith packages many capabilities into one deployable unit.</a:t>
            </a:r>
          </a:p>
          <a:p/>
          <a:p>
            <a:r>
              <a:t>  As applications grow, teams often add better internal modules.</a:t>
            </a:r>
          </a:p>
          <a:p/>
          <a:p>
            <a:r>
              <a:t>  That gives a modular monolith.</a:t>
            </a:r>
          </a:p>
          <a:p/>
          <a:p>
            <a:r>
              <a:t>- From modular monolith to microservices</a:t>
            </a:r>
          </a:p>
          <a:p/>
          <a:p>
            <a:r>
              <a:t>  Some organizations have large systems, many teams and a need for independent deployment.</a:t>
            </a:r>
          </a:p>
          <a:p/>
          <a:p>
            <a:r>
              <a:t>  They may then extract selected capabilities into microservices.</a:t>
            </a:r>
          </a:p>
          <a:p/>
          <a:p>
            <a:r>
              <a:t>- Cloud-native practices</a:t>
            </a:r>
          </a:p>
          <a:p/>
          <a:p>
            <a:r>
              <a:t>  Cloud-native practices support this architecture.</a:t>
            </a:r>
          </a:p>
          <a:p/>
          <a:p>
            <a:r>
              <a:t>  They include containers, CI/CD and infrastructure automation.</a:t>
            </a:r>
          </a:p>
          <a:p/>
          <a:p>
            <a:r>
              <a:t>  They also include dynamic scaling, observability and Kubernetes or OpenShift.</a:t>
            </a:r>
          </a:p>
          <a:p/>
          <a:p>
            <a:r>
              <a:t>  The bottom row shows the same shift in delivery: manual deployments to CI/CD, servers to containers, and static infrastructure to Kubernetes and OpenShift.</a:t>
            </a:r>
          </a:p>
          <a:p/>
          <a:p>
            <a:r>
              <a:t>- Important clarification</a:t>
            </a:r>
          </a:p>
          <a:p/>
          <a:p>
            <a:r>
              <a:t>  This diagram shows architectural options and a common evolution.</a:t>
            </a:r>
          </a:p>
          <a:p/>
          <a:p>
            <a:r>
              <a:t>  It is not a mandatory maturity ladder.</a:t>
            </a:r>
          </a:p>
          <a:p/>
          <a:p>
            <a:r>
              <a:t>  A well-designed monolith can be better than badly designed microservices.</a:t>
            </a:r>
          </a:p>
          <a:p/>
          <a:p>
            <a:r>
              <a:t>- What it shows</a:t>
            </a:r>
          </a:p>
          <a:p/>
          <a:p>
            <a:r>
              <a:t>  The journey from a monolith, to a modular monolith, to microservices, to cloud-native systems.</a:t>
            </a:r>
          </a:p>
          <a:p/>
          <a:p>
            <a:r>
              <a:t>- How to read it</a:t>
            </a:r>
          </a:p>
          <a:p/>
          <a:p>
            <a:r>
              <a:t>  Move left to right.</a:t>
            </a:r>
          </a:p>
          <a:p/>
          <a:p>
            <a:r>
              <a:t>  Each step gives teams more freedom to deploy and scale parts of the system on their own.</a:t>
            </a:r>
          </a:p>
          <a:p/>
          <a:p>
            <a:r>
              <a:t>- Key point</a:t>
            </a:r>
          </a:p>
          <a:p/>
          <a:p>
            <a:r>
              <a:t>  This is an evolution, not a race.</a:t>
            </a:r>
          </a:p>
          <a:p/>
          <a:p>
            <a:r>
              <a:t>  Each step adds independence, and also adds complexity.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compare</a:t>
            </a:r>
          </a:p>
          <a:p/>
          <a:p>
            <a:r>
              <a:t>  Learners who know SOA often ask whether microservices are just SOA again.</a:t>
            </a:r>
          </a:p>
          <a:p/>
          <a:p>
            <a:r>
              <a:t>  They share ideas, but the goals differ.</a:t>
            </a:r>
          </a:p>
          <a:p/>
          <a:p>
            <a:r>
              <a:t>- Scope and integration</a:t>
            </a:r>
          </a:p>
          <a:p/>
          <a:p>
            <a:r>
              <a:t>  SOA connected large enterprise systems through a central service bus.</a:t>
            </a:r>
          </a:p>
          <a:p/>
          <a:p>
            <a:r>
              <a:t>  Microservices keep integration lightweight.</a:t>
            </a:r>
          </a:p>
          <a:p/>
          <a:p>
            <a:r>
              <a:t>- Data and ownership</a:t>
            </a:r>
          </a:p>
          <a:p/>
          <a:p>
            <a:r>
              <a:t>  SOA services often shared databases.</a:t>
            </a:r>
          </a:p>
          <a:p/>
          <a:p>
            <a:r>
              <a:t>  A microservice owns its data and one team owns the service.</a:t>
            </a:r>
          </a:p>
          <a:p/>
          <a:p>
            <a:r>
              <a:t>- The lesson</a:t>
            </a:r>
          </a:p>
          <a:p/>
          <a:p>
            <a:r>
              <a:t>  If all traffic and logic flows through one central bus, that bus becomes a new bottleneck.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One application, one deployment unit</a:t>
            </a:r>
          </a:p>
          <a:p/>
          <a:p>
            <a:r>
              <a:t>  Suppose we build an e-commerce application with Spring Boot.</a:t>
            </a:r>
          </a:p>
          <a:p/>
          <a:p>
            <a:r>
              <a:t>  Inside one application we might have CustomerController, ProductController and OrderController.</a:t>
            </a:r>
          </a:p>
          <a:p/>
          <a:p>
            <a:r>
              <a:t>  We might also have PaymentController and InventoryController.</a:t>
            </a:r>
          </a:p>
          <a:p/>
          <a:p>
            <a:r>
              <a:t>- Modules still ship together</a:t>
            </a:r>
          </a:p>
          <a:p/>
          <a:p>
            <a:r>
              <a:t>  These parts can still be split into packages or modules.</a:t>
            </a:r>
          </a:p>
          <a:p/>
          <a:p>
            <a:r>
              <a:t>  But they build one deployable application, for example commerce.jar.</a:t>
            </a:r>
          </a:p>
          <a:p/>
          <a:p>
            <a:r>
              <a:t>  When we release, the whole artifact is usually deployed together.</a:t>
            </a:r>
          </a:p>
          <a:p/>
          <a:p>
            <a:r>
              <a:t>  All modules also share one database.</a:t>
            </a:r>
          </a:p>
          <a:p/>
          <a:p>
            <a:r>
              <a:t>- Monolithic does not mean bad design</a:t>
            </a:r>
          </a:p>
          <a:p/>
          <a:p>
            <a:r>
              <a:t>  A monolith can be clean, modular and scalable.</a:t>
            </a:r>
          </a:p>
          <a:p/>
          <a:p>
            <a:r>
              <a:t>  It can be the right choice.</a:t>
            </a:r>
          </a:p>
          <a:p/>
          <a:p>
            <a:r>
              <a:t>  Problems usually appear when the application and the organization grow.</a:t>
            </a:r>
          </a:p>
          <a:p/>
          <a:p>
            <a:r>
              <a:t>  At some point one deployment unit no longer supports that growth comfortably.</a:t>
            </a:r>
          </a:p>
          <a:p/>
          <a:p>
            <a:r>
              <a:t>- What it shows</a:t>
            </a:r>
          </a:p>
          <a:p/>
          <a:p>
            <a:r>
              <a:t>  A client sends requests to one large application.</a:t>
            </a:r>
          </a:p>
          <a:p/>
          <a:p>
            <a:r>
              <a:t>  Customer, Product, Order, Payment and Inventory all live inside it.</a:t>
            </a:r>
          </a:p>
          <a:p/>
          <a:p>
            <a:r>
              <a:t>- One unit</a:t>
            </a:r>
          </a:p>
          <a:p/>
          <a:p>
            <a:r>
              <a:t>  Everything is built and deployed together as a single unit, and all modules share one database.</a:t>
            </a:r>
          </a:p>
          <a:p/>
          <a:p>
            <a:r>
              <a:t>- Key point</a:t>
            </a:r>
          </a:p>
          <a:p/>
          <a:p>
            <a:r>
              <a:t>  This is simple to start with, but every change and every release involves the whole application.</a:t>
            </a:r>
          </a:p>
          <a:p/>
          <a:p/>
          <a:p>
            <a:r>
              <a:t>REAL-WORLD EXAMPLES</a:t>
            </a:r>
          </a:p>
          <a:p>
            <a:r>
              <a:t>-------------------</a:t>
            </a:r>
          </a:p>
          <a:p/>
          <a:p>
            <a:r>
              <a:t>- An online store built as one Spring Boot application produces a single commerce.jar.</a:t>
            </a:r>
          </a:p>
          <a:p/>
          <a:p>
            <a:r>
              <a:t>  A change to the product catalog and a change to payments go out in the same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As the application grows</a:t>
            </a:r>
          </a:p>
          <a:p/>
          <a:p>
            <a:r>
              <a:t>  Follow the chain on the left.</a:t>
            </a:r>
          </a:p>
          <a:p/>
          <a:p>
            <a:r>
              <a:t>  More features mean a larger codebase.</a:t>
            </a:r>
          </a:p>
          <a:p/>
          <a:p>
            <a:r>
              <a:t>  A larger codebase brings more dependencies.</a:t>
            </a:r>
          </a:p>
          <a:p/>
          <a:p>
            <a:r>
              <a:t>  More dependencies need more coordination.</a:t>
            </a:r>
          </a:p>
          <a:p/>
          <a:p>
            <a:r>
              <a:t>  The result is slower and riskier releases.</a:t>
            </a:r>
          </a:p>
          <a:p/>
          <a:p>
            <a:r>
              <a:t>- Key challenges</a:t>
            </a:r>
          </a:p>
          <a:p/>
          <a:p>
            <a:r>
              <a:t>  The main challenges are tight coupling and a large deployment unit.</a:t>
            </a:r>
          </a:p>
          <a:p/>
          <a:p>
            <a:r>
              <a:t>  Scaling can be inefficient.</a:t>
            </a:r>
          </a:p>
          <a:p/>
          <a:p>
            <a:r>
              <a:t>  Testing cycles get longer.</a:t>
            </a:r>
          </a:p>
          <a:p/>
          <a:p>
            <a:r>
              <a:t>  Teams spend more time coordinating with each other.</a:t>
            </a:r>
          </a:p>
          <a:p/>
          <a:p>
            <a:r>
              <a:t>- Deployment coupling</a:t>
            </a:r>
          </a:p>
          <a:p/>
          <a:p>
            <a:r>
              <a:t>  A small payment change may still mean building the entire application.</a:t>
            </a:r>
          </a:p>
          <a:p/>
          <a:p>
            <a:r>
              <a:t>  Then you run broad regression testing.</a:t>
            </a:r>
          </a:p>
          <a:p/>
          <a:p>
            <a:r>
              <a:t>  Then you package and deploy the whole application.</a:t>
            </a:r>
          </a:p>
          <a:p/>
          <a:p>
            <a:r>
              <a:t>  This is called deployment coupling.</a:t>
            </a:r>
          </a:p>
          <a:p/>
          <a:p>
            <a:r>
              <a:t>- An important distinction</a:t>
            </a:r>
          </a:p>
          <a:p/>
          <a:p>
            <a:r>
              <a:t>  A monolith does not have to be tightly coupled inside.</a:t>
            </a:r>
          </a:p>
          <a:p/>
          <a:p>
            <a:r>
              <a:t>  Good modular architecture can greatly reduce these problems.</a:t>
            </a:r>
          </a:p>
          <a:p/>
          <a:p>
            <a:r>
              <a:t>- What it shows</a:t>
            </a:r>
          </a:p>
          <a:p/>
          <a:p>
            <a:r>
              <a:t>  A growing monolith in the center, surrounded by its problems.</a:t>
            </a:r>
          </a:p>
          <a:p/>
          <a:p>
            <a:r>
              <a:t>- The challenges</a:t>
            </a:r>
          </a:p>
          <a:p/>
          <a:p>
            <a:r>
              <a:t>  The problems are tight coupling, slow releases, large regression testing, inefficient scaling and heavy team coordination.</a:t>
            </a:r>
          </a:p>
          <a:p/>
          <a:p>
            <a:r>
              <a:t>- Key point</a:t>
            </a:r>
          </a:p>
          <a:p/>
          <a:p>
            <a:r>
              <a:t>  These problems grow with the size of the application and the number of teams working on it.</a:t>
            </a:r>
          </a:p>
          <a:p/>
          <a:p/>
          <a:p>
            <a:r>
              <a:t>USE-CASE SCENARIO</a:t>
            </a:r>
          </a:p>
          <a:p>
            <a:r>
              <a:t>-----------------</a:t>
            </a:r>
          </a:p>
          <a:p/>
          <a:p>
            <a:r>
              <a:t>Imagine 100 developers working on one large enterprise application.</a:t>
            </a:r>
          </a:p>
          <a:p/>
          <a:p>
            <a:r>
              <a:t>One team changes payments.</a:t>
            </a:r>
          </a:p>
          <a:p/>
          <a:p>
            <a:r>
              <a:t>Another team changes inventory.</a:t>
            </a:r>
          </a:p>
          <a:p/>
          <a:p>
            <a:r>
              <a:t>A third team changes customer management.</a:t>
            </a:r>
          </a:p>
          <a:p/>
          <a:p>
            <a:r>
              <a:t>All of these changes end up in the same application and the same release process.</a:t>
            </a:r>
          </a:p>
          <a:p/>
          <a:p>
            <a:r>
              <a:t>So every team waits for the others before anything reaches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Load is uneven</a:t>
            </a:r>
          </a:p>
          <a:p/>
          <a:p>
            <a:r>
              <a:t>  Look at the load on the left.</a:t>
            </a:r>
          </a:p>
          <a:p/>
          <a:p>
            <a:r>
              <a:t>  Payment is at 95 percent.</a:t>
            </a:r>
          </a:p>
          <a:p/>
          <a:p>
            <a:r>
              <a:t>  Customer, Product, Order and Inventory are much lower.</a:t>
            </a:r>
          </a:p>
          <a:p/>
          <a:p>
            <a:r>
              <a:t>- Monolith: scale everything</a:t>
            </a:r>
          </a:p>
          <a:p/>
          <a:p>
            <a:r>
              <a:t>  With a monolithic deployment, scaling may mean running more copies of the entire application.</a:t>
            </a:r>
          </a:p>
          <a:p/>
          <a:p>
            <a:r>
              <a:t>  So you also copy Customer, Product, Order and Inventory functionality.</a:t>
            </a:r>
          </a:p>
          <a:p/>
          <a:p>
            <a:r>
              <a:t>  You do that even though Payment is the real bottleneck.</a:t>
            </a:r>
          </a:p>
          <a:p/>
          <a:p>
            <a:r>
              <a:t>- Microservices: scale by service</a:t>
            </a:r>
          </a:p>
          <a:p/>
          <a:p>
            <a:r>
              <a:t>  Microservices can let each service scale on its own.</a:t>
            </a:r>
          </a:p>
          <a:p/>
          <a:p>
            <a:r>
              <a:t>  For example, Customer and Product run two instances each.</a:t>
            </a:r>
          </a:p>
          <a:p/>
          <a:p>
            <a:r>
              <a:t>  Order runs four, Inventory runs three, and Payment runs ten.</a:t>
            </a:r>
          </a:p>
          <a:p/>
          <a:p>
            <a:r>
              <a:t>  This is called independent scalability.</a:t>
            </a:r>
          </a:p>
          <a:p/>
          <a:p>
            <a:r>
              <a:t>- Be precise</a:t>
            </a:r>
          </a:p>
          <a:p/>
          <a:p>
            <a:r>
              <a:t>  Modern infrastructure can also scale a monolith horizontally.</a:t>
            </a:r>
          </a:p>
          <a:p/>
          <a:p>
            <a:r>
              <a:t>  So the real microservices advantage is fine-grained scaling by service.</a:t>
            </a:r>
          </a:p>
          <a:p/>
          <a:p>
            <a:r>
              <a:t>- What it shows</a:t>
            </a:r>
          </a:p>
          <a:p/>
          <a:p>
            <a:r>
              <a:t>  Only the Payment part is overloaded.</a:t>
            </a:r>
          </a:p>
          <a:p/>
          <a:p>
            <a:r>
              <a:t>- The problem</a:t>
            </a:r>
          </a:p>
          <a:p/>
          <a:p>
            <a:r>
              <a:t>  To add Payment capacity, you must copy the entire monolith, including parts that don't need more capacity.</a:t>
            </a:r>
          </a:p>
          <a:p/>
          <a:p>
            <a:r>
              <a:t>- Key point</a:t>
            </a:r>
          </a:p>
          <a:p/>
          <a:p>
            <a:r>
              <a:t>  That wastes resources.</a:t>
            </a:r>
          </a:p>
          <a:p/>
          <a:p>
            <a:r>
              <a:t>  Microservices let you scale only the part that is under pressure.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Connecting the parts</a:t>
            </a:r>
          </a:p>
          <a:p/>
          <a:p>
            <a:r>
              <a:t>  Part 1 showed the pain.</a:t>
            </a:r>
          </a:p>
          <a:p/>
          <a:p>
            <a:r>
              <a:t>  Part 2 shows the alternative and what really changes.</a:t>
            </a:r>
          </a:p>
          <a:p/>
          <a:p>
            <a:r>
              <a:t>- Watch for</a:t>
            </a:r>
          </a:p>
          <a:p/>
          <a:p>
            <a:r>
              <a:t>  Pay attention to data ownership and communication.</a:t>
            </a:r>
          </a:p>
          <a:p/>
          <a:p>
            <a:r>
              <a:t>  Those two decide whether services are truly independent.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definition</a:t>
            </a:r>
          </a:p>
          <a:p/>
          <a:p>
            <a:r>
              <a:t>  Read the definition at the top.</a:t>
            </a:r>
          </a:p>
          <a:p/>
          <a:p>
            <a:r>
              <a:t>  Microservices architecture is a system made of independently deployable services.</a:t>
            </a:r>
          </a:p>
          <a:p/>
          <a:p>
            <a:r>
              <a:t>  Those services are aligned with business capabilities.</a:t>
            </a:r>
          </a:p>
          <a:p/>
          <a:p>
            <a:r>
              <a:t>  Then break the definition into its parts.</a:t>
            </a:r>
          </a:p>
          <a:p/>
          <a:p>
            <a:r>
              <a:t>- Service and business capability</a:t>
            </a:r>
          </a:p>
          <a:p/>
          <a:p>
            <a:r>
              <a:t>  A service is a separately running application or process.</a:t>
            </a:r>
          </a:p>
          <a:p/>
          <a:p>
            <a:r>
              <a:t>  It provides a capability through a defined interface.</a:t>
            </a:r>
          </a:p>
          <a:p/>
          <a:p>
            <a:r>
              <a:t>  A business capability means the service represents meaningful business functionality.</a:t>
            </a:r>
          </a:p>
          <a:p/>
          <a:p>
            <a:r>
              <a:t>- Independently deployable and autonomous</a:t>
            </a:r>
          </a:p>
          <a:p/>
          <a:p>
            <a:r>
              <a:t>  Independently deployable means changing one service should not require rebuilding and redeploying every other service.</a:t>
            </a:r>
          </a:p>
          <a:p/>
          <a:p>
            <a:r>
              <a:t>  Autonomous means a service controls its own implementation.</a:t>
            </a:r>
          </a:p>
          <a:p/>
          <a:p>
            <a:r>
              <a:t>  It usually controls its own data boundary too.</a:t>
            </a:r>
          </a:p>
          <a:p/>
          <a:p/>
          <a:p>
            <a:r>
              <a:t>REAL-WORLD EXAMPLES</a:t>
            </a:r>
          </a:p>
          <a:p>
            <a:r>
              <a:t>-------------------</a:t>
            </a:r>
          </a:p>
          <a:p/>
          <a:p>
            <a:r>
              <a:t>- A Payment Service should own payment-related behavior.</a:t>
            </a:r>
          </a:p>
          <a:p/>
          <a:p>
            <a:r>
              <a:t>  It should not turn into a generic collection of unrelated functions.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What it shows</a:t>
            </a:r>
          </a:p>
          <a:p/>
          <a:p>
            <a:r>
              <a:t>  A client talks to an API gateway, which routes to the Customer, Order, Payment and Inventory services.</a:t>
            </a:r>
          </a:p>
          <a:p/>
          <a:p>
            <a:r>
              <a:t>- Service-owned data</a:t>
            </a:r>
          </a:p>
          <a:p/>
          <a:p>
            <a:r>
              <a:t>  Each service owns its own data store instead of sharing one database.</a:t>
            </a:r>
          </a:p>
          <a:p/>
          <a:p>
            <a:r>
              <a:t>- Key point</a:t>
            </a:r>
          </a:p>
          <a:p/>
          <a:p>
            <a:r>
              <a:t>  Each service is a separate, independently deployable part of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Inside a monolith</a:t>
            </a:r>
          </a:p>
          <a:p/>
          <a:p>
            <a:r>
              <a:t>  This is an important visual.</a:t>
            </a:r>
          </a:p>
          <a:p/>
          <a:p>
            <a:r>
              <a:t>  In a monolith, modules usually call each other inside the same process.</a:t>
            </a:r>
          </a:p>
          <a:p/>
          <a:p>
            <a:r>
              <a:t>  For example, the code simply calls paymentService.processPayment().</a:t>
            </a:r>
          </a:p>
          <a:p/>
          <a:p>
            <a:r>
              <a:t>- With microservices</a:t>
            </a:r>
          </a:p>
          <a:p/>
          <a:p>
            <a:r>
              <a:t>  With microservices, the Order Service calls the Payment Service across the network.</a:t>
            </a:r>
          </a:p>
          <a:p/>
          <a:p>
            <a:r>
              <a:t>  That boundary changes everything.</a:t>
            </a:r>
          </a:p>
          <a:p/>
          <a:p>
            <a:r>
              <a:t>- What the network boundary adds</a:t>
            </a:r>
          </a:p>
          <a:p/>
          <a:p>
            <a:r>
              <a:t>  Now you must think about network latency, authentication and authorization.</a:t>
            </a:r>
          </a:p>
          <a:p/>
          <a:p>
            <a:r>
              <a:t>  You must handle timeouts, retries and partial failures.</a:t>
            </a:r>
          </a:p>
          <a:p/>
          <a:p>
            <a:r>
              <a:t>  You also need clear API contracts and you must plan for service availability.</a:t>
            </a:r>
          </a:p>
          <a:p/>
          <a:p>
            <a:r>
              <a:t>  This is why distributed architecture adds operational complexity.</a:t>
            </a:r>
          </a:p>
          <a:p/>
          <a:p>
            <a:r>
              <a:t>- What it shows</a:t>
            </a:r>
          </a:p>
          <a:p/>
          <a:p>
            <a:r>
              <a:t>  On one side, one deployable application with a shared database.</a:t>
            </a:r>
          </a:p>
          <a:p/>
          <a:p>
            <a:r>
              <a:t>  On the other, independently deployable services.</a:t>
            </a:r>
          </a:p>
          <a:p/>
          <a:p>
            <a:r>
              <a:t>- How to compare</a:t>
            </a:r>
          </a:p>
          <a:p/>
          <a:p>
            <a:r>
              <a:t>  Compare how each side is deployed, scaled and changed.</a:t>
            </a:r>
          </a:p>
          <a:p/>
          <a:p>
            <a:r>
              <a:t>- Key point</a:t>
            </a:r>
          </a:p>
          <a:p/>
          <a:p>
            <a:r>
              <a:t>  Microservices trade simplicity for independence.</a:t>
            </a:r>
          </a:p>
          <a:p/>
          <a:p>
            <a:r>
              <a:t>  Neither side is always better.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Read the monolith version</a:t>
            </a:r>
          </a:p>
          <a:p/>
          <a:p>
            <a:r>
              <a:t>  Everything runs in one process.</a:t>
            </a:r>
          </a:p>
          <a:p/>
          <a:p>
            <a:r>
              <a:t>  The @Transactional annotation wraps the order, the stock reservation and the charge in one database transaction, so they all succeed or all roll back.</a:t>
            </a:r>
          </a:p>
          <a:p/>
          <a:p>
            <a:r>
              <a:t>- Read the microservices version</a:t>
            </a:r>
          </a:p>
          <a:p/>
          <a:p>
            <a:r>
              <a:t>  Inventory and Payment are now separate services called over HTTP.</a:t>
            </a:r>
          </a:p>
          <a:p/>
          <a:p>
            <a:r>
              <a:t>  The order is saved as pending first.</a:t>
            </a:r>
          </a:p>
          <a:p/>
          <a:p>
            <a:r>
              <a:t>- What changed</a:t>
            </a:r>
          </a:p>
          <a:p/>
          <a:p>
            <a:r>
              <a:t>  There is no single transaction across services any more.</a:t>
            </a:r>
          </a:p>
          <a:p/>
          <a:p>
            <a:r>
              <a:t>  If the charge fails after stock was reserved, we need a plan to undo or retry.</a:t>
            </a:r>
          </a:p>
          <a:p/>
          <a:p>
            <a:r>
              <a:t>- Why it's still worth it</a:t>
            </a:r>
          </a:p>
          <a:p/>
          <a:p>
            <a:r>
              <a:t>  Payment and Inventory can now be released and scaled independently.</a:t>
            </a:r>
          </a:p>
          <a:p/>
          <a:p>
            <a:r>
              <a:t>  Part 3 shows how to handle the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Business alignment</a:t>
            </a:r>
          </a:p>
          <a:p/>
          <a:p>
            <a:r>
              <a:t>  Service boundaries should match business domains.</a:t>
            </a:r>
          </a:p>
          <a:p/>
          <a:p>
            <a:r>
              <a:t>  They should not follow arbitrary technical layers.</a:t>
            </a:r>
          </a:p>
          <a:p/>
          <a:p>
            <a:r>
              <a:t>- High cohesion</a:t>
            </a:r>
          </a:p>
          <a:p/>
          <a:p>
            <a:r>
              <a:t>  Functionality that belongs together should stay together in the same service.</a:t>
            </a:r>
          </a:p>
          <a:p/>
          <a:p>
            <a:r>
              <a:t>- Loose coupling</a:t>
            </a:r>
          </a:p>
          <a:p/>
          <a:p>
            <a:r>
              <a:t>  One service should know as little as possible about another service's internal implementation.</a:t>
            </a:r>
          </a:p>
          <a:p/>
          <a:p>
            <a:r>
              <a:t>- Service autonomy</a:t>
            </a:r>
          </a:p>
          <a:p/>
          <a:p>
            <a:r>
              <a:t>  Each service should control its own behavior and its own boundaries.</a:t>
            </a:r>
          </a:p>
          <a:p/>
          <a:p>
            <a:r>
              <a:t>- Independent deployment</a:t>
            </a:r>
          </a:p>
          <a:p/>
          <a:p>
            <a:r>
              <a:t>  A service should ideally be releasable without coordinating a deployment of the entire system.</a:t>
            </a:r>
          </a:p>
          <a:p/>
          <a:p>
            <a:r>
              <a:t>- The key message</a:t>
            </a:r>
          </a:p>
          <a:p/>
          <a:p>
            <a:r>
              <a:t>  These principles are more important than simply making services small.</a:t>
            </a:r>
          </a:p>
          <a:p/>
          <a:p>
            <a:r>
              <a:t>- What it shows</a:t>
            </a:r>
          </a:p>
          <a:p/>
          <a:p>
            <a:r>
              <a:t>  A microservice in the center, surrounded by five principles.</a:t>
            </a:r>
          </a:p>
          <a:p/>
          <a:p>
            <a:r>
              <a:t>- The principles</a:t>
            </a:r>
          </a:p>
          <a:p/>
          <a:p>
            <a:r>
              <a:t>  The principles are business alignment, high cohesion, loose coupling, autonomy and independent deployment.</a:t>
            </a:r>
          </a:p>
          <a:p/>
          <a:p>
            <a:r>
              <a:t>- Key point</a:t>
            </a:r>
          </a:p>
          <a:p/>
          <a:p>
            <a:r>
              <a:t>  Small size alone doesn't make a microservice.</a:t>
            </a:r>
          </a:p>
          <a:p/>
          <a:p>
            <a:r>
              <a:t>  These principles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Avoid technical layers as services</a:t>
            </a:r>
          </a:p>
          <a:p/>
          <a:p>
            <a:r>
              <a:t>  This distinction is fundamental.</a:t>
            </a:r>
          </a:p>
          <a:p/>
          <a:p>
            <a:r>
              <a:t>  Traditional applications are often organized by technical layers.</a:t>
            </a:r>
          </a:p>
          <a:p/>
          <a:p>
            <a:r>
              <a:t>  Those layers are presentation, business, persistence and database.</a:t>
            </a:r>
          </a:p>
          <a:p/>
          <a:p>
            <a:r>
              <a:t>  Do not turn those layers into a UI Service, Controller Service, Business Logic Service and Database Service.</a:t>
            </a:r>
          </a:p>
          <a:p/>
          <a:p>
            <a:r>
              <a:t>- Prefer business capabilities</a:t>
            </a:r>
          </a:p>
          <a:p/>
          <a:p>
            <a:r>
              <a:t>  Microservice boundaries should generally reflect business domains.</a:t>
            </a:r>
          </a:p>
          <a:p/>
          <a:p>
            <a:r>
              <a:t>  For an online store, that means Customer, Order, Payment, Inventory and Shipping.</a:t>
            </a:r>
          </a:p>
          <a:p/>
          <a:p>
            <a:r>
              <a:t>- Ownership examples</a:t>
            </a:r>
          </a:p>
          <a:p/>
          <a:p>
            <a:r>
              <a:t>  The Order Service owns creating, updating and cancelling orders, plus order status.</a:t>
            </a:r>
          </a:p>
          <a:p/>
          <a:p>
            <a:r>
              <a:t>  The Payment Service owns authorizing, capturing and refunding payments.</a:t>
            </a:r>
          </a:p>
          <a:p/>
          <a:p>
            <a:r>
              <a:t>- What comes later</a:t>
            </a:r>
          </a:p>
          <a:p/>
          <a:p>
            <a:r>
              <a:t>  Later in the course, this connects to Domain-Driven Design and bounded contexts.</a:t>
            </a:r>
          </a:p>
          <a:p/>
          <a:p>
            <a:r>
              <a:t>- What it shows</a:t>
            </a:r>
          </a:p>
          <a:p/>
          <a:p>
            <a:r>
              <a:t>  An e-commerce business broken into capabilities: Customer, Catalog, Order, Payment, Inventory and Shipping.</a:t>
            </a:r>
          </a:p>
          <a:p/>
          <a:p>
            <a:r>
              <a:t>- How to use it</a:t>
            </a:r>
          </a:p>
          <a:p/>
          <a:p>
            <a:r>
              <a:t>  Each capability is a strong candidate for its own service boundary.</a:t>
            </a:r>
          </a:p>
          <a:p/>
          <a:p>
            <a:r>
              <a:t>- Key point</a:t>
            </a:r>
          </a:p>
          <a:p/>
          <a:p>
            <a:r>
              <a:t>  Design services around what the business does, not around technical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 strong reason to adopt microservices</a:t>
            </a:r>
          </a:p>
          <a:p/>
          <a:p>
            <a:r>
              <a:t>  Independent deployment is one of the strongest reasons organizations adopt microservices.</a:t>
            </a:r>
          </a:p>
          <a:p/>
          <a:p>
            <a:r>
              <a:t>  You change the Payment Service, then build, test, deploy and scale it.</a:t>
            </a:r>
          </a:p>
          <a:p/>
          <a:p>
            <a:r>
              <a:t>  You do not redeploy unrelated services.</a:t>
            </a:r>
          </a:p>
          <a:p/>
          <a:p>
            <a:r>
              <a:t>- The delivery pipeline</a:t>
            </a:r>
          </a:p>
          <a:p/>
          <a:p>
            <a:r>
              <a:t>  Follow the pipeline at the top.</a:t>
            </a:r>
          </a:p>
          <a:p/>
          <a:p>
            <a:r>
              <a:t>  A Git commit starts the CI pipeline.</a:t>
            </a:r>
          </a:p>
          <a:p/>
          <a:p>
            <a:r>
              <a:t>  Automated tests run.</a:t>
            </a:r>
          </a:p>
          <a:p/>
          <a:p>
            <a:r>
              <a:t>  The pipeline builds a container image and pushes it to a registry.</a:t>
            </a:r>
          </a:p>
          <a:p/>
          <a:p>
            <a:r>
              <a:t>  Then the new version is deployed to OpenShift.</a:t>
            </a:r>
          </a:p>
          <a:p/>
          <a:p>
            <a:r>
              <a:t>- Connect it to DevOps</a:t>
            </a:r>
          </a:p>
          <a:p/>
          <a:p>
            <a:r>
              <a:t>  Only the Payment Service changes.</a:t>
            </a:r>
          </a:p>
          <a:p/>
          <a:p>
            <a:r>
              <a:t>  The other services keep running.</a:t>
            </a:r>
          </a:p>
          <a:p/>
          <a:p>
            <a:r>
              <a:t>  But this independence is practical only when testing, deployment and infrastructure operations are heavily automated.</a:t>
            </a:r>
          </a:p>
          <a:p/>
          <a:p>
            <a:r>
              <a:t>- What it shows</a:t>
            </a:r>
          </a:p>
          <a:p/>
          <a:p>
            <a:r>
              <a:t>  Each service has its own delivery pipeline and its own number of running copies, or replicas.</a:t>
            </a:r>
          </a:p>
          <a:p/>
          <a:p>
            <a:r>
              <a:t>- Example</a:t>
            </a:r>
          </a:p>
          <a:p/>
          <a:p>
            <a:r>
              <a:t>  Payment can be deployed or scaled without touching Order or Inventory.</a:t>
            </a:r>
          </a:p>
          <a:p/>
          <a:p>
            <a:r>
              <a:t>- Key point</a:t>
            </a:r>
          </a:p>
          <a:p/>
          <a:p>
            <a:r>
              <a:t>  Independence lets each team release and scale at its own pace.</a:t>
            </a:r>
          </a:p>
          <a:p/>
          <a:p/>
          <a:p>
            <a:r>
              <a:t>REAL-WORLD EXAMPLES</a:t>
            </a:r>
          </a:p>
          <a:p>
            <a:r>
              <a:t>-------------------</a:t>
            </a:r>
          </a:p>
          <a:p/>
          <a:p>
            <a:r>
              <a:t>- Developers fix a bug in the Payment Service.</a:t>
            </a:r>
          </a:p>
          <a:p/>
          <a:p>
            <a:r>
              <a:t>  The fix goes through the pipeline and reaches OpenShift on its own.</a:t>
            </a:r>
          </a:p>
          <a:p/>
          <a:p>
            <a:r>
              <a:t>  Customer, Product, Order and Inventory keep serving users the whole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database boundary</a:t>
            </a:r>
          </a:p>
          <a:p/>
          <a:p>
            <a:r>
              <a:t>  This is one of the most misunderstood microservices concepts.</a:t>
            </a:r>
          </a:p>
          <a:p/>
          <a:p>
            <a:r>
              <a:t>  If all services change the same tables directly, the database becomes a coupling mechanism.</a:t>
            </a:r>
          </a:p>
          <a:p/>
          <a:p>
            <a:r>
              <a:t>- Avoid a shared database</a:t>
            </a:r>
          </a:p>
          <a:p/>
          <a:p>
            <a:r>
              <a:t>  For example, the Order Service should not directly change the Payment Service's tables.</a:t>
            </a:r>
          </a:p>
          <a:p/>
          <a:p>
            <a:r>
              <a:t>- Prefer data ownership</a:t>
            </a:r>
          </a:p>
          <a:p/>
          <a:p>
            <a:r>
              <a:t>  Each service owns its own data.</a:t>
            </a:r>
          </a:p>
          <a:p/>
          <a:p>
            <a:r>
              <a:t>  The Order Service talks to the Payment Service through an API or an event.</a:t>
            </a:r>
          </a:p>
          <a:p/>
          <a:p>
            <a:r>
              <a:t>  The Payment Service then updates its own payment data.</a:t>
            </a:r>
          </a:p>
          <a:p/>
          <a:p>
            <a:r>
              <a:t>  The Payment Service owns its data contract.</a:t>
            </a:r>
          </a:p>
          <a:p/>
          <a:p>
            <a:r>
              <a:t>- The big challenge</a:t>
            </a:r>
          </a:p>
          <a:p/>
          <a:p>
            <a:r>
              <a:t>  This raises a major question.</a:t>
            </a:r>
          </a:p>
          <a:p/>
          <a:p>
            <a:r>
              <a:t>  How do we keep data consistent when one business transaction crosses several services?</a:t>
            </a:r>
          </a:p>
          <a:p/>
          <a:p>
            <a:r>
              <a:t>  Mention that later modules cover eventual consistency, saga patterns, events and transaction boundaries.</a:t>
            </a:r>
          </a:p>
          <a:p/>
          <a:p>
            <a:r>
              <a:t>  Do not go deeply into them yet.</a:t>
            </a:r>
          </a:p>
          <a:p/>
          <a:p>
            <a:r>
              <a:t>- What it shows</a:t>
            </a:r>
          </a:p>
          <a:p/>
          <a:p>
            <a:r>
              <a:t>  Order Service owns the Order DB, Payment owns the Payment DB, and Customer owns the Customer DB.</a:t>
            </a:r>
          </a:p>
          <a:p/>
          <a:p>
            <a:r>
              <a:t>- How data is shared</a:t>
            </a:r>
          </a:p>
          <a:p/>
          <a:p>
            <a:r>
              <a:t>  Services share data through APIs or events.</a:t>
            </a:r>
          </a:p>
          <a:p/>
          <a:p>
            <a:r>
              <a:t>  They never reach directly into another service's database.</a:t>
            </a:r>
          </a:p>
          <a:p/>
          <a:p>
            <a:r>
              <a:t>- Key point</a:t>
            </a:r>
          </a:p>
          <a:p/>
          <a:p>
            <a:r>
              <a:t>  Owning your data keeps services loosely coupled.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bad version</a:t>
            </a:r>
          </a:p>
          <a:p/>
          <a:p>
            <a:r>
              <a:t>  Order Service writes straight into Inventory's database.</a:t>
            </a:r>
          </a:p>
          <a:p/>
          <a:p>
            <a:r>
              <a:t>  If Inventory renames a column or adds a rule, Order breaks without warning.</a:t>
            </a:r>
          </a:p>
          <a:p/>
          <a:p>
            <a:r>
              <a:t>- Calling the API</a:t>
            </a:r>
          </a:p>
          <a:p/>
          <a:p>
            <a:r>
              <a:t>  Order asks Inventory to reserve stock.</a:t>
            </a:r>
          </a:p>
          <a:p/>
          <a:p>
            <a:r>
              <a:t>  Inventory checks its own rules and answers.</a:t>
            </a:r>
          </a:p>
          <a:p/>
          <a:p>
            <a:r>
              <a:t>- Publishing an event</a:t>
            </a:r>
          </a:p>
          <a:p/>
          <a:p>
            <a:r>
              <a:t>  Order announces that an order was placed.</a:t>
            </a:r>
          </a:p>
          <a:p/>
          <a:p>
            <a:r>
              <a:t>  Inventory, Shipping and Notification each react in their own way.</a:t>
            </a:r>
          </a:p>
          <a:p/>
          <a:p>
            <a:r>
              <a:t>- How to choose</a:t>
            </a:r>
          </a:p>
          <a:p/>
          <a:p>
            <a:r>
              <a:t>  If Order needs the answer before it can continue, call the API.</a:t>
            </a:r>
          </a:p>
          <a:p/>
          <a:p>
            <a:r>
              <a:t>  If others can react later, publish an 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Services need to communicate</a:t>
            </a:r>
          </a:p>
          <a:p/>
          <a:p>
            <a:r>
              <a:t>  There are two major communication models.</a:t>
            </a:r>
          </a:p>
          <a:p/>
          <a:p>
            <a:r>
              <a:t>  Walk through each side of the slide.</a:t>
            </a:r>
          </a:p>
          <a:p/>
          <a:p>
            <a:r>
              <a:t>- Synchronous</a:t>
            </a:r>
          </a:p>
          <a:p/>
          <a:p>
            <a:r>
              <a:t>  In synchronous communication, the caller waits for a response.</a:t>
            </a:r>
          </a:p>
          <a:p/>
          <a:p>
            <a:r>
              <a:t>  For example, Order calls Payment and waits for the answer.</a:t>
            </a:r>
          </a:p>
          <a:p/>
          <a:p>
            <a:r>
              <a:t>  Typical technologies are REST over HTTP and gRPC.</a:t>
            </a:r>
          </a:p>
          <a:p/>
          <a:p>
            <a:r>
              <a:t>- Asynchronous</a:t>
            </a:r>
          </a:p>
          <a:p/>
          <a:p>
            <a:r>
              <a:t>  In asynchronous communication, the producer publishes information.</a:t>
            </a:r>
          </a:p>
          <a:p/>
          <a:p>
            <a:r>
              <a:t>  It does not wait for an immediate response from every consumer.</a:t>
            </a:r>
          </a:p>
          <a:p/>
          <a:p>
            <a:r>
              <a:t>  For example, an OrderCreated event goes to a message broker.</a:t>
            </a:r>
          </a:p>
          <a:p/>
          <a:p>
            <a:r>
              <a:t>  Inventory and Payment each pick it up.</a:t>
            </a:r>
          </a:p>
          <a:p/>
          <a:p>
            <a:r>
              <a:t>- The tradeoff</a:t>
            </a:r>
          </a:p>
          <a:p/>
          <a:p>
            <a:r>
              <a:t>  Asynchronous messaging can reduce temporal coupling, which means services do not have to be available at the same moment.</a:t>
            </a:r>
          </a:p>
          <a:p/>
          <a:p>
            <a:r>
              <a:t>  But it adds complexity around messaging, eventual consistency and event processing.</a:t>
            </a:r>
          </a:p>
          <a:p/>
          <a:p>
            <a:r>
              <a:t>- What it shows</a:t>
            </a:r>
          </a:p>
          <a:p/>
          <a:p>
            <a:r>
              <a:t>  On one side, a synchronous path using REST or gRPC.</a:t>
            </a:r>
          </a:p>
          <a:p/>
          <a:p>
            <a:r>
              <a:t>  On the other, an asynchronous path using events and a message broker.</a:t>
            </a:r>
          </a:p>
          <a:p/>
          <a:p>
            <a:r>
              <a:t>- When to use each</a:t>
            </a:r>
          </a:p>
          <a:p/>
          <a:p>
            <a:r>
              <a:t>  Use synchronous calls when you need an immediate answer.</a:t>
            </a:r>
          </a:p>
          <a:p/>
          <a:p>
            <a:r>
              <a:t>  Use events when services can react independently.</a:t>
            </a:r>
          </a:p>
          <a:p/>
          <a:p>
            <a:r>
              <a:t>- Key point</a:t>
            </a:r>
          </a:p>
          <a:p/>
          <a:p>
            <a:r>
              <a:t>  Most real systems use both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Compare the two</a:t>
            </a:r>
          </a:p>
          <a:p/>
          <a:p>
            <a:r>
              <a:t>  Synchronous calls give an immediate response and an easier mental model.</a:t>
            </a:r>
          </a:p>
          <a:p/>
          <a:p>
            <a:r>
              <a:t>  But they create a runtime dependency and can spread failures.</a:t>
            </a:r>
          </a:p>
          <a:p/>
          <a:p>
            <a:r>
              <a:t>  Asynchronous messages give better decoupling and independent consumers.</a:t>
            </a:r>
          </a:p>
          <a:p/>
          <a:p>
            <a:r>
              <a:t>  Processing then happens eventually.</a:t>
            </a:r>
          </a:p>
          <a:p/>
          <a:p>
            <a:r>
              <a:t>  Typical tools are REST and gRPC on one side, Kafka and RabbitMQ on the other.</a:t>
            </a:r>
          </a:p>
          <a:p/>
          <a:p>
            <a:r>
              <a:t>- A practical example</a:t>
            </a:r>
          </a:p>
          <a:p/>
          <a:p>
            <a:r>
              <a:t>  A customer places an order.</a:t>
            </a:r>
          </a:p>
          <a:p/>
          <a:p>
            <a:r>
              <a:t>  Some steps need an immediate response, so the client calls the Order Service directly.</a:t>
            </a:r>
          </a:p>
          <a:p/>
          <a:p>
            <a:r>
              <a:t>  After the order is accepted, downstream work can happen through events.</a:t>
            </a:r>
          </a:p>
          <a:p/>
          <a:p>
            <a:r>
              <a:t>  An OrderCreated event reaches Inventory, Payment, Notification and Analytics.</a:t>
            </a:r>
          </a:p>
          <a:p/>
          <a:p>
            <a:r>
              <a:t>- Use both</a:t>
            </a:r>
          </a:p>
          <a:p/>
          <a:p>
            <a:r>
              <a:t>  Neither approach is always better.</a:t>
            </a:r>
          </a:p>
          <a:p/>
          <a:p>
            <a:r>
              <a:t>  Most enterprise microservice architectures use a combination.</a:t>
            </a:r>
          </a:p>
          <a:p/>
          <a:p>
            <a:r>
              <a:t>- What it shows</a:t>
            </a:r>
          </a:p>
          <a:p/>
          <a:p>
            <a:r>
              <a:t>  The same business flow drawn two ways.</a:t>
            </a:r>
          </a:p>
          <a:p/>
          <a:p>
            <a:r>
              <a:t>- The two versions</a:t>
            </a:r>
          </a:p>
          <a:p/>
          <a:p>
            <a:r>
              <a:t>  Synchronous: Order calls Payment and waits for the reply.</a:t>
            </a:r>
          </a:p>
          <a:p/>
          <a:p>
            <a:r>
              <a:t>  Asynchronous: Order publishes OrderCreated to a broker, and Payment, Inventory and Notification react.</a:t>
            </a:r>
          </a:p>
          <a:p/>
          <a:p>
            <a:r>
              <a:t>- Key point</a:t>
            </a:r>
          </a:p>
          <a:p/>
          <a:p>
            <a:r>
              <a:t>  Events reduce coupling, but results appear over time instead of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 well-designed microservice</a:t>
            </a:r>
          </a:p>
          <a:p/>
          <a:p>
            <a:r>
              <a:t>  A well-designed microservice is business focused, loosely coupled and highly cohesive.</a:t>
            </a:r>
          </a:p>
          <a:p/>
          <a:p>
            <a:r>
              <a:t>  It is independently deployable and independently scalable.</a:t>
            </a:r>
          </a:p>
          <a:p/>
          <a:p>
            <a:r>
              <a:t>  It is observable, resilient and automation friendly.</a:t>
            </a:r>
          </a:p>
          <a:p/>
          <a:p>
            <a:r>
              <a:t>- Focus on observable</a:t>
            </a:r>
          </a:p>
          <a:p/>
          <a:p>
            <a:r>
              <a:t>  In a monolith, debugging may mean reading one application's logs.</a:t>
            </a:r>
          </a:p>
          <a:p/>
          <a:p>
            <a:r>
              <a:t>  With 50 services, one customer request might travel through a gateway, Order, Inventory, Payment and Notification.</a:t>
            </a:r>
          </a:p>
          <a:p/>
          <a:p>
            <a:r>
              <a:t>  Finding where something failed becomes difficult.</a:t>
            </a:r>
          </a:p>
          <a:p/>
          <a:p>
            <a:r>
              <a:t>- Logs, metrics and traces</a:t>
            </a:r>
          </a:p>
          <a:p/>
          <a:p>
            <a:r>
              <a:t>  That is why distributed systems need logs, metrics and traces.</a:t>
            </a:r>
          </a:p>
          <a:p/>
          <a:p>
            <a:r>
              <a:t>  This slide introduces observability early.</a:t>
            </a:r>
          </a:p>
          <a:p/>
          <a:p>
            <a:r>
              <a:t>  Do not teach the whole topic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honest part</a:t>
            </a:r>
          </a:p>
          <a:p/>
          <a:p>
            <a:r>
              <a:t>  So far microservices sound great.</a:t>
            </a:r>
          </a:p>
          <a:p/>
          <a:p>
            <a:r>
              <a:t>  This part is about what they cost and when not to use them.</a:t>
            </a:r>
          </a:p>
          <a:p/>
          <a:p>
            <a:r>
              <a:t>- Outcome</a:t>
            </a:r>
          </a:p>
          <a:p/>
          <a:p>
            <a:r>
              <a:t>  By the end, learners should be able to argue for a monolith, a modular monolith or microservices in a given situation.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Independent delivery</a:t>
            </a:r>
          </a:p>
          <a:p/>
          <a:p>
            <a:r>
              <a:t>  Teams can release their services at different cadences.</a:t>
            </a:r>
          </a:p>
          <a:p/>
          <a:p>
            <a:r>
              <a:t>- Independent scaling</a:t>
            </a:r>
          </a:p>
          <a:p/>
          <a:p>
            <a:r>
              <a:t>  High-demand services can receive more resources.</a:t>
            </a:r>
          </a:p>
          <a:p/>
          <a:p>
            <a:r>
              <a:t>- Team autonomy</a:t>
            </a:r>
          </a:p>
          <a:p/>
          <a:p>
            <a:r>
              <a:t>  Different teams can own specific business capabilities.</a:t>
            </a:r>
          </a:p>
          <a:p/>
          <a:p>
            <a:r>
              <a:t>- Fault isolation</a:t>
            </a:r>
          </a:p>
          <a:p/>
          <a:p>
            <a:r>
              <a:t>  When services are designed properly, a failure may stay confined to one service.</a:t>
            </a:r>
          </a:p>
          <a:p/>
          <a:p>
            <a:r>
              <a:t>- Technology flexibility</a:t>
            </a:r>
          </a:p>
          <a:p/>
          <a:p>
            <a:r>
              <a:t>  Different services can potentially use different technologies.</a:t>
            </a:r>
          </a:p>
          <a:p/>
          <a:p>
            <a:r>
              <a:t>- Explain each benefit with caution</a:t>
            </a:r>
          </a:p>
          <a:p/>
          <a:p>
            <a:r>
              <a:t>  These are potential benefits, not automatic guarantees.</a:t>
            </a:r>
          </a:p>
          <a:p/>
          <a:p>
            <a:r>
              <a:t>  Poor service boundaries can produce a distributed system that is harder to maintain than the original monolith.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One of the most important slides</a:t>
            </a:r>
          </a:p>
          <a:p/>
          <a:p>
            <a:r>
              <a:t>  You gain independence, but you inherit distributed-system complexity.</a:t>
            </a:r>
          </a:p>
          <a:p/>
          <a:p>
            <a:r>
              <a:t>  Moving from a local object.method() call to an HTTP request over the network changes many assumptions.</a:t>
            </a:r>
          </a:p>
          <a:p/>
          <a:p>
            <a:r>
              <a:t>- What you inherit</a:t>
            </a:r>
          </a:p>
          <a:p/>
          <a:p>
            <a:r>
              <a:t>  You now face network failures and data consistency problems.</a:t>
            </a:r>
          </a:p>
          <a:p/>
          <a:p>
            <a:r>
              <a:t>  You must handle security and observability.</a:t>
            </a:r>
          </a:p>
          <a:p/>
          <a:p>
            <a:r>
              <a:t>  You need service discovery.</a:t>
            </a:r>
          </a:p>
          <a:p/>
          <a:p>
            <a:r>
              <a:t>  Deployment gets more complex and operations cost more.</a:t>
            </a:r>
          </a:p>
          <a:p/>
          <a:p>
            <a:r>
              <a:t>- The remote service could</a:t>
            </a:r>
          </a:p>
          <a:p/>
          <a:p>
            <a:r>
              <a:t>  The remote service could be unavailable.</a:t>
            </a:r>
          </a:p>
          <a:p/>
          <a:p>
            <a:r>
              <a:t>  It could respond slowly or return an error.</a:t>
            </a:r>
          </a:p>
          <a:p/>
          <a:p>
            <a:r>
              <a:t>  It could process the request but lose the response.</a:t>
            </a:r>
          </a:p>
          <a:p/>
          <a:p>
            <a:r>
              <a:t>  It could change its API or have a different version deployed.</a:t>
            </a:r>
          </a:p>
          <a:p/>
          <a:p>
            <a:r>
              <a:t>- The consequence</a:t>
            </a:r>
          </a:p>
          <a:p/>
          <a:p>
            <a:r>
              <a:t>  So microservices require more mature engineering practices.</a:t>
            </a:r>
          </a:p>
          <a:p/>
          <a:p>
            <a:r>
              <a:t>- What it shows</a:t>
            </a:r>
          </a:p>
          <a:p/>
          <a:p>
            <a:r>
              <a:t>  Several services connected over a network, with the places where things can go wrong.</a:t>
            </a:r>
          </a:p>
          <a:p/>
          <a:p>
            <a:r>
              <a:t>- The failure points</a:t>
            </a:r>
          </a:p>
          <a:p/>
          <a:p>
            <a:r>
              <a:t>  The failure points are latency, timeouts, security, data consistency and observability.</a:t>
            </a:r>
          </a:p>
          <a:p/>
          <a:p>
            <a:r>
              <a:t>- Key point</a:t>
            </a:r>
          </a:p>
          <a:p/>
          <a:p>
            <a:r>
              <a:t>  Every network call is a possible point of failure that the design has to handle.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Assume failures occur</a:t>
            </a:r>
          </a:p>
          <a:p/>
          <a:p>
            <a:r>
              <a:t>  Distributed systems must assume that failures happen.</a:t>
            </a:r>
          </a:p>
          <a:p/>
          <a:p>
            <a:r>
              <a:t>  In the diagram, Service A calls Service B across the network, and Service B has failed.</a:t>
            </a:r>
          </a:p>
          <a:p/>
          <a:p>
            <a:r>
              <a:t>- Timeout and retry</a:t>
            </a:r>
          </a:p>
          <a:p/>
          <a:p>
            <a:r>
              <a:t>  A timeout means you do not wait forever.</a:t>
            </a:r>
          </a:p>
          <a:p/>
          <a:p>
            <a:r>
              <a:t>  A retry means you try again, but only for selected temporary failures.</a:t>
            </a:r>
          </a:p>
          <a:p/>
          <a:p>
            <a:r>
              <a:t>- Circuit breaker and fallback</a:t>
            </a:r>
          </a:p>
          <a:p/>
          <a:p>
            <a:r>
              <a:t>  A circuit breaker temporarily stops sending requests to an unhealthy dependency.</a:t>
            </a:r>
          </a:p>
          <a:p/>
          <a:p>
            <a:r>
              <a:t>  A fallback provides an alternative behavior when that is appropriate.</a:t>
            </a:r>
          </a:p>
          <a:p/>
          <a:p>
            <a:r>
              <a:t>- Health checks</a:t>
            </a:r>
          </a:p>
          <a:p/>
          <a:p>
            <a:r>
              <a:t>  Health checks let the platform know whether an application instance is healthy.</a:t>
            </a:r>
          </a:p>
          <a:p/>
          <a:p>
            <a:r>
              <a:t>- Retries must be controlled</a:t>
            </a:r>
          </a:p>
          <a:p/>
          <a:p>
            <a:r>
              <a:t>  Blind retries can make an outage worse by adding more traffic.</a:t>
            </a:r>
          </a:p>
          <a:p/>
          <a:p>
            <a:r>
              <a:t>  Also think about idempotency, which means repeating a request has the same effect as doing it once.</a:t>
            </a:r>
          </a:p>
          <a:p/>
          <a:p>
            <a:r>
              <a:t>  Use backoff and retry limits too.</a:t>
            </a:r>
          </a:p>
          <a:p/>
          <a:p>
            <a:r>
              <a:t>- What it shows</a:t>
            </a:r>
          </a:p>
          <a:p/>
          <a:p>
            <a:r>
              <a:t>  Service A calls Service B, and Service B fails.</a:t>
            </a:r>
          </a:p>
          <a:p/>
          <a:p>
            <a:r>
              <a:t>- The response</a:t>
            </a:r>
          </a:p>
          <a:p/>
          <a:p>
            <a:r>
              <a:t>  The protection is layered: a timeout, then a retry, then a circuit breaker, then a fallback or recovery.</a:t>
            </a:r>
          </a:p>
          <a:p/>
          <a:p>
            <a:r>
              <a:t>- Key point</a:t>
            </a:r>
          </a:p>
          <a:p/>
          <a:p>
            <a:r>
              <a:t>  Design for failure, so one failing service doesn't take down the others.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Step 1: the timeout</a:t>
            </a:r>
          </a:p>
          <a:p/>
          <a:p>
            <a:r>
              <a:t>  The client gives up after one second to connect and two seconds to read.</a:t>
            </a:r>
          </a:p>
          <a:p/>
          <a:p>
            <a:r>
              <a:t>  Without this, a hung Payment Service can tie up every Order thread.</a:t>
            </a:r>
          </a:p>
          <a:p/>
          <a:p>
            <a:r>
              <a:t>- Step 2: the fallback</a:t>
            </a:r>
          </a:p>
          <a:p/>
          <a:p>
            <a:r>
              <a:t>  If the payment call fails, we don't crash the checkout.</a:t>
            </a:r>
          </a:p>
          <a:p/>
          <a:p>
            <a:r>
              <a:t>  We keep the order as pending payment and log a warning.</a:t>
            </a:r>
          </a:p>
          <a:p/>
          <a:p>
            <a:r>
              <a:t>- A business decision</a:t>
            </a:r>
          </a:p>
          <a:p/>
          <a:p>
            <a:r>
              <a:t>  Whether to reject, retry or keep the order pending is a business choice.</a:t>
            </a:r>
          </a:p>
          <a:p/>
          <a:p>
            <a:r>
              <a:t>  The code just makes that choice explicit.</a:t>
            </a:r>
          </a:p>
          <a:p/>
          <a:p>
            <a:r>
              <a:t>- What comes later</a:t>
            </a:r>
          </a:p>
          <a:p/>
          <a:p>
            <a:r>
              <a:t>  Resilience4j adds retries with backoff and circuit breakers.</a:t>
            </a:r>
          </a:p>
          <a:p/>
          <a:p>
            <a:r>
              <a:t>  We cover it in the resilience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run it</a:t>
            </a:r>
          </a:p>
          <a:p/>
          <a:p>
            <a:r>
              <a:t>  Give pairs five minutes, then compare answers.</a:t>
            </a:r>
          </a:p>
          <a:p/>
          <a:p>
            <a:r>
              <a:t>  There is no single right answer, but there are unsafe ones.</a:t>
            </a:r>
          </a:p>
          <a:p/>
          <a:p>
            <a:r>
              <a:t>- Unsafe answers</a:t>
            </a:r>
          </a:p>
          <a:p/>
          <a:p>
            <a:r>
              <a:t>  Blindly retrying the charge can charge the customer twice.</a:t>
            </a:r>
          </a:p>
          <a:p/>
          <a:p>
            <a:r>
              <a:t>  Approving without payment loses money.</a:t>
            </a:r>
          </a:p>
          <a:p/>
          <a:p>
            <a:r>
              <a:t>- A good answer</a:t>
            </a:r>
          </a:p>
          <a:p/>
          <a:p>
            <a:r>
              <a:t>  Keep the order pending, tell the customer payment is being confirmed, retry in the background, and release stock if payment never succeeds.</a:t>
            </a:r>
          </a:p>
          <a:p/>
          <a:p>
            <a:r>
              <a:t>- Operations</a:t>
            </a:r>
          </a:p>
          <a:p/>
          <a:p>
            <a:r>
              <a:t>  The owning team should get an alert when the payment error rate or latency rises.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slide</a:t>
            </a:r>
          </a:p>
          <a:p/>
          <a:p>
            <a:r>
              <a:t>  Before deciding when to use microservices, clear away the myths.</a:t>
            </a:r>
          </a:p>
          <a:p/>
          <a:p>
            <a:r>
              <a:t>- Speed and size</a:t>
            </a:r>
          </a:p>
          <a:p/>
          <a:p>
            <a:r>
              <a:t>  Microservices aren't automatically faster, and they're not defined by being small.</a:t>
            </a:r>
          </a:p>
          <a:p/>
          <a:p>
            <a:r>
              <a:t>  They're defined by business boundaries.</a:t>
            </a:r>
          </a:p>
          <a:p/>
          <a:p>
            <a:r>
              <a:t>- It's not just code</a:t>
            </a:r>
          </a:p>
          <a:p/>
          <a:p>
            <a:r>
              <a:t>  Splitting a system changes data, testing, team structure and operations, not only the codebase.</a:t>
            </a:r>
          </a:p>
          <a:p/>
          <a:p>
            <a:r>
              <a:t>- Anti-patterns</a:t>
            </a:r>
          </a:p>
          <a:p/>
          <a:p>
            <a:r>
              <a:t>  Watch for a shared database, chatty synchronous calls, services that must deploy together, big-bang rewrites and missing observability.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Consider microservices when</a:t>
            </a:r>
          </a:p>
          <a:p/>
          <a:p>
            <a:r>
              <a:t>  You have multiple autonomous teams and clear domain boundaries.</a:t>
            </a:r>
          </a:p>
          <a:p/>
          <a:p>
            <a:r>
              <a:t>  Independent releases are required.</a:t>
            </a:r>
          </a:p>
          <a:p/>
          <a:p>
            <a:r>
              <a:t>  Capabilities have different scaling needs.</a:t>
            </a:r>
          </a:p>
          <a:p/>
          <a:p>
            <a:r>
              <a:t>  And you have mature CI/CD and operations.</a:t>
            </a:r>
          </a:p>
          <a:p/>
          <a:p>
            <a:r>
              <a:t>- Consider a monolith when</a:t>
            </a:r>
          </a:p>
          <a:p/>
          <a:p>
            <a:r>
              <a:t>  You have a small team or a new MVP application.</a:t>
            </a:r>
          </a:p>
          <a:p/>
          <a:p>
            <a:r>
              <a:t>  The domain is still uncertain.</a:t>
            </a:r>
          </a:p>
          <a:p/>
          <a:p>
            <a:r>
              <a:t>  You want simple deployment and limited operational complexity.</a:t>
            </a:r>
          </a:p>
          <a:p/>
          <a:p>
            <a:r>
              <a:t>- Start from requirements</a:t>
            </a:r>
          </a:p>
          <a:p/>
          <a:p>
            <a:r>
              <a:t>  Tell learners not to start with the idea that microservices are modern, so we should use them.</a:t>
            </a:r>
          </a:p>
          <a:p/>
          <a:p>
            <a:r>
              <a:t>  Start with business and engineering requirements instead.</a:t>
            </a:r>
          </a:p>
          <a:p/>
          <a:p>
            <a:r>
              <a:t>- Ask these questions</a:t>
            </a:r>
          </a:p>
          <a:p/>
          <a:p>
            <a:r>
              <a:t>  Do teams need independent deployment?</a:t>
            </a:r>
          </a:p>
          <a:p/>
          <a:p>
            <a:r>
              <a:t>  Are domain boundaries understood well enough?</a:t>
            </a:r>
          </a:p>
          <a:p/>
          <a:p>
            <a:r>
              <a:t>  Do different capabilities have very different scaling needs?</a:t>
            </a:r>
          </a:p>
          <a:p/>
          <a:p>
            <a:r>
              <a:t>  Can the organization run distributed systems effectively?</a:t>
            </a:r>
          </a:p>
          <a:p/>
          <a:p>
            <a:r>
              <a:t>  Does the extra complexity solve a meaningful problem?</a:t>
            </a:r>
          </a:p>
          <a:p/>
          <a:p>
            <a:r>
              <a:t>  If not, a monolith may be the better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A: internal tool</a:t>
            </a:r>
          </a:p>
          <a:p/>
          <a:p>
            <a:r>
              <a:t>  Small team, simple domain, low traffic.</a:t>
            </a:r>
          </a:p>
          <a:p/>
          <a:p>
            <a:r>
              <a:t>  A monolith is faster to build and cheaper to run.</a:t>
            </a:r>
          </a:p>
          <a:p/>
          <a:p>
            <a:r>
              <a:t>- B: checkout platform</a:t>
            </a:r>
          </a:p>
          <a:p/>
          <a:p>
            <a:r>
              <a:t>  Many teams, different scaling needs and frequent releases point to microservices.</a:t>
            </a:r>
          </a:p>
          <a:p/>
          <a:p>
            <a:r>
              <a:t>- C: new product</a:t>
            </a:r>
          </a:p>
          <a:p/>
          <a:p>
            <a:r>
              <a:t>  The domain is still unclear.</a:t>
            </a:r>
          </a:p>
          <a:p/>
          <a:p>
            <a:r>
              <a:t>  Splitting now risks wrong boundaries, so start with a modular monolith.</a:t>
            </a:r>
          </a:p>
          <a:p/>
          <a:p>
            <a:r>
              <a:t>- D: fraud scoring</a:t>
            </a:r>
          </a:p>
          <a:p/>
          <a:p>
            <a:r>
              <a:t>  It changes often and scales differently, so a separate service makes sense.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An excellent option</a:t>
            </a:r>
          </a:p>
          <a:p/>
          <a:p>
            <a:r>
              <a:t>  A modular monolith is an excellent architectural option.</a:t>
            </a:r>
          </a:p>
          <a:p/>
          <a:p>
            <a:r>
              <a:t>  It keeps one deployment unit.</a:t>
            </a:r>
          </a:p>
          <a:p/>
          <a:p>
            <a:r>
              <a:t>  At the same time, it sets strong boundaries between internal modules.</a:t>
            </a:r>
          </a:p>
          <a:p/>
          <a:p>
            <a:r>
              <a:t>- How to evolve</a:t>
            </a:r>
          </a:p>
          <a:p/>
          <a:p>
            <a:r>
              <a:t>  For a new system, you might start with Customer, Order, Payment and Inventory as modules.</a:t>
            </a:r>
          </a:p>
          <a:p/>
          <a:p>
            <a:r>
              <a:t>  As the business and the organization mature, some capability may genuinely need independent deployment or scaling.</a:t>
            </a:r>
          </a:p>
          <a:p/>
          <a:p>
            <a:r>
              <a:t>  That capability can then be extracted into its own service.</a:t>
            </a:r>
          </a:p>
          <a:p/>
          <a:p>
            <a:r>
              <a:t>- Avoid premature distribution</a:t>
            </a:r>
          </a:p>
          <a:p/>
          <a:p>
            <a:r>
              <a:t>  This approach avoids premature distribution.</a:t>
            </a:r>
          </a:p>
          <a:p/>
          <a:p>
            <a:r>
              <a:t>  You only pay the cost of microservices when there is a real need.</a:t>
            </a:r>
          </a:p>
          <a:p/>
          <a:p>
            <a:r>
              <a:t>- What it shows</a:t>
            </a:r>
          </a:p>
          <a:p/>
          <a:p>
            <a:r>
              <a:t>  One deployable application, with strongly separated Customer, Order, Payment and Inventory modules inside.</a:t>
            </a:r>
          </a:p>
          <a:p/>
          <a:p>
            <a:r>
              <a:t>- Why it matters</a:t>
            </a:r>
          </a:p>
          <a:p/>
          <a:p>
            <a:r>
              <a:t>  You get clear boundaries without the cost of running a distributed system.</a:t>
            </a:r>
          </a:p>
          <a:p/>
          <a:p>
            <a:r>
              <a:t>- Key point</a:t>
            </a:r>
          </a:p>
          <a:p/>
          <a:p>
            <a:r>
              <a:t>  A modular monolith is often a sensible first step, and it can be split into services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part</a:t>
            </a:r>
          </a:p>
          <a:p/>
          <a:p>
            <a:r>
              <a:t>  A good architecture still needs services that are easy to configure, deploy and operate.</a:t>
            </a:r>
          </a:p>
          <a:p/>
          <a:p>
            <a:r>
              <a:t>- What to watch</a:t>
            </a:r>
          </a:p>
          <a:p/>
          <a:p>
            <a:r>
              <a:t>  Look for how each Twelve-Factor idea shows up in Spring Boot code and on OpenShift.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What it is</a:t>
            </a:r>
          </a:p>
          <a:p/>
          <a:p>
            <a:r>
              <a:t>  The Twelve-Factor App is a methodology.</a:t>
            </a:r>
          </a:p>
          <a:p/>
          <a:p>
            <a:r>
              <a:t>  It is a collection of practices originally designed for modern software-as-a-service applications.</a:t>
            </a:r>
          </a:p>
          <a:p/>
          <a:p>
            <a:r>
              <a:t>  It helps build applications that are portable, scalable, deployable and cloud-friendly.</a:t>
            </a:r>
          </a:p>
          <a:p/>
          <a:p>
            <a:r>
              <a:t>- Why it matters here</a:t>
            </a:r>
          </a:p>
          <a:p/>
          <a:p>
            <a:r>
              <a:t>  Its principles map well to cloud-native systems and microservices.</a:t>
            </a:r>
          </a:p>
          <a:p/>
          <a:p>
            <a:r>
              <a:t>- Config example</a:t>
            </a:r>
          </a:p>
          <a:p/>
          <a:p>
            <a:r>
              <a:t>  Do not put a database password inside Java source code, like password equals admin123.</a:t>
            </a:r>
          </a:p>
          <a:p/>
          <a:p>
            <a:r>
              <a:t>  Configuration should be kept outside the code.</a:t>
            </a:r>
          </a:p>
          <a:p/>
          <a:p>
            <a:r>
              <a:t>- Logs example</a:t>
            </a:r>
          </a:p>
          <a:p/>
          <a:p>
            <a:r>
              <a:t>  Do not write important application logs only to a local server file.</a:t>
            </a:r>
          </a:p>
          <a:p/>
          <a:p>
            <a:r>
              <a:t>  Applications should produce log streams that the runtime or platform can collect.</a:t>
            </a:r>
          </a:p>
          <a:p/>
          <a:p>
            <a:r>
              <a:t>  This creates a natural connection to containers and OpenShift.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Codebase, dependencies, config</a:t>
            </a:r>
          </a:p>
          <a:p/>
          <a:p>
            <a:r>
              <a:t>  Codebase means one codebase under version control, with multiple deployments.</a:t>
            </a:r>
          </a:p>
          <a:p/>
          <a:p>
            <a:r>
              <a:t>  Dependencies means you declare application dependencies explicitly.</a:t>
            </a:r>
          </a:p>
          <a:p/>
          <a:p>
            <a:r>
              <a:t>  Config means environment-specific configuration stays outside the code.</a:t>
            </a:r>
          </a:p>
          <a:p/>
          <a:p>
            <a:r>
              <a:t>- Backing services, build release run, processes</a:t>
            </a:r>
          </a:p>
          <a:p/>
          <a:p>
            <a:r>
              <a:t>  Backing services means databases, queues, caches and external services are treated as attached resources.</a:t>
            </a:r>
          </a:p>
          <a:p/>
          <a:p>
            <a:r>
              <a:t>  Build, release, run means these lifecycle stages stay separate.</a:t>
            </a:r>
          </a:p>
          <a:p/>
          <a:p>
            <a:r>
              <a:t>  Processes means applications run as stateless processes where practical.</a:t>
            </a:r>
          </a:p>
          <a:p/>
          <a:p>
            <a:r>
              <a:t>- Port binding, concurrency, disposability</a:t>
            </a:r>
          </a:p>
          <a:p/>
          <a:p>
            <a:r>
              <a:t>  Port binding means applications expose services through ports.</a:t>
            </a:r>
          </a:p>
          <a:p/>
          <a:p>
            <a:r>
              <a:t>  Concurrency means you scale by adding processes or instances.</a:t>
            </a:r>
          </a:p>
          <a:p/>
          <a:p>
            <a:r>
              <a:t>  Disposability means instances start quickly and shut down gracefully.</a:t>
            </a:r>
          </a:p>
          <a:p/>
          <a:p>
            <a:r>
              <a:t>- Dev/prod parity, logs, admin processes</a:t>
            </a:r>
          </a:p>
          <a:p/>
          <a:p>
            <a:r>
              <a:t>  Dev/prod parity means you keep unnecessary differences between environments small.</a:t>
            </a:r>
          </a:p>
          <a:p/>
          <a:p>
            <a:r>
              <a:t>  Logs means logs are treated as event streams.</a:t>
            </a:r>
          </a:p>
          <a:p/>
          <a:p>
            <a:r>
              <a:t>  Admin processes means administrative tasks run as controlled one-off processes.</a:t>
            </a:r>
          </a:p>
          <a:p/>
          <a:p>
            <a:r>
              <a:t>- Pacing</a:t>
            </a:r>
          </a:p>
          <a:p/>
          <a:p>
            <a:r>
              <a:t>  This slide is the overview.</a:t>
            </a:r>
          </a:p>
          <a:p/>
          <a:p>
            <a:r>
              <a:t>  Do not spend equal time on every factor.</a:t>
            </a:r>
          </a:p>
          <a:p/>
          <a:p>
            <a:r>
              <a:t>- What it shows</a:t>
            </a:r>
          </a:p>
          <a:p/>
          <a:p>
            <a:r>
              <a:t>  All twelve factors grouped visually, instead of in a long text list.</a:t>
            </a:r>
          </a:p>
          <a:p/>
          <a:p>
            <a:r>
              <a:t>- The factors</a:t>
            </a:r>
          </a:p>
          <a:p/>
          <a:p>
            <a:r>
              <a:t>  Codebase, dependencies, config, backing services, build-release-run, processes, port binding, concurrency, disposability, dev/prod parity, logs and admin processes.</a:t>
            </a:r>
          </a:p>
          <a:p/>
          <a:p>
            <a:r>
              <a:t>- Key point</a:t>
            </a:r>
          </a:p>
          <a:p/>
          <a:p>
            <a:r>
              <a:t>  Together they describe how to build apps that run well in the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bad version</a:t>
            </a:r>
          </a:p>
          <a:p/>
          <a:p>
            <a:r>
              <a:t>  A password and a production URL are written into the code.</a:t>
            </a:r>
          </a:p>
          <a:p/>
          <a:p>
            <a:r>
              <a:t>  Anyone with the code sees the secret, and the build only works in production.</a:t>
            </a:r>
          </a:p>
          <a:p/>
          <a:p>
            <a:r>
              <a:t>- application.yml</a:t>
            </a:r>
          </a:p>
          <a:p/>
          <a:p>
            <a:r>
              <a:t>  Each value comes from an environment variable.</a:t>
            </a:r>
          </a:p>
          <a:p/>
          <a:p>
            <a:r>
              <a:t>  PORT falls back to 8080 when it isn't set.</a:t>
            </a:r>
          </a:p>
          <a:p/>
          <a:p>
            <a:r>
              <a:t>- In the code</a:t>
            </a:r>
          </a:p>
          <a:p/>
          <a:p>
            <a:r>
              <a:t>  The @Value annotation reads the setting, and logging goes to standard output where OpenShift collects it.</a:t>
            </a:r>
          </a:p>
          <a:p/>
          <a:p>
            <a:r>
              <a:t>- The payoff</a:t>
            </a:r>
          </a:p>
          <a:p/>
          <a:p>
            <a:r>
              <a:t>  The same container image runs in every environment; only the environment values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Connect theory to the tools</a:t>
            </a:r>
          </a:p>
          <a:p/>
          <a:p>
            <a:r>
              <a:t>  Now connect the Twelve-Factor ideas to technologies learners will actually use.</a:t>
            </a:r>
          </a:p>
          <a:p/>
          <a:p>
            <a:r>
              <a:t>  Follow the diagram from Spring Boot, through external config, stateless processes and logs, into a container on OpenShift.</a:t>
            </a:r>
          </a:p>
          <a:p/>
          <a:p>
            <a:r>
              <a:t>- Config</a:t>
            </a:r>
          </a:p>
          <a:p/>
          <a:p>
            <a:r>
              <a:t>  Spring Boot configuration can come from environment variables and external configuration.</a:t>
            </a:r>
          </a:p>
          <a:p/>
          <a:p>
            <a:r>
              <a:t>  OpenShift can provide ConfigMaps and Secrets.</a:t>
            </a:r>
          </a:p>
          <a:p/>
          <a:p>
            <a:r>
              <a:t>- Processes and port binding</a:t>
            </a:r>
          </a:p>
          <a:p/>
          <a:p>
            <a:r>
              <a:t>  Containerized services should not rely on local, temporary state for durable business data.</a:t>
            </a:r>
          </a:p>
          <a:p/>
          <a:p>
            <a:r>
              <a:t>  Spring Boot commonly exposes an HTTP port through its embedded web server.</a:t>
            </a:r>
          </a:p>
          <a:p/>
          <a:p>
            <a:r>
              <a:t>- Disposability and logs</a:t>
            </a:r>
          </a:p>
          <a:p/>
          <a:p>
            <a:r>
              <a:t>  Containers should start and stop predictably.</a:t>
            </a:r>
          </a:p>
          <a:p/>
          <a:p>
            <a:r>
              <a:t>  Applications can write logs to standard output.</a:t>
            </a:r>
          </a:p>
          <a:p/>
          <a:p>
            <a:r>
              <a:t>  The platform and logging stack then collect them.</a:t>
            </a:r>
          </a:p>
          <a:p/>
          <a:p>
            <a:r>
              <a:t>- Key message</a:t>
            </a:r>
          </a:p>
          <a:p/>
          <a:p>
            <a:r>
              <a:t>  Twelve-Factor principles make applications easier to deploy and run consistently across modern environments.</a:t>
            </a:r>
          </a:p>
          <a:p/>
          <a:p>
            <a:r>
              <a:t>- What it shows</a:t>
            </a:r>
          </a:p>
          <a:p/>
          <a:p>
            <a:r>
              <a:t>  A Spring Boot app connected to external config, secrets, backing services, stateless execution and logs.</a:t>
            </a:r>
          </a:p>
          <a:p/>
          <a:p>
            <a:r>
              <a:t>- The path</a:t>
            </a:r>
          </a:p>
          <a:p/>
          <a:p>
            <a:r>
              <a:t>  The app is packaged as a container and runs on OpenShift.</a:t>
            </a:r>
          </a:p>
          <a:p/>
          <a:p>
            <a:r>
              <a:t>- Key point</a:t>
            </a:r>
          </a:p>
          <a:p/>
          <a:p>
            <a:r>
              <a:t>  This is how the Twelve-Factor ideas look in the stack we use in this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Secrets and URLs</a:t>
            </a:r>
          </a:p>
          <a:p/>
          <a:p>
            <a:r>
              <a:t>  The password and the production URL belong in environment variables, OpenShift ConfigMaps and Secrets.</a:t>
            </a:r>
          </a:p>
          <a:p/>
          <a:p>
            <a:r>
              <a:t>- In-memory carts</a:t>
            </a:r>
          </a:p>
          <a:p/>
          <a:p>
            <a:r>
              <a:t>  A cart kept in one pod's memory is lost on restart and invisible to other pods.</a:t>
            </a:r>
          </a:p>
          <a:p/>
          <a:p>
            <a:r>
              <a:t>  Store it in a database or cache.</a:t>
            </a:r>
          </a:p>
          <a:p/>
          <a:p>
            <a:r>
              <a:t>- Log files</a:t>
            </a:r>
          </a:p>
          <a:p/>
          <a:p>
            <a:r>
              <a:t>  Inside a container, a local log file disappears with the pod.</a:t>
            </a:r>
          </a:p>
          <a:p/>
          <a:p>
            <a:r>
              <a:t>  Log to standard output instead.</a:t>
            </a:r>
          </a:p>
          <a:p/>
          <a:p>
            <a:r>
              <a:t>- Discussion</a:t>
            </a:r>
          </a:p>
          <a:p/>
          <a:p>
            <a:r>
              <a:t>  Ask which violation would hurt first in production.</a:t>
            </a:r>
          </a:p>
          <a:p/>
          <a:p>
            <a:r>
              <a:t>  Usually the hard-coded secret or the in-memory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Conway's Law</a:t>
            </a:r>
          </a:p>
          <a:p/>
          <a:p>
            <a:r>
              <a:t>  Systems end up mirroring how the teams that build them communicate.</a:t>
            </a:r>
          </a:p>
          <a:p/>
          <a:p>
            <a:r>
              <a:t>- Siloed teams</a:t>
            </a:r>
          </a:p>
          <a:p/>
          <a:p>
            <a:r>
              <a:t>  If you have a UI team, a backend team and a database team, you tend to get layered services that must change together.</a:t>
            </a:r>
          </a:p>
          <a:p/>
          <a:p>
            <a:r>
              <a:t>- Aligned teams</a:t>
            </a:r>
          </a:p>
          <a:p/>
          <a:p>
            <a:r>
              <a:t>  If each team owns a business capability, such as Order or Payment, you tend to get loosely coupled services.</a:t>
            </a:r>
          </a:p>
          <a:p/>
          <a:p>
            <a:r>
              <a:t>- Team types</a:t>
            </a:r>
          </a:p>
          <a:p/>
          <a:p>
            <a:r>
              <a:t>  Stream-aligned teams own services, platform teams provide the paved road, and enabling teams coach.</a:t>
            </a:r>
          </a:p>
          <a:p/>
          <a:p>
            <a:r>
              <a:t>  Shape teams around the architecture you want.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Traditional handoffs</a:t>
            </a:r>
          </a:p>
          <a:p/>
          <a:p>
            <a:r>
              <a:t>  Traditional organizations often had strong handoffs.</a:t>
            </a:r>
          </a:p>
          <a:p/>
          <a:p>
            <a:r>
              <a:t>  Work passed from developers to a testing team, then a release team, then an operations team.</a:t>
            </a:r>
          </a:p>
          <a:p/>
          <a:p>
            <a:r>
              <a:t>- Modern DevOps</a:t>
            </a:r>
          </a:p>
          <a:p/>
          <a:p>
            <a:r>
              <a:t>  Modern DevOps tries to reduce these handoffs.</a:t>
            </a:r>
          </a:p>
          <a:p/>
          <a:p>
            <a:r>
              <a:t>  It uses collaboration, automation and shared ownership.</a:t>
            </a:r>
          </a:p>
          <a:p/>
          <a:p>
            <a:r>
              <a:t>  One product or service team builds, runs and improves its microservice.</a:t>
            </a:r>
          </a:p>
          <a:p/>
          <a:p>
            <a:r>
              <a:t>- What a service team owns</a:t>
            </a:r>
          </a:p>
          <a:p/>
          <a:p>
            <a:r>
              <a:t>  For example, a team might own the Order Service.</a:t>
            </a:r>
          </a:p>
          <a:p/>
          <a:p>
            <a:r>
              <a:t>  It is responsible for development, testing, the pipeline and deployment.</a:t>
            </a:r>
          </a:p>
          <a:p/>
          <a:p>
            <a:r>
              <a:t>  It also handles security considerations, monitoring and production reliability.</a:t>
            </a:r>
          </a:p>
          <a:p/>
          <a:p>
            <a:r>
              <a:t>  This is the idea of you build it, you run it.</a:t>
            </a:r>
          </a:p>
          <a:p/>
          <a:p>
            <a:r>
              <a:t>- Ownership models differ</a:t>
            </a:r>
          </a:p>
          <a:p/>
          <a:p>
            <a:r>
              <a:t>  The exact ownership model differs between organizations.</a:t>
            </a:r>
          </a:p>
          <a:p/>
          <a:p>
            <a:r>
              <a:t>  Platform teams and SRE teams may provide shared infrastructure and operational capabilities.</a:t>
            </a:r>
          </a:p>
          <a:p/>
          <a:p>
            <a:r>
              <a:t>  The strip at the bottom shows the supporting capabilities: Git, CI/CD, security, deployment and observability.</a:t>
            </a:r>
          </a:p>
          <a:p/>
          <a:p>
            <a:r>
              <a:t>- What it shows</a:t>
            </a:r>
          </a:p>
          <a:p/>
          <a:p>
            <a:r>
              <a:t>  A service team owning a continuous loop: code, build, test, secure, deploy, observe and improve.</a:t>
            </a:r>
          </a:p>
          <a:p/>
          <a:p>
            <a:r>
              <a:t>- Ownership</a:t>
            </a:r>
          </a:p>
          <a:p/>
          <a:p>
            <a:r>
              <a:t>  The same team builds the service, runs it, and learns from how it behaves in production.</a:t>
            </a:r>
          </a:p>
          <a:p/>
          <a:p>
            <a:r>
              <a:t>- Key point</a:t>
            </a:r>
          </a:p>
          <a:p/>
          <a:p>
            <a:r>
              <a:t>  In DevOps, you build it, you run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full chain</a:t>
            </a:r>
          </a:p>
          <a:p/>
          <a:p>
            <a:r>
              <a:t>  Finish Module 1 by connecting everything.</a:t>
            </a:r>
          </a:p>
          <a:p/>
          <a:p>
            <a:r>
              <a:t>  We start with a business capability, such as Payment.</a:t>
            </a:r>
          </a:p>
          <a:p/>
          <a:p>
            <a:r>
              <a:t>  We implement it as a microservice, the Payment Service.</a:t>
            </a:r>
          </a:p>
          <a:p/>
          <a:p>
            <a:r>
              <a:t>  In this course, we build it with Spring Boot.</a:t>
            </a:r>
          </a:p>
          <a:p/>
          <a:p>
            <a:r>
              <a:t>- From code to platform</a:t>
            </a:r>
          </a:p>
          <a:p/>
          <a:p>
            <a:r>
              <a:t>  The Spring Boot application becomes a container image.</a:t>
            </a:r>
          </a:p>
          <a:p/>
          <a:p>
            <a:r>
              <a:t>  CI/CD automates build, test, scan, package and deploy.</a:t>
            </a:r>
          </a:p>
          <a:p/>
          <a:p>
            <a:r>
              <a:t>  The image is stored in a registry and deployed onto OpenShift.</a:t>
            </a:r>
          </a:p>
          <a:p/>
          <a:p>
            <a:r>
              <a:t>- What OpenShift provides</a:t>
            </a:r>
          </a:p>
          <a:p/>
          <a:p>
            <a:r>
              <a:t>  OpenShift provides capabilities for running containerized workloads.</a:t>
            </a:r>
          </a:p>
          <a:p/>
          <a:p>
            <a:r>
              <a:t>  These include scheduling, networking, configuration and secrets.</a:t>
            </a:r>
          </a:p>
          <a:p/>
          <a:p>
            <a:r>
              <a:t>  They also include health management and scaling.</a:t>
            </a:r>
          </a:p>
          <a:p/>
          <a:p>
            <a:r>
              <a:t>- Final message</a:t>
            </a:r>
          </a:p>
          <a:p/>
          <a:p>
            <a:r>
              <a:t>  Spring Boot helps us build the service.</a:t>
            </a:r>
          </a:p>
          <a:p/>
          <a:p>
            <a:r>
              <a:t>  Containers package the service.</a:t>
            </a:r>
          </a:p>
          <a:p/>
          <a:p>
            <a:r>
              <a:t>  CI/CD automates its delivery.</a:t>
            </a:r>
          </a:p>
          <a:p/>
          <a:p>
            <a:r>
              <a:t>  OpenShift provides a platform for deploying and operating containerized workloads.</a:t>
            </a:r>
          </a:p>
          <a:p/>
          <a:p>
            <a:r>
              <a:t>  Microservices architecture decides how we divide the business system into independently evolvable services.</a:t>
            </a:r>
          </a:p>
          <a:p/>
          <a:p>
            <a:r>
              <a:t>- Why this distinction matters</a:t>
            </a:r>
          </a:p>
          <a:p/>
          <a:p>
            <a:r>
              <a:t>  Learners often confuse microservices, Spring Boot, containers and OpenShift as if they were the same thing.</a:t>
            </a:r>
          </a:p>
          <a:p/>
          <a:p>
            <a:r>
              <a:t>  They are different layers that work together.</a:t>
            </a:r>
          </a:p>
          <a:p/>
          <a:p>
            <a:r>
              <a:t>- What it shows</a:t>
            </a:r>
          </a:p>
          <a:p/>
          <a:p>
            <a:r>
              <a:t>  The full path: business capability, Spring Boot microservice, Git, CI/CD, container image, registry, OpenShift, running service and observability.</a:t>
            </a:r>
          </a:p>
          <a:p/>
          <a:p>
            <a:r>
              <a:t>- Feedback</a:t>
            </a:r>
          </a:p>
          <a:p/>
          <a:p>
            <a:r>
              <a:t>  Observability feeds what we learn back into the next change.</a:t>
            </a:r>
          </a:p>
          <a:p/>
          <a:p>
            <a:r>
              <a:t>- Key point</a:t>
            </a:r>
          </a:p>
          <a:p/>
          <a:p>
            <a:r>
              <a:t>  This path connects Module 1 to the rest of the course.</a:t>
            </a:r>
          </a:p>
          <a:p/>
          <a:p/>
          <a:p>
            <a:r>
              <a:t>USE-CASE SCENARIO</a:t>
            </a:r>
          </a:p>
          <a:p>
            <a:r>
              <a:t>-----------------</a:t>
            </a:r>
          </a:p>
          <a:p/>
          <a:p>
            <a:r>
              <a:t>Walk the chain once more, end to end.</a:t>
            </a:r>
          </a:p>
          <a:p/>
          <a:p>
            <a:r>
              <a:t>A business requirement defines a service boundary.</a:t>
            </a:r>
          </a:p>
          <a:p/>
          <a:p>
            <a:r>
              <a:t>That boundary becomes a microservice, built as a Spring Boot application.</a:t>
            </a:r>
          </a:p>
          <a:p/>
          <a:p>
            <a:r>
              <a:t>The application is packaged in a container.</a:t>
            </a:r>
          </a:p>
          <a:p/>
          <a:p>
            <a:r>
              <a:t>CI/CD delivers it to OpenShift.</a:t>
            </a:r>
          </a:p>
          <a:p/>
          <a:p>
            <a:r>
              <a:t>From there, the team handles production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- 1. Microservice</a:t>
            </a:r>
          </a:p>
          <a:p/>
          <a:p>
            <a:r>
              <a:t>  An independently deployable service focused on one business capability.</a:t>
            </a:r>
          </a:p>
          <a:p/>
          <a:p>
            <a:r>
              <a:t>- 2. Why adopt</a:t>
            </a:r>
          </a:p>
          <a:p/>
          <a:p>
            <a:r>
              <a:t>  To develop, deploy and scale parts of the system independently and change faster.</a:t>
            </a:r>
          </a:p>
          <a:p/>
          <a:p>
            <a:r>
              <a:t>- 3. Monolith limitation</a:t>
            </a:r>
          </a:p>
          <a:p/>
          <a:p>
            <a:r>
              <a:t>  Even a small change often means rebuilding, retesting and redeploying the whole application.</a:t>
            </a:r>
          </a:p>
          <a:p/>
          <a:p>
            <a:r>
              <a:t>- 4. Always bad?</a:t>
            </a:r>
          </a:p>
          <a:p/>
          <a:p>
            <a:r>
              <a:t>  No. Monoliths suit small teams, simple domains and simpler operations.</a:t>
            </a:r>
          </a:p>
          <a:p/>
          <a:p>
            <a:r>
              <a:t>- 5. Independent deployment</a:t>
            </a:r>
          </a:p>
          <a:p/>
          <a:p>
            <a:r>
              <a:t>  A service can be released without redeploying unrelated services.</a:t>
            </a:r>
          </a:p>
          <a:p/>
          <a:p>
            <a:r>
              <a:t>- 6. Data ownership</a:t>
            </a:r>
          </a:p>
          <a:p/>
          <a:p>
            <a:r>
              <a:t>  It keeps services autonomous and stops the database becoming a coupling point.</a:t>
            </a:r>
          </a:p>
          <a:p/>
          <a:p>
            <a:r>
              <a:t>- 7. Partial failure</a:t>
            </a:r>
          </a:p>
          <a:p/>
          <a:p>
            <a:r>
              <a:t>  One service, network call, database or broker fails while the rest keeps running.</a:t>
            </a:r>
          </a:p>
          <a:p/>
          <a:p>
            <a:r>
              <a:t>- 8. Fault isolation</a:t>
            </a:r>
          </a:p>
          <a:p/>
          <a:p>
            <a:r>
              <a:t>  A failure in one service doesn't necessarily stop the whole system.</a:t>
            </a:r>
          </a:p>
          <a:p/>
          <a:p>
            <a:r>
              <a:t>- 9. DevOps automation</a:t>
            </a:r>
          </a:p>
          <a:p/>
          <a:p>
            <a:r>
              <a:t>  More deployable units need automated build, test, deployment, monitoring and rollback.</a:t>
            </a:r>
          </a:p>
          <a:p/>
          <a:p>
            <a:r>
              <a:t>- 10. Twelve-Factor</a:t>
            </a:r>
          </a:p>
          <a:p/>
          <a:p>
            <a:r>
              <a:t>  Examples: externalized configuration, stateless processes, or logs as event streams.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Official checkpoint</a:t>
            </a:r>
          </a:p>
          <a:p/>
          <a:p>
            <a:r>
              <a:t>  This is the official OUTLINE.md checkpoint for Module 1.</a:t>
            </a:r>
          </a:p>
          <a:p/>
          <a:p>
            <a:r>
              <a:t>  Use the worksheet in labs/day-01/exercises.</a:t>
            </a:r>
          </a:p>
          <a:p/>
          <a:p>
            <a:r>
              <a:t>- Running it</a:t>
            </a:r>
          </a:p>
          <a:p/>
          <a:p>
            <a:r>
              <a:t>  Fifteen minutes, design only.</a:t>
            </a:r>
          </a:p>
          <a:p/>
          <a:p>
            <a:r>
              <a:t>  Groups list capabilities, mark coupling and high-change areas, and mark failure isolation.</a:t>
            </a:r>
          </a:p>
          <a:p/>
          <a:p>
            <a:r>
              <a:t>- Expected answer</a:t>
            </a:r>
          </a:p>
          <a:p/>
          <a:p>
            <a:r>
              <a:t>  The first extraction is Account Service.</a:t>
            </a:r>
          </a:p>
          <a:p/>
          <a:p>
            <a:r>
              <a:t>  It has clear ownership of accounts and is what Lab 1 builds.</a:t>
            </a:r>
          </a:p>
          <a:p/>
          <a:p>
            <a:r>
              <a:t>- Scope</a:t>
            </a:r>
          </a:p>
          <a:p/>
          <a:p>
            <a:r>
              <a:t>  Keep the scope to Account, Transaction and Risk Assessment.</a:t>
            </a:r>
          </a:p>
          <a:p/>
          <a:p>
            <a:r>
              <a:t>  Don't add extra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Recap</a:t>
            </a:r>
          </a:p>
          <a:p/>
          <a:p>
            <a:r>
              <a:t>  We moved from monolith problems, to what microservices are, to what they cost, to how they run on OpenShift with DevOps teams.</a:t>
            </a:r>
          </a:p>
          <a:p/>
          <a:p>
            <a:r>
              <a:t>- Next module</a:t>
            </a:r>
          </a:p>
          <a:p/>
          <a:p>
            <a:r>
              <a:t>  Module 2 answers the design questions: where boundaries go, how APIs look, how services communicate and where state lives.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43216" y="109728"/>
            <a:ext cx="3566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0" i="1">
                <a:solidFill>
                  <a:srgbClr val="595959"/>
                </a:solidFill>
                <a:latin typeface="Nirmala UI"/>
              </a:rPr>
              <a:t>"Microservices are not simply small REST APIs."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002060"/>
                </a:solidFill>
                <a:latin typeface="Leelawadee"/>
              </a:rPr>
              <a:t>MODULE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471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D1282E"/>
                </a:solidFill>
                <a:latin typeface="Leelawadee"/>
              </a:rPr>
              <a:t>Microservices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002060"/>
                </a:solidFill>
                <a:latin typeface="Nirmala UI"/>
              </a:rPr>
              <a:t>From monoliths to distributed services — the principles, tradeoffs and practices that make them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7525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Nirmala UI"/>
              </a:rPr>
              <a:t>SPRING BOOT MICROSERVICES BOOTCAMP  •  MODULE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09160"/>
            <a:ext cx="2139696" cy="868680"/>
          </a:xfrm>
          <a:prstGeom prst="roundRect">
            <a:avLst>
              <a:gd name="adj" fmla="val 12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From monoliths to distributed services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34056" y="4709160"/>
            <a:ext cx="2139696" cy="868680"/>
          </a:xfrm>
          <a:prstGeom prst="roundRect">
            <a:avLst>
              <a:gd name="adj" fmla="val 12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Microservices principles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10912" y="4709160"/>
            <a:ext cx="2139696" cy="868680"/>
          </a:xfrm>
          <a:prstGeom prst="roundRect">
            <a:avLst>
              <a:gd name="adj" fmla="val 12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Benefits and tradeoffs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87767" y="4709160"/>
            <a:ext cx="2139696" cy="868680"/>
          </a:xfrm>
          <a:prstGeom prst="roundRect">
            <a:avLst>
              <a:gd name="adj" fmla="val 12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Twelve-Factor 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64624" y="4709160"/>
            <a:ext cx="2139696" cy="868680"/>
          </a:xfrm>
          <a:prstGeom prst="roundRect">
            <a:avLst>
              <a:gd name="adj" fmla="val 12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Microservices + DevOps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What you will understand by the end of this module.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52728"/>
            <a:ext cx="382641" cy="382641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52728"/>
            <a:ext cx="382641" cy="38264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993" y="1252728"/>
            <a:ext cx="4939167" cy="3826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BY THE END OF THIS MODULE, YOU 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59164"/>
            <a:ext cx="5394960" cy="16881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Explain monolithic architecture limitations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Describe microservices principles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Identify benefits and tradeoffs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Choose between monoliths and microservices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5.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Explain Twelve-Factor App principles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6.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Connect microservices with DevOps</a:t>
            </a:r>
          </a:p>
        </p:txBody>
      </p:sp>
      <p:sp>
        <p:nvSpPr>
          <p:cNvPr id="8" name="Oval 7"/>
          <p:cNvSpPr/>
          <p:nvPr/>
        </p:nvSpPr>
        <p:spPr>
          <a:xfrm>
            <a:off x="6172200" y="1252728"/>
            <a:ext cx="310896" cy="310896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25272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1243584"/>
            <a:ext cx="51480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SIX QUESTIONS THIS MODULE ANSWERS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73352"/>
            <a:ext cx="1874519" cy="457200"/>
          </a:xfrm>
          <a:prstGeom prst="roundRect">
            <a:avLst>
              <a:gd name="adj" fmla="val 14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WHY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1673352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did microservices become popular?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212848"/>
            <a:ext cx="1874519" cy="457200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WHAT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212848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exactly is a microservice?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752344"/>
            <a:ext cx="1874519" cy="457200"/>
          </a:xfrm>
          <a:prstGeom prst="roundRect">
            <a:avLst>
              <a:gd name="adj" fmla="val 14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HOW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752344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should services be separated?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91840"/>
            <a:ext cx="1874519" cy="457200"/>
          </a:xfrm>
          <a:prstGeom prst="roundRect">
            <a:avLst>
              <a:gd name="adj" fmla="val 14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WHAT PROBLEMS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3291840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do microservices solve?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831335"/>
            <a:ext cx="1874519" cy="457200"/>
          </a:xfrm>
          <a:prstGeom prst="roundRect">
            <a:avLst>
              <a:gd name="adj" fmla="val 14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WHAT NEW PROBLEMS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3831335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do they introduce?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370831"/>
            <a:ext cx="1874519" cy="457200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HOW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4370831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do DevOps, containers and OpenShift support them?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4590288"/>
            <a:ext cx="310896" cy="310896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5902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🗺️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4581144"/>
            <a:ext cx="108630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MODULE ROADMAP</a:t>
            </a:r>
          </a:p>
        </p:txBody>
      </p:sp>
      <p:sp>
        <p:nvSpPr>
          <p:cNvPr id="26" name="Pentagon 25"/>
          <p:cNvSpPr/>
          <p:nvPr/>
        </p:nvSpPr>
        <p:spPr>
          <a:xfrm>
            <a:off x="457200" y="5029200"/>
            <a:ext cx="1763485" cy="731520"/>
          </a:xfrm>
          <a:prstGeom prst="homePlate">
            <a:avLst>
              <a:gd name="adj" fmla="val 30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029200"/>
            <a:ext cx="149830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Monolith</a:t>
            </a:r>
          </a:p>
        </p:txBody>
      </p:sp>
      <p:sp>
        <p:nvSpPr>
          <p:cNvPr id="28" name="Chevron 27"/>
          <p:cNvSpPr/>
          <p:nvPr/>
        </p:nvSpPr>
        <p:spPr>
          <a:xfrm>
            <a:off x="2037805" y="5029200"/>
            <a:ext cx="1763485" cy="731520"/>
          </a:xfrm>
          <a:prstGeom prst="chevron">
            <a:avLst>
              <a:gd name="adj" fmla="val 30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57261" y="5029200"/>
            <a:ext cx="137029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Why microservices</a:t>
            </a:r>
          </a:p>
        </p:txBody>
      </p:sp>
      <p:sp>
        <p:nvSpPr>
          <p:cNvPr id="30" name="Chevron 29"/>
          <p:cNvSpPr/>
          <p:nvPr/>
        </p:nvSpPr>
        <p:spPr>
          <a:xfrm>
            <a:off x="3618411" y="5029200"/>
            <a:ext cx="1763485" cy="731520"/>
          </a:xfrm>
          <a:prstGeom prst="chevron">
            <a:avLst>
              <a:gd name="adj" fmla="val 30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37867" y="5029200"/>
            <a:ext cx="137029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Principles</a:t>
            </a:r>
          </a:p>
        </p:txBody>
      </p:sp>
      <p:sp>
        <p:nvSpPr>
          <p:cNvPr id="32" name="Chevron 31"/>
          <p:cNvSpPr/>
          <p:nvPr/>
        </p:nvSpPr>
        <p:spPr>
          <a:xfrm>
            <a:off x="5199017" y="5029200"/>
            <a:ext cx="1763485" cy="731520"/>
          </a:xfrm>
          <a:prstGeom prst="chevron">
            <a:avLst>
              <a:gd name="adj" fmla="val 30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18473" y="5029200"/>
            <a:ext cx="137029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Tradeoffs</a:t>
            </a:r>
          </a:p>
        </p:txBody>
      </p:sp>
      <p:sp>
        <p:nvSpPr>
          <p:cNvPr id="34" name="Chevron 33"/>
          <p:cNvSpPr/>
          <p:nvPr/>
        </p:nvSpPr>
        <p:spPr>
          <a:xfrm>
            <a:off x="6779622" y="5029200"/>
            <a:ext cx="1763485" cy="731520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9078" y="5029200"/>
            <a:ext cx="137029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Decision</a:t>
            </a:r>
          </a:p>
        </p:txBody>
      </p:sp>
      <p:sp>
        <p:nvSpPr>
          <p:cNvPr id="36" name="Chevron 35"/>
          <p:cNvSpPr/>
          <p:nvPr/>
        </p:nvSpPr>
        <p:spPr>
          <a:xfrm>
            <a:off x="8360228" y="5029200"/>
            <a:ext cx="1763485" cy="731520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79684" y="5029200"/>
            <a:ext cx="137029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Twelve-Factor</a:t>
            </a:r>
          </a:p>
        </p:txBody>
      </p:sp>
      <p:sp>
        <p:nvSpPr>
          <p:cNvPr id="38" name="Chevron 37"/>
          <p:cNvSpPr/>
          <p:nvPr/>
        </p:nvSpPr>
        <p:spPr>
          <a:xfrm>
            <a:off x="9940834" y="5029200"/>
            <a:ext cx="1763485" cy="731520"/>
          </a:xfrm>
          <a:prstGeom prst="chevron">
            <a:avLst>
              <a:gd name="adj" fmla="val 30000"/>
            </a:avLst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60290" y="5029200"/>
            <a:ext cx="137029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DevOps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Choosing microservices is an architecture decision — not automatically a modernization decision.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KEY TERMS FOR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Plain definitions for the words we'll use most.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1408176"/>
            <a:ext cx="365760" cy="36576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Nirmala UI"/>
              </a:rPr>
              <a:t>Monolith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73936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One deployable application where every feature shares one codebase and usually one database.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98448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64224" y="1408176"/>
            <a:ext cx="365760" cy="365760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371600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B3A9E"/>
                </a:solidFill>
                <a:latin typeface="Nirmala UI"/>
              </a:rPr>
              <a:t>Microservice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773936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small, independently deployable service built around one business capability.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6888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2578608"/>
            <a:ext cx="365760" cy="365760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542032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7C7B"/>
                </a:solidFill>
                <a:latin typeface="Nirmala UI"/>
              </a:rPr>
              <a:t>Business capability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944368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Something the business does, such as taking payments, that one service owns end to end.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46888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2578608"/>
            <a:ext cx="365760" cy="365760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542032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Nirmala UI"/>
              </a:rPr>
              <a:t>Independent 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944368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Releasing one service without redeploying or coordinating the others.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39312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3504" y="3749040"/>
            <a:ext cx="365760" cy="365760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712464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690C"/>
                </a:solidFill>
                <a:latin typeface="Nirmala UI"/>
              </a:rPr>
              <a:t>Fault isolation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114800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Designing so a failure in one service doesn't take the rest of the system down.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639312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3749040"/>
            <a:ext cx="365760" cy="365760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712464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1282E"/>
                </a:solidFill>
                <a:latin typeface="Nirmala UI"/>
              </a:rPr>
              <a:t>Decentralized data ownership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114800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Each service owns its data; others reach it only through that service's API or events.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09744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03504" y="4919472"/>
            <a:ext cx="365760" cy="36576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882896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Nirmala UI"/>
              </a:rPr>
              <a:t>Twelve-Factor App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285231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Twelve practices for cloud-ready apps, such as config in the environment and stateless processes.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809744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64224" y="4919472"/>
            <a:ext cx="365760" cy="365760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882896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B3A9E"/>
                </a:solidFill>
                <a:latin typeface="Nirmala UI"/>
              </a:rPr>
              <a:t>Modular monolith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285231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One deployable app split into strict internal modules — often a step before microservices.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Agree on the words first — every later slide builds on them.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FULL FORMS USED IN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Every abbreviation on these slides, spelled out.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Application Programming 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Continuous Integration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CI/CD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Continuous Integration / Continuous Delivery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44952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999232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Database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11880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DDD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3566160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Domain-Driven Design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244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ESB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800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Enterprise Service Bus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244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HTTP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800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HyperText Transfer Protocol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244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MVP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800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Minimum Viable Product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2440" y="3044952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8008" y="2999232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Representational State Transfer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82440" y="3611880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SOA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8008" y="3566160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Service-Oriented Architecture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768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SRE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324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Site Reliability Engineering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768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324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User Interface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768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URL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324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Uniform Resource Locator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When an abbreviation isn't clear, the full form is on this slide.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ONE STORY THROUGH THE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An e-commerce order platform — and the banking lab you will build.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98448"/>
            <a:ext cx="310896" cy="310896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89304"/>
            <a:ext cx="66568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THE E-COMMERCE ORDER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1082040" cy="566928"/>
          </a:xfrm>
          <a:prstGeom prst="roundRect">
            <a:avLst>
              <a:gd name="adj" fmla="val 14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Customer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8968" y="1737360"/>
            <a:ext cx="1082040" cy="566928"/>
          </a:xfrm>
          <a:prstGeom prst="roundRect">
            <a:avLst>
              <a:gd name="adj" fmla="val 14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Catalog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40736" y="1737360"/>
            <a:ext cx="1082040" cy="56692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Order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32504" y="1737360"/>
            <a:ext cx="1082040" cy="566928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Payment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24272" y="1737360"/>
            <a:ext cx="1082040" cy="566928"/>
          </a:xfrm>
          <a:prstGeom prst="roundRect">
            <a:avLst>
              <a:gd name="adj" fmla="val 14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Inventory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16039" y="1737360"/>
            <a:ext cx="1082040" cy="566928"/>
          </a:xfrm>
          <a:prstGeom prst="roundRect">
            <a:avLst>
              <a:gd name="adj" fmla="val 14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Shipping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587752"/>
            <a:ext cx="310896" cy="310896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8775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578608"/>
            <a:ext cx="66568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ONE CHECKOUT, STEP BY STEP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26664"/>
            <a:ext cx="1188720" cy="731520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424242"/>
                </a:solidFill>
                <a:latin typeface="Nirmala UI"/>
              </a:rPr>
              <a:t>Customer places order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73352" y="3392424"/>
            <a:ext cx="21945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920240" y="3026664"/>
            <a:ext cx="1188720" cy="731520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Order is created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136392" y="3392424"/>
            <a:ext cx="21945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383280" y="3026664"/>
            <a:ext cx="1188720" cy="731520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Payment is charged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99432" y="3392424"/>
            <a:ext cx="21945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846320" y="3026664"/>
            <a:ext cx="1188720" cy="731520"/>
          </a:xfrm>
          <a:prstGeom prst="roundRect">
            <a:avLst>
              <a:gd name="adj" fmla="val 14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Stock is reserved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62472" y="3392424"/>
            <a:ext cx="21945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309360" y="3026664"/>
            <a:ext cx="1188720" cy="731520"/>
          </a:xfrm>
          <a:prstGeom prst="roundRect">
            <a:avLst>
              <a:gd name="adj" fmla="val 14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Shipment is booked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014216"/>
            <a:ext cx="7040880" cy="9144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014216"/>
            <a:ext cx="66751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THE MODULE'S QUESTION 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Should all of this live in one application — or in separate services? And what does each choice cost?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1298448"/>
            <a:ext cx="3840480" cy="4535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>
            <a:off x="7863840" y="1298448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1000" y="1298448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LAB: BANKING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28431" y="1828800"/>
            <a:ext cx="351129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Lab 1 builds an Account Service for the course's banking platform. Every idea you see on the order platform applies there too.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8431" y="3108960"/>
            <a:ext cx="35112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LAB SCOPE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28431" y="3456432"/>
            <a:ext cx="3511296" cy="402336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Account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28431" y="3931920"/>
            <a:ext cx="3511296" cy="402336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Transaction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28431" y="4407408"/>
            <a:ext cx="3511296" cy="402336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Risk Assessment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The same order platform runs through every slide, so each new idea builds on the last.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1: WHY MONOLITHS STRUGGLE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Start with the architecture most systems begin with.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944825" cy="713232"/>
          </a:xfrm>
          <a:prstGeom prst="homePlate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6851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Why monoliths struggle</a:t>
            </a:r>
          </a:p>
        </p:txBody>
      </p:sp>
      <p:sp>
        <p:nvSpPr>
          <p:cNvPr id="6" name="Chevron 5"/>
          <p:cNvSpPr/>
          <p:nvPr/>
        </p:nvSpPr>
        <p:spPr>
          <a:xfrm>
            <a:off x="3224631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38601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What microservices are</a:t>
            </a:r>
          </a:p>
        </p:txBody>
      </p:sp>
      <p:sp>
        <p:nvSpPr>
          <p:cNvPr id="8" name="Chevron 7"/>
          <p:cNvSpPr/>
          <p:nvPr/>
        </p:nvSpPr>
        <p:spPr>
          <a:xfrm>
            <a:off x="5992063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06032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Costs and decisions</a:t>
            </a:r>
          </a:p>
        </p:txBody>
      </p:sp>
      <p:sp>
        <p:nvSpPr>
          <p:cNvPr id="10" name="Chevron 9"/>
          <p:cNvSpPr/>
          <p:nvPr/>
        </p:nvSpPr>
        <p:spPr>
          <a:xfrm>
            <a:off x="8759494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3464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Cloud-native and DevOps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04288"/>
            <a:ext cx="49377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You know the goals of this module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3558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You met the e-commerce order platform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Why do successful monolithic applications become hard to change and scale?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3" name="Oval 22"/>
          <p:cNvSpPr/>
          <p:nvPr/>
        </p:nvSpPr>
        <p:spPr>
          <a:xfrm>
            <a:off x="5760720" y="3997960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3933952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How application architecture evolved</a:t>
            </a:r>
          </a:p>
        </p:txBody>
      </p:sp>
      <p:sp>
        <p:nvSpPr>
          <p:cNvPr id="25" name="Oval 24"/>
          <p:cNvSpPr/>
          <p:nvPr/>
        </p:nvSpPr>
        <p:spPr>
          <a:xfrm>
            <a:off x="5760720" y="440029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4336288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SOA versus microservices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4802632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4738624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What a monolith really is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5204968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5140960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Where monoliths start to hurt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560730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5543296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scaling problem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EVOLUTION OF APPLICATION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Monolith → modular monolith → microservices → cloud-native.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801723"/>
            <a:ext cx="7415783" cy="352887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875"/>
            <a:ext cx="7269480" cy="338256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4813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Delivery evolved too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10607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Manual deploys became CI/CD, servers became containers, static infrastructure became OpenShift.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907791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2907791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NOT A LADDER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A well-designed monolith can beat badly designed microservices.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Architecture evolves as systems, teams and delivery needs grow — not simply because a newer style exists.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SOA VS.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Both reuse services — but they differ in scope, integration and ownership.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98448"/>
          <a:ext cx="7132320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834640"/>
                <a:gridCol w="2834640"/>
              </a:tblGrid>
              <a:tr h="51206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irmala UI"/>
                        </a:rPr>
                        <a:t>Aspect</a:t>
                      </a:r>
                    </a:p>
                  </a:txBody>
                  <a:tcPr anchor="ctr">
                    <a:solidFill>
                      <a:srgbClr val="182F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irmala UI"/>
                        </a:rPr>
                        <a:t>Service-Oriented Architecture</a:t>
                      </a:r>
                    </a:p>
                  </a:txBody>
                  <a:tcPr anchor="ctr">
                    <a:solidFill>
                      <a:srgbClr val="182F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irmala UI"/>
                        </a:rPr>
                        <a:t>Microservices</a:t>
                      </a:r>
                    </a:p>
                  </a:txBody>
                  <a:tcPr anchor="ctr">
                    <a:solidFill>
                      <a:srgbClr val="182F5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Nirmala UI"/>
                        </a:rPr>
                        <a:t>Scope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Nirmala UI"/>
                        </a:rPr>
                        <a:t>Enterprise-wide integration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Nirmala UI"/>
                        </a:rPr>
                        <a:t>One business capability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Nirmala UI"/>
                        </a:rPr>
                        <a:t>Integration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Nirmala UI"/>
                        </a:rPr>
                        <a:t>Central ESB routes and transforms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Nirmala UI"/>
                        </a:rPr>
                        <a:t>Lightweight REST, gRPC, events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Nirmala UI"/>
                        </a:rPr>
                        <a:t>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Nirmala UI"/>
                        </a:rPr>
                        <a:t>Often shared enterprise databases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Nirmala UI"/>
                        </a:rPr>
                        <a:t>Each service owns its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Nirmala UI"/>
                        </a:rPr>
                        <a:t>Governance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Nirmala UI"/>
                        </a:rPr>
                        <a:t>Central standards and control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Nirmala UI"/>
                        </a:rPr>
                        <a:t>Team autonomy with guardrails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Nirmala UI"/>
                        </a:rPr>
                        <a:t>Deployment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Nirmala UI"/>
                        </a:rPr>
                        <a:t>Services often released together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Nirmala UI"/>
                        </a:rPr>
                        <a:t>Independently deployable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Nirmala UI"/>
                        </a:rPr>
                        <a:t>Change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Nirmala UI"/>
                        </a:rPr>
                        <a:t>Coordinated and slower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Nirmala UI"/>
                        </a:rPr>
                        <a:t>Isolated and faster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909560" y="1298448"/>
            <a:ext cx="379476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353312"/>
            <a:ext cx="35204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What they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664208"/>
            <a:ext cx="352044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Both expose capabilities through service interfaces for reuse.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2721864"/>
            <a:ext cx="379476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2776728"/>
            <a:ext cx="35204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The key difference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87624"/>
            <a:ext cx="352044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SOA centralizes integration; microservices decentralize ownership.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4145280"/>
            <a:ext cx="379476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4145280"/>
            <a:ext cx="342900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WHY IT MATTERS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A central ESB can become the new monolith.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870448"/>
            <a:ext cx="10972800" cy="64008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870448"/>
            <a:ext cx="10607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SOA focused on enterprise integration and reuse; microservices focus on independent delivery of business capabilities.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UNDERSTANDING MONOLITHIC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One application, one deployment unit, one shared database.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554480"/>
            <a:ext cx="7415783" cy="4023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27632"/>
            <a:ext cx="7269480" cy="38770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One artifact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27632"/>
            <a:ext cx="3520440" cy="85572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CustomerController  OrderController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PaymentController   InventoryController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→ commerce.jar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261137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66623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One unit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97713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Everything builds, tests and deploys together and shares one database.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403479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403479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NOT BAD DESIGN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A clean, modular monolith is often the right start.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One application, one deployment unit — and monolithic does not automatically mean bad design.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PROBLEMS WITH MONOLITHIC ARCHITECTURES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Coupling, deployment risk, scaling and a growing codebase.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85371"/>
            <a:ext cx="7415783" cy="416157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8523"/>
            <a:ext cx="7269480" cy="401527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4813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As it grows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10607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More features, a larger codebase, more dependencies — and slower, riskier releases.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907791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96265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100 developers, one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273551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small payment change still means build all, test all, deploy 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4331208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331208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DEPLOYMENT COUPLING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Every change waits for one shared release.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monolith is not automatically tightly coupled inside — good modular design greatly reduces these problems.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SCALING CHALLENGES IN A MONOLITH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Payment is overloaded, so the whole application is copied.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003789"/>
            <a:ext cx="7415783" cy="312474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76941"/>
            <a:ext cx="7269480" cy="297843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Load by capability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Payment runs at 95% while Customer, Product and Inventory sit at 20–40%.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Monolith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Adding Payment capacity means copying every capability.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Microservices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Run ten Payment instances and two Customer instances.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FAIR POINT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Monoliths scale horizontally too — just not per capability.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Monoliths can scale horizontally too — the microservices advantage is fine-grained scaling by service.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2: WHAT MICROSERVICES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From the pain of one big application to independent services.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944825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6851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Why monoliths struggle</a:t>
            </a:r>
          </a:p>
        </p:txBody>
      </p:sp>
      <p:sp>
        <p:nvSpPr>
          <p:cNvPr id="6" name="Chevron 5"/>
          <p:cNvSpPr/>
          <p:nvPr/>
        </p:nvSpPr>
        <p:spPr>
          <a:xfrm>
            <a:off x="3224631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38601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What microservices are</a:t>
            </a:r>
          </a:p>
        </p:txBody>
      </p:sp>
      <p:sp>
        <p:nvSpPr>
          <p:cNvPr id="8" name="Chevron 7"/>
          <p:cNvSpPr/>
          <p:nvPr/>
        </p:nvSpPr>
        <p:spPr>
          <a:xfrm>
            <a:off x="5992063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06032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Costs and decisions</a:t>
            </a:r>
          </a:p>
        </p:txBody>
      </p:sp>
      <p:sp>
        <p:nvSpPr>
          <p:cNvPr id="10" name="Chevron 9"/>
          <p:cNvSpPr/>
          <p:nvPr/>
        </p:nvSpPr>
        <p:spPr>
          <a:xfrm>
            <a:off x="8759494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3464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Cloud-native and DevOps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04288"/>
            <a:ext cx="4937760" cy="2575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Monoliths are simple to start with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355848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As they grow, releases, teams and scaling become coupled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0767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003548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Scaling one hot capability means copying everything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What changes when we split capabilities into independently deployable services?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5" name="Oval 24"/>
          <p:cNvSpPr/>
          <p:nvPr/>
        </p:nvSpPr>
        <p:spPr>
          <a:xfrm>
            <a:off x="5760720" y="399626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3933952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definition of a microservice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439521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4332901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architecture at a glance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794165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73185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Local calls become network calls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519311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513080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core principles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59206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529749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Capabilities, deployment and data ownership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5991013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928698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Synchronous and asynchronous communication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WHAT ARE MICROSERVICES?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The definition and the fundamental idea.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47120" cy="77724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 i="1">
                <a:solidFill>
                  <a:srgbClr val="002060"/>
                </a:solidFill>
                <a:latin typeface="Nirmala UI"/>
              </a:rPr>
              <a:t>“A system composed of independently deployable services aligned with business capabilities.”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31720"/>
            <a:ext cx="2468880" cy="731520"/>
          </a:xfrm>
          <a:prstGeom prst="roundRect">
            <a:avLst>
              <a:gd name="adj" fmla="val 14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 i="0">
                <a:solidFill>
                  <a:srgbClr val="FFFFFF"/>
                </a:solidFill>
                <a:latin typeface="Nirmala UI"/>
              </a:rPr>
              <a:t>Customer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331720"/>
            <a:ext cx="457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595959"/>
                </a:solidFill>
                <a:latin typeface="Nirmala UI"/>
              </a:rPr>
              <a:t>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2331720"/>
            <a:ext cx="2468880" cy="731520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 i="0">
                <a:solidFill>
                  <a:srgbClr val="FFFFFF"/>
                </a:solidFill>
                <a:latin typeface="Nirmala UI"/>
              </a:rPr>
              <a:t>Order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331720"/>
            <a:ext cx="457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595959"/>
                </a:solidFill>
                <a:latin typeface="Nirmala UI"/>
              </a:rPr>
              <a:t>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331720"/>
            <a:ext cx="2468880" cy="731520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 i="0">
                <a:solidFill>
                  <a:srgbClr val="FFFFFF"/>
                </a:solidFill>
                <a:latin typeface="Nirmala UI"/>
              </a:rPr>
              <a:t>Payment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331720"/>
            <a:ext cx="457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595959"/>
                </a:solidFill>
                <a:latin typeface="Nirmala U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2331720"/>
            <a:ext cx="2468880" cy="731520"/>
          </a:xfrm>
          <a:prstGeom prst="roundRect">
            <a:avLst>
              <a:gd name="adj" fmla="val 14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 i="0">
                <a:solidFill>
                  <a:srgbClr val="FFFFFF"/>
                </a:solidFill>
                <a:latin typeface="Nirmala UI"/>
              </a:rPr>
              <a:t>Inventory 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83280"/>
            <a:ext cx="2674620" cy="23408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7200" y="3383280"/>
            <a:ext cx="2674620" cy="502920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383280"/>
            <a:ext cx="24003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Nirmala UI"/>
              </a:rPr>
              <a:t>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041648"/>
            <a:ext cx="234543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Nirmala UI"/>
              </a:rPr>
              <a:t>A separately running application or process that provides a capability through a defined interface.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14700" y="3383280"/>
            <a:ext cx="2674620" cy="23408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>
            <a:off x="3314700" y="3383280"/>
            <a:ext cx="2674620" cy="502920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51860" y="3383280"/>
            <a:ext cx="24003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Nirmala UI"/>
              </a:rPr>
              <a:t>BUSINESS CAPABILITY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9292" y="4041648"/>
            <a:ext cx="234543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Nirmala UI"/>
              </a:rPr>
              <a:t>The service represents meaningful business functionality.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383280"/>
            <a:ext cx="2674620" cy="23408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>
            <a:off x="6172200" y="3383280"/>
            <a:ext cx="2674620" cy="502920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383280"/>
            <a:ext cx="24003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Nirmala UI"/>
              </a:rPr>
              <a:t>INDEPENDENTLY DEPLOYABLE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4041648"/>
            <a:ext cx="234543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Nirmala UI"/>
              </a:rPr>
              <a:t>Ideally, changing one service doesn't require rebuilding and redeploying every other service.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29700" y="3383280"/>
            <a:ext cx="2674620" cy="23408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>
            <a:off x="9029700" y="3383280"/>
            <a:ext cx="2674620" cy="502920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66860" y="3383280"/>
            <a:ext cx="24003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Nirmala UI"/>
              </a:rPr>
              <a:t>AUTONOMOUS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4292" y="4041648"/>
            <a:ext cx="234543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Nirmala UI"/>
              </a:rPr>
              <a:t>A service controls its implementation and typically its data boundary.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Payment Service owns payment behavior — it is not a generic collection of unrelated functions.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MICROSERVICES 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Clients reach independent services through an API gateway.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884696"/>
            <a:ext cx="7415783" cy="336292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57848"/>
            <a:ext cx="7269480" cy="321662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API gateway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One entry point that routes each request to the right service.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72186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7767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Independent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8762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Customer, Order, Payment and Inventory run and deploy on their own.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4145280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4200144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Owned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511040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Each service keeps its own database — no shared tables.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Clients reach independent services through a gateway, and each service owns its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MONOLITH VS. MICROSERVICES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The same capabilities — in one process, or across the network.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587736"/>
            <a:ext cx="7415783" cy="395684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60888"/>
            <a:ext cx="7269480" cy="38105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Monolith: local call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27632"/>
            <a:ext cx="3520440" cy="49250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paymentService.charge(order);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80" y="2248154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Microservices: remote 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77338"/>
            <a:ext cx="3520440" cy="49250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paymentClient.charge(order); // HTTP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80" y="3197860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THE NETWORK ADDS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354533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Latency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80676" y="354533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Timeouts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3984244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Partial failure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80676" y="3984244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Security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423156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API contracts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80676" y="4423156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Versioning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Crossing the network boundary changes everything: latency, security, timeouts and partial failures.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FROM A LOCAL CALL TO A REMOTE 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The same checkout step, before and after the split.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Monolith — one transaction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5509260" cy="23500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@Transactional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public Order placeOrder(Cart cart) {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Order order = orders.save(Order.from(cart));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inventory.reserve(cart.items());  // local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payments.charge(order);           // local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return order;                     // one commit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506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Microservices — calls cross the network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5060" y="1627632"/>
            <a:ext cx="5509260" cy="23500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public Order placeOrder(Cart cart) {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Order order = orders.save(Order.pending(cart));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inventoryClient.reserve(order.id(), cart.items());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paymentClient.charge(order.id(), order.total());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return order;  // no single transaction now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20624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26110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What you lose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7200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One database transaction no longer covers order, stock and payment.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7200" y="420624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4360" y="426110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What you gain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4360" y="457200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Payment and Inventory deploy and scale on their own.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7200" y="420624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4360" y="426110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What you need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4360" y="457200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Timeouts, retries and a plan for partial failure — Part 3.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method call becomes a network call — great for independence, but it changes consistency and failure handling.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CORE PRINCIPLES OF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Five principles that matter more than making services small.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28006" y="1316736"/>
            <a:ext cx="5910747" cy="4498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158" y="1389888"/>
            <a:ext cx="5764443" cy="43525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EACH IN ONE LINE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445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Business alignment: follow business domains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2118360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090928"/>
            <a:ext cx="3154680" cy="445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High cohesion: related behavior stays together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563368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535936"/>
            <a:ext cx="3154680" cy="445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Loose coupling: know contracts, not internals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3008376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980944"/>
            <a:ext cx="3154680" cy="445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Autonomy: a service controls its own behavior</a:t>
            </a:r>
          </a:p>
        </p:txBody>
      </p:sp>
      <p:sp>
        <p:nvSpPr>
          <p:cNvPr id="15" name="Oval 14"/>
          <p:cNvSpPr/>
          <p:nvPr/>
        </p:nvSpPr>
        <p:spPr>
          <a:xfrm>
            <a:off x="8183880" y="3453384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3425952"/>
            <a:ext cx="3154680" cy="445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Independent deployment: release without coordination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3998976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3998976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NOT ABOUT SIZE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A small service can still break every principle.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These principles are more important than simply making services small.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DESIGNING AROUND BUSINESS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Cut services by what the business does, not by technical layer.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977624"/>
            <a:ext cx="7415783" cy="31770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50776"/>
            <a:ext cx="7269480" cy="30307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AVOID TECHNICAL-LAYER SERVICES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UI service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Business-logic service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Database service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270662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76148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Order Service owns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07238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Create, update and cancel orders, and order status.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4130040"/>
            <a:ext cx="3520440" cy="110947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4184903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Payment Service owns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495800"/>
            <a:ext cx="3246120" cy="688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Authorize, capture and refund payments.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Draw boundaries around business domains, not technical layers — later this leads to DDD and bounded contexts.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INDEPENDENT DEPLOYMENT AND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Deploy and scale one service without redeploying the others.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525704"/>
            <a:ext cx="7415783" cy="408091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98856"/>
            <a:ext cx="7269480" cy="393460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One pipeline per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Git commit → CI → tests → image → registry → OpenShift.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72186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7767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Only Payment changes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8762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Payment ships a fix while Customer, Order and Inventory keep running.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4145280"/>
            <a:ext cx="3520440" cy="126187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145280"/>
            <a:ext cx="3154680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NEEDS AUTOMATION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Independence works only with automated tests and deployment.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Change Payment Service, then build, test, deploy and scale it — without redeploying unrelated services.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DECENTRALIZED DATA OWNERSHIP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Database-per-service and clear data boundaries.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694603"/>
            <a:ext cx="7415783" cy="374311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67755"/>
            <a:ext cx="7269480" cy="35968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AVOID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One shared database for every service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445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Reading or writing another service's tables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2529840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PREFER</a:t>
            </a:r>
          </a:p>
        </p:txBody>
      </p:sp>
      <p:sp>
        <p:nvSpPr>
          <p:cNvPr id="12" name="Oval 11"/>
          <p:cNvSpPr/>
          <p:nvPr/>
        </p:nvSpPr>
        <p:spPr>
          <a:xfrm>
            <a:off x="8183880" y="2904743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8773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Each service owns its data</a:t>
            </a:r>
          </a:p>
        </p:txBody>
      </p:sp>
      <p:sp>
        <p:nvSpPr>
          <p:cNvPr id="14" name="Oval 13"/>
          <p:cNvSpPr/>
          <p:nvPr/>
        </p:nvSpPr>
        <p:spPr>
          <a:xfrm>
            <a:off x="8183880" y="3215639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188207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Share data through APIs or events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3627120"/>
            <a:ext cx="3520440" cy="126187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3627120"/>
            <a:ext cx="3154680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THE BIG CHALLENGE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Keeping data consistent across services — covered in the data module.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Each service owns its data — if services share tables, the database becomes a coupling mechanism.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OWNING DATA IN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Ask the owner — through its API or an event — instead of touching its database.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25880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298448"/>
            <a:ext cx="32674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Writes another service's table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7632"/>
            <a:ext cx="3596640" cy="2085847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// Order Service reaching into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// Inventory's database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inventoryRepository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.decrementStock(sku, qty);</a:t>
            </a:r>
          </a:p>
        </p:txBody>
      </p:sp>
      <p:sp>
        <p:nvSpPr>
          <p:cNvPr id="7" name="Oval 6"/>
          <p:cNvSpPr/>
          <p:nvPr/>
        </p:nvSpPr>
        <p:spPr>
          <a:xfrm>
            <a:off x="428244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1624" y="1298448"/>
            <a:ext cx="32674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Calls the owner's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2440" y="1627632"/>
            <a:ext cx="3596640" cy="2085847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inventoryClient.reserve(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new Reservation(orderId,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                sku, qty));</a:t>
            </a:r>
          </a:p>
        </p:txBody>
      </p:sp>
      <p:sp>
        <p:nvSpPr>
          <p:cNvPr id="10" name="Oval 9"/>
          <p:cNvSpPr/>
          <p:nvPr/>
        </p:nvSpPr>
        <p:spPr>
          <a:xfrm>
            <a:off x="810768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6864" y="1298448"/>
            <a:ext cx="32674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Publishes an event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7680" y="1627632"/>
            <a:ext cx="3596640" cy="2085847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events.publish(new OrderPlaced(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orderId, customerId,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items, total));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42080"/>
            <a:ext cx="5532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996943"/>
            <a:ext cx="5257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Why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307840"/>
            <a:ext cx="5257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Inventory keeps control of its own rules, schema and changes.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942080"/>
            <a:ext cx="5532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996943"/>
            <a:ext cx="5257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API or event?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307840"/>
            <a:ext cx="5257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Need an answer now → call the API. Others react later → publish an event.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Services change each other's data only by asking the owner — never by touching its tables.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MICROSERVICE COMMUNICATION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REST, gRPC, messaging and events.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22614"/>
            <a:ext cx="7415783" cy="428709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95766"/>
            <a:ext cx="7269480" cy="41407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COMMON OPTIONS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45920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REST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80676" y="1645920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gRPC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08483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Events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80676" y="208483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Messaging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257860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63347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Synchronous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944368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caller sends a request and waits for the reply.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400202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405688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Asynchronous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367784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producer publishes and moves on; consumers react later.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Services must communicate — choose request/response or events based on what each interaction needs.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SYNCHRONOUS VS. ASYNCHRONOUS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The same order flow — once as a request, once as events.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151017"/>
            <a:ext cx="7415783" cy="283028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24169"/>
            <a:ext cx="7269480" cy="268398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Checkout: synchronous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Order asks Payment and waits for the result.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72186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7767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After acceptance: events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8762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OrderCreated lets Inventory, Notification and Analytics react on their own.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414528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14528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USE BOTH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Most systems combine request/response and events.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Neither approach is universally better — most enterprise microservice architectures use a combination.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KEY CHARACTERISTICS OF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Small, autonomous, independently deployable — and observable.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52728"/>
            <a:ext cx="310896" cy="310896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5272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43584"/>
            <a:ext cx="56052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A WELL-DESIGNED MICROSERVICE 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19072"/>
            <a:ext cx="2912364" cy="71323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85216" y="1856232"/>
            <a:ext cx="438912" cy="43891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1856232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719072"/>
            <a:ext cx="213512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Nirmala UI"/>
              </a:rPr>
              <a:t>Business focused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34156" y="1719072"/>
            <a:ext cx="2912364" cy="71323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62172" y="1856232"/>
            <a:ext cx="438912" cy="438912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2172" y="1856232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19956" y="1719072"/>
            <a:ext cx="213512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Nirmala UI"/>
              </a:rPr>
              <a:t>Loosely coupled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578608"/>
            <a:ext cx="2912364" cy="71323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5216" y="2715768"/>
            <a:ext cx="438912" cy="438912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2715768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578608"/>
            <a:ext cx="213512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Nirmala UI"/>
              </a:rPr>
              <a:t>Highly cohesive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34156" y="2578608"/>
            <a:ext cx="2912364" cy="71323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62172" y="2715768"/>
            <a:ext cx="438912" cy="43891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62172" y="2715768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19956" y="2578608"/>
            <a:ext cx="213512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Nirmala UI"/>
              </a:rPr>
              <a:t>Independently deployable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438144"/>
            <a:ext cx="2912364" cy="71323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5216" y="3575304"/>
            <a:ext cx="438912" cy="43891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216" y="3575304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3438144"/>
            <a:ext cx="213512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Nirmala UI"/>
              </a:rPr>
              <a:t>Independently scalable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34156" y="3438144"/>
            <a:ext cx="2912364" cy="713232"/>
          </a:xfrm>
          <a:prstGeom prst="roundRect">
            <a:avLst>
              <a:gd name="adj" fmla="val 12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662172" y="3575304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62172" y="3575304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19956" y="3438144"/>
            <a:ext cx="213512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Nirmala UI"/>
              </a:rPr>
              <a:t>Observable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297680"/>
            <a:ext cx="2912364" cy="71323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85216" y="4434840"/>
            <a:ext cx="438912" cy="438912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5216" y="4434840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4297680"/>
            <a:ext cx="213512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Nirmala UI"/>
              </a:rPr>
              <a:t>Resilient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34156" y="4297680"/>
            <a:ext cx="2912364" cy="71323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662172" y="4434840"/>
            <a:ext cx="438912" cy="43891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62172" y="4434840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19956" y="4297680"/>
            <a:ext cx="213512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Nirmala UI"/>
              </a:rPr>
              <a:t>Automation friendly</a:t>
            </a:r>
          </a:p>
        </p:txBody>
      </p:sp>
      <p:sp>
        <p:nvSpPr>
          <p:cNvPr id="39" name="Oval 38"/>
          <p:cNvSpPr/>
          <p:nvPr/>
        </p:nvSpPr>
        <p:spPr>
          <a:xfrm>
            <a:off x="6858000" y="1252728"/>
            <a:ext cx="310896" cy="310896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0" y="125272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42048" y="1243584"/>
            <a:ext cx="44622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WHY OBSERVABLE MATTERS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1673352"/>
            <a:ext cx="4846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In a monolith you might read one application's logs. With 50 services, one request may travel through: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0" y="2587752"/>
            <a:ext cx="2148840" cy="402336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002060"/>
                </a:solidFill>
                <a:latin typeface="Nirmala UI"/>
              </a:rPr>
              <a:t>Gateway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932420" y="3017520"/>
            <a:ext cx="0" cy="128016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6858000" y="3172968"/>
            <a:ext cx="2148840" cy="402336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002060"/>
                </a:solidFill>
                <a:latin typeface="Nirmala UI"/>
              </a:rPr>
              <a:t>Order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932420" y="3602736"/>
            <a:ext cx="0" cy="128016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6858000" y="3758184"/>
            <a:ext cx="2148840" cy="402336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002060"/>
                </a:solidFill>
                <a:latin typeface="Nirmala UI"/>
              </a:rPr>
              <a:t>Inventory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932420" y="4187952"/>
            <a:ext cx="0" cy="128016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6858000" y="4343400"/>
            <a:ext cx="2148840" cy="402336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002060"/>
                </a:solidFill>
                <a:latin typeface="Nirmala UI"/>
              </a:rPr>
              <a:t>Payment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932420" y="4773168"/>
            <a:ext cx="0" cy="128016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6858000" y="4928616"/>
            <a:ext cx="2148840" cy="402336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002060"/>
                </a:solidFill>
                <a:latin typeface="Nirmala UI"/>
              </a:rPr>
              <a:t>Notification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26880" y="2587752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95959"/>
                </a:solidFill>
                <a:latin typeface="Nirmala UI"/>
              </a:rPr>
              <a:t>Distributed systems need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326880" y="3154680"/>
            <a:ext cx="2377440" cy="530352"/>
          </a:xfrm>
          <a:prstGeom prst="roundRect">
            <a:avLst>
              <a:gd name="adj" fmla="val 14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 i="0">
                <a:solidFill>
                  <a:srgbClr val="FFFFFF"/>
                </a:solidFill>
                <a:latin typeface="Nirmala UI"/>
              </a:rPr>
              <a:t>Logs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326880" y="3867912"/>
            <a:ext cx="2377440" cy="530352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 i="0">
                <a:solidFill>
                  <a:srgbClr val="FFFFFF"/>
                </a:solidFill>
                <a:latin typeface="Nirmala UI"/>
              </a:rPr>
              <a:t>Metrics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326880" y="4581144"/>
            <a:ext cx="2377440" cy="530352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 i="0">
                <a:solidFill>
                  <a:srgbClr val="FFFFFF"/>
                </a:solidFill>
                <a:latin typeface="Nirmala UI"/>
              </a:rPr>
              <a:t>Traces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Finding where a request failed across many services is hard — distributed systems need logs, metrics and traces.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6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3: COSTS AND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Independence has a price. Decide when it's worth paying.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944825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6851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Why monoliths struggle</a:t>
            </a:r>
          </a:p>
        </p:txBody>
      </p:sp>
      <p:sp>
        <p:nvSpPr>
          <p:cNvPr id="6" name="Chevron 5"/>
          <p:cNvSpPr/>
          <p:nvPr/>
        </p:nvSpPr>
        <p:spPr>
          <a:xfrm>
            <a:off x="3224631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38601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What microservices are</a:t>
            </a:r>
          </a:p>
        </p:txBody>
      </p:sp>
      <p:sp>
        <p:nvSpPr>
          <p:cNvPr id="8" name="Chevron 7"/>
          <p:cNvSpPr/>
          <p:nvPr/>
        </p:nvSpPr>
        <p:spPr>
          <a:xfrm>
            <a:off x="5992063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06032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Costs and decisions</a:t>
            </a:r>
          </a:p>
        </p:txBody>
      </p:sp>
      <p:sp>
        <p:nvSpPr>
          <p:cNvPr id="10" name="Chevron 9"/>
          <p:cNvSpPr/>
          <p:nvPr/>
        </p:nvSpPr>
        <p:spPr>
          <a:xfrm>
            <a:off x="8759494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3464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Cloud-native and DevOps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04288"/>
            <a:ext cx="4937760" cy="2575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80360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A microservice owns one business capability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6012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528060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Services deploy, scale and store data independently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2489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1757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They talk through APIs and events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What does this independence cost — and when is it worth paying?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5" name="Oval 24"/>
          <p:cNvSpPr/>
          <p:nvPr/>
        </p:nvSpPr>
        <p:spPr>
          <a:xfrm>
            <a:off x="5760720" y="399626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3933952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benefits you can get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439521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4332901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Distributed-system challenges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794165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73185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Designing for failure, in code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519311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513080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Misconceptions and anti-patterns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59206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529749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Monolith or microservices?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5991013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928698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modular monolith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BENEFITS OF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Agility, scalability, autonomy and fault isolation.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103120" cy="31546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" y="1527048"/>
            <a:ext cx="731520" cy="7315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527048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395728"/>
            <a:ext cx="18836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02060"/>
                </a:solidFill>
                <a:latin typeface="Nirmala UI"/>
              </a:rPr>
              <a:t>Independent Delivery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127248"/>
            <a:ext cx="182879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000000"/>
                </a:solidFill>
                <a:latin typeface="Nirmala UI"/>
              </a:rPr>
              <a:t>Teams can release services at different cadences.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298448"/>
            <a:ext cx="2103120" cy="31546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29000" y="1527048"/>
            <a:ext cx="731520" cy="731520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527048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2928" y="2395728"/>
            <a:ext cx="18836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E7C7B"/>
                </a:solidFill>
                <a:latin typeface="Nirmala UI"/>
              </a:rPr>
              <a:t>Independent Scaling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3127248"/>
            <a:ext cx="182879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000000"/>
                </a:solidFill>
                <a:latin typeface="Nirmala UI"/>
              </a:rPr>
              <a:t>High-demand services can receive more resources.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298448"/>
            <a:ext cx="2103120" cy="31546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15000" y="1527048"/>
            <a:ext cx="731520" cy="731520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0" y="1527048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2395728"/>
            <a:ext cx="18836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5B3A9E"/>
                </a:solidFill>
                <a:latin typeface="Nirmala UI"/>
              </a:rPr>
              <a:t>Team Autonomy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3127248"/>
            <a:ext cx="182879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000000"/>
                </a:solidFill>
                <a:latin typeface="Nirmala UI"/>
              </a:rPr>
              <a:t>Different teams can own specific business capabilities.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1298448"/>
            <a:ext cx="2103120" cy="31546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01000" y="1527048"/>
            <a:ext cx="731520" cy="731520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1527048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4927" y="2395728"/>
            <a:ext cx="18836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2E7D32"/>
                </a:solidFill>
                <a:latin typeface="Nirmala UI"/>
              </a:rPr>
              <a:t>Fault Isolation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3127248"/>
            <a:ext cx="182879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000000"/>
                </a:solidFill>
                <a:latin typeface="Nirmala UI"/>
              </a:rPr>
              <a:t>Properly designed, a failure may stay confined to one service.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1298448"/>
            <a:ext cx="2103120" cy="31546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87000" y="1527048"/>
            <a:ext cx="731520" cy="731520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7000" y="1527048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0928" y="2395728"/>
            <a:ext cx="18836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C9690C"/>
                </a:solidFill>
                <a:latin typeface="Nirmala UI"/>
              </a:rPr>
              <a:t>Technology Flexibility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3127248"/>
            <a:ext cx="182879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000000"/>
                </a:solidFill>
                <a:latin typeface="Nirmala UI"/>
              </a:rPr>
              <a:t>Different services can potentially use different technologies.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727448"/>
            <a:ext cx="11247120" cy="96012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727448"/>
            <a:ext cx="108813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POTENTIAL, NOT GUARANTEED 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Poor service boundaries can produce a distributed system that is harder to maintain than the original monolith.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These are potential benefits, not automatic guarantees — they depend on good boundaries and engineering.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MICROSERVICES TRADEOFFS AND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Network, consistency, observability, security and operations.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572974"/>
            <a:ext cx="7415783" cy="39863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6126"/>
            <a:ext cx="7269480" cy="38400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A REMOTE SERVICE COULD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Be unavailable or slow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Return an error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Process the request but lose the reply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2606039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57860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Run a different API version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3017520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YOU INHERIT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336499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Network failures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80676" y="336499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Data consistency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3803904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Security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80676" y="3803904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Observability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Microservices therefore require more mature engineering practices.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DESIGNING FOR FAILURE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Timeouts, retries, circuit breakers, fallbacks and health checks.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7" y="1366907"/>
            <a:ext cx="11210544" cy="278001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440059"/>
            <a:ext cx="11064240" cy="263371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489704"/>
            <a:ext cx="2103120" cy="134416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544568"/>
            <a:ext cx="182879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Timeout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855464"/>
            <a:ext cx="1828799" cy="923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Don't wait forever for a slow service.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4489704"/>
            <a:ext cx="2103120" cy="134416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4544568"/>
            <a:ext cx="182879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4855464"/>
            <a:ext cx="1828799" cy="923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Retry only safe, temporary failures — with limits.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4489704"/>
            <a:ext cx="2103120" cy="134416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4544568"/>
            <a:ext cx="182879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Circuit breaker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4855464"/>
            <a:ext cx="1828799" cy="923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Stop calling a failing dependency for a while.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4489704"/>
            <a:ext cx="2103120" cy="134416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4544568"/>
            <a:ext cx="182879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Fallback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4855464"/>
            <a:ext cx="1828799" cy="923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Return a safe alternative, e.g. mark the order pending.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4489704"/>
            <a:ext cx="2103120" cy="134416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8360" y="4544568"/>
            <a:ext cx="182879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Health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4855464"/>
            <a:ext cx="1828799" cy="923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Tell the platform whether an instance is healthy.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Timeouts, controlled retries, circuit breakers, fallbacks and health checks stop one failure from spreading.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DESIGNING FOR FAILURE IN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Checkout keeps working when Payment Service is slow or down.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1  Put a timeout on the client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5509260" cy="265544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var factory = new SimpleClientHttpRequestFactory();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factory.setConnectTimeout(Duration.ofSeconds(1));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factory.setReadTimeout(Duration.ofSeconds(2));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RestClient payments = RestClient.builder()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.baseUrl("http://payment-service")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.requestFactory(factory)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.build();</a:t>
            </a:r>
          </a:p>
        </p:txBody>
      </p:sp>
      <p:sp>
        <p:nvSpPr>
          <p:cNvPr id="6" name="Oval 5"/>
          <p:cNvSpPr/>
          <p:nvPr/>
        </p:nvSpPr>
        <p:spPr>
          <a:xfrm>
            <a:off x="619506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24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2  Fall back instead of failing the order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2655442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public OrderResult checkout(Order order) {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try {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payments.post().uri("/payments")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    .body(PaymentRequest.of(order))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    .retrieve().toBodilessEntity();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return OrderResult.confirmed(order.id());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} catch (RestClientException ex) {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log.warn("Payment unavailable for {}", order.id());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return OrderResult.pendingPayment(order.id());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11675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566539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Timeout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877435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slow Payment Service can't hold Order's threads forever.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4511675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4566539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Fallback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4877435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order is kept as PENDING_PAYMENT instead of failing.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511675"/>
            <a:ext cx="3627120" cy="115824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0080" y="4511675"/>
            <a:ext cx="3261360" cy="1158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LATER IN THE COURSE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Resilience4j adds retries and circuit breakers.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Bound every remote call with a timeout, and decide what the business does when it fails.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CHECKOUT WHEN PAYMENT IS 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Decide how the order platform should behave during a partial failure.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60553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9773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 customer checks out a $180 order. Order Service calls Payment Service, but Payment has been timing out for three minutes.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65376"/>
            <a:ext cx="3886200" cy="360553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6632" y="23957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Choose: reject, retry, keep pending, or queue for later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30490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2994152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Say what the customer sees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35062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345135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Decide what happens to the reserved stock</a:t>
            </a:r>
          </a:p>
        </p:txBody>
      </p:sp>
      <p:sp>
        <p:nvSpPr>
          <p:cNvPr id="19" name="Oval 18"/>
          <p:cNvSpPr/>
          <p:nvPr/>
        </p:nvSpPr>
        <p:spPr>
          <a:xfrm>
            <a:off x="4663440" y="4104640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2" y="4049776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Name the signal that alerts the team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41080" y="1865376"/>
            <a:ext cx="3063240" cy="360553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4" name="Oval 23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7" y="2395728"/>
            <a:ext cx="2450592" cy="71399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Don't blindly retry the charge — it could double-charge</a:t>
            </a:r>
          </a:p>
        </p:txBody>
      </p:sp>
      <p:sp>
        <p:nvSpPr>
          <p:cNvPr id="26" name="Oval 25"/>
          <p:cNvSpPr/>
          <p:nvPr/>
        </p:nvSpPr>
        <p:spPr>
          <a:xfrm>
            <a:off x="8778240" y="320116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7" y="3146298"/>
            <a:ext cx="2450592" cy="71399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Keep the order as PENDING_PAYMENT and tell the customer</a:t>
            </a:r>
          </a:p>
        </p:txBody>
      </p:sp>
      <p:sp>
        <p:nvSpPr>
          <p:cNvPr id="28" name="Oval 27"/>
          <p:cNvSpPr/>
          <p:nvPr/>
        </p:nvSpPr>
        <p:spPr>
          <a:xfrm>
            <a:off x="8778240" y="3951731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7" y="3896868"/>
            <a:ext cx="2450592" cy="71399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Retry in the background; release stock after a time limit</a:t>
            </a:r>
          </a:p>
        </p:txBody>
      </p:sp>
      <p:sp>
        <p:nvSpPr>
          <p:cNvPr id="30" name="Oval 29"/>
          <p:cNvSpPr/>
          <p:nvPr/>
        </p:nvSpPr>
        <p:spPr>
          <a:xfrm>
            <a:off x="8778240" y="4702301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6567" y="464743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Alert on payment error rate and latency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Failure handling is a business decision, not only a technical one.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MISCONCEPTIONS AND ANTI-PATTERNS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Common beliefs that lead teams into trouble.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MISCONCEPTION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9080" y="1298448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REALITY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09928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Microservices are always faster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30752" y="2078431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069080" y="1709928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Poorly designed ones are slower than a good monolith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56662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They're just small services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30752" y="2925165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069080" y="2556662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They're defined by business boundaries, not size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03396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Splitting is just moving code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30752" y="3771899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3403396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Data, teams, testing and operations change too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50131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Every service needs new tech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30752" y="4618634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069080" y="4250131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Too much variety makes support harder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096865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Microservices = cloud + DevOps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30752" y="5465368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069080" y="5096865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They're an architecture; cloud and DevOps enable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1298448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ANTI-PATTERNS TO AVOID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0" y="1673352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1645920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Too many tiny services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0" y="1984248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1956816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One shared database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0" y="2295144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267712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Synchronous, chatty calls everywhere</a:t>
            </a:r>
          </a:p>
        </p:txBody>
      </p:sp>
      <p:sp>
        <p:nvSpPr>
          <p:cNvPr id="28" name="Oval 27"/>
          <p:cNvSpPr/>
          <p:nvPr/>
        </p:nvSpPr>
        <p:spPr>
          <a:xfrm>
            <a:off x="7772400" y="2606039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578608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Services that must deploy together</a:t>
            </a:r>
          </a:p>
        </p:txBody>
      </p:sp>
      <p:sp>
        <p:nvSpPr>
          <p:cNvPr id="30" name="Oval 29"/>
          <p:cNvSpPr/>
          <p:nvPr/>
        </p:nvSpPr>
        <p:spPr>
          <a:xfrm>
            <a:off x="7772400" y="2916935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2889503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Big-bang rewrite</a:t>
            </a:r>
          </a:p>
        </p:txBody>
      </p:sp>
      <p:sp>
        <p:nvSpPr>
          <p:cNvPr id="32" name="Oval 31"/>
          <p:cNvSpPr/>
          <p:nvPr/>
        </p:nvSpPr>
        <p:spPr>
          <a:xfrm>
            <a:off x="7772400" y="3227831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200399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No logs, metrics or traces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0" y="3639312"/>
            <a:ext cx="393192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79" y="3639312"/>
            <a:ext cx="356616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REMEMBER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Microservices amplify good design — and bad design.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Microservices amplify both good and bad design — avoid these traps from the start.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WHEN TO USE MICROSERVICES VS. A MONOLITH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Practical architecture decision criteria.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52728"/>
            <a:ext cx="54406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457200" y="1252728"/>
            <a:ext cx="54406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52728"/>
            <a:ext cx="51663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Nirmala UI"/>
              </a:rPr>
              <a:t>CONSIDER MICROSERVICES WHEN</a:t>
            </a:r>
          </a:p>
        </p:txBody>
      </p:sp>
      <p:sp>
        <p:nvSpPr>
          <p:cNvPr id="7" name="Oval 6"/>
          <p:cNvSpPr/>
          <p:nvPr/>
        </p:nvSpPr>
        <p:spPr>
          <a:xfrm>
            <a:off x="621792" y="1819656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783080"/>
            <a:ext cx="47548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Multiple autonomous teams</a:t>
            </a:r>
          </a:p>
        </p:txBody>
      </p:sp>
      <p:sp>
        <p:nvSpPr>
          <p:cNvPr id="9" name="Oval 8"/>
          <p:cNvSpPr/>
          <p:nvPr/>
        </p:nvSpPr>
        <p:spPr>
          <a:xfrm>
            <a:off x="621792" y="217170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135124"/>
            <a:ext cx="47548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Clear domain boundaries</a:t>
            </a:r>
          </a:p>
        </p:txBody>
      </p:sp>
      <p:sp>
        <p:nvSpPr>
          <p:cNvPr id="11" name="Oval 10"/>
          <p:cNvSpPr/>
          <p:nvPr/>
        </p:nvSpPr>
        <p:spPr>
          <a:xfrm>
            <a:off x="621792" y="2523744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487168"/>
            <a:ext cx="47548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Independent releases required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" y="2875788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2839212"/>
            <a:ext cx="47548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Different scaling requirements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" y="322783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3191256"/>
            <a:ext cx="47548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Mature CI/CD and operations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252728"/>
            <a:ext cx="54406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263640" y="1252728"/>
            <a:ext cx="54406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252728"/>
            <a:ext cx="51663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Nirmala UI"/>
              </a:rPr>
              <a:t>CONSIDER A MONOLITH WHEN</a:t>
            </a:r>
          </a:p>
        </p:txBody>
      </p:sp>
      <p:sp>
        <p:nvSpPr>
          <p:cNvPr id="20" name="Oval 19"/>
          <p:cNvSpPr/>
          <p:nvPr/>
        </p:nvSpPr>
        <p:spPr>
          <a:xfrm>
            <a:off x="6428232" y="1819656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93992" y="1783080"/>
            <a:ext cx="47548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Small team</a:t>
            </a:r>
          </a:p>
        </p:txBody>
      </p:sp>
      <p:sp>
        <p:nvSpPr>
          <p:cNvPr id="22" name="Oval 21"/>
          <p:cNvSpPr/>
          <p:nvPr/>
        </p:nvSpPr>
        <p:spPr>
          <a:xfrm>
            <a:off x="6428232" y="2171700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3992" y="2135124"/>
            <a:ext cx="47548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New / MVP application</a:t>
            </a:r>
          </a:p>
        </p:txBody>
      </p:sp>
      <p:sp>
        <p:nvSpPr>
          <p:cNvPr id="24" name="Oval 23"/>
          <p:cNvSpPr/>
          <p:nvPr/>
        </p:nvSpPr>
        <p:spPr>
          <a:xfrm>
            <a:off x="6428232" y="2523744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3992" y="2487168"/>
            <a:ext cx="47548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Uncertain domain</a:t>
            </a:r>
          </a:p>
        </p:txBody>
      </p:sp>
      <p:sp>
        <p:nvSpPr>
          <p:cNvPr id="26" name="Oval 25"/>
          <p:cNvSpPr/>
          <p:nvPr/>
        </p:nvSpPr>
        <p:spPr>
          <a:xfrm>
            <a:off x="6428232" y="2875788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93992" y="2839212"/>
            <a:ext cx="47548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Simple deployment</a:t>
            </a:r>
          </a:p>
        </p:txBody>
      </p:sp>
      <p:sp>
        <p:nvSpPr>
          <p:cNvPr id="28" name="Oval 27"/>
          <p:cNvSpPr/>
          <p:nvPr/>
        </p:nvSpPr>
        <p:spPr>
          <a:xfrm>
            <a:off x="6428232" y="3227832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93992" y="3191256"/>
            <a:ext cx="47548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Limited operational complexity desired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7947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1282E"/>
                </a:solidFill>
                <a:latin typeface="Nirmala UI"/>
              </a:rPr>
              <a:t>ASK FIRST   </a:t>
            </a:r>
            <a:r>
              <a:rPr sz="1500" b="0" i="1">
                <a:solidFill>
                  <a:srgbClr val="595959"/>
                </a:solidFill>
                <a:latin typeface="Nirmala UI"/>
              </a:rPr>
              <a:t>— don't start with “Microservices are modern, so we should use microservices.”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233672"/>
            <a:ext cx="2117750" cy="148132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85216" y="4343400"/>
            <a:ext cx="365760" cy="36576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" y="4782312"/>
            <a:ext cx="184343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Do teams need independent deployment?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39542" y="4233672"/>
            <a:ext cx="2117750" cy="148132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867558" y="4343400"/>
            <a:ext cx="365760" cy="365760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85846" y="4782312"/>
            <a:ext cx="184343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Are domain boundaries sufficiently understood?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1884" y="4233672"/>
            <a:ext cx="2117750" cy="148132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49900" y="4343400"/>
            <a:ext cx="365760" cy="365760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8188" y="4782312"/>
            <a:ext cx="184343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Do capabilities have very different scaling needs?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04227" y="4233672"/>
            <a:ext cx="2117750" cy="148132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432243" y="4343400"/>
            <a:ext cx="365760" cy="365760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0531" y="4782312"/>
            <a:ext cx="184343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Can the organization operate distributed systems effectively?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86569" y="4233672"/>
            <a:ext cx="2117750" cy="148132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714585" y="4343400"/>
            <a:ext cx="365760" cy="365760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2873" y="4782312"/>
            <a:ext cx="184343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Does the added complexity solve a meaningful problem?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Start from business and engineering requirements — if the answers are no, a monolith may be the better choice.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5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MONOLITH OR MICROSERVICES?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Apply the decision criteria to four situations.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27228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18450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A: an internal tool for five staff to approve supply requests.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B: a checkout platform with seasonal spikes and six product teams.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C: a brand-new subscription product whose rules change weekly.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D: fraud scoring that changes daily and needs its own scaling.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65376"/>
            <a:ext cx="3886200" cy="27228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6632" y="23957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Pick monolith, modular monolith or microservices for each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30490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299415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Justify it with team size, domain clarity and scaling needs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3647440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3592576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Name one risk of your choice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1865376"/>
            <a:ext cx="3063240" cy="27228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DIRECTION</a:t>
            </a:r>
          </a:p>
        </p:txBody>
      </p:sp>
      <p:sp>
        <p:nvSpPr>
          <p:cNvPr id="22" name="Oval 21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567" y="2395728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→ Monolith</a:t>
            </a:r>
          </a:p>
        </p:txBody>
      </p:sp>
      <p:sp>
        <p:nvSpPr>
          <p:cNvPr id="24" name="Oval 23"/>
          <p:cNvSpPr/>
          <p:nvPr/>
        </p:nvSpPr>
        <p:spPr>
          <a:xfrm>
            <a:off x="8778240" y="2871216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7" y="2816352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B → Microservices</a:t>
            </a:r>
          </a:p>
        </p:txBody>
      </p:sp>
      <p:sp>
        <p:nvSpPr>
          <p:cNvPr id="26" name="Oval 25"/>
          <p:cNvSpPr/>
          <p:nvPr/>
        </p:nvSpPr>
        <p:spPr>
          <a:xfrm>
            <a:off x="8778240" y="32918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7" y="3236976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 → Modular monolith first</a:t>
            </a:r>
          </a:p>
        </p:txBody>
      </p:sp>
      <p:sp>
        <p:nvSpPr>
          <p:cNvPr id="28" name="Oval 27"/>
          <p:cNvSpPr/>
          <p:nvPr/>
        </p:nvSpPr>
        <p:spPr>
          <a:xfrm>
            <a:off x="8778240" y="3712463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7" y="3657600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D → A separate microservice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The skill is explaining why — not just picking a label.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THE MODULAR MONOLITH ALTERNATIVE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Strong module boundaries inside one deployable application.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69693" y="1316736"/>
            <a:ext cx="5827372" cy="4498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845" y="1389888"/>
            <a:ext cx="5681068" cy="435254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Start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Customer, Order, Payment and Inventory as strong modules in one application.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72186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7767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Evolve when needed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8762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Extract a module only when it truly needs its own deployment or scaling.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4145280"/>
            <a:ext cx="3520440" cy="126187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145280"/>
            <a:ext cx="3154680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AVOID PREMATURE DISTRIBUTION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Keep one deployment until distribution solves a real problem.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modular monolith is an excellent option — microservices should not always be the starting point.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4: CLOUD-NATIVE AND DEVOPS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From architecture choices to services that run well on OpenShift.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944825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6851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Why monoliths struggle</a:t>
            </a:r>
          </a:p>
        </p:txBody>
      </p:sp>
      <p:sp>
        <p:nvSpPr>
          <p:cNvPr id="6" name="Chevron 5"/>
          <p:cNvSpPr/>
          <p:nvPr/>
        </p:nvSpPr>
        <p:spPr>
          <a:xfrm>
            <a:off x="3224631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38601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What microservices are</a:t>
            </a:r>
          </a:p>
        </p:txBody>
      </p:sp>
      <p:sp>
        <p:nvSpPr>
          <p:cNvPr id="8" name="Chevron 7"/>
          <p:cNvSpPr/>
          <p:nvPr/>
        </p:nvSpPr>
        <p:spPr>
          <a:xfrm>
            <a:off x="5992063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06032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Costs and decisions</a:t>
            </a:r>
          </a:p>
        </p:txBody>
      </p:sp>
      <p:sp>
        <p:nvSpPr>
          <p:cNvPr id="10" name="Chevron 9"/>
          <p:cNvSpPr/>
          <p:nvPr/>
        </p:nvSpPr>
        <p:spPr>
          <a:xfrm>
            <a:off x="8759494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3464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Cloud-native and DevOps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04288"/>
            <a:ext cx="4937760" cy="2575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80360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Microservices trade simplicity for independence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6012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5280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Design for failure from day one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0767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003548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Choose microservices only when the need is real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How do we build services that run well in containers and on OpenShift?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5" name="Oval 24"/>
          <p:cNvSpPr/>
          <p:nvPr/>
        </p:nvSpPr>
        <p:spPr>
          <a:xfrm>
            <a:off x="5760720" y="399626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3933952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Twelve-Factor App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439521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4332901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Twelve-Factor in Spring Boot code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794165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73185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Twelve-Factor on OpenShift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519311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513080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Conway's Law and team ownership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59206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529749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Microservices in DevOps teams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5991013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928698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end-to-end delivery path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INTRODUCTION TO THE TWELVE-FACTOR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Its purpose and why it matters for cloud-native systems.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52728"/>
            <a:ext cx="310896" cy="310896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5272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43584"/>
            <a:ext cx="4279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A METHODOLOGY FOR APPLICATIONS THAT 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19072"/>
            <a:ext cx="2249424" cy="960120"/>
          </a:xfrm>
          <a:prstGeom prst="roundRect">
            <a:avLst>
              <a:gd name="adj" fmla="val 10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21792" y="1961388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96138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7" y="1719072"/>
            <a:ext cx="1426464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Nirmala UI"/>
              </a:rPr>
              <a:t>Portable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71216" y="1719072"/>
            <a:ext cx="2249424" cy="960120"/>
          </a:xfrm>
          <a:prstGeom prst="roundRect">
            <a:avLst>
              <a:gd name="adj" fmla="val 10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35808" y="1961388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5808" y="196138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1719072"/>
            <a:ext cx="1426464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Nirmala UI"/>
              </a:rPr>
              <a:t>Scalable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825496"/>
            <a:ext cx="2249424" cy="960120"/>
          </a:xfrm>
          <a:prstGeom prst="roundRect">
            <a:avLst>
              <a:gd name="adj" fmla="val 10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1792" y="3067811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067811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2825496"/>
            <a:ext cx="1426464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Nirmala UI"/>
              </a:rPr>
              <a:t>Deployable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71216" y="2825496"/>
            <a:ext cx="2249424" cy="960120"/>
          </a:xfrm>
          <a:prstGeom prst="roundRect">
            <a:avLst>
              <a:gd name="adj" fmla="val 1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5808" y="3067811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35808" y="3067811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21024" y="2825496"/>
            <a:ext cx="1426464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Nirmala UI"/>
              </a:rPr>
              <a:t>Cloud-Friendly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005072"/>
            <a:ext cx="4663440" cy="148132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7432" bIns="27432"/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Originally designed for modern software-as-a-service applications — its principles map well to cloud-native systems and microservices.</a:t>
            </a:r>
          </a:p>
        </p:txBody>
      </p:sp>
      <p:sp>
        <p:nvSpPr>
          <p:cNvPr id="24" name="Oval 23"/>
          <p:cNvSpPr/>
          <p:nvPr/>
        </p:nvSpPr>
        <p:spPr>
          <a:xfrm>
            <a:off x="5532120" y="1252728"/>
            <a:ext cx="310896" cy="310896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32120" y="125272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16168" y="1243584"/>
            <a:ext cx="578815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CONFIG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32120" y="1746504"/>
            <a:ext cx="2811780" cy="868680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ctr"/>
            <a:r>
              <a:rPr sz="1400" b="0" i="0">
                <a:solidFill>
                  <a:srgbClr val="D1282E"/>
                </a:solidFill>
                <a:latin typeface="Consolas"/>
              </a:rPr>
              <a:t>password = "admin123";</a:t>
            </a:r>
          </a:p>
        </p:txBody>
      </p:sp>
      <p:sp>
        <p:nvSpPr>
          <p:cNvPr id="28" name="Oval 27"/>
          <p:cNvSpPr/>
          <p:nvPr/>
        </p:nvSpPr>
        <p:spPr>
          <a:xfrm>
            <a:off x="5422392" y="1618488"/>
            <a:ext cx="310896" cy="310896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417052" y="2176272"/>
            <a:ext cx="402336" cy="0"/>
          </a:xfrm>
          <a:prstGeom prst="line">
            <a:avLst/>
          </a:prstGeom>
          <a:ln w="31750">
            <a:solidFill>
              <a:srgbClr val="42754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892540" y="1746504"/>
            <a:ext cx="2811780" cy="868680"/>
          </a:xfrm>
          <a:prstGeom prst="roundRect">
            <a:avLst>
              <a:gd name="adj" fmla="val 1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2E7D32"/>
                </a:solidFill>
                <a:latin typeface="Nirmala UI"/>
              </a:rPr>
              <a:t>Configuration kept outside the code</a:t>
            </a:r>
          </a:p>
        </p:txBody>
      </p:sp>
      <p:sp>
        <p:nvSpPr>
          <p:cNvPr id="31" name="Oval 30"/>
          <p:cNvSpPr/>
          <p:nvPr/>
        </p:nvSpPr>
        <p:spPr>
          <a:xfrm>
            <a:off x="11539728" y="1618488"/>
            <a:ext cx="310896" cy="310896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Oval 31"/>
          <p:cNvSpPr/>
          <p:nvPr/>
        </p:nvSpPr>
        <p:spPr>
          <a:xfrm>
            <a:off x="5532120" y="2907792"/>
            <a:ext cx="310896" cy="310896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32120" y="290779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16168" y="2898648"/>
            <a:ext cx="578815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LOGS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32120" y="3401568"/>
            <a:ext cx="2811780" cy="86868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D1282E"/>
                </a:solidFill>
                <a:latin typeface="Nirmala UI"/>
              </a:rPr>
              <a:t>Important logs only in a local server file</a:t>
            </a:r>
          </a:p>
        </p:txBody>
      </p:sp>
      <p:sp>
        <p:nvSpPr>
          <p:cNvPr id="36" name="Oval 35"/>
          <p:cNvSpPr/>
          <p:nvPr/>
        </p:nvSpPr>
        <p:spPr>
          <a:xfrm>
            <a:off x="5422392" y="3273552"/>
            <a:ext cx="310896" cy="310896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417052" y="3831336"/>
            <a:ext cx="402336" cy="0"/>
          </a:xfrm>
          <a:prstGeom prst="line">
            <a:avLst/>
          </a:prstGeom>
          <a:ln w="31750">
            <a:solidFill>
              <a:srgbClr val="42754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892540" y="3401568"/>
            <a:ext cx="2811780" cy="868680"/>
          </a:xfrm>
          <a:prstGeom prst="roundRect">
            <a:avLst>
              <a:gd name="adj" fmla="val 1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2E7D32"/>
                </a:solidFill>
                <a:latin typeface="Nirmala UI"/>
              </a:rPr>
              <a:t>Log streams the platform can collect</a:t>
            </a:r>
          </a:p>
        </p:txBody>
      </p:sp>
      <p:sp>
        <p:nvSpPr>
          <p:cNvPr id="39" name="Oval 38"/>
          <p:cNvSpPr/>
          <p:nvPr/>
        </p:nvSpPr>
        <p:spPr>
          <a:xfrm>
            <a:off x="11539728" y="3273552"/>
            <a:ext cx="310896" cy="310896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32120" y="4608576"/>
            <a:ext cx="6172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A NATURAL CONNECTION TO   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532120" y="5020056"/>
            <a:ext cx="2994660" cy="548640"/>
          </a:xfrm>
          <a:prstGeom prst="roundRect">
            <a:avLst>
              <a:gd name="adj" fmla="val 14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 i="0">
                <a:solidFill>
                  <a:srgbClr val="FFFFFF"/>
                </a:solidFill>
                <a:latin typeface="Nirmala UI"/>
              </a:rPr>
              <a:t>Containers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09660" y="5020056"/>
            <a:ext cx="2994660" cy="548640"/>
          </a:xfrm>
          <a:prstGeom prst="roundRect">
            <a:avLst>
              <a:gd name="adj" fmla="val 14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 i="0">
                <a:solidFill>
                  <a:srgbClr val="FFFFFF"/>
                </a:solidFill>
                <a:latin typeface="Nirmala UI"/>
              </a:rPr>
              <a:t>OpenShift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Twelve-Factor practices make applications portable, scalable and easy to deploy — a natural fit for OpenShift.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THE TWELVE FACTORS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All twelve principles, grouped by where they apply.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62733"/>
            <a:ext cx="7415783" cy="42068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35885"/>
            <a:ext cx="7269480" cy="406054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8432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Code and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637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1 Codebase · 2 Dependencies · 5 Build, release, run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0790"/>
            <a:ext cx="3520440" cy="89839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65654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Configuration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76550"/>
            <a:ext cx="3246120" cy="4777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3 Config · 4 Backing services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537204"/>
            <a:ext cx="3520440" cy="108432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59206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Runtime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902964"/>
            <a:ext cx="3246120" cy="6637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6 Processes · 7 Port binding · 8 Concurrency · 9 Disposability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749546"/>
            <a:ext cx="3520440" cy="108432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4804410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115306"/>
            <a:ext cx="3246120" cy="6637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10 Dev/prod parity · 11 Logs · 12 Admin processes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This is the overview — don't spend equal time on every factor.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TWELVE-FACTOR IN A SPRING BOOT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Config, backing services, port binding and logs — in real code.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25880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298448"/>
            <a:ext cx="32674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Hard-coded (breaks factors 3 and 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7632"/>
            <a:ext cx="3596640" cy="2548127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private String dbPassword =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"Prod@123";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private String paymentUrl =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"https://prod-pay.shop.com";</a:t>
            </a:r>
          </a:p>
        </p:txBody>
      </p:sp>
      <p:sp>
        <p:nvSpPr>
          <p:cNvPr id="7" name="Oval 6"/>
          <p:cNvSpPr/>
          <p:nvPr/>
        </p:nvSpPr>
        <p:spPr>
          <a:xfrm>
            <a:off x="428244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1624" y="1298448"/>
            <a:ext cx="32674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application.yml (from env)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2440" y="1627632"/>
            <a:ext cx="3596640" cy="2548127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server: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port: ${PORT:8080}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spring: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datasource: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url: ${DB_URL}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username: ${DB_USER}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password: ${DB_PASSWORD}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payment: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service-url: ${PAYMENT_URL}</a:t>
            </a:r>
          </a:p>
        </p:txBody>
      </p:sp>
      <p:sp>
        <p:nvSpPr>
          <p:cNvPr id="10" name="Oval 9"/>
          <p:cNvSpPr/>
          <p:nvPr/>
        </p:nvSpPr>
        <p:spPr>
          <a:xfrm>
            <a:off x="810768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6864" y="1298448"/>
            <a:ext cx="32674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Code reads config, logs to stdout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7680" y="1627632"/>
            <a:ext cx="3596640" cy="2548127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@Value("${payment.service-url}")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private String paymentUrl;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log.info("Order {} created for {}",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     orderId, customerId);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0436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45922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Config (3)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77012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One image runs in dev, test and prod with different values.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67200" y="440436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4360" y="445922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Backing services (4)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4360" y="477012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database is an attached resource found through config.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7200" y="440436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4360" y="445922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Port and logs (7, 11)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4360" y="477012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Bind to the given port; write logs to stdout for the platform.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Keep configuration outside the code so one build runs everywhere.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TWELVE-FACTOR IN SPRING BOOT AND OPENSHIFT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External config, stateless processes and logs — packaged and run on OpenShift.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741965"/>
            <a:ext cx="7415783" cy="364838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15117"/>
            <a:ext cx="7269480" cy="350208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8432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Config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637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ConfigMaps and Secrets supply environment values.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0790"/>
            <a:ext cx="3520440" cy="108432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65654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Processes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76550"/>
            <a:ext cx="3246120" cy="6637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Stateless pods; durable data lives in backing services.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23132"/>
            <a:ext cx="3520440" cy="108432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7799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Disposability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088892"/>
            <a:ext cx="3246120" cy="6637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Pods start fast and shut down gracefully.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35474"/>
            <a:ext cx="3520440" cy="89839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499033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Logs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301234"/>
            <a:ext cx="3246120" cy="4777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platform collects the stdout stream.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Twelve-Factor principles help applications deploy and run consistently across modern environments.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SPOT THE TWELVE-FACTOR VIOLATIONS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Find what stops this service from running well on OpenShift.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72999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543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 teammate wrote this part of Order Service: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012440"/>
            <a:ext cx="3621024" cy="230860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public class OrderService {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String dbPassword = "Prod@123";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String payUrl =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"https://prod-pay.shop.com";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Map&lt;String, Cart&gt; carts =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new HashMap&lt;&gt;();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void save(Order o) {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writeFile("/var/log/orders.log", o);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72999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Find each violation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29077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8529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Name the factor it breaks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3649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3101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Rewrite it the Twelve-Factor way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1865376"/>
            <a:ext cx="3063240" cy="372999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3" name="Oval 22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Password in code → Config (3)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944876"/>
            <a:ext cx="2450592" cy="71399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Production URL in code → Config and backing services (3, 4)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375031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369544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Carts kept in memory → Processes (6)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4299458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4244594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Local log file → Logs (11)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Most Twelve-Factor problems are visible in a few lines of code.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CONWAY'S LAW AND TEAM OWNERSHIP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Team structure shapes service boundaries.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7040880" cy="868680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1" i="1">
                <a:solidFill>
                  <a:srgbClr val="002060"/>
                </a:solidFill>
                <a:latin typeface="Nirmala UI"/>
              </a:rPr>
              <a:t>“Organizations design systems that mirror their own communication structures.” — Melvin Conway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50008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HOW TEAMS ARE ORGANIZED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0520" y="2350008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THE ARCHITECTURE YOU GET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15768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Siloed teams: UI, backend, database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94760" y="3172968"/>
            <a:ext cx="320040" cy="0"/>
          </a:xfrm>
          <a:prstGeom prst="line">
            <a:avLst/>
          </a:prstGeom>
          <a:ln w="28575">
            <a:solidFill>
              <a:srgbClr val="B04A4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160520" y="2715768"/>
            <a:ext cx="3337560" cy="91440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D1282E"/>
                </a:solidFill>
                <a:latin typeface="Nirmala UI"/>
              </a:rPr>
              <a:t>Layered services that must change together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9476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Partly aligned teams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94760" y="4251960"/>
            <a:ext cx="320040" cy="0"/>
          </a:xfrm>
          <a:prstGeom prst="line">
            <a:avLst/>
          </a:prstGeom>
          <a:ln w="28575">
            <a:solidFill>
              <a:srgbClr val="A86D3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160520" y="3794760"/>
            <a:ext cx="3337560" cy="914400"/>
          </a:xfrm>
          <a:prstGeom prst="roundRect">
            <a:avLst>
              <a:gd name="adj" fmla="val 8000"/>
            </a:avLst>
          </a:prstGeom>
          <a:solidFill>
            <a:srgbClr val="FD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C9690C"/>
                </a:solidFill>
                <a:latin typeface="Nirmala UI"/>
              </a:rPr>
              <a:t>Inconsistent, blurry service boundaries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873752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Teams aligned to business capabilities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94760" y="5330952"/>
            <a:ext cx="320040" cy="0"/>
          </a:xfrm>
          <a:prstGeom prst="line">
            <a:avLst/>
          </a:prstGeom>
          <a:ln w="28575">
            <a:solidFill>
              <a:srgbClr val="42754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160520" y="4873752"/>
            <a:ext cx="3337560" cy="9144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2E7D32"/>
                </a:solidFill>
                <a:latin typeface="Nirmala UI"/>
              </a:rPr>
              <a:t>Loosely coupled, independently deployable services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1298448"/>
            <a:ext cx="384048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1353312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Stream-aligned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1664208"/>
            <a:ext cx="356616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Owns one service end to end — e.g. the Order team.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2519172"/>
            <a:ext cx="384048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2574036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Platform 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2884932"/>
            <a:ext cx="356616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Provides the paved road: pipelines, OpenShift, observability.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3739896"/>
            <a:ext cx="384048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3794759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Enabling team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4105656"/>
            <a:ext cx="356616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Coaches teams through new practices, then steps back.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4960620"/>
            <a:ext cx="384048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19" y="4960620"/>
            <a:ext cx="347472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INVERSE CONWAY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Shape teams around the architecture you want.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Align teams to business capabilities, and services will follow those boundaries.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HOW MICROSERVICES FIT MODERN DEVOPS TEAMS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One team owns the loop from code to improvement.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79556" y="1316736"/>
            <a:ext cx="5007646" cy="4498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708" y="1389888"/>
            <a:ext cx="4861342" cy="43525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TRADITIONAL HANDOFFS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Developer hands off to testing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445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Testing hands off to release and operations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2529840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584704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Order Service team owns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895600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Code, tests, pipeline, deployment, security, monitoring and production support.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3953256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3953256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SHARED HELP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Platform and SRE teams may provide infrastructure and tooling.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Ownership models differ — platform and SRE teams may provide shared infrastructure and operations.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THE END-TO-END DELIVERY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From business capability to a running, observed service on OpenShift.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7" y="1861467"/>
            <a:ext cx="11210544" cy="179089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934619"/>
            <a:ext cx="11064240" cy="164459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489704"/>
            <a:ext cx="2674620" cy="134416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544568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855464"/>
            <a:ext cx="2400300" cy="923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Divides the business into independently evolvable services.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4700" y="4489704"/>
            <a:ext cx="2674620" cy="134416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1860" y="4544568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Spring Boot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1860" y="4855464"/>
            <a:ext cx="2400300" cy="923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Builds each service.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489704"/>
            <a:ext cx="2674620" cy="134416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544568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Containers and CI/CD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855464"/>
            <a:ext cx="2400300" cy="923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Package each service and automate its delivery.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29700" y="4489704"/>
            <a:ext cx="2674620" cy="134416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66860" y="4544568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OpenShift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6860" y="4855464"/>
            <a:ext cx="2400300" cy="923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Schedules, scales, secures and observes the running service.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Microservices, Spring Boot, containers and OpenShift are different layers that work together.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Answer in your own words — then compare with a partner.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1565452"/>
            <a:ext cx="384048" cy="384048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298448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is a microservice?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26233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3504" y="2593238"/>
            <a:ext cx="384048" cy="38404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326233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do organizations adopt microservices?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54019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3504" y="3621024"/>
            <a:ext cx="384048" cy="384048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354019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is one major limitation of a monolith?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81804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3504" y="4648809"/>
            <a:ext cx="384048" cy="38404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381804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Are monoliths always bad? Why or why not?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409590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5676595"/>
            <a:ext cx="384048" cy="384048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409590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does independent deployment mean?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298448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9944" y="1565452"/>
            <a:ext cx="384048" cy="384048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1298448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is data ownership important?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326233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2593238"/>
            <a:ext cx="384048" cy="384048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326233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is a partial failure in a distributed system?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354019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9944" y="3621024"/>
            <a:ext cx="384048" cy="38404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354019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is fault isolation?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381804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9944" y="4648809"/>
            <a:ext cx="384048" cy="384048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381804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do microservices need DevOps automation?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5409590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09944" y="5676595"/>
            <a:ext cx="384048" cy="38404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5409590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Name one Twelve-Factor principle that matters for Spring Boot.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 1.1 — ANALYZE A MONOLITHIC BANKING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Module 1 checkpoint A: spot coupling and candidate boundaries.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436876" cy="384048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OFFICIAL CHECKPOINT 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1236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15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95744" y="1298448"/>
            <a:ext cx="4608576" cy="38404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ctr"/>
            <a:r>
              <a:rPr sz="1100" b="0" i="0">
                <a:solidFill>
                  <a:srgbClr val="000000"/>
                </a:solidFill>
                <a:latin typeface="Consolas"/>
              </a:rPr>
              <a:t>labs/day-01/exercises/exercise-1.1-analyze-monolith.md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65376"/>
            <a:ext cx="3840480" cy="36321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3566160" cy="18450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course's banking monolith handles customer profiles, accounts, transactions, loans, fraud checks, reporting and notifications in one deployable application.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/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Apply what you learned on the order platform to this system.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6321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List the major business capabilities in the monolith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30490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994152"/>
            <a:ext cx="3218688" cy="760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Mark tightly coupled areas and modules that change often or carry high traffic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86435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809492"/>
            <a:ext cx="3218688" cy="760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Mark where failure should be isolated so money movement is not taken down by reporting</a:t>
            </a:r>
          </a:p>
        </p:txBody>
      </p:sp>
      <p:sp>
        <p:nvSpPr>
          <p:cNvPr id="20" name="Oval 19"/>
          <p:cNvSpPr/>
          <p:nvPr/>
        </p:nvSpPr>
        <p:spPr>
          <a:xfrm>
            <a:off x="4663440" y="467969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462483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Name the first extraction candidate and say why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1080" y="1865376"/>
            <a:ext cx="3063240" cy="36321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short list of coupling problems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One justified first extract: Account Service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3494023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Lab 1 builds Account Service after Modules 1–3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40980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4043171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Design only — no code in this checkpoint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short list of coupling problems and one justified first extract: Account Service.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MODULE 1 SUMMARY AND 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From why microservices exist to how they run.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577840" cy="4535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457200" y="1298448"/>
            <a:ext cx="55778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5303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 CAN NOW EXPLAIN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929384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47088"/>
            <a:ext cx="4800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monoliths struggle to change and scale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478024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95728"/>
            <a:ext cx="4800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makes a service a microservice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026664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44368"/>
            <a:ext cx="4800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How services own data and communicate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575304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493008"/>
            <a:ext cx="4800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independence costs — and how to design for failure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123944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041648"/>
            <a:ext cx="4800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When a monolith or modular monolith is the better choice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672583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590288"/>
            <a:ext cx="4800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Twelve-Factor habits and DevOps ownership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298448"/>
            <a:ext cx="530352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6400800" y="1298448"/>
            <a:ext cx="530352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1298448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NEXT: MODULE 2 — MICROSERVICES DESIGN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1956816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9168" y="1847088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Where exactly should service boundaries go?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2615184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2505456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How should service APIs be designed?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0" y="3273552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3163824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How should services communicate — and where does state live?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270248"/>
            <a:ext cx="5303520" cy="156362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270248"/>
            <a:ext cx="4937760" cy="1563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1282E"/>
                </a:solidFill>
                <a:latin typeface="Nirmala UI"/>
              </a:rPr>
              <a:t>BRING ALONG   </a:t>
            </a:r>
            <a:r>
              <a:rPr sz="1500" b="0" i="0">
                <a:solidFill>
                  <a:srgbClr val="000000"/>
                </a:solidFill>
                <a:latin typeface="Nirmala UI"/>
              </a:rPr>
              <a:t>The order platform, the five principles and your Exercise 1.1 notes.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Module 2 turns these principles into concrete service boundaries, APIs and communication choices.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