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Open the course</a:t>
            </a:r>
          </a:p>
          <a:p/>
          <a:p>
            <a:r>
              <a:t>  Welcome everyone to Spring Boot Microservices with OpenShift, AI and DevOps.</a:t>
            </a:r>
          </a:p>
          <a:p/>
          <a:p>
            <a:r>
              <a:t>- The shape of the week</a:t>
            </a:r>
          </a:p>
          <a:p/>
          <a:p>
            <a:r>
              <a:t>  Say the course runs five days.</a:t>
            </a:r>
          </a:p>
          <a:p/>
          <a:p>
            <a:r>
              <a:t>  Each day adds one layer to the same banking platform.</a:t>
            </a:r>
          </a:p>
          <a:p/>
          <a:p>
            <a:r>
              <a:t>- The five days</a:t>
            </a:r>
          </a:p>
          <a:p/>
          <a:p>
            <a:r>
              <a:t>  Point to the five boxes.</a:t>
            </a:r>
          </a:p>
          <a:p/>
          <a:p>
            <a:r>
              <a:t>  Design and build, then integration and data.</a:t>
            </a:r>
          </a:p>
          <a:p/>
          <a:p>
            <a:r>
              <a:t>  Then security and resilience, then delivery on OpenShift, and finally AI, MCP and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TEKsystems Global Services — Workforce Development. This is the client branding slide. Pause for introductions,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Welcome</a:t>
            </a:r>
          </a:p>
          <a:p/>
          <a:p>
            <a:r>
              <a:t>  Welcome the group.</a:t>
            </a:r>
          </a:p>
          <a:p/>
          <a:p>
            <a:r>
              <a:t>  Say the week is about building, not just listening.</a:t>
            </a:r>
          </a:p>
          <a:p/>
          <a:p>
            <a:r>
              <a:t>- In this course</a:t>
            </a:r>
          </a:p>
          <a:p/>
          <a:p>
            <a:r>
              <a:t>  Everyone builds one banking platform.</a:t>
            </a:r>
          </a:p>
          <a:p/>
          <a:p>
            <a:r>
              <a:t>  Realistic scenarios, such as a model timeout or a duplicate event, come up along the way.</a:t>
            </a:r>
          </a:p>
          <a:p/>
          <a:p>
            <a:r>
              <a:t>- Ground rules</a:t>
            </a:r>
          </a:p>
          <a:p/>
          <a:p>
            <a:r>
              <a:t>  Be open means ask early.</a:t>
            </a:r>
          </a:p>
          <a:p/>
          <a:p>
            <a:r>
              <a:t>  Be respectful means value every experience level.</a:t>
            </a:r>
          </a:p>
          <a:p/>
          <a:p>
            <a:r>
              <a:t>  Be engaged means try each lab step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Hours</a:t>
            </a:r>
          </a:p>
          <a:p/>
          <a:p>
            <a:r>
              <a:t>  Class runs from 9:00 AM to 5:00 PM Eastern time each day.</a:t>
            </a:r>
          </a:p>
          <a:p/>
          <a:p>
            <a:r>
              <a:t>- Lunch</a:t>
            </a:r>
          </a:p>
          <a:p/>
          <a:p>
            <a:r>
              <a:t>  Lunch is one hour, around 12:30 PM.</a:t>
            </a:r>
          </a:p>
          <a:p/>
          <a:p>
            <a:r>
              <a:t>- Breaks</a:t>
            </a:r>
          </a:p>
          <a:p/>
          <a:p>
            <a:r>
              <a:t>  There is a 15-minute break in the morning and another in the afternoon.</a:t>
            </a:r>
          </a:p>
          <a:p/>
          <a:p>
            <a:r>
              <a:t>  Exact times may shift a little to fit the lab flow.</a:t>
            </a:r>
          </a:p>
          <a:p/>
          <a:p>
            <a:r>
              <a:t>- Phones</a:t>
            </a:r>
          </a:p>
          <a:p/>
          <a:p>
            <a:r>
              <a:t>  Ask everyone to keep their phones on silent.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Go first</a:t>
            </a:r>
          </a:p>
          <a:p/>
          <a:p>
            <a:r>
              <a:t>  Introduce yourself first to set the tone and the length.</a:t>
            </a:r>
          </a:p>
          <a:p/>
          <a:p>
            <a:r>
              <a:t>- The prompts</a:t>
            </a:r>
          </a:p>
          <a:p/>
          <a:p>
            <a:r>
              <a:t>  Name, role, team, experience with the tools, a goal for the week, and one thing about yourself.</a:t>
            </a:r>
          </a:p>
          <a:p/>
          <a:p>
            <a:r>
              <a:t>- Use the answers</a:t>
            </a:r>
          </a:p>
          <a:p/>
          <a:p>
            <a:r>
              <a:t>  Note the goals and experience levels.</a:t>
            </a:r>
          </a:p>
          <a:p/>
          <a:p>
            <a:r>
              <a:t>  Refer back to them during the week and at the Day 5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numbers</a:t>
            </a:r>
          </a:p>
          <a:p/>
          <a:p>
            <a:r>
              <a:t>  Five days, twelve modules plus a capstone, Lab 0 plus five progressive labs, fifteen checkpoint exercises and three banking services.</a:t>
            </a:r>
          </a:p>
          <a:p/>
          <a:p>
            <a:r>
              <a:t>- Highlights</a:t>
            </a:r>
          </a:p>
          <a:p/>
          <a:p>
            <a:r>
              <a:t>  Design and Spring Boot, events and data, security, OpenShift delivery, and governed AI.</a:t>
            </a:r>
          </a:p>
          <a:p/>
          <a:p>
            <a:r>
              <a:t>- By Friday</a:t>
            </a:r>
          </a:p>
          <a:p/>
          <a:p>
            <a:r>
              <a:t>  Participants have three services, secured and tested, deployed through a pipeline, with an AI risk score and a capstone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platform</a:t>
            </a:r>
          </a:p>
          <a:p/>
          <a:p>
            <a:r>
              <a:t>  Each day adds one layer to the same system, so the week tells one story.</a:t>
            </a:r>
          </a:p>
          <a:p/>
          <a:p>
            <a:r>
              <a:t>- The three services</a:t>
            </a:r>
          </a:p>
          <a:p/>
          <a:p>
            <a:r>
              <a:t>  Account Service in Lab 1.</a:t>
            </a:r>
          </a:p>
          <a:p/>
          <a:p>
            <a:r>
              <a:t>  Transaction Service in Lab 2.</a:t>
            </a:r>
          </a:p>
          <a:p/>
          <a:p>
            <a:r>
              <a:t>  Risk Assessment Service in Lab 5, which calls an OpenShift AI model.</a:t>
            </a:r>
          </a:p>
          <a:p/>
          <a:p>
            <a:r>
              <a:t>- Days 3 and 4</a:t>
            </a:r>
          </a:p>
          <a:p/>
          <a:p>
            <a:r>
              <a:t>  Day 3 secures and hardens the first two services.</a:t>
            </a:r>
          </a:p>
          <a:p/>
          <a:p>
            <a:r>
              <a:t>  Day 4 deploys them to OpenShift through a pipeline.</a:t>
            </a:r>
          </a:p>
          <a:p/>
          <a:p>
            <a:r>
              <a:t>- Safe AI</a:t>
            </a:r>
          </a:p>
          <a:p/>
          <a:p>
            <a:r>
              <a:t>  The model only scores.</a:t>
            </a:r>
          </a:p>
          <a:p/>
          <a:p>
            <a:r>
              <a:t>  Java policy decides, and a person reviews every HOLD.</a:t>
            </a:r>
          </a:p>
          <a:p/>
          <a:p>
            <a:r>
              <a:t>  A model failure never becomes 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Days 1 and 2</a:t>
            </a:r>
          </a:p>
          <a:p/>
          <a:p>
            <a:r>
              <a:t>  Modules 1 to 3 cover fundamentals, design and Spring Boot.</a:t>
            </a:r>
          </a:p>
          <a:p/>
          <a:p>
            <a:r>
              <a:t>  Modules 4 and 5 cover integration and data.</a:t>
            </a:r>
          </a:p>
          <a:p/>
          <a:p>
            <a:r>
              <a:t>- Day 3</a:t>
            </a:r>
          </a:p>
          <a:p/>
          <a:p>
            <a:r>
              <a:t>  Module 6 covers resilience and performance.</a:t>
            </a:r>
          </a:p>
          <a:p/>
          <a:p>
            <a:r>
              <a:t>  Module 12 covers security, taught early because Lab 3 needs it.</a:t>
            </a:r>
          </a:p>
          <a:p/>
          <a:p>
            <a:r>
              <a:t>- Day 4</a:t>
            </a:r>
          </a:p>
          <a:p/>
          <a:p>
            <a:r>
              <a:t>  Module 7 covers DevOps and CI/CD.</a:t>
            </a:r>
          </a:p>
          <a:p/>
          <a:p>
            <a:r>
              <a:t>  Module 8 covers containers and OpenShift.</a:t>
            </a:r>
          </a:p>
          <a:p/>
          <a:p>
            <a:r>
              <a:t>- Day 5</a:t>
            </a:r>
          </a:p>
          <a:p/>
          <a:p>
            <a:r>
              <a:t>  Modules 9 to 11 cover Copilot, agentic AI and MCP.</a:t>
            </a:r>
          </a:p>
          <a:p/>
          <a:p>
            <a:r>
              <a:t>  The capstone brings everything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Day 1</a:t>
            </a:r>
          </a:p>
          <a:p/>
          <a:p>
            <a:r>
              <a:t>  Lab 0 checks the workstation.</a:t>
            </a:r>
          </a:p>
          <a:p/>
          <a:p>
            <a:r>
              <a:t>  Then architecture, APIs and Spring Boot lead to Lab 1, the Account Service.</a:t>
            </a:r>
          </a:p>
          <a:p/>
          <a:p>
            <a:r>
              <a:t>- Day 2</a:t>
            </a:r>
          </a:p>
          <a:p/>
          <a:p>
            <a:r>
              <a:t>  Events and data ownership lead to Lab 2, the Transaction Service.</a:t>
            </a:r>
          </a:p>
          <a:p/>
          <a:p>
            <a:r>
              <a:t>- Day 3</a:t>
            </a:r>
          </a:p>
          <a:p/>
          <a:p>
            <a:r>
              <a:t>  Resilience, security and testing lead to Lab 3, which secures and hardens both services.</a:t>
            </a:r>
          </a:p>
          <a:p/>
          <a:p>
            <a:r>
              <a:t>- Day 4</a:t>
            </a:r>
          </a:p>
          <a:p/>
          <a:p>
            <a:r>
              <a:t>  CI/CD, containers and OpenShift lead to Lab 4, which deploys the services.</a:t>
            </a:r>
          </a:p>
          <a:p/>
          <a:p>
            <a:r>
              <a:t>- Day 5</a:t>
            </a:r>
          </a:p>
          <a:p/>
          <a:p>
            <a:r>
              <a:t>  Copilot, agentic AI and MCP lead to Lab 5, the Risk Assessment Service, and the capstone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Module rhythm</a:t>
            </a:r>
          </a:p>
          <a:p/>
          <a:p>
            <a:r>
              <a:t>  Each module moves from concepts to diagrams and code, then practice, an official checkpoint, a Kahoot quiz and a knowledge check.</a:t>
            </a:r>
          </a:p>
          <a:p/>
          <a:p>
            <a:r>
              <a:t>- The lab</a:t>
            </a:r>
          </a:p>
          <a:p/>
          <a:p>
            <a:r>
              <a:t>  The day's lab applies those modules to the banking platform.</a:t>
            </a:r>
          </a:p>
          <a:p/>
          <a:p>
            <a:r>
              <a:t>- No one gets stuck</a:t>
            </a:r>
          </a:p>
          <a:p/>
          <a:p>
            <a:r>
              <a:t>  Every lab has a starter and a solution, so a missed step doesn't block the next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Build</a:t>
            </a:r>
          </a:p>
          <a:p/>
          <a:p>
            <a:r>
              <a:t>  Java 21, Spring Boot 3, Maven, Spring Data JPA, Flyway and PostgreSQL.</a:t>
            </a:r>
          </a:p>
          <a:p/>
          <a:p>
            <a:r>
              <a:t>- Integrate and secure</a:t>
            </a:r>
          </a:p>
          <a:p/>
          <a:p>
            <a:r>
              <a:t>  Kafka events, Resilience4j, Spring Security with OAuth2 and JWT, and OpenAPI.</a:t>
            </a:r>
          </a:p>
          <a:p/>
          <a:p>
            <a:r>
              <a:t>- Deliver and operate</a:t>
            </a:r>
          </a:p>
          <a:p/>
          <a:p>
            <a:r>
              <a:t>  Containers, Red Hat OpenShift, GitHub Actions pipelines and observability tools.</a:t>
            </a:r>
          </a:p>
          <a:p/>
          <a:p>
            <a:r>
              <a:t>- AI-assisted</a:t>
            </a:r>
          </a:p>
          <a:p/>
          <a:p>
            <a:r>
              <a:t>  GitHub Copilot, Red Hat OpenShift AI, Microsoft AI services and the Model Context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Questions</a:t>
            </a:r>
          </a:p>
          <a:p/>
          <a:p>
            <a:r>
              <a:t>  Invite questions about the schedule, the labs or the environment before content starts.</a:t>
            </a:r>
          </a:p>
          <a:p/>
          <a:p>
            <a:r>
              <a:t>- What happens next</a:t>
            </a:r>
          </a:p>
          <a:p/>
          <a:p>
            <a:r>
              <a:t>  Move to Lab 0.</a:t>
            </a:r>
          </a:p>
          <a:p/>
          <a:p>
            <a:r>
              <a:t>  Participants confirm their workstation, clone the repository and check the tools.</a:t>
            </a:r>
          </a:p>
          <a:p/>
          <a:p>
            <a:r>
              <a:t>  Then Module 1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"Design it, build it, secure it, ship it — then let AI help, under control."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COURSE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Spring Boot Microservices with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OpenShift, AI and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Five days, twelve modules and a capstone — one banking platform, built lab by lab.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COURSE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Design and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2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Integrate and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3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Secure and harden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4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Deliver on OpenShift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4624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 5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AI, MCP and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eksystems-branding">
    <p:spTree>
      <p:nvGrpSpPr>
        <p:cNvPr id="1" name=""/>
        <p:cNvGrpSpPr/>
        <p:nvPr/>
      </p:nvGrpSpPr>
      <p:grpSpPr/>
      <p:pic>
        <p:nvPicPr>
          <p:cNvPr id="2" name="Picture 1" descr="teksystems-bra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WELCOME TO THE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warm welcome, a few ground rules and what the week looks like.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58726" cy="35872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78" y="1298448"/>
            <a:ext cx="500880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73232"/>
            <a:ext cx="5440680" cy="1076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We're glad you're here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Five days of learning, building and sharing ideas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Practical skills you can use with your team right away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1298448"/>
            <a:ext cx="358726" cy="35872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9844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5518" y="1298448"/>
            <a:ext cx="500880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IN THIS COURSE, YOU WILL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73232"/>
            <a:ext cx="5440680" cy="132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Learn by building one real banking platform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Work through realistic failure and security scenarios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Collaborate and share ideas with your peers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Get guidance and feedback on your lab work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495818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9581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48667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GROUND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1306"/>
            <a:ext cx="3596640" cy="18625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457200" y="3971306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1306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BE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446794"/>
            <a:ext cx="3267456" cy="13322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Ask questions early — even the ones that feel basic.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2440" y="3971306"/>
            <a:ext cx="3596640" cy="18625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4282440" y="3971306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971306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BE RESPECTFUL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7032" y="4446794"/>
            <a:ext cx="3267456" cy="13322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experience level in the room adds something.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7680" y="3971306"/>
            <a:ext cx="3596640" cy="18625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107680" y="3971306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4840" y="3971306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BE ENGAGED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2272" y="4446794"/>
            <a:ext cx="3267456" cy="13322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Try every lab step yourself, not just watch.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Five days of hands-on learning — ask early, try everything, share ideas.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Daily schedule, breaks and a few housekeeping notes.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67128"/>
            <a:ext cx="4884039" cy="566928"/>
          </a:xfrm>
          <a:prstGeom prst="roundRect">
            <a:avLst>
              <a:gd name="adj" fmla="val 1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Morning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77815" y="2167128"/>
            <a:ext cx="1369314" cy="566928"/>
          </a:xfrm>
          <a:prstGeom prst="roundRect">
            <a:avLst>
              <a:gd name="adj" fmla="val 10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Lunch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83705" y="2167128"/>
            <a:ext cx="4884039" cy="566928"/>
          </a:xfrm>
          <a:prstGeom prst="roundRect">
            <a:avLst>
              <a:gd name="adj" fmla="val 1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Afternoon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17407" y="1344168"/>
            <a:ext cx="1600200" cy="420624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5B3A9E"/>
                </a:solidFill>
                <a:latin typeface="Nirmala UI"/>
              </a:rPr>
              <a:t>15-minute break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17507" y="1783080"/>
            <a:ext cx="0" cy="365760"/>
          </a:xfrm>
          <a:prstGeom prst="line">
            <a:avLst/>
          </a:prstGeom>
          <a:ln w="22225">
            <a:solidFill>
              <a:srgbClr val="64508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43912" y="1344168"/>
            <a:ext cx="1600200" cy="420624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5B3A9E"/>
                </a:solidFill>
                <a:latin typeface="Nirmala UI"/>
              </a:rPr>
              <a:t>15-minute break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44012" y="1783080"/>
            <a:ext cx="0" cy="365760"/>
          </a:xfrm>
          <a:prstGeom prst="line">
            <a:avLst/>
          </a:prstGeom>
          <a:ln w="22225">
            <a:solidFill>
              <a:srgbClr val="64508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2779776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9:00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175" y="2779776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Nirmala UI"/>
              </a:rPr>
              <a:t>12:30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5065" y="2779776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Nirmala UI"/>
              </a:rPr>
              <a:t>1:30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2779776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Nirmala UI"/>
              </a:rPr>
              <a:t>5:00 PM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00984"/>
            <a:ext cx="2640330" cy="253288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502152"/>
            <a:ext cx="512064" cy="512064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0215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65576"/>
            <a:ext cx="168021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Class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42232"/>
            <a:ext cx="2274570" cy="1572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9:00 AM – 5:00 PM EST, all five days.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6130" y="3300984"/>
            <a:ext cx="2640330" cy="253288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09010" y="3502152"/>
            <a:ext cx="512064" cy="512064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9010" y="350215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🍽️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9090" y="3465576"/>
            <a:ext cx="168021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9690C"/>
                </a:solidFill>
                <a:latin typeface="Nirmala UI"/>
              </a:rPr>
              <a:t>Lunch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9010" y="4142232"/>
            <a:ext cx="2274570" cy="1572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hour, around 12:30 PM.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5060" y="3300984"/>
            <a:ext cx="2640330" cy="253288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77940" y="3502152"/>
            <a:ext cx="512064" cy="512064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7940" y="350215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8020" y="3465576"/>
            <a:ext cx="168021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B3A9E"/>
                </a:solidFill>
                <a:latin typeface="Nirmala UI"/>
              </a:rPr>
              <a:t>Breaks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7940" y="4142232"/>
            <a:ext cx="2274570" cy="1572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15 minutes in the morning and 15 minutes in the afternoon.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3990" y="3300984"/>
            <a:ext cx="2640330" cy="253288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46870" y="3502152"/>
            <a:ext cx="512064" cy="51206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6870" y="350215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6950" y="3465576"/>
            <a:ext cx="168021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Phones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6870" y="4142232"/>
            <a:ext cx="2274570" cy="1572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Please keep your phone on silent.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9 AM to 5 PM EST, lunch around 12:30, two 15-minute breaks — phones on silent.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LET'S GET TO KNOW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Take a minute to introduce yourself to the group.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1517904"/>
            <a:ext cx="548640" cy="54864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499616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Your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should we call you?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3296" y="1298448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74464" y="1517904"/>
            <a:ext cx="548640" cy="54864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4464" y="15179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408" y="1499616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B3A9E"/>
                </a:solidFill>
                <a:latin typeface="Nirmala UI"/>
              </a:rPr>
              <a:t>Your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2194560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 you do day to day?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9392" y="1298448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90560" y="1517904"/>
            <a:ext cx="548640" cy="54864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15179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5504" y="1499616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Nirmala UI"/>
              </a:rPr>
              <a:t>Your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194560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team or line of business are you joining from?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86684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406140"/>
            <a:ext cx="548640" cy="54864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061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387852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Nirmala UI"/>
              </a:rPr>
              <a:t>Your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082796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Spring Boot, microservices, containers, CI/CD or AI tools?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3296" y="3186684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74464" y="3406140"/>
            <a:ext cx="548640" cy="54864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4464" y="34061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9408" y="3387852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9690C"/>
                </a:solidFill>
                <a:latin typeface="Nirmala UI"/>
              </a:rPr>
              <a:t>Your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4464" y="4082796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 you hope to take back to your team?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9392" y="3186684"/>
            <a:ext cx="3614928" cy="16870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90560" y="3406140"/>
            <a:ext cx="548640" cy="54864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0560" y="34061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5504" y="3387852"/>
            <a:ext cx="25633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Something about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0560" y="4082796"/>
            <a:ext cx="3212592" cy="681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hobby, a fun fact or a favourite place.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02352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02352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HOW IT WORKS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About one minute each. The instructor goes first.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Knowing the room helps us connect the material to your real work.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COURSE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What's in the course — and what you'll leave with.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103120" cy="18288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02060"/>
                </a:solidFill>
                <a:latin typeface="Nirmala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157984"/>
            <a:ext cx="19568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15184"/>
            <a:ext cx="19202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9 AM – 5 PM 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298448"/>
            <a:ext cx="2103120" cy="1828800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389888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5B3A9E"/>
                </a:solidFill>
                <a:latin typeface="Nirmala UI"/>
              </a:rPr>
              <a:t>12 + 1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2157984"/>
            <a:ext cx="19568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modules +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15184"/>
            <a:ext cx="19202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One connected 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298448"/>
            <a:ext cx="2103120" cy="182880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389888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E7C7B"/>
                </a:solidFill>
                <a:latin typeface="Nirmala U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157984"/>
            <a:ext cx="19568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hands-on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15184"/>
            <a:ext cx="19202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Lab 0 setup + Labs 1–5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298448"/>
            <a:ext cx="2103120" cy="18288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389888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Nirmala UI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157984"/>
            <a:ext cx="19568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checkpoints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15184"/>
            <a:ext cx="19202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Three official exercises a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298448"/>
            <a:ext cx="2103120" cy="18288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389888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C9690C"/>
                </a:solidFill>
                <a:latin typeface="Nirmala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2157984"/>
            <a:ext cx="19568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Nirmala UI"/>
              </a:rPr>
              <a:t>banking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615184"/>
            <a:ext cx="19202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Nirmala UI"/>
              </a:rPr>
              <a:t>Account · Transaction · Risk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493008"/>
            <a:ext cx="358726" cy="35872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9300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78" y="3493008"/>
            <a:ext cx="500880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COURSE HIGHLIGHTS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67792"/>
            <a:ext cx="5440680" cy="132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Microservice design, REST APIs and Spring Boot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Events, data ownership and resilience patterns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OAuth2, JWT scopes, secrets and audit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Containers, OpenShift and CI/CD pipelines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GitHub Copilot, agentic AI and MCP — governed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3493008"/>
            <a:ext cx="358726" cy="35872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49300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5518" y="3493008"/>
            <a:ext cx="500880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BY FRIDAY, YOU WILL HAVE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967792"/>
            <a:ext cx="5440680" cy="132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Three services with their own data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Secured, resilient and tested APIs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Services deployed to OpenShift through a pipeline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An AI risk score with policy and human review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A capstone demo that proves it all works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Twelve modules, six labs and a capstone — all building one working platform.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YOU'LL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AI-Assisted Banking Transaction Risk Platform — one layer each day.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ONE PLATFORM, FIVE LAYERS</a:t>
            </a:r>
          </a:p>
        </p:txBody>
      </p:sp>
      <p:sp>
        <p:nvSpPr>
          <p:cNvPr id="7" name="Pentagon 6"/>
          <p:cNvSpPr/>
          <p:nvPr/>
        </p:nvSpPr>
        <p:spPr>
          <a:xfrm>
            <a:off x="457200" y="1755648"/>
            <a:ext cx="2428646" cy="86868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12232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Account Service</a:t>
            </a:r>
          </a:p>
        </p:txBody>
      </p:sp>
      <p:sp>
        <p:nvSpPr>
          <p:cNvPr id="9" name="Chevron 8"/>
          <p:cNvSpPr/>
          <p:nvPr/>
        </p:nvSpPr>
        <p:spPr>
          <a:xfrm>
            <a:off x="2661818" y="1755648"/>
            <a:ext cx="2428646" cy="86868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2422" y="1755648"/>
            <a:ext cx="195315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+ Transactions and events</a:t>
            </a:r>
          </a:p>
        </p:txBody>
      </p:sp>
      <p:sp>
        <p:nvSpPr>
          <p:cNvPr id="11" name="Chevron 10"/>
          <p:cNvSpPr/>
          <p:nvPr/>
        </p:nvSpPr>
        <p:spPr>
          <a:xfrm>
            <a:off x="4866436" y="1755648"/>
            <a:ext cx="2428646" cy="86868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7040" y="1755648"/>
            <a:ext cx="195315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+ Security and resilience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7071055" y="1755648"/>
            <a:ext cx="2428646" cy="868680"/>
          </a:xfrm>
          <a:prstGeom prst="chevron">
            <a:avLst>
              <a:gd name="adj" fmla="val 30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1659" y="1755648"/>
            <a:ext cx="195315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+ OpenShift and CI/CD</a:t>
            </a:r>
          </a:p>
        </p:txBody>
      </p:sp>
      <p:sp>
        <p:nvSpPr>
          <p:cNvPr id="15" name="Chevron 14"/>
          <p:cNvSpPr/>
          <p:nvPr/>
        </p:nvSpPr>
        <p:spPr>
          <a:xfrm>
            <a:off x="9275673" y="1755648"/>
            <a:ext cx="2428646" cy="868680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6277" y="1755648"/>
            <a:ext cx="195315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+ AI risk and 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98648"/>
            <a:ext cx="3596640" cy="2048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457200" y="289864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9864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ACCOUNT SERVICE · LAB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429000"/>
            <a:ext cx="32674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Account lifecycle: create, activate, freeze, close. REST, validation, OpenAPI and Actuator.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2440" y="2898648"/>
            <a:ext cx="3596640" cy="2048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4282440" y="289864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9600" y="289864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TRANSACTION SERVICE · LAB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7032" y="3429000"/>
            <a:ext cx="32674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Checks the account over REST and publishes TransactionSubmitted events.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7680" y="2898648"/>
            <a:ext cx="3596640" cy="2048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8107680" y="289864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4840" y="289864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RISK ASSESSMENT SERVICE · LAB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2272" y="3429000"/>
            <a:ext cx="32674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 OpenShift AI model scores; Java policy decides; people review every HOLD.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48072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48072"/>
            <a:ext cx="10881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CUMULATIVE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Each lab builds on the one before. Starters and solutions keep everyone moving.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Labs aren't separate exercises — together they assemble one three-service platform.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TWELVE MODULES AND A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Grouped by the day we teach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117750" cy="731520"/>
          </a:xfrm>
          <a:prstGeom prst="roundRect">
            <a:avLst>
              <a:gd name="adj" fmla="val 8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Architecture, APIs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and Spring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57984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2366010"/>
            <a:ext cx="420624" cy="420624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2157984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Microservices Fundamentals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4388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3312414"/>
            <a:ext cx="420624" cy="420624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104388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Microservices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50792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4258818"/>
            <a:ext cx="420624" cy="420624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4050792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Spring Boot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9542" y="1298448"/>
            <a:ext cx="2117750" cy="731520"/>
          </a:xfrm>
          <a:prstGeom prst="roundRect">
            <a:avLst>
              <a:gd name="adj" fmla="val 8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Integration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and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39542" y="2157984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49270" y="2366010"/>
            <a:ext cx="420624" cy="420624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3046" y="2157984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Microservices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39542" y="3104388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49270" y="3312414"/>
            <a:ext cx="420624" cy="420624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3046" y="3104388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Microservices and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1884" y="1298448"/>
            <a:ext cx="2117750" cy="731520"/>
          </a:xfrm>
          <a:prstGeom prst="roundRect">
            <a:avLst>
              <a:gd name="adj" fmla="val 8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Resilience, security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and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1884" y="2157984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31612" y="2366010"/>
            <a:ext cx="420624" cy="420624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5388" y="2157984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Resilient, High-Performance Microservices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1884" y="3104388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31612" y="3312414"/>
            <a:ext cx="420624" cy="420624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5388" y="3104388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Security and 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04227" y="1298448"/>
            <a:ext cx="2117750" cy="731520"/>
          </a:xfrm>
          <a:prstGeom prst="roundRect">
            <a:avLst>
              <a:gd name="adj" fmla="val 8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DevOps, containers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and OpenShift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04227" y="2157984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13955" y="2366010"/>
            <a:ext cx="420624" cy="420624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7731" y="2157984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DevOps and CI/CD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04227" y="3104388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13955" y="3312414"/>
            <a:ext cx="420624" cy="420624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7731" y="3104388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Containerization with OpenShift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86569" y="1298448"/>
            <a:ext cx="2117750" cy="731520"/>
          </a:xfrm>
          <a:prstGeom prst="roundRect">
            <a:avLst>
              <a:gd name="adj" fmla="val 8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DAY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AI, MCP and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the capstone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86569" y="2157984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96297" y="2366010"/>
            <a:ext cx="420624" cy="42062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0073" y="2157984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GitHub Copilot for Spring Boot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86569" y="3104388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96297" y="3312414"/>
            <a:ext cx="420624" cy="42062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0073" y="3104388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Agentic AI with Microsoft Services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86569" y="4050792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696297" y="4258818"/>
            <a:ext cx="420624" cy="42062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0073" y="4050792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MCP and Microservices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86569" y="4997196"/>
            <a:ext cx="2117750" cy="83667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B0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96297" y="5205222"/>
            <a:ext cx="420624" cy="42062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0073" y="4997196"/>
            <a:ext cx="1441094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Nirmala UI"/>
              </a:rPr>
              <a:t>Capstone: Putting It All Together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12 (Security) is taught on Day 3, so Lab 3 can secure the services.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WE COVER IN FIVE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Topics, labs and checkpoint exercises for each 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960120" cy="819302"/>
          </a:xfrm>
          <a:prstGeom prst="roundRect">
            <a:avLst>
              <a:gd name="adj" fmla="val 8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298448"/>
            <a:ext cx="6629400" cy="8193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00784" y="1335024"/>
            <a:ext cx="6336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Nirmala UI"/>
              </a:rPr>
              <a:t>Architecture, API design and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0784" y="1609344"/>
            <a:ext cx="6336792" cy="471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Microservice fundamentals, service boundaries, REST design, Spring Boot layers, validation, OpenAPI and Actuator.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298448"/>
            <a:ext cx="3383280" cy="819302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Lab 0 Environment Setup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Lab 1 Account Service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Exercises 1.1–1.3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27478"/>
            <a:ext cx="960120" cy="819302"/>
          </a:xfrm>
          <a:prstGeom prst="roundRect">
            <a:avLst>
              <a:gd name="adj" fmla="val 8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227478"/>
            <a:ext cx="6629400" cy="8193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0784" y="2264054"/>
            <a:ext cx="6336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3A9E"/>
                </a:solidFill>
                <a:latin typeface="Nirmala UI"/>
              </a:rPr>
              <a:t>Integration, data and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538374"/>
            <a:ext cx="6336792" cy="471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Sync vs. async calls, Kafka events, idempotency and DLQs, database per service, JPA, Flyway and transactions.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227478"/>
            <a:ext cx="3383280" cy="819302"/>
          </a:xfrm>
          <a:prstGeom prst="roundRect">
            <a:avLst>
              <a:gd name="adj" fmla="val 6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Lab 2 Transaction Service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Exercises 2.1–2.3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6508"/>
            <a:ext cx="960120" cy="819302"/>
          </a:xfrm>
          <a:prstGeom prst="roundRect">
            <a:avLst>
              <a:gd name="adj" fmla="val 8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156508"/>
            <a:ext cx="6629400" cy="8193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0784" y="3193084"/>
            <a:ext cx="6336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Nirmala UI"/>
              </a:rPr>
              <a:t>Resilience, security and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467404"/>
            <a:ext cx="6336792" cy="471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Timeouts, retries, circuit breakers, observability, OAuth2 and OIDC, JWT scopes, secrets and security tests.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156508"/>
            <a:ext cx="3383280" cy="819302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Lab 3 Secure and Resilient Services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Exercises 3.1–3.3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85539"/>
            <a:ext cx="960120" cy="819302"/>
          </a:xfrm>
          <a:prstGeom prst="roundRect">
            <a:avLst>
              <a:gd name="adj" fmla="val 8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4085539"/>
            <a:ext cx="6629400" cy="8193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0784" y="4122115"/>
            <a:ext cx="6336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690C"/>
                </a:solidFill>
                <a:latin typeface="Nirmala UI"/>
              </a:rPr>
              <a:t>DevOps, containers and OpenShift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396435"/>
            <a:ext cx="6336792" cy="471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Git and PR gates, CI/CD, image scanning, containers, Deployments, Services, Routes, probes and rollouts.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085539"/>
            <a:ext cx="3383280" cy="819302"/>
          </a:xfrm>
          <a:prstGeom prst="roundRect">
            <a:avLst>
              <a:gd name="adj" fmla="val 6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Lab 4 Deploy the Capstone Services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Exercises 4.1–4.3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14569"/>
            <a:ext cx="960120" cy="819302"/>
          </a:xfrm>
          <a:prstGeom prst="roundRect">
            <a:avLst>
              <a:gd name="adj" fmla="val 8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DAY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5014569"/>
            <a:ext cx="6629400" cy="8193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00784" y="5051145"/>
            <a:ext cx="6336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OpenShift AI, MCP and the capstone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0784" y="5325465"/>
            <a:ext cx="6336792" cy="471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GitHub Copilot, agentic AI, model calls with safe fallbacks, policy and human review, and MCP.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5014569"/>
            <a:ext cx="3383280" cy="819302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Lab 5 Risk Assessment Service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Exercises 5.1–5.3 · Capstone demo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day follows the same pattern: modules, checkpoints, then a lab.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HOW EACH DAY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Short concept blocks, practice and checkpoints — then build it in the lab.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RHYTHM OF EACH MODULE</a:t>
            </a:r>
          </a:p>
        </p:txBody>
      </p:sp>
      <p:sp>
        <p:nvSpPr>
          <p:cNvPr id="7" name="Pentagon 6"/>
          <p:cNvSpPr/>
          <p:nvPr/>
        </p:nvSpPr>
        <p:spPr>
          <a:xfrm>
            <a:off x="457200" y="1755648"/>
            <a:ext cx="2061210" cy="86868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175488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Concepts</a:t>
            </a:r>
          </a:p>
        </p:txBody>
      </p:sp>
      <p:sp>
        <p:nvSpPr>
          <p:cNvPr id="9" name="Chevron 8"/>
          <p:cNvSpPr/>
          <p:nvPr/>
        </p:nvSpPr>
        <p:spPr>
          <a:xfrm>
            <a:off x="2294382" y="1755648"/>
            <a:ext cx="2061210" cy="86868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4986" y="1755648"/>
            <a:ext cx="158572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Diagrams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and code</a:t>
            </a:r>
          </a:p>
        </p:txBody>
      </p:sp>
      <p:sp>
        <p:nvSpPr>
          <p:cNvPr id="11" name="Chevron 10"/>
          <p:cNvSpPr/>
          <p:nvPr/>
        </p:nvSpPr>
        <p:spPr>
          <a:xfrm>
            <a:off x="4131564" y="1755648"/>
            <a:ext cx="2061210" cy="86868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2168" y="1755648"/>
            <a:ext cx="158572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exercises</a:t>
            </a:r>
          </a:p>
        </p:txBody>
      </p:sp>
      <p:sp>
        <p:nvSpPr>
          <p:cNvPr id="13" name="Chevron 12"/>
          <p:cNvSpPr/>
          <p:nvPr/>
        </p:nvSpPr>
        <p:spPr>
          <a:xfrm>
            <a:off x="5968746" y="1755648"/>
            <a:ext cx="2061210" cy="868680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9350" y="1755648"/>
            <a:ext cx="158572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checkpoint</a:t>
            </a:r>
          </a:p>
        </p:txBody>
      </p:sp>
      <p:sp>
        <p:nvSpPr>
          <p:cNvPr id="15" name="Chevron 14"/>
          <p:cNvSpPr/>
          <p:nvPr/>
        </p:nvSpPr>
        <p:spPr>
          <a:xfrm>
            <a:off x="7805928" y="1755648"/>
            <a:ext cx="2061210" cy="868680"/>
          </a:xfrm>
          <a:prstGeom prst="chevron">
            <a:avLst>
              <a:gd name="adj" fmla="val 30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6532" y="1755648"/>
            <a:ext cx="158572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Kahoot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quiz</a:t>
            </a:r>
          </a:p>
        </p:txBody>
      </p:sp>
      <p:sp>
        <p:nvSpPr>
          <p:cNvPr id="17" name="Chevron 16"/>
          <p:cNvSpPr/>
          <p:nvPr/>
        </p:nvSpPr>
        <p:spPr>
          <a:xfrm>
            <a:off x="9643110" y="1755648"/>
            <a:ext cx="2061210" cy="868680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3714" y="1755648"/>
            <a:ext cx="158572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Knowledge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44368"/>
            <a:ext cx="3596640" cy="188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457200" y="294436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94436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THEN THE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474720"/>
            <a:ext cx="3267456" cy="12618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Each day ends with a hands-on lab that applies the day's modules to the banking platform.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40" y="2944368"/>
            <a:ext cx="3596640" cy="188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4282440" y="294436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9600" y="294436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NEVER STUCK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7032" y="3474720"/>
            <a:ext cx="3267456" cy="12618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lab has a starter and a solution, so a missed step never blocks the next day.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7680" y="2944368"/>
            <a:ext cx="3596640" cy="188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8107680" y="294436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4840" y="294436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ASK ANY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2272" y="3474720"/>
            <a:ext cx="3267456" cy="12618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Questions in the room or in chat are always welcome — the lab time is for trying things.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02352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02352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LOW STAKES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Quizzes and knowledge checks are for you — a quick way to see what's clicked.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Learn a concept, practise it, check it, then build 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tools and platforms we use across the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64033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264033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236601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65376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Java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50592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Spring Boot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3035808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Maven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621024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Spring Data JPA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206240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Flyway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791456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1298448"/>
            <a:ext cx="264033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3326130" y="1298448"/>
            <a:ext cx="264033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3290" y="1298448"/>
            <a:ext cx="236601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INTEGRATE AND SECURE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865376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Kafka / AMQ Streams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0722" y="2450592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Resilience4j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0722" y="3035808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Spring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0722" y="3621024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OAuth2 and JWT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0722" y="4206240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OpenAPI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5060" y="1298448"/>
            <a:ext cx="264033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6195060" y="1298448"/>
            <a:ext cx="264033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2220" y="1298448"/>
            <a:ext cx="236601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DELIVER AND OPERATE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9652" y="1865376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E7C7B"/>
                </a:solidFill>
                <a:latin typeface="Nirmala UI"/>
              </a:rPr>
              <a:t>Docker / Podman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9652" y="2450592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E7C7B"/>
                </a:solidFill>
                <a:latin typeface="Nirmala UI"/>
              </a:rPr>
              <a:t>Red Hat OpenShift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9652" y="3035808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E7C7B"/>
                </a:solidFill>
                <a:latin typeface="Nirmala UI"/>
              </a:rPr>
              <a:t>GitHub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9652" y="3621024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E7C7B"/>
                </a:solidFill>
                <a:latin typeface="Nirmala UI"/>
              </a:rPr>
              <a:t>Micrometer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9652" y="4206240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E7C7B"/>
                </a:solidFill>
                <a:latin typeface="Nirmala UI"/>
              </a:rPr>
              <a:t>OpenTelemetry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9652" y="4791456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E7C7B"/>
                </a:solidFill>
                <a:latin typeface="Nirmala UI"/>
              </a:rPr>
              <a:t>Prometheus / Grafana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3990" y="1298448"/>
            <a:ext cx="264033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9063990" y="1298448"/>
            <a:ext cx="264033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1150" y="1298448"/>
            <a:ext cx="236601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AI-ASSISTED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28582" y="1865376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D1282E"/>
                </a:solidFill>
                <a:latin typeface="Nirmala UI"/>
              </a:rPr>
              <a:t>GitHub Copilot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28582" y="2450592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D1282E"/>
                </a:solidFill>
                <a:latin typeface="Nirmala UI"/>
              </a:rPr>
              <a:t>Red Hat OpenShift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28582" y="3035808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D1282E"/>
                </a:solidFill>
                <a:latin typeface="Nirmala UI"/>
              </a:rPr>
              <a:t>Microsoft AI services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28582" y="3621024"/>
            <a:ext cx="2311146" cy="475488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D1282E"/>
                </a:solidFill>
                <a:latin typeface="Nirmala UI"/>
              </a:rPr>
              <a:t>Model Context Protocol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Enterprise-standard tools, used the way production teams use them.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"Ask early — every question helps the whole room."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LET'S 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Questions Before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We Begin?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Next: the Lab 0 environment check, then Module 1 — Microservices Fundamentals.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COURSE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