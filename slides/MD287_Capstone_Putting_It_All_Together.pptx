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Connecting everything</a:t>
            </a:r>
          </a:p>
          <a:p/>
          <a:p>
            <a:r>
              <a:t>  This capstone connects the whole course.</a:t>
            </a:r>
          </a:p>
          <a:p/>
          <a:p>
            <a:r>
              <a:t>  Earlier modules covered design, Spring Boot, messaging, data, resilience, DevOps, OpenShift, Copilot, agentic AI, MCP and security one at a time.</a:t>
            </a:r>
          </a:p>
          <a:p/>
          <a:p>
            <a:r>
              <a:t>- The new question</a:t>
            </a:r>
          </a:p>
          <a:p/>
          <a:p>
            <a:r>
              <a:t>  Now we ask: how do all these pieces work together in one production-style system?</a:t>
            </a:r>
          </a:p>
          <a:p/>
          <a:p>
            <a:r>
              <a:t>- The lifecycle</a:t>
            </a:r>
          </a:p>
          <a:p/>
          <a:p>
            <a:r>
              <a:t>  Business requirement, architecture, code, test, secure, build, containerize, deploy, observe, improve.</a:t>
            </a:r>
          </a:p>
          <a:p/>
          <a:p>
            <a:r>
              <a:t>- What it's really about</a:t>
            </a:r>
          </a:p>
          <a:p/>
          <a:p>
            <a:r>
              <a:t>  The capstone is about the whole engineering system, not just whether one REST endpoint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Five groups of deliverables</a:t>
            </a:r>
          </a:p>
          <a:p/>
          <a:p>
            <a:r>
              <a:t>  Build: Spring Boot microservices, REST APIs, SQL persistence and event integration.</a:t>
            </a:r>
          </a:p>
          <a:p/>
          <a:p>
            <a:r>
              <a:t>  Protect: OAuth2 and OIDC, authorization and secrets management.</a:t>
            </a:r>
          </a:p>
          <a:p/>
          <a:p>
            <a:r>
              <a:t>  Deliver: Git workflow, automated tests, CI/CD, containers and OpenShift.</a:t>
            </a:r>
          </a:p>
          <a:p/>
          <a:p>
            <a:r>
              <a:t>  Operate: health checks, logs, metrics and traces.</a:t>
            </a:r>
          </a:p>
          <a:p/>
          <a:p>
            <a:r>
              <a:t>  Accelerate: GitHub Copilot and MCP-enabled AI integration.</a:t>
            </a:r>
          </a:p>
          <a:p/>
          <a:p>
            <a:r>
              <a:t>- Grade more than compiling</a:t>
            </a:r>
          </a:p>
          <a:p/>
          <a:p>
            <a:r>
              <a:t>  Don't grade the capstone only on whether the application compiles.</a:t>
            </a:r>
          </a:p>
          <a:p/>
          <a:p>
            <a:r>
              <a:t>  Evaluate architecture, functionality, reliability, security, automation, deployment, observability and AI integration.</a:t>
            </a:r>
          </a:p>
          <a:p/>
          <a:p>
            <a:r>
              <a:t>- Not production-ready yet</a:t>
            </a:r>
          </a:p>
          <a:p/>
          <a:p>
            <a:r>
              <a:t>  A team with beautiful Java code that can't deploy or diagnose it doesn't yet have a production-ready platform.</a:t>
            </a:r>
          </a:p>
          <a:p/>
          <a:p>
            <a:r>
              <a:t>- The real goal</a:t>
            </a:r>
          </a:p>
          <a:p/>
          <a:p>
            <a:r>
              <a:t>  'It works on my laptop' is not the goal.</a:t>
            </a:r>
          </a:p>
          <a:p/>
          <a:p>
            <a:r>
              <a:t>  The goal is a system that can be built, tested, secured, deployed, observed and operated repeatably.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order platform or the banking lab.</a:t>
            </a:r>
          </a:p>
          <a:p/>
          <a:p>
            <a:r>
              <a:t>- Service boundary</a:t>
            </a:r>
          </a:p>
          <a:p/>
          <a:p>
            <a:r>
              <a:t>  The line around what a service owns — its capability, its API and its data.</a:t>
            </a:r>
          </a:p>
          <a:p/>
          <a:p>
            <a:r>
              <a:t>- Synchronous integration</a:t>
            </a:r>
          </a:p>
          <a:p/>
          <a:p>
            <a:r>
              <a:t>  A call that waits for an answer, such as a REST request.</a:t>
            </a:r>
          </a:p>
          <a:p/>
          <a:p>
            <a:r>
              <a:t>- Asynchronous integration</a:t>
            </a:r>
          </a:p>
          <a:p/>
          <a:p>
            <a:r>
              <a:t>  Publishing an event that other services process later.</a:t>
            </a:r>
          </a:p>
          <a:p/>
          <a:p>
            <a:r>
              <a:t>- Transactional outbox</a:t>
            </a:r>
          </a:p>
          <a:p/>
          <a:p>
            <a:r>
              <a:t>  Saving an event in the same transaction as the data, then publishing it.</a:t>
            </a:r>
          </a:p>
          <a:p/>
          <a:p>
            <a:r>
              <a:t>- Safe fallback</a:t>
            </a:r>
          </a:p>
          <a:p/>
          <a:p>
            <a:r>
              <a:t>  A defined outcome when a dependency fails — pending or HOLD, never an invented success.</a:t>
            </a:r>
          </a:p>
          <a:p/>
          <a:p>
            <a:r>
              <a:t>- Rollback</a:t>
            </a:r>
          </a:p>
          <a:p/>
          <a:p>
            <a:r>
              <a:t>  Returning a deployment to its previous working version.</a:t>
            </a:r>
          </a:p>
          <a:p/>
          <a:p>
            <a:r>
              <a:t>- Human review</a:t>
            </a:r>
          </a:p>
          <a:p/>
          <a:p>
            <a:r>
              <a:t>  A person decides every HOLD before any money moves.</a:t>
            </a:r>
          </a:p>
          <a:p/>
          <a:p>
            <a:r>
              <a:t>- Production readiness</a:t>
            </a:r>
          </a:p>
          <a:p/>
          <a:p>
            <a:r>
              <a:t>  Evidence that a system is secure, observable, recoverable and correct under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AI is Artificial Intelligence; API is Application Programming Interface; CD is Continuous Delivery / Deployment; CI is Continuous Integration; CI/CD is Continuous Integration / Continuous Delivery; DB is Database; DLQ is Dead-Letter Queue; HMAC is Hash-based Message Authentication Code; HTTP is HyperText Transfer Protocol; HTTPS is HyperText Transfer Protocol Secure; ID is Identifier; JPA is Jakarta Persistence API; JWT is JSON Web Token; MCP is Model Context Protocol; OAuth is Open Authorization; OCI is Open Container Initiative; OIDC is OpenID Connect; PR is Pull Request; REST is Representational State Transfer; SHA is Secure Hash Algorithm; SKU is Stock Keeping Unit; SQL is Structured Query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Bridge from Module 12</a:t>
            </a:r>
          </a:p>
          <a:p/>
          <a:p>
            <a:r>
              <a:t>  Module 12 secured every identity and boundary.</a:t>
            </a:r>
          </a:p>
          <a:p/>
          <a:p>
            <a:r>
              <a:t>  The Capstone connects that work with everything that came before.</a:t>
            </a:r>
          </a:p>
          <a:p/>
          <a:p>
            <a:r>
              <a:t>- The path</a:t>
            </a:r>
          </a:p>
          <a:p/>
          <a:p>
            <a:r>
              <a:t>  Design, build, protect and test, deliver, then operate and demonstrate.</a:t>
            </a:r>
          </a:p>
          <a:p/>
          <a:p>
            <a:r>
              <a:t>- Two examples</a:t>
            </a:r>
          </a:p>
          <a:p/>
          <a:p>
            <a:r>
              <a:t>  The slides use the order platform.</a:t>
            </a:r>
          </a:p>
          <a:p/>
          <a:p>
            <a:r>
              <a:t>  The official demo uses the banking Account, Transaction and Risk Assessment services from Labs 1–5.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start here</a:t>
            </a:r>
          </a:p>
          <a:p/>
          <a:p>
            <a:r>
              <a:t>  Teams that start with controllers often build a distributed monolith.</a:t>
            </a:r>
          </a:p>
          <a:p/>
          <a:p>
            <a:r>
              <a:t>  Design comes first.</a:t>
            </a:r>
          </a:p>
          <a:p/>
          <a:p>
            <a:r>
              <a:t>- What this part covers</a:t>
            </a:r>
          </a:p>
          <a:p/>
          <a:p>
            <a:r>
              <a:t>  The scenario, the target architecture, service boundaries and the contracts between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scenario</a:t>
            </a:r>
          </a:p>
          <a:p/>
          <a:p>
            <a:r>
              <a:t>  The platform is an e-commerce order processing system with Order, Payment, Inventory and Shipping services.</a:t>
            </a:r>
          </a:p>
          <a:p/>
          <a:p>
            <a:r>
              <a:t>  Customers can create, view and cancel eligible orders.</a:t>
            </a:r>
          </a:p>
          <a:p/>
          <a:p>
            <a:r>
              <a:t>  The platform processes payment, reserves inventory, arranges shipping and tracks status.</a:t>
            </a:r>
          </a:p>
          <a:p/>
          <a:p>
            <a:r>
              <a:t>- A simple customer story</a:t>
            </a:r>
          </a:p>
          <a:p/>
          <a:p>
            <a:r>
              <a:t>  A customer places an order with two products.</a:t>
            </a:r>
          </a:p>
          <a:p/>
          <a:p>
            <a:r>
              <a:t>  The platform must create the order, process payment, reserve inventory, arrange shipping, and let the customer track the order.</a:t>
            </a:r>
          </a:p>
          <a:p/>
          <a:p>
            <a:r>
              <a:t>- Questions that drive the design</a:t>
            </a:r>
          </a:p>
          <a:p/>
          <a:p>
            <a:r>
              <a:t>  Ask learners: what happens if Payment is down?</a:t>
            </a:r>
          </a:p>
          <a:p/>
          <a:p>
            <a:r>
              <a:t>  What if payment succeeds but inventory fails?</a:t>
            </a:r>
          </a:p>
          <a:p/>
          <a:p>
            <a:r>
              <a:t>  How do we secure cancellation, and how does Shipping learn about the order?</a:t>
            </a:r>
          </a:p>
          <a:p/>
          <a:p>
            <a:r>
              <a:t>  How do we deploy a new Order Service version, and how do we find where a failure happened?</a:t>
            </a:r>
          </a:p>
          <a:p/>
          <a:p>
            <a:r>
              <a:t>- Almost every topic</a:t>
            </a:r>
          </a:p>
          <a:p/>
          <a:p>
            <a:r>
              <a:t>  This apparently simple process touches almost every topic from the course.</a:t>
            </a:r>
          </a:p>
          <a:p/>
          <a:p>
            <a:r>
              <a:t>- What the diagram shows</a:t>
            </a:r>
          </a:p>
          <a:p/>
          <a:p>
            <a:r>
              <a:t>  A customer places an order; payment, inventory, shipping and the order status follow.</a:t>
            </a:r>
          </a:p>
          <a:p/>
          <a:p>
            <a:r>
              <a:t>- Key point</a:t>
            </a:r>
          </a:p>
          <a:p/>
          <a:p>
            <a:r>
              <a:t>  One business process touches almost every course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target architecture</a:t>
            </a:r>
          </a:p>
          <a:p/>
          <a:p>
            <a:r>
              <a:t>  The customer uses a web or API client, which goes through the API gateway to the Order, Payment and Inventory services.</a:t>
            </a:r>
          </a:p>
          <a:p/>
          <a:p>
            <a:r>
              <a:t>  Each service has its own database.</a:t>
            </a:r>
          </a:p>
          <a:p/>
          <a:p>
            <a:r>
              <a:t>  Order publishes domain events to a message broker, and Inventory and Shipping consume them.</a:t>
            </a:r>
          </a:p>
          <a:p/>
          <a:p>
            <a:r>
              <a:t>- Around the whole system</a:t>
            </a:r>
          </a:p>
          <a:p/>
          <a:p>
            <a:r>
              <a:t>  Security, CI/CD, OpenShift, observability and AI assistance surround the architecture.</a:t>
            </a:r>
          </a:p>
          <a:p/>
          <a:p>
            <a:r>
              <a:t>- Don't start with controllers</a:t>
            </a:r>
          </a:p>
          <a:p/>
          <a:p>
            <a:r>
              <a:t>  Don't begin by coding controllers.</a:t>
            </a:r>
          </a:p>
          <a:p/>
          <a:p>
            <a:r>
              <a:t>  Start from business capability, then service boundary, then contract, then implementation.</a:t>
            </a:r>
          </a:p>
          <a:p/>
          <a:p>
            <a:r>
              <a:t>- Avoid a distributed monolith</a:t>
            </a:r>
          </a:p>
          <a:p/>
          <a:p>
            <a:r>
              <a:t>  Order Service must not become Order plus Payment plus Inventory plus Shipping plus everything else.</a:t>
            </a:r>
          </a:p>
          <a:p/>
          <a:p>
            <a:r>
              <a:t>  Otherwise we've rebuilt a distributed monolith, meaning a monolith spread across the network.</a:t>
            </a:r>
          </a:p>
          <a:p/>
          <a:p>
            <a:r>
              <a:t>- What the diagram shows</a:t>
            </a:r>
          </a:p>
          <a:p/>
          <a:p>
            <a:r>
              <a:t>  Clients, a gateway, Order, Payment, Inventory and Shipping services, a broker, databases, security, observability and OpenShift.</a:t>
            </a:r>
          </a:p>
          <a:p/>
          <a:p>
            <a:r>
              <a:t>- Key point</a:t>
            </a:r>
          </a:p>
          <a:p/>
          <a:p>
            <a:r>
              <a:t>  Design capabilities and boundaries before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Clear ownership</a:t>
            </a:r>
          </a:p>
          <a:p/>
          <a:p>
            <a:r>
              <a:t>  Order owns the order lifecycle.</a:t>
            </a:r>
          </a:p>
          <a:p/>
          <a:p>
            <a:r>
              <a:t>  Payment owns payment processing.</a:t>
            </a:r>
          </a:p>
          <a:p/>
          <a:p>
            <a:r>
              <a:t>  Inventory owns stock and reservations.</a:t>
            </a:r>
          </a:p>
          <a:p/>
          <a:p>
            <a:r>
              <a:t>  Shipping owns the shipment lifecycle.</a:t>
            </a:r>
          </a:p>
          <a:p/>
          <a:p>
            <a:r>
              <a:t>  Each service owns its business capability and its data.</a:t>
            </a:r>
          </a:p>
          <a:p/>
          <a:p>
            <a:r>
              <a:t>- Order and Payment</a:t>
            </a:r>
          </a:p>
          <a:p/>
          <a:p>
            <a:r>
              <a:t>  Order Service creates, gets and cancels orders, and tracks order status.</a:t>
            </a:r>
          </a:p>
          <a:p/>
          <a:p>
            <a:r>
              <a:t>  Payment Service creates, checks and refunds payments.</a:t>
            </a:r>
          </a:p>
          <a:p/>
          <a:p>
            <a:r>
              <a:t>- Inventory and Shipping</a:t>
            </a:r>
          </a:p>
          <a:p/>
          <a:p>
            <a:r>
              <a:t>  Inventory Service checks stock, reserves stock and releases reservations.</a:t>
            </a:r>
          </a:p>
          <a:p/>
          <a:p>
            <a:r>
              <a:t>  Shipping Service creates, tracks and updates shipments.</a:t>
            </a:r>
          </a:p>
          <a:p/>
          <a:p>
            <a:r>
              <a:t>- Preserve autonomy</a:t>
            </a:r>
          </a:p>
          <a:p/>
          <a:p>
            <a:r>
              <a:t>  Order Service must not update the payment table, and Payment must not update the order table.</a:t>
            </a:r>
          </a:p>
          <a:p/>
          <a:p>
            <a:r>
              <a:t>  That preserves each service's autonomy.</a:t>
            </a:r>
          </a:p>
          <a:p/>
          <a:p>
            <a:r>
              <a:t>- What the diagram shows</a:t>
            </a:r>
          </a:p>
          <a:p/>
          <a:p>
            <a:r>
              <a:t>  Order, Payment, Inventory and Shipping, each with its own capability, APIs, events and data.</a:t>
            </a:r>
          </a:p>
          <a:p/>
          <a:p>
            <a:r>
              <a:t>- Key point</a:t>
            </a:r>
          </a:p>
          <a:p/>
          <a:p>
            <a:r>
              <a:t>  Clear ownership keeps each service autonomous.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Ownership</a:t>
            </a:r>
          </a:p>
          <a:p/>
          <a:p>
            <a:r>
              <a:t>  Each group of tables belongs to one service, which alone reads and writes it.</a:t>
            </a:r>
          </a:p>
          <a:p/>
          <a:p>
            <a:r>
              <a:t>- The violations</a:t>
            </a:r>
          </a:p>
          <a:p/>
          <a:p>
            <a:r>
              <a:t>  Order Service reading stock and Shipping updating order status both reach into another service's data.</a:t>
            </a:r>
          </a:p>
          <a:p/>
          <a:p>
            <a:r>
              <a:t>- The fixes</a:t>
            </a:r>
          </a:p>
          <a:p/>
          <a:p>
            <a:r>
              <a:t>  Order Service calls the Inventory API.</a:t>
            </a:r>
          </a:p>
          <a:p/>
          <a:p>
            <a:r>
              <a:t>  Shipping publishes an event, and Order Service updates its own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REST APIs</a:t>
            </a:r>
          </a:p>
          <a:p/>
          <a:p>
            <a:r>
              <a:t>  Order Service exposes POST /orders, GET /orders/{id} and PATCH /orders/{id}/cancel.</a:t>
            </a:r>
          </a:p>
          <a:p/>
          <a:p>
            <a:r>
              <a:t>  Payment Service exposes POST /payments and GET /payments/{id}.</a:t>
            </a:r>
          </a:p>
          <a:p/>
          <a:p>
            <a:r>
              <a:t>  There are also GET /inventory/{sku} and GET /shipments/{id}.</a:t>
            </a:r>
          </a:p>
          <a:p/>
          <a:p>
            <a:r>
              <a:t>- Domain events</a:t>
            </a:r>
          </a:p>
          <a:p/>
          <a:p>
            <a:r>
              <a:t>  The events are OrderCreated, OrderCancelled, PaymentCompleted, PaymentFailed, InventoryReserved and ShipmentCreated.</a:t>
            </a:r>
          </a:p>
          <a:p/>
          <a:p>
            <a:r>
              <a:t>- Sync or async</a:t>
            </a:r>
          </a:p>
          <a:p/>
          <a:p>
            <a:r>
              <a:t>  Use synchronous calls when the caller needs an immediate answer, like Order waiting for a payment result.</a:t>
            </a:r>
          </a:p>
          <a:p/>
          <a:p>
            <a:r>
              <a:t>  Use asynchronous events for loose coupling and independent processing.</a:t>
            </a:r>
          </a:p>
          <a:p/>
          <a:p>
            <a:r>
              <a:t>  For example, OrderCreated goes to the broker and on to Inventory and Shipping.</a:t>
            </a:r>
          </a:p>
          <a:p/>
          <a:p>
            <a:r>
              <a:t>- Events are APIs too</a:t>
            </a:r>
          </a:p>
          <a:p/>
          <a:p>
            <a:r>
              <a:t>  An event shouldn't be an uncontrolled dump of an internal entity.</a:t>
            </a:r>
          </a:p>
          <a:p/>
          <a:p>
            <a:r>
              <a:t>  A good OrderCreated event carries eventType, orderId, customerId and a timestamp.</a:t>
            </a:r>
          </a:p>
          <a:p/>
          <a:p>
            <a:r>
              <a:t>  Event contracts need versioning and compatibility planning, just like APIs.</a:t>
            </a:r>
          </a:p>
          <a:p/>
          <a:p>
            <a:r>
              <a:t>- What the diagram shows</a:t>
            </a:r>
          </a:p>
          <a:p/>
          <a:p>
            <a:r>
              <a:t>  Synchronous REST calls next to asynchronous domain events such as OrderCreated and PaymentCompleted.</a:t>
            </a:r>
          </a:p>
          <a:p/>
          <a:p>
            <a:r>
              <a:t>- Key point</a:t>
            </a:r>
          </a:p>
          <a:p/>
          <a:p>
            <a:r>
              <a:t>  REST and events are both public contracts.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REST contract</a:t>
            </a:r>
          </a:p>
          <a:p/>
          <a:p>
            <a:r>
              <a:t>  createOrder requires an Idempotency-Key and documents the success, validation and duplicate responses.</a:t>
            </a:r>
          </a:p>
          <a:p/>
          <a:p>
            <a:r>
              <a:t>- The event contract</a:t>
            </a:r>
          </a:p>
          <a:p/>
          <a:p>
            <a:r>
              <a:t>  OrderCreated carries an event ID, type, version, time and correlation ID, plus only the data consumers need.</a:t>
            </a:r>
          </a:p>
          <a:p/>
          <a:p>
            <a:r>
              <a:t>- Money</a:t>
            </a:r>
          </a:p>
          <a:p/>
          <a:p>
            <a:r>
              <a:t>  The amount is a string with a currency, so no floating-point rounding.</a:t>
            </a:r>
          </a:p>
          <a:p/>
          <a:p>
            <a:r>
              <a:t>- Evolution</a:t>
            </a:r>
          </a:p>
          <a:p/>
          <a:p>
            <a:r>
              <a:t>  Adding optional fields is safe.</a:t>
            </a:r>
          </a:p>
          <a:p/>
          <a:p>
            <a:r>
              <a:t>  Removing or renaming fields needs a new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This is where Modules 2 to 6 come together inside real services.</a:t>
            </a:r>
          </a:p>
          <a:p/>
          <a:p>
            <a:r>
              <a:t>- What comes next</a:t>
            </a:r>
          </a:p>
          <a:p/>
          <a:p>
            <a:r>
              <a:t>  Internal layers, the order lifecycle, calls and events, owned data and resilience.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Clean internal layers</a:t>
            </a:r>
          </a:p>
          <a:p/>
          <a:p>
            <a:r>
              <a:t>  Each microservice should have a clean internal architecture.</a:t>
            </a:r>
          </a:p>
          <a:p/>
          <a:p>
            <a:r>
              <a:t>  An HTTP request goes to the controller, then DTOs and validation, then the service and business logic, then the repository and database.</a:t>
            </a:r>
          </a:p>
          <a:p/>
          <a:p>
            <a:r>
              <a:t>- Cross-cutting concerns</a:t>
            </a:r>
          </a:p>
          <a:p/>
          <a:p>
            <a:r>
              <a:t>  Security, exception handling, logging and configuration apply across all the layers.</a:t>
            </a:r>
          </a:p>
          <a:p/>
          <a:p>
            <a:r>
              <a:t>- Who does what</a:t>
            </a:r>
          </a:p>
          <a:p/>
          <a:p>
            <a:r>
              <a:t>  In Order Service, OrderController handles HTTP concerns.</a:t>
            </a:r>
          </a:p>
          <a:p/>
          <a:p>
            <a:r>
              <a:t>  OrderService holds the business rules.</a:t>
            </a:r>
          </a:p>
          <a:p/>
          <a:p>
            <a:r>
              <a:t>  OrderRepository handles persistence.</a:t>
            </a:r>
          </a:p>
          <a:p/>
          <a:p>
            <a:r>
              <a:t>- Keep them separate</a:t>
            </a:r>
          </a:p>
          <a:p/>
          <a:p>
            <a:r>
              <a:t>  Don't put the whole application inside OrderController.</a:t>
            </a:r>
          </a:p>
          <a:p/>
          <a:p>
            <a:r>
              <a:t>  Separate responsibilities keep the service testable and maintainable.</a:t>
            </a:r>
          </a:p>
          <a:p/>
          <a:p>
            <a:r>
              <a:t>- What the diagram shows</a:t>
            </a:r>
          </a:p>
          <a:p/>
          <a:p>
            <a:r>
              <a:t>  Controller, service, repository and database, with validation, security, logging and error handling across them.</a:t>
            </a:r>
          </a:p>
          <a:p/>
          <a:p>
            <a:r>
              <a:t>- Key point</a:t>
            </a:r>
          </a:p>
          <a:p/>
          <a:p>
            <a:r>
              <a:t>  Clean internal layers keep services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primary implementation</a:t>
            </a:r>
          </a:p>
          <a:p/>
          <a:p>
            <a:r>
              <a:t>  Use Order Service as the main capstone implementation.</a:t>
            </a:r>
          </a:p>
          <a:p/>
          <a:p>
            <a:r>
              <a:t>  Its endpoints are POST /orders, GET /orders/{id} and PATCH /orders/{id}/cancel, built as controller, service, repository and database.</a:t>
            </a:r>
          </a:p>
          <a:p/>
          <a:p>
            <a:r>
              <a:t>- Creating an order</a:t>
            </a:r>
          </a:p>
          <a:p/>
          <a:p>
            <a:r>
              <a:t>  Receive the CreateOrderRequest and validate it.</a:t>
            </a:r>
          </a:p>
          <a:p/>
          <a:p>
            <a:r>
              <a:t>  Create the order, persist it, and publish OrderCreated.</a:t>
            </a:r>
          </a:p>
          <a:p/>
          <a:p>
            <a:r>
              <a:t>  Then return the OrderResponse.</a:t>
            </a:r>
          </a:p>
          <a:p/>
          <a:p>
            <a:r>
              <a:t>- Order states</a:t>
            </a:r>
          </a:p>
          <a:p/>
          <a:p>
            <a:r>
              <a:t>  Order states are CREATED, PAID, CONFIRMED, CANCELLED and SHIPPED.</a:t>
            </a:r>
          </a:p>
          <a:p/>
          <a:p>
            <a:r>
              <a:t>- Cancellation rules</a:t>
            </a:r>
          </a:p>
          <a:p/>
          <a:p>
            <a:r>
              <a:t>  A CREATED order can be cancelled.</a:t>
            </a:r>
          </a:p>
          <a:p/>
          <a:p>
            <a:r>
              <a:t>  A CONFIRMED order may be cancellable.</a:t>
            </a:r>
          </a:p>
          <a:p/>
          <a:p>
            <a:r>
              <a:t>  A SHIPPED order can't be cancelled, and a CANCELLED order is already cancelled.</a:t>
            </a:r>
          </a:p>
          <a:p/>
          <a:p>
            <a:r>
              <a:t>- A critical principle</a:t>
            </a:r>
          </a:p>
          <a:p/>
          <a:p>
            <a:r>
              <a:t>  Business rules belong in the service, not in the UI, the agent, the MCP server or the API gateway.</a:t>
            </a:r>
          </a:p>
          <a:p/>
          <a:p>
            <a:r>
              <a:t>- What the diagram shows</a:t>
            </a:r>
          </a:p>
          <a:p/>
          <a:p>
            <a:r>
              <a:t>  An order moving from CREATED through PAYMENT_PENDING and PAID to SHIPPED, or to CANCELLED.</a:t>
            </a:r>
          </a:p>
          <a:p/>
          <a:p>
            <a:r>
              <a:t>- Key point</a:t>
            </a:r>
          </a:p>
          <a:p/>
          <a:p>
            <a:r>
              <a:t>  Order Service owns the lifecycle and its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entity</a:t>
            </a:r>
          </a:p>
          <a:p/>
          <a:p>
            <a:r>
              <a:t>  Order refuses illegal transitions, such as cancelling a shipped order, and records when a refund is needed.</a:t>
            </a:r>
          </a:p>
          <a:p/>
          <a:p>
            <a:r>
              <a:t>- Idempotency</a:t>
            </a:r>
          </a:p>
          <a:p/>
          <a:p>
            <a:r>
              <a:t>  If the same Idempotency-Key arrives twice, the service returns the existing order instead of creating another.</a:t>
            </a:r>
          </a:p>
          <a:p/>
          <a:p>
            <a:r>
              <a:t>- The outbox</a:t>
            </a:r>
          </a:p>
          <a:p/>
          <a:p>
            <a:r>
              <a:t>  The order row and the OrderCreated outbox row commit in one local transaction.</a:t>
            </a:r>
          </a:p>
          <a:p/>
          <a:p>
            <a:r>
              <a:t>  A relay publishes the event afterwards, so no event is lost and none is invented.</a:t>
            </a:r>
          </a:p>
          <a:p/>
          <a:p>
            <a:r>
              <a:t>- Module links</a:t>
            </a:r>
          </a:p>
          <a:p/>
          <a:p>
            <a:r>
              <a:t>  This combines Module 3's layers, Module 4's events and Module 5's local transactions.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synchronous call</a:t>
            </a:r>
          </a:p>
          <a:p/>
          <a:p>
            <a:r>
              <a:t>  Suppose confirming an order needs immediate payment authorization.</a:t>
            </a:r>
          </a:p>
          <a:p/>
          <a:p>
            <a:r>
              <a:t>  The client calls Order Service, which calls POST /payments on Payment Service.</a:t>
            </a:r>
          </a:p>
          <a:p/>
          <a:p>
            <a:r>
              <a:t>  Payment calls the payment provider, and the result returns to Order Service.</a:t>
            </a:r>
          </a:p>
          <a:p/>
          <a:p>
            <a:r>
              <a:t>- Possible outcomes</a:t>
            </a:r>
          </a:p>
          <a:p/>
          <a:p>
            <a:r>
              <a:t>  The outcome might be success, declined, a timeout, or the service being unavailable.</a:t>
            </a:r>
          </a:p>
          <a:p/>
          <a:p>
            <a:r>
              <a:t>- Never wait forever</a:t>
            </a:r>
          </a:p>
          <a:p/>
          <a:p>
            <a:r>
              <a:t>  Don't let Order Service wait forever.</a:t>
            </a:r>
          </a:p>
          <a:p/>
          <a:p>
            <a:r>
              <a:t>  Configure an explicit timeout.</a:t>
            </a:r>
          </a:p>
          <a:p/>
          <a:p>
            <a:r>
              <a:t>  Protect the call with timeouts, retries where safe, a circuit breaker and authentication.</a:t>
            </a:r>
          </a:p>
          <a:p/>
          <a:p>
            <a:r>
              <a:t>- Deliberate retries</a:t>
            </a:r>
          </a:p>
          <a:p/>
          <a:p>
            <a:r>
              <a:t>  Retries must be deliberate.</a:t>
            </a:r>
          </a:p>
          <a:p/>
          <a:p>
            <a:r>
              <a:t>  Don't blindly retry a payment creation unless the API guarantees idempotency, meaning a repeat does no extra harm.</a:t>
            </a:r>
          </a:p>
          <a:p/>
          <a:p>
            <a:r>
              <a:t>  This connects directly to Module 6.</a:t>
            </a:r>
          </a:p>
          <a:p/>
          <a:p>
            <a:r>
              <a:t>- What the diagram shows</a:t>
            </a:r>
          </a:p>
          <a:p/>
          <a:p>
            <a:r>
              <a:t>  Order Service calling Payment Service with a timeout, retry and circuit breaker, and each possible outcome.</a:t>
            </a:r>
          </a:p>
          <a:p/>
          <a:p>
            <a:r>
              <a:t>- Key point</a:t>
            </a:r>
          </a:p>
          <a:p/>
          <a:p>
            <a:r>
              <a:t>  Synchronous calls need bounded waits.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Publishing an event</a:t>
            </a:r>
          </a:p>
          <a:p/>
          <a:p>
            <a:r>
              <a:t>  When Order Service publishes OrderCreated, it doesn't need to know every consumer.</a:t>
            </a:r>
          </a:p>
          <a:p/>
          <a:p>
            <a:r>
              <a:t>  Inventory may reserve stock, Shipping may prepare fulfillment, and Notification may send a confirmation.</a:t>
            </a:r>
          </a:p>
          <a:p/>
          <a:p>
            <a:r>
              <a:t>- Room to grow</a:t>
            </a:r>
          </a:p>
          <a:p/>
          <a:p>
            <a:r>
              <a:t>  Later, a new analytics service could subscribe without any change to Order Service.</a:t>
            </a:r>
          </a:p>
          <a:p/>
          <a:p>
            <a:r>
              <a:t>- What it gives</a:t>
            </a:r>
          </a:p>
          <a:p/>
          <a:p>
            <a:r>
              <a:t>  This gives loose coupling, independent evolution and independent scaling.</a:t>
            </a:r>
          </a:p>
          <a:p/>
          <a:p>
            <a:r>
              <a:t>- What it costs</a:t>
            </a:r>
          </a:p>
          <a:p/>
          <a:p>
            <a:r>
              <a:t>  It also introduces eventual consistency, meaning data catches up over time, plus duplicate delivery and ordering concerns.</a:t>
            </a:r>
          </a:p>
          <a:p/>
          <a:p>
            <a:r>
              <a:t>  It adds schema evolution and failure handling too.</a:t>
            </a:r>
          </a:p>
          <a:p/>
          <a:p>
            <a:r>
              <a:t>  So consumers should tolerate duplicate delivery where appropriate.</a:t>
            </a:r>
          </a:p>
          <a:p/>
          <a:p>
            <a:r>
              <a:t>- What the diagram shows</a:t>
            </a:r>
          </a:p>
          <a:p/>
          <a:p>
            <a:r>
              <a:t>  Order Service publishing OrderCreated to a broker, consumed independently by Inventory and Shipping.</a:t>
            </a:r>
          </a:p>
          <a:p/>
          <a:p>
            <a:r>
              <a:t>- Key point</a:t>
            </a:r>
          </a:p>
          <a:p/>
          <a:p>
            <a:r>
              <a:t>  Events decouple services; consumers handle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Service-owned data</a:t>
            </a:r>
          </a:p>
          <a:p/>
          <a:p>
            <a:r>
              <a:t>  Order Service has the Order DB, Payment the Payment DB, Inventory the Inventory DB, and Shipping the Shipping DB.</a:t>
            </a:r>
          </a:p>
          <a:p/>
          <a:p>
            <a:r>
              <a:t>  No service owns another service's tables.</a:t>
            </a:r>
          </a:p>
          <a:p/>
          <a:p>
            <a:r>
              <a:t>- The tempting shortcut</a:t>
            </a:r>
          </a:p>
          <a:p/>
          <a:p>
            <a:r>
              <a:t>  A tempting shortcut is one giant database shared by all services.</a:t>
            </a:r>
          </a:p>
          <a:p/>
          <a:p>
            <a:r>
              <a:t>  That creates strong coupling.</a:t>
            </a:r>
          </a:p>
          <a:p/>
          <a:p>
            <a:r>
              <a:t>- Getting another service's data</a:t>
            </a:r>
          </a:p>
          <a:p/>
          <a:p>
            <a:r>
              <a:t>  If Payment needs order information, it should use an API or an event.</a:t>
            </a:r>
          </a:p>
          <a:p/>
          <a:p>
            <a:r>
              <a:t>  It should never run SELECT * directly against the Order Service tables.</a:t>
            </a:r>
          </a:p>
          <a:p/>
          <a:p>
            <a:r>
              <a:t>- Transaction boundaries</a:t>
            </a:r>
          </a:p>
          <a:p/>
          <a:p>
            <a:r>
              <a:t>  A local Order transaction can use @Transactional.</a:t>
            </a:r>
          </a:p>
          <a:p/>
          <a:p>
            <a:r>
              <a:t>  But a transaction spanning Order, Payment and Inventory is a distributed workflow.</a:t>
            </a:r>
          </a:p>
          <a:p/>
          <a:p>
            <a:r>
              <a:t>  Don't pretend one local database transaction covers the whole system.</a:t>
            </a:r>
          </a:p>
          <a:p/>
          <a:p>
            <a:r>
              <a:t>- What the diagram shows</a:t>
            </a:r>
          </a:p>
          <a:p/>
          <a:p>
            <a:r>
              <a:t>  Each service with its own database, sharing data only through APIs and events.</a:t>
            </a:r>
          </a:p>
          <a:p/>
          <a:p>
            <a:r>
              <a:t>- Key point</a:t>
            </a:r>
          </a:p>
          <a:p/>
          <a:p>
            <a:r>
              <a:t>  Share data through contracts, never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realistic failure</a:t>
            </a:r>
          </a:p>
          <a:p/>
          <a:p>
            <a:r>
              <a:t>  Suppose the Payment Service becomes unavailable.</a:t>
            </a:r>
          </a:p>
          <a:p/>
          <a:p>
            <a:r>
              <a:t>  Without resilience, payment is slow and Order threads wait, so connections pile up.</a:t>
            </a:r>
          </a:p>
          <a:p/>
          <a:p>
            <a:r>
              <a:t>  Order Service becomes unhealthy, and the whole system fails.</a:t>
            </a:r>
          </a:p>
          <a:p/>
          <a:p>
            <a:r>
              <a:t>- With resilience</a:t>
            </a:r>
          </a:p>
          <a:p/>
          <a:p>
            <a:r>
              <a:t>  A timeout stops the waiting, and a controlled retry happens only if it's safe.</a:t>
            </a:r>
          </a:p>
          <a:p/>
          <a:p>
            <a:r>
              <a:t>  The circuit breaker opens, and the service fails fast instead of hanging.</a:t>
            </a:r>
          </a:p>
          <a:p/>
          <a:p>
            <a:r>
              <a:t>- Event consumers</a:t>
            </a:r>
          </a:p>
          <a:p/>
          <a:p>
            <a:r>
              <a:t>  For events: a message is processed and fails.</a:t>
            </a:r>
          </a:p>
          <a:p/>
          <a:p>
            <a:r>
              <a:t>  It's retried, and if it still fails it goes to a dead-letter queue, or DLQ, for later handling.</a:t>
            </a:r>
          </a:p>
          <a:p/>
          <a:p>
            <a:r>
              <a:t>- Also</a:t>
            </a:r>
          </a:p>
          <a:p/>
          <a:p>
            <a:r>
              <a:t>  Use idempotency, dead-letter handling and graceful degradation, meaning the system keeps partly working.</a:t>
            </a:r>
          </a:p>
          <a:p/>
          <a:p>
            <a:r>
              <a:t>- The key message</a:t>
            </a:r>
          </a:p>
          <a:p/>
          <a:p>
            <a:r>
              <a:t>  Production systems are designed around failure, not around the assumption that every dependency always works.</a:t>
            </a:r>
          </a:p>
          <a:p/>
          <a:p>
            <a:r>
              <a:t>- What the diagram shows</a:t>
            </a:r>
          </a:p>
          <a:p/>
          <a:p>
            <a:r>
              <a:t>  A failing dependency handled with timeouts, retries, a circuit breaker, idempotency and a dead-letter queue.</a:t>
            </a:r>
          </a:p>
          <a:p/>
          <a:p>
            <a:r>
              <a:t>- Key point</a:t>
            </a:r>
          </a:p>
          <a:p/>
          <a:p>
            <a:r>
              <a:t>  Design every call and consumer for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call</a:t>
            </a:r>
          </a:p>
          <a:p/>
          <a:p>
            <a:r>
              <a:t>  The retry reuses the same Idempotency-Key, so Payment Service won't charge twice.</a:t>
            </a:r>
          </a:p>
          <a:p/>
          <a:p>
            <a:r>
              <a:t>  The circuit breaker stops calls to a failing service.</a:t>
            </a:r>
          </a:p>
          <a:p/>
          <a:p>
            <a:r>
              <a:t>- The fallback</a:t>
            </a:r>
          </a:p>
          <a:p/>
          <a:p>
            <a:r>
              <a:t>  When payment can't be confirmed, the result is unknown and the order stays PAYMENT_PENDING for reconciliation.</a:t>
            </a:r>
          </a:p>
          <a:p/>
          <a:p>
            <a:r>
              <a:t>  We never invent a successful financial outcome.</a:t>
            </a:r>
          </a:p>
          <a:p/>
          <a:p>
            <a:r>
              <a:t>- The consumer</a:t>
            </a:r>
          </a:p>
          <a:p/>
          <a:p>
            <a:r>
              <a:t>  The processed-event check and the reservation commit in one transaction, so a redelivered event is ignored.</a:t>
            </a:r>
          </a:p>
          <a:p/>
          <a:p>
            <a:r>
              <a:t>- Lab link</a:t>
            </a:r>
          </a:p>
          <a:p/>
          <a:p>
            <a:r>
              <a:t>  Lab 5 does the same: a duplicate event creates no second assessment, and a model timeout becomes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Timeouts and retries</a:t>
            </a:r>
          </a:p>
          <a:p/>
          <a:p>
            <a:r>
              <a:t>  The order stays PAYMENT_PENDING.</a:t>
            </a:r>
          </a:p>
          <a:p/>
          <a:p>
            <a:r>
              <a:t>  The retry reuses the idempotency key, so the customer is charged once.</a:t>
            </a:r>
          </a:p>
          <a:p/>
          <a:p>
            <a:r>
              <a:t>- Outages</a:t>
            </a:r>
          </a:p>
          <a:p/>
          <a:p>
            <a:r>
              <a:t>  The circuit breaker fails fast.</a:t>
            </a:r>
          </a:p>
          <a:p/>
          <a:p>
            <a:r>
              <a:t>  The customer sees that payment is being confirmed, not a false success.</a:t>
            </a:r>
          </a:p>
          <a:p/>
          <a:p>
            <a:r>
              <a:t>- Messages</a:t>
            </a:r>
          </a:p>
          <a:p/>
          <a:p>
            <a:r>
              <a:t>  Duplicate events are ignored.</a:t>
            </a:r>
          </a:p>
          <a:p/>
          <a:p>
            <a:r>
              <a:t>  A poison message moves to the dead-letter queue and raises an 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Security and testing added at the end are always incomplete.</a:t>
            </a:r>
          </a:p>
          <a:p/>
          <a:p>
            <a:r>
              <a:t>  They belong in every service from day one.</a:t>
            </a:r>
          </a:p>
          <a:p/>
          <a:p>
            <a:r>
              <a:t>- What comes next</a:t>
            </a:r>
          </a:p>
          <a:p/>
          <a:p>
            <a:r>
              <a:t>  Token validation, runtime configuration and a layered test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Secure from the start</a:t>
            </a:r>
          </a:p>
          <a:p/>
          <a:p>
            <a:r>
              <a:t>  Secure the capstone from the beginning; don't bolt security on at the end.</a:t>
            </a:r>
          </a:p>
          <a:p/>
          <a:p>
            <a:r>
              <a:t>  The user authenticates with Keycloak or Microsoft Entra ID through OAuth2 and OIDC.</a:t>
            </a:r>
          </a:p>
          <a:p/>
          <a:p>
            <a:r>
              <a:t>  The access token goes through the API gateway and Spring Security to the microservice.</a:t>
            </a:r>
          </a:p>
          <a:p/>
          <a:p>
            <a:r>
              <a:t>- Two questions</a:t>
            </a:r>
          </a:p>
          <a:p/>
          <a:p>
            <a:r>
              <a:t>  Authentication asks: who is calling?</a:t>
            </a:r>
          </a:p>
          <a:p/>
          <a:p>
            <a:r>
              <a:t>  Authorization asks: what may they do?</a:t>
            </a:r>
          </a:p>
          <a:p/>
          <a:p>
            <a:r>
              <a:t>  Permissions include orders.read, orders.write and payment.refund.</a:t>
            </a:r>
          </a:p>
          <a:p/>
          <a:p>
            <a:r>
              <a:t>- Examples</a:t>
            </a:r>
          </a:p>
          <a:p/>
          <a:p>
            <a:r>
              <a:t>  A customer can view their own orders and cancel their own eligible orders.</a:t>
            </a:r>
          </a:p>
          <a:p/>
          <a:p>
            <a:r>
              <a:t>  Payment support may issue permitted refunds.</a:t>
            </a:r>
          </a:p>
          <a:p/>
          <a:p>
            <a:r>
              <a:t>- Resource-level checks</a:t>
            </a:r>
          </a:p>
          <a:p/>
          <a:p>
            <a:r>
              <a:t>  Order Service must validate the token and check authorization against the resource.</a:t>
            </a:r>
          </a:p>
          <a:p/>
          <a:p>
            <a:r>
              <a:t>  A valid access token doesn't automatically grant access to every order ID.</a:t>
            </a:r>
          </a:p>
          <a:p/>
          <a:p>
            <a:r>
              <a:t>- What the diagram shows</a:t>
            </a:r>
          </a:p>
          <a:p/>
          <a:p>
            <a:r>
              <a:t>  A user signing in through the identity provider, and the gateway and every service validating the token.</a:t>
            </a:r>
          </a:p>
          <a:p/>
          <a:p>
            <a:r>
              <a:t>- Key point</a:t>
            </a:r>
          </a:p>
          <a:p/>
          <a:p>
            <a:r>
              <a:t>  Every service validates and authorizes.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ConfigMaps and Secrets</a:t>
            </a:r>
          </a:p>
          <a:p/>
          <a:p>
            <a:r>
              <a:t>  A ConfigMap holds non-sensitive configuration, like PAYMENT_SERVICE_URL, LOG_LEVEL or a feature flag.</a:t>
            </a:r>
          </a:p>
          <a:p/>
          <a:p>
            <a:r>
              <a:t>  A Secret holds sensitive values, like DB_PASSWORD, OAUTH_CLIENT_SECRET or an API key.</a:t>
            </a:r>
          </a:p>
          <a:p/>
          <a:p>
            <a:r>
              <a:t>  Both are supplied to the Spring Boot container at runtime.</a:t>
            </a:r>
          </a:p>
          <a:p/>
          <a:p>
            <a:r>
              <a:t>- One image, many environments</a:t>
            </a:r>
          </a:p>
          <a:p/>
          <a:p>
            <a:r>
              <a:t>  Build one image, like order-service 1.0.0, and configure it differently for DEV, TEST and PROD without rebuilding.</a:t>
            </a:r>
          </a:p>
          <a:p/>
          <a:p>
            <a:r>
              <a:t>- Never</a:t>
            </a:r>
          </a:p>
          <a:p/>
          <a:p>
            <a:r>
              <a:t>  Never hard-code credentials, commit secrets, or bake secrets into the image.</a:t>
            </a:r>
          </a:p>
          <a:p/>
          <a:p>
            <a:r>
              <a:t>- Connections</a:t>
            </a:r>
          </a:p>
          <a:p/>
          <a:p>
            <a:r>
              <a:t>  This connects Twelve-Factor principles, Spring profiles, OpenShift and security.</a:t>
            </a:r>
          </a:p>
          <a:p/>
          <a:p>
            <a:r>
              <a:t>- What the diagram shows</a:t>
            </a:r>
          </a:p>
          <a:p/>
          <a:p>
            <a:r>
              <a:t>  One image receiving ConfigMaps, Secrets and profiles per environment at runtime.</a:t>
            </a:r>
          </a:p>
          <a:p/>
          <a:p>
            <a:r>
              <a:t>- Key point</a:t>
            </a:r>
          </a:p>
          <a:p/>
          <a:p>
            <a:r>
              <a:t>  One image, many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Not just manual testing</a:t>
            </a:r>
          </a:p>
          <a:p/>
          <a:p>
            <a:r>
              <a:t>  Don't rely only on manual Postman testing.</a:t>
            </a:r>
          </a:p>
          <a:p/>
          <a:p>
            <a:r>
              <a:t>  Use a layered strategy: many unit tests, contract and API tests, integration tests, and a few end-to-end tests.</a:t>
            </a:r>
          </a:p>
          <a:p/>
          <a:p>
            <a:r>
              <a:t>- Examples</a:t>
            </a:r>
          </a:p>
          <a:p/>
          <a:p>
            <a:r>
              <a:t>  Unit-test OrderService, API-test POST /orders, and integration-test the repository with the database.</a:t>
            </a:r>
          </a:p>
          <a:p/>
          <a:p>
            <a:r>
              <a:t>  Resilience tests simulate a payment timeout.</a:t>
            </a:r>
          </a:p>
          <a:p/>
          <a:p>
            <a:r>
              <a:t>  Event tests check that OrderCreated is published.</a:t>
            </a:r>
          </a:p>
          <a:p/>
          <a:p>
            <a:r>
              <a:t>- Security tests</a:t>
            </a:r>
          </a:p>
          <a:p/>
          <a:p>
            <a:r>
              <a:t>  A call with no token is rejected, and so is one with the wrong scope.</a:t>
            </a:r>
          </a:p>
          <a:p/>
          <a:p>
            <a:r>
              <a:t>  A call with the correct permission is allowed.</a:t>
            </a:r>
          </a:p>
          <a:p/>
          <a:p>
            <a:r>
              <a:t>- The goal</a:t>
            </a:r>
          </a:p>
          <a:p/>
          <a:p>
            <a:r>
              <a:t>  The goal is fast feedback before deployment.</a:t>
            </a:r>
          </a:p>
          <a:p/>
          <a:p>
            <a:r>
              <a:t>- What the diagram shows</a:t>
            </a:r>
          </a:p>
          <a:p/>
          <a:p>
            <a:r>
              <a:t>  Unit, API, integration, contract, security and resilience tests layered in the pipeline.</a:t>
            </a:r>
          </a:p>
          <a:p/>
          <a:p>
            <a:r>
              <a:t>- Key point</a:t>
            </a:r>
          </a:p>
          <a:p/>
          <a:p>
            <a:r>
              <a:t>  Catch problems before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Delivery turns code into a running platform.</a:t>
            </a:r>
          </a:p>
          <a:p/>
          <a:p>
            <a:r>
              <a:t>  Modules 7 and 8 come together here.</a:t>
            </a:r>
          </a:p>
          <a:p/>
          <a:p>
            <a:r>
              <a:t>- What comes next</a:t>
            </a:r>
          </a:p>
          <a:p/>
          <a:p>
            <a:r>
              <a:t>  Pull request gates, the pipeline, images, OpenShift objects, rollouts and a troubleshooting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Git is a workflow</a:t>
            </a:r>
          </a:p>
          <a:p/>
          <a:p>
            <a:r>
              <a:t>  Git isn't just backup storage; it's part of the engineering workflow.</a:t>
            </a:r>
          </a:p>
          <a:p/>
          <a:p>
            <a:r>
              <a:t>  Work on a feature branch, commit, push, and open a pull request.</a:t>
            </a:r>
          </a:p>
          <a:p/>
          <a:p>
            <a:r>
              <a:t>- Automated validation</a:t>
            </a:r>
          </a:p>
          <a:p/>
          <a:p>
            <a:r>
              <a:t>  A pull request is a chance for automated checks: build, tests and security checks.</a:t>
            </a:r>
          </a:p>
          <a:p/>
          <a:p>
            <a:r>
              <a:t>  Then comes code review, then merge.</a:t>
            </a:r>
          </a:p>
          <a:p/>
          <a:p>
            <a:r>
              <a:t>- Before merging</a:t>
            </a:r>
          </a:p>
          <a:p/>
          <a:p>
            <a:r>
              <a:t>  Does it compile?</a:t>
            </a:r>
          </a:p>
          <a:p/>
          <a:p>
            <a:r>
              <a:t>  Do tests pass?</a:t>
            </a:r>
          </a:p>
          <a:p/>
          <a:p>
            <a:r>
              <a:t>  Were any secrets committed?</a:t>
            </a:r>
          </a:p>
          <a:p/>
          <a:p>
            <a:r>
              <a:t>  Is there a critical dependency issue?</a:t>
            </a:r>
          </a:p>
          <a:p/>
          <a:p>
            <a:r>
              <a:t>  Did someone review it?</a:t>
            </a:r>
          </a:p>
          <a:p/>
          <a:p>
            <a:r>
              <a:t>- AI code too</a:t>
            </a:r>
          </a:p>
          <a:p/>
          <a:p>
            <a:r>
              <a:t>  Don't rely entirely on Copilot-generated code.</a:t>
            </a:r>
          </a:p>
          <a:p/>
          <a:p>
            <a:r>
              <a:t>  AI-generated code goes through the same review, testing, security and quality gates as human-written code.</a:t>
            </a:r>
          </a:p>
          <a:p/>
          <a:p>
            <a:r>
              <a:t>- What the diagram shows</a:t>
            </a:r>
          </a:p>
          <a:p/>
          <a:p>
            <a:r>
              <a:t>  A feature branch, pull request, automated checks, review and merge to main.</a:t>
            </a:r>
          </a:p>
          <a:p/>
          <a:p>
            <a:r>
              <a:t>- Key point</a:t>
            </a:r>
          </a:p>
          <a:p/>
          <a:p>
            <a:r>
              <a:t>  Every change passes the same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pipeline</a:t>
            </a:r>
          </a:p>
          <a:p/>
          <a:p>
            <a:r>
              <a:t>  A push or merge triggers CI.</a:t>
            </a:r>
          </a:p>
          <a:p/>
          <a:p>
            <a:r>
              <a:t>  It builds, then runs unit tests, integration tests and security scans.</a:t>
            </a:r>
          </a:p>
          <a:p/>
          <a:p>
            <a:r>
              <a:t>  Then it packages, builds the container, scans the image, pushes to the registry, deploys and verifies.</a:t>
            </a:r>
          </a:p>
          <a:p/>
          <a:p>
            <a:r>
              <a:t>- The vendor matters less</a:t>
            </a:r>
          </a:p>
          <a:p/>
          <a:p>
            <a:r>
              <a:t>  Use GitHub Actions, Jenkins or both.</a:t>
            </a:r>
          </a:p>
          <a:p/>
          <a:p>
            <a:r>
              <a:t>  The important idea is a source change going through an automated, repeatable delivery process.</a:t>
            </a:r>
          </a:p>
          <a:p/>
          <a:p>
            <a:r>
              <a:t>- Stop conditions</a:t>
            </a:r>
          </a:p>
          <a:p/>
          <a:p>
            <a:r>
              <a:t>  A failed test should stop the pipeline.</a:t>
            </a:r>
          </a:p>
          <a:p/>
          <a:p>
            <a:r>
              <a:t>  A critical security policy may stop it too.</a:t>
            </a:r>
          </a:p>
          <a:p/>
          <a:p>
            <a:r>
              <a:t>  Never deploy arbitrary source code directly to production.</a:t>
            </a:r>
          </a:p>
          <a:p/>
          <a:p>
            <a:r>
              <a:t>- Build once, promote</a:t>
            </a:r>
          </a:p>
          <a:p/>
          <a:p>
            <a:r>
              <a:t>  Produce a versioned artifact, like order-service 1.4.2.</a:t>
            </a:r>
          </a:p>
          <a:p/>
          <a:p>
            <a:r>
              <a:t>  Then build once and promote that same artifact through every environment.</a:t>
            </a:r>
          </a:p>
          <a:p/>
          <a:p>
            <a:r>
              <a:t>- What the diagram shows</a:t>
            </a:r>
          </a:p>
          <a:p/>
          <a:p>
            <a:r>
              <a:t>  Commit, build, test, scan, image, registry and deploy stages with gates between them.</a:t>
            </a:r>
          </a:p>
          <a:p/>
          <a:p>
            <a:r>
              <a:t>- Key point</a:t>
            </a:r>
          </a:p>
          <a:p/>
          <a:p>
            <a:r>
              <a:t>  Build once and promote one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pipeline</a:t>
            </a:r>
          </a:p>
          <a:p/>
          <a:p>
            <a:r>
              <a:t>  Build and test with Maven, scan, build and push one image, then deploy that exact digest and wait for the rollout.</a:t>
            </a:r>
          </a:p>
          <a:p/>
          <a:p>
            <a:r>
              <a:t>- Gates</a:t>
            </a:r>
          </a:p>
          <a:p/>
          <a:p>
            <a:r>
              <a:t>  A failing test or a critical vulnerability stops the job before any image is deployed.</a:t>
            </a:r>
          </a:p>
          <a:p/>
          <a:p>
            <a:r>
              <a:t>- Rollback</a:t>
            </a:r>
          </a:p>
          <a:p/>
          <a:p>
            <a:r>
              <a:t>  If the rollout doesn't complete, inspect pods and logs, undo to the previous version, then fix forward through a new pull request.</a:t>
            </a:r>
          </a:p>
          <a:p/>
          <a:p>
            <a:r>
              <a:t>- Lab link</a:t>
            </a:r>
          </a:p>
          <a:p/>
          <a:p>
            <a:r>
              <a:t>  Lab 4 uses oc rollout undo as the recovery evidence for the capstone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code to image</a:t>
            </a:r>
          </a:p>
          <a:p/>
          <a:p>
            <a:r>
              <a:t>  Spring Boot code goes through the Maven build to a JAR.</a:t>
            </a:r>
          </a:p>
          <a:p/>
          <a:p>
            <a:r>
              <a:t>  The container build turns it into an OCI image, which is pushed to the registry.</a:t>
            </a:r>
          </a:p>
          <a:p/>
          <a:p>
            <a:r>
              <a:t>  OCI is the open standard format for container images.</a:t>
            </a:r>
          </a:p>
          <a:p/>
          <a:p>
            <a:r>
              <a:t>- The Dockerfile</a:t>
            </a:r>
          </a:p>
          <a:p/>
          <a:p>
            <a:r>
              <a:t>  The Dockerfile starts from eclipse-temurin 21 JRE, sets the working directory, copies the JAR, and runs it with java -jar.</a:t>
            </a:r>
          </a:p>
          <a:p/>
          <a:p>
            <a:r>
              <a:t>- One image per service</a:t>
            </a:r>
          </a:p>
          <a:p/>
          <a:p>
            <a:r>
              <a:t>  Each microservice becomes its own image: order-service, payment-service, inventory-service and shipping-service, each versioned.</a:t>
            </a:r>
          </a:p>
          <a:p/>
          <a:p>
            <a:r>
              <a:t>- Good practices</a:t>
            </a:r>
          </a:p>
          <a:p/>
          <a:p>
            <a:r>
              <a:t>  Use a trusted base image, keep the runtime image small, and run as non-root where possible.</a:t>
            </a:r>
          </a:p>
          <a:p/>
          <a:p>
            <a:r>
              <a:t>  Never embed secrets.</a:t>
            </a:r>
          </a:p>
          <a:p/>
          <a:p>
            <a:r>
              <a:t>  Version, scan, and make builds reproducible.</a:t>
            </a:r>
          </a:p>
          <a:p/>
          <a:p>
            <a:r>
              <a:t>- Image versus container</a:t>
            </a:r>
          </a:p>
          <a:p/>
          <a:p>
            <a:r>
              <a:t>  A container image is not the running application.</a:t>
            </a:r>
          </a:p>
          <a:p/>
          <a:p>
            <a:r>
              <a:t>  The image is the immutable package; OpenShift creates running containers from it.</a:t>
            </a:r>
          </a:p>
          <a:p/>
          <a:p>
            <a:r>
              <a:t>- What the diagram shows</a:t>
            </a:r>
          </a:p>
          <a:p/>
          <a:p>
            <a:r>
              <a:t>  Source built into a versioned, scanned image, pushed to a registry and pulled by OpenShift.</a:t>
            </a:r>
          </a:p>
          <a:p/>
          <a:p>
            <a:r>
              <a:t>- Key point</a:t>
            </a:r>
          </a:p>
          <a:p/>
          <a:p>
            <a:r>
              <a:t>  Every service ships as a versioned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registry to client</a:t>
            </a:r>
          </a:p>
          <a:p/>
          <a:p>
            <a:r>
              <a:t>  The image registry feeds OpenShift.</a:t>
            </a:r>
          </a:p>
          <a:p/>
          <a:p>
            <a:r>
              <a:t>  A Deployment creates pods, a Service fronts them, and a Route exposes them to clients.</a:t>
            </a:r>
          </a:p>
          <a:p/>
          <a:p>
            <a:r>
              <a:t>  ConfigMaps, Secrets and ServiceAccounts support the deployment.</a:t>
            </a:r>
          </a:p>
          <a:p/>
          <a:p>
            <a:r>
              <a:t>- The objects</a:t>
            </a:r>
          </a:p>
          <a:p/>
          <a:p>
            <a:r>
              <a:t>  A Deployment describes the desired workload, and a Pod runs the container.</a:t>
            </a:r>
          </a:p>
          <a:p/>
          <a:p>
            <a:r>
              <a:t>  A Service gives stable internal network access.</a:t>
            </a:r>
          </a:p>
          <a:p/>
          <a:p>
            <a:r>
              <a:t>  A Route gives external access when it's needed.</a:t>
            </a:r>
          </a:p>
          <a:p/>
          <a:p>
            <a:r>
              <a:t>- Traffic path</a:t>
            </a:r>
          </a:p>
          <a:p/>
          <a:p>
            <a:r>
              <a:t>  Traffic goes client, route, service, then the Order pods.</a:t>
            </a:r>
          </a:p>
          <a:p/>
          <a:p>
            <a:r>
              <a:t>- Don't expose everything</a:t>
            </a:r>
          </a:p>
          <a:p/>
          <a:p>
            <a:r>
              <a:t>  Don't expose every microservice externally.</a:t>
            </a:r>
          </a:p>
          <a:p/>
          <a:p>
            <a:r>
              <a:t>  Often only the API gateway is reachable from outside, and the backend services stay internal.</a:t>
            </a:r>
          </a:p>
          <a:p/>
          <a:p>
            <a:r>
              <a:t>- What the diagram shows</a:t>
            </a:r>
          </a:p>
          <a:p/>
          <a:p>
            <a:r>
              <a:t>  Deployment, Pods, Service, Route, ConfigMap and Secret for each service in a project.</a:t>
            </a:r>
          </a:p>
          <a:p/>
          <a:p>
            <a:r>
              <a:t>- Key point</a:t>
            </a:r>
          </a:p>
          <a:p/>
          <a:p>
            <a:r>
              <a:t>  Expose only what must be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Scaling</a:t>
            </a:r>
          </a:p>
          <a:p/>
          <a:p>
            <a:r>
              <a:t>  If Order Service is stateless at the instance level, going from one replica to three adds capacity and availability.</a:t>
            </a:r>
          </a:p>
          <a:p/>
          <a:p>
            <a:r>
              <a:t>  The Service spreads traffic across the pods.</a:t>
            </a:r>
          </a:p>
          <a:p/>
          <a:p>
            <a:r>
              <a:t>- Health probes</a:t>
            </a:r>
          </a:p>
          <a:p/>
          <a:p>
            <a:r>
              <a:t>  The startup probe asks whether initialization has finished.</a:t>
            </a:r>
          </a:p>
          <a:p/>
          <a:p>
            <a:r>
              <a:t>  The readiness probe asks whether this pod should receive traffic.</a:t>
            </a:r>
          </a:p>
          <a:p/>
          <a:p>
            <a:r>
              <a:t>  The liveness probe asks whether the app is healthy enough to keep running.</a:t>
            </a:r>
          </a:p>
          <a:p/>
          <a:p>
            <a:r>
              <a:t>- Rolling updates</a:t>
            </a:r>
          </a:p>
          <a:p/>
          <a:p>
            <a:r>
              <a:t>  During a rolling update, OpenShift gradually replaces version 1 pods with version 2.</a:t>
            </a:r>
          </a:p>
          <a:p/>
          <a:p>
            <a:r>
              <a:t>- Recovery</a:t>
            </a:r>
          </a:p>
          <a:p/>
          <a:p>
            <a:r>
              <a:t>  If the new release fails, the deployment strategy should support recovery or rollback.</a:t>
            </a:r>
          </a:p>
          <a:p/>
          <a:p>
            <a:r>
              <a:t>- What the diagram shows</a:t>
            </a:r>
          </a:p>
          <a:p/>
          <a:p>
            <a:r>
              <a:t>  Replicas behind a Service, readiness and liveness probes, and pods replaced version by version.</a:t>
            </a:r>
          </a:p>
          <a:p/>
          <a:p>
            <a:r>
              <a:t>- Key point</a:t>
            </a:r>
          </a:p>
          <a:p/>
          <a:p>
            <a:r>
              <a:t>  Probes guard traffic during rollouts.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Start at the source</a:t>
            </a:r>
          </a:p>
          <a:p/>
          <a:p>
            <a:r>
              <a:t>  Confirm Transaction Service published the event, with the correlation ID from its logs.</a:t>
            </a:r>
          </a:p>
          <a:p/>
          <a:p>
            <a:r>
              <a:t>- Follow the path</a:t>
            </a:r>
          </a:p>
          <a:p/>
          <a:p>
            <a:r>
              <a:t>  Check the broker, the consumer group, the Risk Assessment pod's readiness and its logs.</a:t>
            </a:r>
          </a:p>
          <a:p/>
          <a:p>
            <a:r>
              <a:t>- Configuration and access</a:t>
            </a:r>
          </a:p>
          <a:p/>
          <a:p>
            <a:r>
              <a:t>  A wrong topic in the ConfigMap, a missing Secret, or a 401 or 403 on the lookup can each look like missing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Production readiness means you can observe the system, use AI safely and demonstrate the result.</a:t>
            </a:r>
          </a:p>
          <a:p/>
          <a:p>
            <a:r>
              <a:t>- What comes next</a:t>
            </a:r>
          </a:p>
          <a:p/>
          <a:p>
            <a:r>
              <a:t>  Signals, AI patterns, the demo commands, the official demonstration and a readiness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Three signals</a:t>
            </a:r>
          </a:p>
          <a:p/>
          <a:p>
            <a:r>
              <a:t>  Logs tell you what happened.</a:t>
            </a:r>
          </a:p>
          <a:p/>
          <a:p>
            <a:r>
              <a:t>  Metrics tell you how healthy things are.</a:t>
            </a:r>
          </a:p>
          <a:p/>
          <a:p>
            <a:r>
              <a:t>  Traces tell you where the time went.</a:t>
            </a:r>
          </a:p>
          <a:p/>
          <a:p>
            <a:r>
              <a:t>  Add health checks, dashboards, alerts and correlation IDs.</a:t>
            </a:r>
          </a:p>
          <a:p/>
          <a:p>
            <a:r>
              <a:t>- Monitoring versus observability</a:t>
            </a:r>
          </a:p>
          <a:p/>
          <a:p>
            <a:r>
              <a:t>  Monitoring asks: is something wrong?</a:t>
            </a:r>
          </a:p>
          <a:p/>
          <a:p>
            <a:r>
              <a:t>  Observability helps answer: why is it wrong?</a:t>
            </a:r>
          </a:p>
          <a:p/>
          <a:p>
            <a:r>
              <a:t>- An example</a:t>
            </a:r>
          </a:p>
          <a:p/>
          <a:p>
            <a:r>
              <a:t>  Checkout takes eight seconds, and metrics show high latency.</a:t>
            </a:r>
          </a:p>
          <a:p/>
          <a:p>
            <a:r>
              <a:t>  The trace shows the gateway at 20 milliseconds, Order at 60, Payment at 7,600, and Inventory at 80.</a:t>
            </a:r>
          </a:p>
          <a:p/>
          <a:p>
            <a:r>
              <a:t>  Now we know to investigate Payment.</a:t>
            </a:r>
          </a:p>
          <a:p/>
          <a:p>
            <a:r>
              <a:t>- Follow the request</a:t>
            </a:r>
          </a:p>
          <a:p/>
          <a:p>
            <a:r>
              <a:t>  Logs with the same correlation or trace ID show what happened.</a:t>
            </a:r>
          </a:p>
          <a:p/>
          <a:p>
            <a:r>
              <a:t>  The system should let you follow a request from the customer through the gateway, Order and Payment to the database.</a:t>
            </a:r>
          </a:p>
          <a:p/>
          <a:p>
            <a:r>
              <a:t>- What the diagram shows</a:t>
            </a:r>
          </a:p>
          <a:p/>
          <a:p>
            <a:r>
              <a:t>  Logs, metrics and traces from every service flowing to dashboards and alerts.</a:t>
            </a:r>
          </a:p>
          <a:p/>
          <a:p>
            <a:r>
              <a:t>- Key point</a:t>
            </a:r>
          </a:p>
          <a:p/>
          <a:p>
            <a:r>
              <a:t>  Follow one request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right boundary</a:t>
            </a:r>
          </a:p>
          <a:p/>
          <a:p>
            <a:r>
              <a:t>  Use Copilot throughout the capstone, but show the right responsibility boundary.</a:t>
            </a:r>
          </a:p>
          <a:p/>
          <a:p>
            <a:r>
              <a:t>  The developer turns a requirement into a good prompt, and Copilot produces code, tests or refactoring.</a:t>
            </a:r>
          </a:p>
          <a:p/>
          <a:p>
            <a:r>
              <a:t>  Then come developer review, automated tests, security checks, Git and a pull request.</a:t>
            </a:r>
          </a:p>
          <a:p/>
          <a:p>
            <a:r>
              <a:t>- A good prompt</a:t>
            </a:r>
          </a:p>
          <a:p/>
          <a:p>
            <a:r>
              <a:t>  For example: implement a Spring Boot 3 REST controller for the existing OrderService, with GET /orders/{id} and POST /orders.</a:t>
            </a:r>
          </a:p>
          <a:p/>
          <a:p>
            <a:r>
              <a:t>  Use DTOs, Bean Validation, constructor injection and existing exception conventions, and keep persistence logic out of the controller.</a:t>
            </a:r>
          </a:p>
          <a:p/>
          <a:p>
            <a:r>
              <a:t>  That's far better than 'build my microservice'.</a:t>
            </a:r>
          </a:p>
          <a:p/>
          <a:p>
            <a:r>
              <a:t>- After it generates</a:t>
            </a:r>
          </a:p>
          <a:p/>
          <a:p>
            <a:r>
              <a:t>  Inspect the code, understand it, compile it and test it.</a:t>
            </a:r>
          </a:p>
          <a:p/>
          <a:p>
            <a:r>
              <a:t>  Do a security review, then accept, modify or reject it.</a:t>
            </a:r>
          </a:p>
          <a:p/>
          <a:p>
            <a:r>
              <a:t>- Uses</a:t>
            </a:r>
          </a:p>
          <a:p/>
          <a:p>
            <a:r>
              <a:t>  Copilot helps with boilerplate, controllers, DTOs, tests, refactoring, documentation and troubleshooting.</a:t>
            </a:r>
          </a:p>
          <a:p/>
          <a:p>
            <a:r>
              <a:t>- The principle</a:t>
            </a:r>
          </a:p>
          <a:p/>
          <a:p>
            <a:r>
              <a:t>  Copilot accelerates engineering work; it doesn't remove engineering accountability.</a:t>
            </a:r>
          </a:p>
          <a:p/>
          <a:p>
            <a:r>
              <a:t>- What the diagram shows</a:t>
            </a:r>
          </a:p>
          <a:p/>
          <a:p>
            <a:r>
              <a:t>  Prompt, generate, review, test, refactor and merge through the normal pipeline.</a:t>
            </a:r>
          </a:p>
          <a:p/>
          <a:p>
            <a:r>
              <a:t>- Key point</a:t>
            </a:r>
          </a:p>
          <a:p/>
          <a:p>
            <a:r>
              <a:t>  AI output gets the same review and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Combining Modules 10 and 11</a:t>
            </a:r>
          </a:p>
          <a:p/>
          <a:p>
            <a:r>
              <a:t>  The user or operator talks to the AI agent, which uses the MCP client and server.</a:t>
            </a:r>
          </a:p>
          <a:p/>
          <a:p>
            <a:r>
              <a:t>  Tools like getOrder, cancelOrder and getPayment go through the API gateway to the Spring Boot services.</a:t>
            </a:r>
          </a:p>
          <a:p/>
          <a:p>
            <a:r>
              <a:t>- An example request</a:t>
            </a:r>
          </a:p>
          <a:p/>
          <a:p>
            <a:r>
              <a:t>  The user says: check order 1001; if it hasn't shipped, cancel it and tell me whether a refund is needed.</a:t>
            </a:r>
          </a:p>
          <a:p/>
          <a:p>
            <a:r>
              <a:t>  The agent calls getOrder and sees it's not shipped.</a:t>
            </a:r>
          </a:p>
          <a:p/>
          <a:p>
            <a:r>
              <a:t>  It calls cancelOrder, then getPaymentForOrder.</a:t>
            </a:r>
          </a:p>
          <a:p/>
          <a:p>
            <a:r>
              <a:t>  If the payment was captured, it explains or requests an approved refund.</a:t>
            </a:r>
          </a:p>
          <a:p/>
          <a:p>
            <a:r>
              <a:t>- No direct database access</a:t>
            </a:r>
          </a:p>
          <a:p/>
          <a:p>
            <a:r>
              <a:t>  MCP standardizes access to the tools.</a:t>
            </a:r>
          </a:p>
          <a:p/>
          <a:p>
            <a:r>
              <a:t>  But the agent must not directly change the Order or Payment databases.</a:t>
            </a:r>
          </a:p>
          <a:p/>
          <a:p>
            <a:r>
              <a:t>  It goes agent, MCP, approved tool, API, microservice and business rules.</a:t>
            </a:r>
          </a:p>
          <a:p/>
          <a:p>
            <a:r>
              <a:t>- Security still applies</a:t>
            </a:r>
          </a:p>
          <a:p/>
          <a:p>
            <a:r>
              <a:t>  A sensitive tool like refundPayment may need stronger authorization or human approval.</a:t>
            </a:r>
          </a:p>
          <a:p/>
          <a:p>
            <a:r>
              <a:t>- What the diagram shows</a:t>
            </a:r>
          </a:p>
          <a:p/>
          <a:p>
            <a:r>
              <a:t>  An agent calling MCP tools that invoke microservice APIs under the user's identity, never their databases.</a:t>
            </a:r>
          </a:p>
          <a:p/>
          <a:p>
            <a:r>
              <a:t>- Key point</a:t>
            </a:r>
          </a:p>
          <a:p/>
          <a:p>
            <a:r>
              <a:t>  Agents act only through governed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Local decisions</a:t>
            </a:r>
          </a:p>
          <a:p/>
          <a:p>
            <a:r>
              <a:t>  Publish approve.json twice to show one row, timeout.json to show HOLD with MODEL_UNAVAILABLE, and hold.json for the review.</a:t>
            </a:r>
          </a:p>
          <a:p/>
          <a:p>
            <a:r>
              <a:t>- Human review</a:t>
            </a:r>
          </a:p>
          <a:p/>
          <a:p>
            <a:r>
              <a:t>  The reviewer token completes the HOLD with 200.</a:t>
            </a:r>
          </a:p>
          <a:p/>
          <a:p>
            <a:r>
              <a:t>  The same request with the ops token is 403.</a:t>
            </a:r>
          </a:p>
          <a:p/>
          <a:p>
            <a:r>
              <a:t>- OpenShift</a:t>
            </a:r>
          </a:p>
          <a:p/>
          <a:p>
            <a:r>
              <a:t>  Show the rollout is complete and the Route readiness endpoint returns 200, then Lab 4's rollout undo as recovery.</a:t>
            </a:r>
          </a:p>
          <a:p/>
          <a:p>
            <a:r>
              <a:t>- Logs</a:t>
            </a:r>
          </a:p>
          <a:p/>
          <a:p>
            <a:r>
              <a:t>  Logs show transactionId and correlationId, but never Authorization headers or API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Module 13 has no numbered exercise.</a:t>
            </a:r>
          </a:p>
          <a:p/>
          <a:p>
            <a:r>
              <a:t>  Run the Day 5 capstone demonstration from the Lab 5 guide.</a:t>
            </a:r>
          </a:p>
          <a:p/>
          <a:p>
            <a:r>
              <a:t>- Required demos</a:t>
            </a:r>
          </a:p>
          <a:p/>
          <a:p>
            <a:r>
              <a:t>  A successful transaction, a duplicate event, a model timeout or failure giving HOLD, human review, OpenShift Route evidence and rollback or recovery.</a:t>
            </a:r>
          </a:p>
          <a:p/>
          <a:p>
            <a:r>
              <a:t>- Scope</a:t>
            </a:r>
          </a:p>
          <a:p/>
          <a:p>
            <a:r>
              <a:t>  Use the Labs 1–5 banking services.</a:t>
            </a:r>
          </a:p>
          <a:p/>
          <a:p>
            <a:r>
              <a:t>  Don't run TEKsystems Lab 13 with Customer, Notification, Redis or Jenkins.</a:t>
            </a:r>
          </a:p>
          <a:p/>
          <a:p>
            <a:r>
              <a:t>- Timing</a:t>
            </a:r>
          </a:p>
          <a:p/>
          <a:p>
            <a:r>
              <a:t>  Adjust the time to the number of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final demo</a:t>
            </a:r>
          </a:p>
          <a:p/>
          <a:p>
            <a:r>
              <a:t>  Teams create an order, process payment, publish an event, reserve inventory and create a shipment.</a:t>
            </a:r>
          </a:p>
          <a:p/>
          <a:p>
            <a:r>
              <a:t>  They observe the request and demonstrate failure handling and security.</a:t>
            </a:r>
          </a:p>
          <a:p/>
          <a:p>
            <a:r>
              <a:t>  They show CI/CD, the OpenShift deployment, and Copilot or MCP.</a:t>
            </a:r>
          </a:p>
          <a:p/>
          <a:p>
            <a:r>
              <a:t>- Tell the whole story</a:t>
            </a:r>
          </a:p>
          <a:p/>
          <a:p>
            <a:r>
              <a:t>  Don't make the demo just 'POST /orders returns 201'.</a:t>
            </a:r>
          </a:p>
          <a:p/>
          <a:p>
            <a:r>
              <a:t>  Show resilience by briefly making a dependency unavailable.</a:t>
            </a:r>
          </a:p>
          <a:p/>
          <a:p>
            <a:r>
              <a:t>  Show security: without a token the call is rejected; with correct authorization it's accepted.</a:t>
            </a:r>
          </a:p>
          <a:p/>
          <a:p>
            <a:r>
              <a:t>- Delivery and operations</a:t>
            </a:r>
          </a:p>
          <a:p/>
          <a:p>
            <a:r>
              <a:t>  Show commit, pipeline, tests, image and deployment.</a:t>
            </a:r>
          </a:p>
          <a:p/>
          <a:p>
            <a:r>
              <a:t>  Show pods, services, routes and health in OpenShift.</a:t>
            </a:r>
          </a:p>
          <a:p/>
          <a:p>
            <a:r>
              <a:t>  Follow one request through logs, metrics and a trace.</a:t>
            </a:r>
          </a:p>
          <a:p/>
          <a:p>
            <a:r>
              <a:t>- AI</a:t>
            </a:r>
          </a:p>
          <a:p/>
          <a:p>
            <a:r>
              <a:t>  Use Copilot for a controlled engineering task, or use an MCP-enabled agent to inspect a backend capability.</a:t>
            </a:r>
          </a:p>
          <a:p/>
          <a:p>
            <a:r>
              <a:t>- Readiness and the final question</a:t>
            </a:r>
          </a:p>
          <a:p/>
          <a:p>
            <a:r>
              <a:t>  Check architecture, tests, security, resilience, deployment, observability and documentation.</a:t>
            </a:r>
          </a:p>
          <a:p/>
          <a:p>
            <a:r>
              <a:t>  The final question: could another engineering team understand, deploy, operate, troubleshoot and safely evolve this system?</a:t>
            </a:r>
          </a:p>
          <a:p/>
          <a:p>
            <a:r>
              <a:t>- What the diagram shows</a:t>
            </a:r>
          </a:p>
          <a:p/>
          <a:p>
            <a:r>
              <a:t>  The demo path from a successful request through failure, review, deployment evidence and recovery to a readiness decision.</a:t>
            </a:r>
          </a:p>
          <a:p/>
          <a:p>
            <a:r>
              <a:t>- Key point</a:t>
            </a:r>
          </a:p>
          <a:p/>
          <a:p>
            <a:r>
              <a:t>  Demonstrate the whole engineering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Blocking</a:t>
            </a:r>
          </a:p>
          <a:p/>
          <a:p>
            <a:r>
              <a:t>  A password in a ConfigMap is exposed to anyone who can read configuration.</a:t>
            </a:r>
          </a:p>
          <a:p/>
          <a:p>
            <a:r>
              <a:t>  It must move to a Secret and be rotated.</a:t>
            </a:r>
          </a:p>
          <a:p/>
          <a:p>
            <a:r>
              <a:t>- Risky</a:t>
            </a:r>
          </a:p>
          <a:p/>
          <a:p>
            <a:r>
              <a:t>  The :latest tag makes deployments untraceable, and an untested rollback may fail when needed.</a:t>
            </a:r>
          </a:p>
          <a:p/>
          <a:p>
            <a:r>
              <a:t>- Operations</a:t>
            </a:r>
          </a:p>
          <a:p/>
          <a:p>
            <a:r>
              <a:t>  Without an alert, a growing HOLD backlog means customers wait with nobody noticing.</a:t>
            </a:r>
          </a:p>
          <a:p/>
          <a:p>
            <a:r>
              <a:t>- Decision</a:t>
            </a:r>
          </a:p>
          <a:p/>
          <a:p>
            <a:r>
              <a:t>  No-go until the blockers are fixed.</a:t>
            </a:r>
          </a:p>
          <a:p/>
          <a:p>
            <a:r>
              <a:t>  Readiness is decided with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Customer request path</a:t>
            </a:r>
          </a:p>
          <a:p/>
          <a:p>
            <a:r>
              <a:t>  The customer authenticates with Keycloak or Entra ID and gets an access token.</a:t>
            </a:r>
          </a:p>
          <a:p/>
          <a:p>
            <a:r>
              <a:t>  The request goes through the API gateway to Order Service, then to Payment, Inventory and Shipping.</a:t>
            </a:r>
          </a:p>
          <a:p/>
          <a:p>
            <a:r>
              <a:t>  The customer sees one business experience, even though many services work behind it.</a:t>
            </a:r>
          </a:p>
          <a:p/>
          <a:p>
            <a:r>
              <a:t>- Software delivery path</a:t>
            </a:r>
          </a:p>
          <a:p/>
          <a:p>
            <a:r>
              <a:t>  The developer works with Copilot, then Git, a pull request, CI/CD, tests and security scans.</a:t>
            </a:r>
          </a:p>
          <a:p/>
          <a:p>
            <a:r>
              <a:t>  The code becomes a container image in the registry and runs on OpenShift.</a:t>
            </a:r>
          </a:p>
          <a:p/>
          <a:p>
            <a:r>
              <a:t>  This answers: how does source code safely become a running production workload?</a:t>
            </a:r>
          </a:p>
          <a:p/>
          <a:p>
            <a:r>
              <a:t>- Operations path</a:t>
            </a:r>
          </a:p>
          <a:p/>
          <a:p>
            <a:r>
              <a:t>  A running service produces logs, metrics and traces.</a:t>
            </a:r>
          </a:p>
          <a:p/>
          <a:p>
            <a:r>
              <a:t>  Those feed dashboards and alerts, and an engineer diagnoses and improves.</a:t>
            </a:r>
          </a:p>
          <a:p/>
          <a:p>
            <a:r>
              <a:t>  Deployment isn't the end; production feedback returns to engineering.</a:t>
            </a:r>
          </a:p>
          <a:p/>
          <a:p>
            <a:r>
              <a:t>- Two AI patterns</a:t>
            </a:r>
          </a:p>
          <a:p/>
          <a:p>
            <a:r>
              <a:t>  Copilot assists the developer with code, tests and refactoring.</a:t>
            </a:r>
          </a:p>
          <a:p/>
          <a:p>
            <a:r>
              <a:t>  Agent plus MCP gives controlled AI access to runtime capabilities through approved tools and APIs.</a:t>
            </a:r>
          </a:p>
          <a:p/>
          <a:p>
            <a:r>
              <a:t>  Neither bypasses security, business rules, testing, authorization or audit.</a:t>
            </a:r>
          </a:p>
          <a:p/>
          <a:p>
            <a:r>
              <a:t>- The final message</a:t>
            </a:r>
          </a:p>
          <a:p/>
          <a:p>
            <a:r>
              <a:t>  AI does not replace business architecture; AI works through it.</a:t>
            </a:r>
          </a:p>
          <a:p/>
          <a:p>
            <a:r>
              <a:t>  Production microservices engineering means clear business boundaries.</a:t>
            </a:r>
          </a:p>
          <a:p/>
          <a:p>
            <a:r>
              <a:t>  Services must be independently developed, integrated, secured, tested, delivered, deployed, scaled, observed and safely evolved.</a:t>
            </a:r>
          </a:p>
          <a:p/>
          <a:p>
            <a:r>
              <a:t>- What the diagram shows</a:t>
            </a:r>
          </a:p>
          <a:p/>
          <a:p>
            <a:r>
              <a:t>  The customer request path, software delivery path, operations path and AI patterns combined in one production platform.</a:t>
            </a:r>
          </a:p>
          <a:p/>
          <a:p>
            <a:r>
              <a:t>- Key point</a:t>
            </a:r>
          </a:p>
          <a:p/>
          <a:p>
            <a:r>
              <a:t>  Every module works together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slide</a:t>
            </a:r>
          </a:p>
          <a:p/>
          <a:p>
            <a:r>
              <a:t>  Before the knowledge check, clear away the beliefs that turn a good demo into a fragile system.</a:t>
            </a:r>
          </a:p>
          <a:p/>
          <a:p>
            <a:r>
              <a:t>- Design and failure</a:t>
            </a:r>
          </a:p>
          <a:p/>
          <a:p>
            <a:r>
              <a:t>  Shared databases couple services, and retries without idempotency create duplicate charges.</a:t>
            </a:r>
          </a:p>
          <a:p/>
          <a:p>
            <a:r>
              <a:t>- AI</a:t>
            </a:r>
          </a:p>
          <a:p/>
          <a:p>
            <a:r>
              <a:t>  Generated tests need review, and agents act only through governed tools.</a:t>
            </a:r>
          </a:p>
          <a:p/>
          <a:p>
            <a:r>
              <a:t>- Anti-patterns</a:t>
            </a:r>
          </a:p>
          <a:p/>
          <a:p>
            <a:r>
              <a:t>  Distributed monoliths, :latest images, secrets in ConfigMaps, auto-approval on model failure, happy-path demos and untested rollbacks.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Data ownership</a:t>
            </a:r>
          </a:p>
          <a:p/>
          <a:p>
            <a:r>
              <a:t>  It supports independent schema evolution and service autonomy.</a:t>
            </a:r>
          </a:p>
          <a:p/>
          <a:p>
            <a:r>
              <a:t>- 2. REST</a:t>
            </a:r>
          </a:p>
          <a:p/>
          <a:p>
            <a:r>
              <a:t>  For immediate request-response interactions.</a:t>
            </a:r>
          </a:p>
          <a:p/>
          <a:p>
            <a:r>
              <a:t>- 3. Events</a:t>
            </a:r>
          </a:p>
          <a:p/>
          <a:p>
            <a:r>
              <a:t>  When other services can react asynchronously.</a:t>
            </a:r>
          </a:p>
          <a:p/>
          <a:p>
            <a:r>
              <a:t>- 4. Local transactions</a:t>
            </a:r>
          </a:p>
          <a:p/>
          <a:p>
            <a:r>
              <a:t>  They preserve autonomy and avoid distributed coordination complexity.</a:t>
            </a:r>
          </a:p>
          <a:p/>
          <a:p>
            <a:r>
              <a:t>- 5. Redis</a:t>
            </a:r>
          </a:p>
          <a:p/>
          <a:p>
            <a:r>
              <a:t>  It can cache selected read-heavy or short-lived data.</a:t>
            </a:r>
          </a:p>
          <a:p/>
          <a:p>
            <a:r>
              <a:t>  Lecture only in this course.</a:t>
            </a:r>
          </a:p>
          <a:p/>
          <a:p>
            <a:r>
              <a:t>- 6. Timeouts and circuit breakers</a:t>
            </a:r>
          </a:p>
          <a:p/>
          <a:p>
            <a:r>
              <a:t>  Timeouts prevent indefinite waiting; circuit breakers stop repeated calls to failing dependencies.</a:t>
            </a:r>
          </a:p>
          <a:p/>
          <a:p>
            <a:r>
              <a:t>- 7. CI</a:t>
            </a:r>
          </a:p>
          <a:p/>
          <a:p>
            <a:r>
              <a:t>  Build, tests, quality checks and packaging.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- 8. Images</a:t>
            </a:r>
          </a:p>
          <a:p/>
          <a:p>
            <a:r>
              <a:t>  Consistent, portable runtime packaging.</a:t>
            </a:r>
          </a:p>
          <a:p/>
          <a:p>
            <a:r>
              <a:t>- 9. Service vs. Route</a:t>
            </a:r>
          </a:p>
          <a:p/>
          <a:p>
            <a:r>
              <a:t>  A Service provides internal access; a Route exposes external HTTP or HTTPS access.</a:t>
            </a:r>
          </a:p>
          <a:p/>
          <a:p>
            <a:r>
              <a:t>- 10. Spring Security</a:t>
            </a:r>
          </a:p>
          <a:p/>
          <a:p>
            <a:r>
              <a:t>  It validates tokens and enforces authorization rules.</a:t>
            </a:r>
          </a:p>
          <a:p/>
          <a:p>
            <a:r>
              <a:t>- 11. Secrets</a:t>
            </a:r>
          </a:p>
          <a:p/>
          <a:p>
            <a:r>
              <a:t>  They must be protected, rotated, and kept out of source code and images.</a:t>
            </a:r>
          </a:p>
          <a:p/>
          <a:p>
            <a:r>
              <a:t>- 12. Copilot</a:t>
            </a:r>
          </a:p>
          <a:p/>
          <a:p>
            <a:r>
              <a:t>  It drafts code, tests and docs, but developers must review and test the output.</a:t>
            </a:r>
          </a:p>
          <a:p/>
          <a:p>
            <a:r>
              <a:t>- 13. MCP</a:t>
            </a:r>
          </a:p>
          <a:p/>
          <a:p>
            <a:r>
              <a:t>  Controlled tools and resources for AI clients.</a:t>
            </a:r>
          </a:p>
          <a:p/>
          <a:p>
            <a:r>
              <a:t>- 14. Signals</a:t>
            </a:r>
          </a:p>
          <a:p/>
          <a:p>
            <a:r>
              <a:t>  Health checks, logs, metrics, traces, events and deployment status.</a:t>
            </a:r>
          </a:p>
          <a:p/>
          <a:p>
            <a:r>
              <a:t>- Practical scenario</a:t>
            </a:r>
          </a:p>
          <a:p/>
          <a:p>
            <a:r>
              <a:t>  If new risk assessments don't appear, follow the event from Transaction Service through the broker to Risk Assessment, then check logs, probes, configuration and authorization.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Across twelve modules and the capstone we designed, built, secured, delivered, operated and demonstrated a microservices platform.</a:t>
            </a:r>
          </a:p>
          <a:p/>
          <a:p>
            <a:r>
              <a:t>- Next</a:t>
            </a:r>
          </a:p>
          <a:p/>
          <a:p>
            <a:r>
              <a:t>  Ask each participant to pick one improvement to take back to their team this week.</a:t>
            </a:r>
          </a:p>
          <a:p/>
          <a:p>
            <a:r>
              <a:t>- Close</a:t>
            </a:r>
          </a:p>
          <a:p/>
          <a:p>
            <a:r>
              <a:t>  Thank the group, collect feedback and share the labs repository and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"AI doesn't replace business architecture — it works through it."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Putting It</a:t>
            </a:r>
          </a:p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All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From business requirement to a production microservices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CAPSTONE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End-to-end Spring Boot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2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REST and event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Data and resilience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Security and authentication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Automated 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CI/CD and containers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OpenShift and observability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0" y="470916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Copilot + MCP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CAPSTONE OBJECTIVES AND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What teams must build, deploy, secure and demonstrate.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52728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52728"/>
            <a:ext cx="2103120" cy="40233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52728"/>
            <a:ext cx="182879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irmala UI"/>
              </a:rPr>
              <a:t>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46504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002060"/>
                </a:solidFill>
                <a:latin typeface="Nirmala UI"/>
              </a:rPr>
              <a:t>Spring Boot microservices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002060"/>
                </a:solidFill>
                <a:latin typeface="Nirmala UI"/>
              </a:rPr>
              <a:t>REST APIs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59736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002060"/>
                </a:solidFill>
                <a:latin typeface="Nirmala UI"/>
              </a:rPr>
              <a:t>SQL persistence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16352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002060"/>
                </a:solidFill>
                <a:latin typeface="Nirmala UI"/>
              </a:rPr>
              <a:t>Event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252728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2743200" y="1252728"/>
            <a:ext cx="2103120" cy="40233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252728"/>
            <a:ext cx="182879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irmala UI"/>
              </a:rPr>
              <a:t>PROTECT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746504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D1282E"/>
                </a:solidFill>
                <a:latin typeface="Nirmala UI"/>
              </a:rPr>
              <a:t>OAuth2 / OIDC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2103120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D1282E"/>
                </a:solidFill>
                <a:latin typeface="Nirmala UI"/>
              </a:rPr>
              <a:t>Authorization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2459736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D1282E"/>
                </a:solidFill>
                <a:latin typeface="Nirmala UI"/>
              </a:rPr>
              <a:t>Secrets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252728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5029200" y="1252728"/>
            <a:ext cx="2103120" cy="40233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1252728"/>
            <a:ext cx="182879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irmala UI"/>
              </a:rPr>
              <a:t>DELIVER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746504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5B3A9E"/>
                </a:solidFill>
                <a:latin typeface="Nirmala UI"/>
              </a:rPr>
              <a:t>Git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2103120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5B3A9E"/>
                </a:solidFill>
                <a:latin typeface="Nirmala UI"/>
              </a:rPr>
              <a:t>Automated tests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2459736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5B3A9E"/>
                </a:solidFill>
                <a:latin typeface="Nirmala UI"/>
              </a:rPr>
              <a:t>CI/CD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2816352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5B3A9E"/>
                </a:solidFill>
                <a:latin typeface="Nirmala UI"/>
              </a:rPr>
              <a:t>Containers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3172968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5B3A9E"/>
                </a:solidFill>
                <a:latin typeface="Nirmala UI"/>
              </a:rPr>
              <a:t>OpenShift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252728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>
            <a:off x="7315200" y="1252728"/>
            <a:ext cx="2103120" cy="40233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1252728"/>
            <a:ext cx="182879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irmala UI"/>
              </a:rPr>
              <a:t>OPERATE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1746504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0E7C7B"/>
                </a:solidFill>
                <a:latin typeface="Nirmala UI"/>
              </a:rPr>
              <a:t>Health checks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2103120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0E7C7B"/>
                </a:solidFill>
                <a:latin typeface="Nirmala UI"/>
              </a:rPr>
              <a:t>Logs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2459736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0E7C7B"/>
                </a:solidFill>
                <a:latin typeface="Nirmala UI"/>
              </a:rPr>
              <a:t>Metrics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06640" y="2816352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0E7C7B"/>
                </a:solidFill>
                <a:latin typeface="Nirmala UI"/>
              </a:rPr>
              <a:t>Traces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1252728"/>
            <a:ext cx="21031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9601200" y="1252728"/>
            <a:ext cx="2103120" cy="402336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1252728"/>
            <a:ext cx="1828799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Nirmala UI"/>
              </a:rPr>
              <a:t>ACCELERATE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92640" y="1746504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C9690C"/>
                </a:solidFill>
                <a:latin typeface="Nirmala UI"/>
              </a:rPr>
              <a:t>GitHub Copilot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92640" y="2103120"/>
            <a:ext cx="1920239" cy="310896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C9690C"/>
                </a:solidFill>
                <a:latin typeface="Nirmala UI"/>
              </a:rPr>
              <a:t>MCP-enabled AI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721608"/>
            <a:ext cx="11247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Nirmala UI"/>
              </a:rPr>
              <a:t>EVALUATE EVERY DIMENSION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087368"/>
            <a:ext cx="1341882" cy="40233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002060"/>
                </a:solidFill>
                <a:latin typeface="Nirmala UI"/>
              </a:rPr>
              <a:t>Architecture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72234" y="4087368"/>
            <a:ext cx="1341882" cy="40233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002060"/>
                </a:solidFill>
                <a:latin typeface="Nirmala UI"/>
              </a:rPr>
              <a:t>Functionality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87268" y="4087368"/>
            <a:ext cx="1341882" cy="40233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002060"/>
                </a:solidFill>
                <a:latin typeface="Nirmala UI"/>
              </a:rPr>
              <a:t>Reliability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02302" y="4087368"/>
            <a:ext cx="1341882" cy="40233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002060"/>
                </a:solidFill>
                <a:latin typeface="Nirmala UI"/>
              </a:rPr>
              <a:t>Security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17336" y="4087368"/>
            <a:ext cx="1341882" cy="40233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002060"/>
                </a:solidFill>
                <a:latin typeface="Nirmala UI"/>
              </a:rPr>
              <a:t>Automation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32370" y="4087368"/>
            <a:ext cx="1341882" cy="40233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002060"/>
                </a:solidFill>
                <a:latin typeface="Nirmala UI"/>
              </a:rPr>
              <a:t>Deployment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47404" y="4087368"/>
            <a:ext cx="1341882" cy="40233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002060"/>
                </a:solidFill>
                <a:latin typeface="Nirmala UI"/>
              </a:rPr>
              <a:t>Observability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62438" y="4087368"/>
            <a:ext cx="1341882" cy="402336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 i="0">
                <a:solidFill>
                  <a:srgbClr val="002060"/>
                </a:solidFill>
                <a:latin typeface="Nirmala UI"/>
              </a:rPr>
              <a:t>AI integration</a:t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4960620"/>
            <a:ext cx="310896" cy="310896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9536" y="4727448"/>
            <a:ext cx="3255264" cy="77724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 i="0">
                <a:solidFill>
                  <a:srgbClr val="D1282E"/>
                </a:solidFill>
                <a:latin typeface="Nirmala UI"/>
              </a:rPr>
              <a:t>“It works on my laptop”</a:t>
            </a:r>
          </a:p>
        </p:txBody>
      </p:sp>
      <p:sp>
        <p:nvSpPr>
          <p:cNvPr id="48" name="Oval 47"/>
          <p:cNvSpPr/>
          <p:nvPr/>
        </p:nvSpPr>
        <p:spPr>
          <a:xfrm>
            <a:off x="4389120" y="4960620"/>
            <a:ext cx="310896" cy="310896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91456" y="4727448"/>
            <a:ext cx="6912864" cy="77724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 i="0">
                <a:solidFill>
                  <a:srgbClr val="2E7D32"/>
                </a:solidFill>
                <a:latin typeface="Nirmala UI"/>
              </a:rPr>
              <a:t>Built, tested, secured, deployed, observed and operated — repeatably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Grade the whole engineering system — not just whether the code compiles.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5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THE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Service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line around what a service owns — its capability, its API and its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Synchronous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call that waits for an answer, such as a REST request.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Asynchronous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Publishing an event that other services process later.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Transactional outbox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Saving an event in the same transaction as the data, then publishing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Safe 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defined outcome when a dependency fails — pending or HOLD, never an invented success.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Rollback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Returning a deployment to its previous working version.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Human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person decides every HOLD before any money moves.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Production readiness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Evidence that a system is secure, observable, recoverable and correct under failure.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THE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Artificial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Application Programming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Continuous Delivery / Deployment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Continuous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CI/CD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Continuous Integration / Continuous Delivery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45736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DLQ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470001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Dead-Letter Queue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1266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HMAC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526694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Hash-based Message Authentication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4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HTTP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800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HyperText Transfer Protocol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244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HTTPS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800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HyperText Transfer Protocol Secure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244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800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Identifier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244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800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Jakarta Persistence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244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JWT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800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JSON Web Token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244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MCP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800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Model Context Protocol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2440" y="4745736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OAuth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8008" y="470001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Open Authorization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82440" y="531266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OCI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8008" y="526694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Open Container Initiative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768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OIDC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324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OpenID Connect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0768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324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Pull Request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768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REST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324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Representational State Transfer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0768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2324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Secure Hash Algorithm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07680" y="3611880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SKU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3248" y="3566160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Stock Keeping Unit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07680" y="417880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SQL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23248" y="413308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Structured Query Language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5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MODULE 12 TO THE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Twelve modules, one platform — now make every piece work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46634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46634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MODULES 1–12 GAVE US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Service boundaries and REST APIs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328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Data, events and resilience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Pipelines, images and OpenShift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6674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75303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Copilot, agents and MCP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33671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42231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Security, secrets and 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402335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NOW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Design, build, deliver and demonstrate one production-ready platform.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289304"/>
            <a:ext cx="5833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OUR PATH THROUGH THE CAPSTONE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839250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19072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Scenario, architecture and contracts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830106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2427078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306900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Order Service and integrations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417934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0" y="3014907"/>
            <a:ext cx="347472" cy="347472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894729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Data and resilience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005763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Part 2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0" y="3602736"/>
            <a:ext cx="347472" cy="347472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482557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Security, secrets and tests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5935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Part 3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4190564"/>
            <a:ext cx="347472" cy="347472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070386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Git, CI/CD and OpenShift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4181420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C9690C"/>
                </a:solidFill>
                <a:latin typeface="Nirmala UI"/>
              </a:rPr>
              <a:t>Part 4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0" y="4778393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658214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Observability and AI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4769249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 5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0" y="5366221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246043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The demo and readiness 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5357077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 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The Capstone isn't a new topic — it's every module working together.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DESIGN 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Scenario, architecture, boundaries and contracts — before any code.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Design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Build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Protect and test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Deliver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Operate and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Twelve modules of techniques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Labs 1–5 built banking services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Each piece tested on its own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What should the platform look like before anyone writes a controller?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business scenario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Target architecture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Boundaries — with an exercise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REST and event contracts — in code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CAPSTONE BUSINESS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 e-commerce order processing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293022"/>
            <a:ext cx="7415783" cy="254627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66174"/>
            <a:ext cx="7269480" cy="23999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THE CUSTOMER STORY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Customer places an order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 is authorized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Stock is reserved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order ships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customer sees the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328416"/>
            <a:ext cx="3520440" cy="89001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328416"/>
            <a:ext cx="3154680" cy="890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ASK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What happens when payment fails?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One simple business process touches almost every topic in the course.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TARGET 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complete architecture — before any implementation.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58523"/>
            <a:ext cx="7415783" cy="42152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31675"/>
            <a:ext cx="7269480" cy="40689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Capabilities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Order, payment, inventory, shipping — then APIs.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Around the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Gateway, identity, broker, pipeline, OpenShift, monitoring.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AVOID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distributed monolith: services that must deploy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Start from capabilities and boundaries — the architecture comes before the controllers.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MICROSERVICE BOUNDARIES AND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Order, Payment, Inventory and Shipping.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365961"/>
            <a:ext cx="7415783" cy="44003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39113"/>
            <a:ext cx="7269480" cy="42540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 lifecycle and its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6430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1917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Payment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3006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Authorizations, captures and refunds.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3016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68503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95928"/>
            <a:ext cx="3246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Stock levels and reservations.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796028"/>
            <a:ext cx="3520440" cy="103784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85089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Shipping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61788"/>
            <a:ext cx="3246120" cy="6172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Shipments and tracking.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Clear ownership of capability and data keeps each service autonomous.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DRAW THE SERVICE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Assign each capability and table to exactly one owner.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543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team's first design has these pieces: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12440"/>
            <a:ext cx="3621024" cy="140055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orders, order_items tables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payments, refunds tables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stock_levels, reservations tables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shipments table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Order Service reads stock_levels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Shipping updates orders.status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Give every table one owning service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Find the two boundary violations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Replace each with an API call or event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0012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Order, Payment, Inventory, Shipping each own theirs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Order → Inventory API or reservation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Shipping publishes ShipmentDispatched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043171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Order Service updates its own status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One owner per table — other services ask through APIs or react to events.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API AND EVENT CONTRACT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REST endpoints and domain events.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69116"/>
            <a:ext cx="7415783" cy="379408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42268"/>
            <a:ext cx="7269480" cy="36477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REST — NEEDS AN ANSWER 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352044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POST /orders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2084832"/>
            <a:ext cx="352044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GET /orders/{id}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23744"/>
            <a:ext cx="352044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POST /payments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301752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EVENTS — OTHERS REACT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3364991"/>
            <a:ext cx="352044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OrderCreated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803904"/>
            <a:ext cx="352044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PaymentCompleted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4242816"/>
            <a:ext cx="3520440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ShipmentDispatched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Design REST and event contracts deliberately — both are public APIs.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 REST CONTRACT AND AN EVENT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Both are versioned, documented and owned — consumers depend on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openapi.yaml (excerpt)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307035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paths: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/api/v1/orders: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post: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operationId: createOrder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parameters: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- in: header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name: Idempotency-Key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required: true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requestBody: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content: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application/json: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    schema: { $ref: '#/components/schemas/CreateOrder'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responses: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'201': { description: Order created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'400': { description: Validation failed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    '409': { description: Duplicate request }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OrderCreated v1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307035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"eventId": "evt-7c21",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"eventType": "OrderCreated",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"eventVersion": 1,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"occurredAt": "2026-09-18T14:02:11Z",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"correlationId": "c-41af",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"data": {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"orderId": "ORD-1045",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"customerId": "CUST-0007",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"total": { "amount": "84.50", "currency": "USD" },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  "items": [ { "sku": "SKU-221", "qty": 2 } ]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26584"/>
            <a:ext cx="3627120" cy="9072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98144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Idempotency-Key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292344"/>
            <a:ext cx="3352800" cy="486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retried POST can't create two orders.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926584"/>
            <a:ext cx="3627120" cy="9072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98144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eventId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292344"/>
            <a:ext cx="3352800" cy="486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Consumers use it to ignore duplicates.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926584"/>
            <a:ext cx="3627120" cy="9072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98144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eventVersion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292344"/>
            <a:ext cx="3352800" cy="4866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Add fields safely; never break consumers.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Version and document both contracts — and put idempotency into them from the start.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BUILD THE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Order Service, its integrations, its data and its failure handling.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Design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Build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Protect and test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Deliver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Operate and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One business process drives the design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Four services own their capabilities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REST and event contracts are defined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build services that stay correct when their neighbours fail?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Service architecture and Order Service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Order lifecycle rules — in code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Sync and async integration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Resilience — in code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Data, failures — and an exercise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SPRING BOOT SERVICE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Controller → service → repository →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88682"/>
            <a:ext cx="7415783" cy="395495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1834"/>
            <a:ext cx="7269480" cy="38086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2369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03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HTTP, validation and DTOs — no business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50160"/>
            <a:ext cx="3520440" cy="9377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0502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15920"/>
            <a:ext cx="3246120" cy="517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Business rules and transactions.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15944"/>
            <a:ext cx="3520440" cy="9377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670807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81704"/>
            <a:ext cx="3246120" cy="517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Persistence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468172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ACROSS EVERY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502920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Security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80676" y="502920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Logging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546811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Errors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80676" y="546811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Metrics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Clean layers inside every service keep code testable and maintainable.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BUILDING THE ORDER MICROSERVICE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core service implementation.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64768"/>
            <a:ext cx="7415783" cy="380278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920"/>
            <a:ext cx="7269480" cy="36564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 STATES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CREATED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PAYMENT_PENDING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PAID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SHIPPED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017520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Cancellation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Allowed before shipping; a paid order also needs a refund.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44093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44093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PRINCIPLE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Only Order Service changes an order.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Order Service owns the order lifecycle and its business rules.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ORDER LIFECYCLE RULES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The entity guards its states; the service saves the order and its event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Order.java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71538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public void markPaid(String paymentId)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requireStatus(PAYMENT_PENDING);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this.paymentId = paymentId;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this.status = PAID;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public void cancel(String reason)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if (status == SHIPPED || status == CANCELLED)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throw new InvalidOrderStateException(id, status);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this.refundRequired = (status == PAID);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this.status = CANCELLED;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this.cancelReason = reason;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OrderService.java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715386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@Transactional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public OrderResponse create(CreateOrder cmd, String idempotencyKey)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return orders.findByIdempotencyKey(idempotencyKey)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.map(OrderResponse::from)                 // retried request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.orElseGet(() -&gt;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Order order = orders.save(Order.create(cmd, idempotencyKey));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outbox.save(OutboxEvent.orderCreated(order));  // same transaction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return OrderResponse.from(order);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});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// a relay publishes outbox rows to the broker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1619"/>
            <a:ext cx="3627120" cy="97231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26482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Guarded states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937379"/>
            <a:ext cx="3352800" cy="551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Illegal transitions fail loudly.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571619"/>
            <a:ext cx="3627120" cy="97231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626482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Idempotent create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937379"/>
            <a:ext cx="3352800" cy="551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retried request returns the same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571619"/>
            <a:ext cx="3627120" cy="97231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626482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Outbox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937379"/>
            <a:ext cx="3352800" cy="551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order and its event commit together.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Put state rules in the entity, and save each change with its event in one transaction.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SYNCHRONOUS SERVICE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Order → Payment REST call.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808245"/>
            <a:ext cx="7415783" cy="351582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1397"/>
            <a:ext cx="7269480" cy="3369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POSSIBLE OUTCOMES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Authorized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Declined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Timed out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017520"/>
            <a:ext cx="3520440" cy="11094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Never wait forever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383280"/>
            <a:ext cx="3246120" cy="6888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Connect and read timeouts on every call.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255008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255008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TIMED OUT ≠ FAILED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payment may have succeeded.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Synchronous calls need timeouts, safe retries and circuit breakers.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ASYNCHRONOUS EVENT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OrderCreated → broker → Inventory and Shipping.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57662"/>
            <a:ext cx="7415783" cy="321699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30814"/>
            <a:ext cx="7269480" cy="307069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Loose coupling, independent scaling, room for new consumers.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Eventual consistency, duplicates and harder tracing.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89001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890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CONSUMERS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must be idempotent.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Events decouple services — so consumers must handle duplicates and eventual consistency.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DATA PERSISTENCE AND SERVICE-OWNED DATABASES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JPA/SQL and database-per-service.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6962"/>
            <a:ext cx="7415783" cy="423839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0114"/>
            <a:ext cx="7269480" cy="409209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Tempting shortcut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 Service joins the inventory tables directly.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Service-owned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Ask the Inventory API, or keep a local copy from events.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TRANSACTIONS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Local per service; sagas across 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Each service owns its database — share data through APIs and events, never tables.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RESILIENCE AND FAILURE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Timeout, retry, circuit breaker and idempotency.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86508"/>
            <a:ext cx="7415783" cy="395930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59660"/>
            <a:ext cx="7269480" cy="38129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THE TOOLKIT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Timeout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Retry + backoff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Circuit breaker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Idempotency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Dead-letter 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80676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Bulkhead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301752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01752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Only retry what's safe to repeat.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Design for failure: bound waits, retry carefully, fail fast and isolate bad messages.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RESILIENT CALLS AND IDEMPOTENT CONSUMERS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Bound the synchronous call; make the event consumer safe to run twice.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PaymentClient.java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69671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@CircuitBreaker(name = "payment", fallbackMethod = "pending")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@Retry(name = "payment")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public PaymentResult authorize(Order order)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return paymentApi.post()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.uri("/api/v1/payments")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.header("Idempotency-Key", "pay-" + order.id())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.body(PaymentRequest.from(order))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.retrieve()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.body(PaymentResult.class);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PaymentResult pending(Order order, Throwable cause)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return PaymentResult.unknown(order.id());   // never "approved"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InventoryListener.java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696718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@KafkaListener(topics = "orders.events", groupId = "inventory-service")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@Transactional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public void on(OrderCreated event)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if (processed.existsById(event.eventId())) {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log.info("Duplicate ignored eventId={}", event.eventId());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return;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reservations.reserve(event.data().orderId(), event.data().items());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processed.save(new ProcessedEvent(event.eventId()));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# resilience4j.timelimiter.instances.payment.timeout-duration: 2s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# resilience4j.retry.instances.payment.max-attempts: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5295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0781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Same key on retry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91871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 Service charges once.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55295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60781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91871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Unknown, then reconcile — never invent success.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55295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607814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Processed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91871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redelivery changes nothing.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Retry only with idempotency, fall back to "unknown" — never to "approved".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TRACE A FAILED 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Decide what the platform does at each step of a bad afternoon.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12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293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32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ORD-1045 is created. Then: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5524"/>
            <a:ext cx="3621024" cy="11363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1 Payment call times out after 2s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2 Retry succeeds — or did it charge twice?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3 Payment Service goes down for 5 minutes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4 OrderCreated is delivered twice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5 A poison message keeps failing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293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Give the order's state after each step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control that protects it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4513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what the customer sees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2933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1 PAYMENT_PENDING — timeout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81635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2 One charge — same Idempotency-Key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3655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3 Circuit opens; status unknown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914647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4 One reservation — processed events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51865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463795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5 Dead-letter queue + alert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failure has a designed outcome — and none of them is a made-up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PROTECT AND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Security, configuration and tests — built in, not bolted on.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Design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Build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Protect and test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Deliver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Operate and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Clean layers and a guarded lifecycle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Calls bounded; consumers idempotent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Each service owns its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know the platform is secure — and still correct after every change?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API security and authentication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Secrets and configuration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Automated testing strategy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API SECURITY AND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OAuth2/OIDC with Keycloak or Microsoft Entra ID.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45202"/>
            <a:ext cx="7415783" cy="364191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18354"/>
            <a:ext cx="7269480" cy="34956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856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Authenticate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65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Every service validates issuer, audience and expiry.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612136"/>
            <a:ext cx="3520440" cy="11856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6700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Authorize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77895"/>
            <a:ext cx="3246120" cy="76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Scopes per endpoint — orders.write, payments.authorize.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925823"/>
            <a:ext cx="3520440" cy="99974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980687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Resource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291584"/>
            <a:ext cx="3246120" cy="57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This customer may see only their orders.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5053584"/>
            <a:ext cx="3520440" cy="78028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5053584"/>
            <a:ext cx="3154680" cy="7802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LAB 3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HMAC JWTs from issue-jwt.py.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Validate tokens and authorize each resource — in every service, from day 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SECRETS AND CONFIGURATION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External configuration, OpenShift Secrets and profiles.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9553"/>
            <a:ext cx="7415783" cy="42332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2705"/>
            <a:ext cx="7269480" cy="40869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094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ConfigMap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URLs, topics, feature flags.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35936"/>
            <a:ext cx="3520440" cy="11094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9080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Secret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01696"/>
            <a:ext cx="3246120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DB passwords, client secrets, API keys.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77342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NEVER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414832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12089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Secrets in Git or images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445922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43179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Rebuilding per environment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One image, many environments — configuration and secrets arrive at runtime.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AUTOMATED 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Unit, API, integration, contract and resilience tests.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75640"/>
            <a:ext cx="7415783" cy="41810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48792"/>
            <a:ext cx="7269480" cy="40347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9448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5242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 state rules and policy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371344"/>
            <a:ext cx="3520440" cy="113080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42620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37104"/>
            <a:ext cx="3246120" cy="710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Testcontainers with real Postgres and Kafka.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30168"/>
            <a:ext cx="3520440" cy="113080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68503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95928"/>
            <a:ext cx="3246120" cy="7101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Consumers and providers agree on APIs and events.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888992"/>
            <a:ext cx="3520440" cy="9448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94385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Security and resilience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254752"/>
            <a:ext cx="3246120" cy="5242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401/403 cases, timeouts, duplicates.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Automate tests at every layer so problems surface before deployment.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4: DELIVER TO OPENSHIFT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a pull request to running, scalable pods.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Design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Build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Protect and test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Deliver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Operate and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Tokens validated in every service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Secrets arrive at runtime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Tests cover rules, data and failures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does a reviewed change reach production safely — and roll back if it doesn't?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Git workflow and PR gates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CI/CD — in code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Containers and OpenShift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Scaling, health and rollouts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missing risk assessments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GIT WORKFLOW AND PULL REQUEST QUALITY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Branching, review and automated checks.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79986"/>
            <a:ext cx="7415783" cy="397234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53138"/>
            <a:ext cx="7269480" cy="38260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BEFORE MERGING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Build and tests pass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Scans clean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approving review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Contracts unchanged or versioned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01752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01752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AI CODE TOO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Copilot changes pass the same gates.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change — human or AI-written — passes the same automated and human gates.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CI/CD PIPELINE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GitHub Actions / Jenkins → build → test → scan → image → deploy.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36506"/>
            <a:ext cx="7415783" cy="365930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09658"/>
            <a:ext cx="7269480" cy="351300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Stop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Failing tests, critical vulnerabilities, leaked secrets.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Build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same image digest moves from dev to prod.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89001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890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VENDOR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matters less than the gates.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Automate the path from commit to deployment — and promote one versioned artifact.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CAPSTONE PIPELINE IN ONE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Test, build one image, deploy it by digest — and know how to undo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.github/workflows/order-service.yml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301256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jobs: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build: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runs-on: ubuntu-latest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steps: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- uses: actions/checkout@v4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- uses: actions/setup-java@v4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with: { distribution: temurin, java-version: '21'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- run: mvn -B verify          # unit + Testcontainers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- uses: aquasecurity/trivy-action@0.28.0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with: { scan-type: fs, severity: CRITICAL, exit-code: '1' 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- run: |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podman build -t $IMAGE:${{ github.sha }} .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podman push --digestfile digest $IMAGE:${{ github.sha }}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- run: |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oc set image deploy/order-service \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  order-service=$IMAGE@$(cat digest)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        oc rollout status deploy/order-service --timeout=180s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When the rollout goes wrong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3012566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oc rollout status deploy/order-service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# error: deployment exceeded its progress deadline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oc get pods -l app=order-service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oc logs deploy/order-service --tail=50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oc rollout undo deploy/order-service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oc rollout status deploy/order-service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# then: fix forward through a new PR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68799"/>
            <a:ext cx="3627120" cy="96507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923662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Commit SHA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234559"/>
            <a:ext cx="3352800" cy="54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Traceable back to the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868799"/>
            <a:ext cx="3627120" cy="96507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923662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Deploy by digest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234559"/>
            <a:ext cx="3352800" cy="54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Exactly the image that was scanned.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868799"/>
            <a:ext cx="3627120" cy="96507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923662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Rollback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234559"/>
            <a:ext cx="3352800" cy="544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Practised — Lab 4's oc rollout undo.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Gate on tests and scans, deploy one image by digest, and practise the rollback.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CONTAINERIZING THE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Docker/OCI images, tagging and the registry.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95202"/>
            <a:ext cx="7415783" cy="374191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8354"/>
            <a:ext cx="7269480" cy="35956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EVERY IMAGE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Multi-stage build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Non-root user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Versioned tag, no :latest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Scanned before push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secrets inside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32841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32841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IMAGE VS CONTAINER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Template vs running instance.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Every service ships as a versioned, scanned, secret-free container image.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DEPLOYING TO OPENSHIFT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Deployment, Service, Route, ConfigMap and Secret.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71292"/>
            <a:ext cx="7415783" cy="418973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44444"/>
            <a:ext cx="7269480" cy="40434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95326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5326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Runs the pods with probes and resources.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379726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43459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45486"/>
            <a:ext cx="3246120" cy="7185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Stable internal address for other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46932"/>
            <a:ext cx="3520440" cy="113919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01795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012692"/>
            <a:ext cx="3246120" cy="718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External HTTPS — only for public entry points.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914138"/>
            <a:ext cx="3520440" cy="91973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14138"/>
            <a:ext cx="3154680" cy="9197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INTERNAL ONLY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Payment and Inventory need no Route.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OpenShift runs each service as Deployment → Pods → Service, exposing only what must be public.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SCALING, HEALTH CHECKS, AND ROLLOUTS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Readiness and liveness, replicas and rolling updates.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95969"/>
            <a:ext cx="7415783" cy="41403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69121"/>
            <a:ext cx="7269480" cy="39940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462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Readiness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25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traffic until the pod can serve.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72690"/>
            <a:ext cx="3520440" cy="10462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2755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Liveness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38450"/>
            <a:ext cx="3246120" cy="625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Restart a stuck pod.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46932"/>
            <a:ext cx="3520440" cy="10462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01795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Rolling 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012692"/>
            <a:ext cx="3246120" cy="625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New pods ready before old ones stop.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821174"/>
            <a:ext cx="3520440" cy="1012697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821174"/>
            <a:ext cx="3154680" cy="10126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RECOVERY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oc rollout undo restores the last version.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Replicas add capacity, probes guard traffic, rolling updates replace versions safely.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WHY ARE RISK ASSESSMENTS MISSING?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Troubleshoot the deployed banking platform in a sensible order.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62330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977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On OpenShift, transactions are submitted successfully, but GET /api/v1/assessments/{transactionId} returns 404 for every new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362330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Choose which service to check first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9941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List the checks in order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4513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Name the evidence that confirms each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865376"/>
            <a:ext cx="3063240" cy="362330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Was TransactionSubmitted published?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944876"/>
            <a:ext cx="2450592" cy="7139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Broker reachable; consumer group risk-assessment-service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375031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369544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Risk pod Ready; logs show errors?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429945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4244594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ConfigMap topic and Secret values set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484860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4793742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401/403 on the lookup call?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Follow the event: published, delivered, consumed, stored — then check config and access.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5: OPERATE, ACCELERATE AND DEMONSTRATE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Observability, AI working through the platform, and the final demo.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2391338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213164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Design</a:t>
            </a:r>
          </a:p>
        </p:txBody>
      </p:sp>
      <p:sp>
        <p:nvSpPr>
          <p:cNvPr id="6" name="Chevron 5"/>
          <p:cNvSpPr/>
          <p:nvPr/>
        </p:nvSpPr>
        <p:spPr>
          <a:xfrm>
            <a:off x="267114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5114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Build</a:t>
            </a:r>
          </a:p>
        </p:txBody>
      </p:sp>
      <p:sp>
        <p:nvSpPr>
          <p:cNvPr id="8" name="Chevron 7"/>
          <p:cNvSpPr/>
          <p:nvPr/>
        </p:nvSpPr>
        <p:spPr>
          <a:xfrm>
            <a:off x="4885090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906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Protect and test</a:t>
            </a:r>
          </a:p>
        </p:txBody>
      </p:sp>
      <p:sp>
        <p:nvSpPr>
          <p:cNvPr id="10" name="Chevron 9"/>
          <p:cNvSpPr/>
          <p:nvPr/>
        </p:nvSpPr>
        <p:spPr>
          <a:xfrm>
            <a:off x="7099035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3005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4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Deliver</a:t>
            </a:r>
          </a:p>
        </p:txBody>
      </p:sp>
      <p:sp>
        <p:nvSpPr>
          <p:cNvPr id="12" name="Chevron 11"/>
          <p:cNvSpPr/>
          <p:nvPr/>
        </p:nvSpPr>
        <p:spPr>
          <a:xfrm>
            <a:off x="9312981" y="1298448"/>
            <a:ext cx="2391338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6950" y="1298448"/>
            <a:ext cx="200911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5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Operate and 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Every change passes PR and pipeline gates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One image deployed by digest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Probes, rollouts and rollback in place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Can we see, explain and prove how the platform behaves — including when it fails?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3997960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3933952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Observability and monitoring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440029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4336288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Copilot and agentic AI with MCP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4802632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738624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demo — in commands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204968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140960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Official capstone demonstration</a:t>
            </a:r>
          </a:p>
        </p:txBody>
      </p:sp>
      <p:sp>
        <p:nvSpPr>
          <p:cNvPr id="35" name="Oval 34"/>
          <p:cNvSpPr/>
          <p:nvPr/>
        </p:nvSpPr>
        <p:spPr>
          <a:xfrm>
            <a:off x="5760720" y="560730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5543296"/>
            <a:ext cx="555955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Readiness review and the full architecture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OBSERVABILITY AND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Logs, metrics, traces, dashboards and alerts.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83416"/>
            <a:ext cx="7415783" cy="416548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6568"/>
            <a:ext cx="7269480" cy="401918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462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Metrics find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25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Error rate on POST /orders jumps.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72690"/>
            <a:ext cx="3520440" cy="10462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2755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Traces locate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38450"/>
            <a:ext cx="3246120" cy="625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payment span takes 2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46932"/>
            <a:ext cx="3520440" cy="10462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01795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Logs explain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012692"/>
            <a:ext cx="3246120" cy="625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Timeouts, with the correlation 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821174"/>
            <a:ext cx="3520440" cy="1012697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821174"/>
            <a:ext cx="3154680" cy="10126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ALERT ON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HOLD backlog and DLQ depth too.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Follow one request end to end — metrics find it, traces locate it, logs explain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AI-ASSISTED DEVELOPMENT WITH GITHUB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Generate, test, refactor and troubleshoot.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7379"/>
            <a:ext cx="7415783" cy="42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0531"/>
            <a:ext cx="7269480" cy="4091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B3A9E"/>
                </a:solidFill>
                <a:latin typeface="Nirmala UI"/>
              </a:rPr>
              <a:t>GOOD USES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Draft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Write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Refactor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Explain errors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7860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63347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After it generates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944368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Review, test and scan like any other change.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4002024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002024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BOUNDARY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developer owns the result.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Use Copilot across the capstone — and review, test and secure everything it writes.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AGENTIC AI AND MCP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Agent → MCP → backend microservice tools.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560421"/>
            <a:ext cx="7415783" cy="40114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33573"/>
            <a:ext cx="7269480" cy="38651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094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Example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88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“Why is order ORD-1045 still pending?”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35936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9080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01696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get_order, get_payment — read-only; refunds need approval.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9593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NEVER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4334256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306824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Direct database access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46451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6177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Superuser 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Agents reach microservices only through MCP tools and APIs — never their databases.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THE CAPSTONE DEMO IN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Lab 5's script: prove the decisions locally, then prove the platform on OpenShift.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Risk decisions (PowerShell, labs/day-05/lab5)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62242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$OPS = python tools\issue-jwt.py ops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$REVIEWER = python tools\issue-jwt.py reviewer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.\tools\publish-event.ps1 -File tools\events\approve.json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.\tools\publish-event.ps1 -File tools\events\approve.json  # duplicate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.\tools\publish-event.ps1 -File tools\events\timeout.json  # HOLD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.\tools\publish-event.ps1 -File tools\events\hold.json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curl.exe -s -H "Authorization: Bearer $OPS" `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"http://localhost:8083/api/v1/assessments?disposition=HOLD"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# review TXN-B2C3D4E5 with $REVIEWER -&gt; 200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# same POST with $OPS                 -&gt; 403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OpenShift evidence and recovery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62242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$PROJECT = oc project -q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oc -n $PROJECT rollout status deploy/risk-assessment-service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$RISK = oc -n $PROJECT get route risk-assessment-service `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  -o jsonpath="{.spec.host}"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curl.exe -s https://$RISK/actuator/health/readiness   # 200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# Lab 4 recovery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oc -n $PROJECT rollout undo deploy/account-service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Consolas"/>
              </a:rPr>
              <a:t>oc -n $PROJECT rollout status deploy/account-service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7865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3351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Duplicate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4441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Logs show it ignored — still one row.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47865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53351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Timeout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84441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HOLD MODEL_UNAVAILABLE — never APPROVE.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47865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53351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84441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Route readiness 200, then a working rollback.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Show the happy path, the failures and the recovery — each with evidence on screen.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CAPSTONE DEMONSTRATION — DAY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Official checkpoint: demonstrate Labs 1–5 as one working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542032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CAPSTONE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3639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30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83396" y="1298448"/>
            <a:ext cx="2820924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labs/day-05/lab5/LAB-5-GUIDE.md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83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760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Teams demonstrate the banking Account, Transaction and Risk Assessment services. Do not run TEKsystems Lab 13.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83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Successful transaction → APPROVE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9077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52928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Duplicate event → still one row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3649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3101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Model timeout → HOLD, never APPROVE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39634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39085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Human review: reviewer 200, ops 403</a:t>
            </a:r>
          </a:p>
        </p:txBody>
      </p:sp>
      <p:sp>
        <p:nvSpPr>
          <p:cNvPr id="22" name="Oval 21"/>
          <p:cNvSpPr/>
          <p:nvPr/>
        </p:nvSpPr>
        <p:spPr>
          <a:xfrm>
            <a:off x="4663440" y="45618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4506976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OpenShift Route readiness 200</a:t>
            </a:r>
          </a:p>
        </p:txBody>
      </p:sp>
      <p:sp>
        <p:nvSpPr>
          <p:cNvPr id="24" name="Oval 23"/>
          <p:cNvSpPr/>
          <p:nvPr/>
        </p:nvSpPr>
        <p:spPr>
          <a:xfrm>
            <a:off x="4663440" y="50190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2" y="4964176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Rollback: oc rollout undo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1865376"/>
            <a:ext cx="3063240" cy="383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All six demos with visible evidence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294487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Synthetic, secret-free logs</a:t>
            </a:r>
          </a:p>
        </p:txBody>
      </p:sp>
      <p:sp>
        <p:nvSpPr>
          <p:cNvPr id="33" name="Oval 32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7" y="33655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Each step explained by its module</a:t>
            </a:r>
          </a:p>
        </p:txBody>
      </p:sp>
      <p:sp>
        <p:nvSpPr>
          <p:cNvPr id="35" name="Oval 34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6567" y="3914647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invented financial outcome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Six demos, each with evidence: success, duplicate, HOLD, review, OpenShift, recovery.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CAPSTONE DEMO AND PRODUCTION READINESS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Demonstrate the story, then decide: is it ready?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99553"/>
            <a:ext cx="7415783" cy="413321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2705"/>
            <a:ext cx="7269480" cy="39869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READINESS QUESTIONS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Correct under failure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Secured and audited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Delivered by pipeline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606039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7860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Observable and recoverable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2916935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889503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AI kept under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32841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32841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FINAL QUESTION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Would you run this with real money?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Demonstrate the whole engineering story — from order to operations — not one endpoint.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PRODUCTION READINESS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team says their platform is ready. Review the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32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team's readiness checklist: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5524"/>
            <a:ext cx="3621024" cy="158216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✓ mvn verify passes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✓ Image pushed as :latest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✓ Route readiness returns 200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✓ JWT scopes on every endpoint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DB password in the ConfigMap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No alert on the HOLD backlog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Rollback never tried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Mark each item: ready, risky or blocking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Give the fix for each gap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5062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451352"/>
            <a:ext cx="321868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Decide: go or no-go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421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:latest → versioned tag and digest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Password → Secret, then rotate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494023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Alert on HOLD backlog and DLQ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09803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043171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Rehearse oc rollout undo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4518659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4463795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No-go until the blockers are fixed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Ready means secure, traceable, observable and recoverable — not just "it starts".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COMPLETE END-TO-END PRODUCTION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module combined in one production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7379"/>
            <a:ext cx="7415783" cy="42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0531"/>
            <a:ext cx="7269480" cy="40912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3080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Customer request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10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Gateway, identity, services, events,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557272"/>
            <a:ext cx="3520440" cy="9448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1213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Software delivery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23032"/>
            <a:ext cx="3246120" cy="5242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Git, pipeline, registry, OpenShift.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30168"/>
            <a:ext cx="3520440" cy="9448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68503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Operations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95928"/>
            <a:ext cx="3246120" cy="524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Probes, logs, metrics, traces, alerts.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703064"/>
            <a:ext cx="3520440" cy="113080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7579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Two AI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068824"/>
            <a:ext cx="3246120" cy="710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Copilot for developers; agents through MCP.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Production microservices = clear boundaries, security, automation and operations — with AI working through them.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CAPSTONE MISCONCEPTIONS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Beliefs and habits that stop a working demo from being a production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MISCONCEPTION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It runs, so it's done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2078431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0" y="1709928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Deployed, observable and recoverable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56662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A shared database is simpler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30752" y="2925165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2556662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Share through APIs and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03396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Retries fix failures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3771899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3403396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Only with idempotency and limits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0131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AI wrote the tests, so it's tested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4618634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69080" y="4250131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Review every generated assertion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96865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Agents can query the database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546536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0" y="5096865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Only through MCP tools and APIs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ANTI-PATTERNS TO AVOID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distributed monolith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19842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19568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:latest images in production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2951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2677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Secrets in ConfigMaps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2606039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57860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Auto-approving on model failure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2916935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889503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Demoing only the happy path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3227831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200399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Rollback never rehearsed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639312"/>
            <a:ext cx="393192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639312"/>
            <a:ext cx="356616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Prove it with evidence — including failure and recovery.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Production-ready means correct under failure, secure, automated and observable.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Design, data and resilience — answer in your own words.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117500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693926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11750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should each microservice own its data?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83180"/>
            <a:ext cx="5440680" cy="117500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97865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83180"/>
            <a:ext cx="4617720" cy="11750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When should services communicate through REST?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67911"/>
            <a:ext cx="5440680" cy="117500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4263390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867911"/>
            <a:ext cx="4617720" cy="11750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When should services communicate through events?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152644"/>
            <a:ext cx="5440680" cy="117500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5548122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152644"/>
            <a:ext cx="4617720" cy="11750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prefer local transactions over distributed ones?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298448"/>
            <a:ext cx="5440680" cy="117500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9944" y="1693926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298448"/>
            <a:ext cx="4617720" cy="11750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could Redis add to the platform?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583180"/>
            <a:ext cx="5440680" cy="117500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2978658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583180"/>
            <a:ext cx="4617720" cy="11750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timeouts and circuit breakers help?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67911"/>
            <a:ext cx="5440680" cy="117500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4263390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867911"/>
            <a:ext cx="4617720" cy="11750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CI validate before deployment?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Delivery, security, AI and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117500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693926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11750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are container images useful for OpenShift?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83180"/>
            <a:ext cx="5440680" cy="117500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97865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83180"/>
            <a:ext cx="4617720" cy="11750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OpenShift Service vs. Route?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67911"/>
            <a:ext cx="5440680" cy="117500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4263390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867911"/>
            <a:ext cx="4617720" cy="11750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does Spring Security protect APIs?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152644"/>
            <a:ext cx="5440680" cy="117500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5548122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152644"/>
            <a:ext cx="4617720" cy="11750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must secrets be externalized?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298448"/>
            <a:ext cx="5440680" cy="117500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9944" y="1693926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298448"/>
            <a:ext cx="4617720" cy="11750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can Copilot help without replacing review?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583180"/>
            <a:ext cx="5440680" cy="117500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2978658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583180"/>
            <a:ext cx="4617720" cy="11750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does MCP provide for AI agents?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67911"/>
            <a:ext cx="5440680" cy="1175004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4263390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867911"/>
            <a:ext cx="4617720" cy="11750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Which signals are needed for production readiness?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COURSE SUMMARY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one Spring Boot service to a secure, observable, AI-assisted platform on OpenShift.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029967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Design service boundaries, APIs and events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3347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Build resilient, secure Spring Boot services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3697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81528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Deliver them through CI/CD to OpenShift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40479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Observe, troubleshoot and recover them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43983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800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Use Copilot, agents and MCP under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Nirmala UI"/>
              </a:rPr>
              <a:t>NEXT: BRING IT BACK TO YOUR TEAM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Which service would you harden first?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Which pipeline gate is missing today?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Where could an agent help safely?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TAKE WITH YOU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Your labs repo, the readiness checklist and the demo script.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Clear boundaries, built-in security, automation and observability — with AI working through them.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