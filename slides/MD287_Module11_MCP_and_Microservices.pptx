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next question</a:t>
            </a:r>
          </a:p>
          <a:p/>
          <a:p>
            <a:r>
              <a:t>  Module 10 showed an agent reasoning, selecting a tool and calling an enterprise API.</a:t>
            </a:r>
          </a:p>
          <a:p/>
          <a:p>
            <a:r>
              <a:t>  The next question is: how should AI applications discover and use all these tools consistently?</a:t>
            </a:r>
          </a:p>
          <a:p/>
          <a:p>
            <a:r>
              <a:t>- Without a common protocol</a:t>
            </a:r>
          </a:p>
          <a:p/>
          <a:p>
            <a:r>
              <a:t>  Without one, each agent needs custom integrations for Order, Payment, Inventory, Shipping and DevOps.</a:t>
            </a:r>
          </a:p>
          <a:p/>
          <a:p>
            <a:r>
              <a:t>- What MCP adds</a:t>
            </a:r>
          </a:p>
          <a:p/>
          <a:p>
            <a:r>
              <a:t>  MCP, the Model Context Protocol, adds a standard interface.</a:t>
            </a:r>
          </a:p>
          <a:p/>
          <a:p>
            <a:r>
              <a:t>  The agent talks to MCP, and MCP exposes enterprise capabilities backed by the microservices.</a:t>
            </a:r>
          </a:p>
          <a:p/>
          <a:p>
            <a:r>
              <a:t>- The central message</a:t>
            </a:r>
          </a:p>
          <a:p/>
          <a:p>
            <a:r>
              <a:t>  The agent reasons, MCP standardizes access, and the microservice stays responsible for the business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explain why MCP exists, the host, client and server roles, and the difference between tools, resources and prompts.</a:t>
            </a:r>
          </a:p>
          <a:p/>
          <a:p>
            <a:r>
              <a:t>  They should map REST APIs to tools, design good tool contracts and connect MCP to Spring Boot.</a:t>
            </a:r>
          </a:p>
          <a:p/>
          <a:p>
            <a:r>
              <a:t>  They should design scalable servers, apply authentication and authorization, and integrate agents with several services.</a:t>
            </a:r>
          </a:p>
          <a:p/>
          <a:p>
            <a:r>
              <a:t>  They should also handle long-running operations, monitor MCP calls and recognize practical patterns.</a:t>
            </a:r>
          </a:p>
          <a:p/>
          <a:p>
            <a:r>
              <a:t>- Five sections</a:t>
            </a:r>
          </a:p>
          <a:p/>
          <a:p>
            <a:r>
              <a:t>  Section 1 is MCP basics: host, client, server.</a:t>
            </a:r>
          </a:p>
          <a:p/>
          <a:p>
            <a:r>
              <a:t>  Section 2 is capabilities: tools, resources and prompts.</a:t>
            </a:r>
          </a:p>
          <a:p/>
          <a:p>
            <a:r>
              <a:t>  Section 3 is microservices integration: MCP, REST API, Spring Boot.</a:t>
            </a:r>
          </a:p>
          <a:p/>
          <a:p>
            <a:r>
              <a:t>  Section 4 is production architecture: gateway, security, scaling and observability.</a:t>
            </a:r>
          </a:p>
          <a:p/>
          <a:p>
            <a:r>
              <a:t>  Section 5 is agentic orchestration across multiple microservices.</a:t>
            </a:r>
          </a:p>
          <a:p/>
          <a:p>
            <a:r>
              <a:t>- Keep repeating</a:t>
            </a:r>
          </a:p>
          <a:p/>
          <a:p>
            <a:r>
              <a:t>  The agent reasons, MCP connects, and the microservice remains the business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Model Context Protocol</a:t>
            </a:r>
          </a:p>
          <a:p/>
          <a:p>
            <a:r>
              <a:t>  An open standard for connecting AI applications to tools and data.</a:t>
            </a:r>
          </a:p>
          <a:p/>
          <a:p>
            <a:r>
              <a:t>- MCP host</a:t>
            </a:r>
          </a:p>
          <a:p/>
          <a:p>
            <a:r>
              <a:t>  The AI application the user works in, such as an IDE or an agent.</a:t>
            </a:r>
          </a:p>
          <a:p/>
          <a:p>
            <a:r>
              <a:t>- MCP client</a:t>
            </a:r>
          </a:p>
          <a:p/>
          <a:p>
            <a:r>
              <a:t>  The connector inside the host that talks to one MCP server.</a:t>
            </a:r>
          </a:p>
          <a:p/>
          <a:p>
            <a:r>
              <a:t>- MCP server</a:t>
            </a:r>
          </a:p>
          <a:p/>
          <a:p>
            <a:r>
              <a:t>  A program that exposes tools, resources and prompts over MCP.</a:t>
            </a:r>
          </a:p>
          <a:p/>
          <a:p>
            <a:r>
              <a:t>- Tool</a:t>
            </a:r>
          </a:p>
          <a:p/>
          <a:p>
            <a:r>
              <a:t>  An action the model can invoke, such as get_order or request_refund.</a:t>
            </a:r>
          </a:p>
          <a:p/>
          <a:p>
            <a:r>
              <a:t>- Resource</a:t>
            </a:r>
          </a:p>
          <a:p/>
          <a:p>
            <a:r>
              <a:t>  Read-only context the server exposes, such as a refund policy document.</a:t>
            </a:r>
          </a:p>
          <a:p/>
          <a:p>
            <a:r>
              <a:t>- Prompt template</a:t>
            </a:r>
          </a:p>
          <a:p/>
          <a:p>
            <a:r>
              <a:t>  A reusable interaction the server offers, chosen by the user.</a:t>
            </a:r>
          </a:p>
          <a:p/>
          <a:p>
            <a:r>
              <a:t>- JSON-RPC</a:t>
            </a:r>
          </a:p>
          <a:p/>
          <a:p>
            <a:r>
              <a:t>  The simple request-and-response message format MCP uses on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AI is Artificial Intelligence; API is Application Programming Interface; HTTP is HyperText Transfer Protocol; ID is Identifier; IDE is Integrated Development Environment; JSON is JavaScript Object Notation; JWT is JSON Web Token; MCP is Model Context Protocol; OAuth is Open Authorization; OIDC is OpenID Connect; PAN is Primary Account Number; REST is Representational State Transfer; RPC is Remote Procedure Call; SQL is Structured Query Language; TLS is Transport Layer Security; URI is Uniform Resource Identifier; WAF is Web Application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10</a:t>
            </a:r>
          </a:p>
          <a:p/>
          <a:p>
            <a:r>
              <a:t>  In Module 10 every agent needed custom tool code.</a:t>
            </a:r>
          </a:p>
          <a:p/>
          <a:p>
            <a:r>
              <a:t>  MCP standardizes how tools and context are described, discovered and called.</a:t>
            </a:r>
          </a:p>
          <a:p/>
          <a:p>
            <a:r>
              <a:t>- The path</a:t>
            </a:r>
          </a:p>
          <a:p/>
          <a:p>
            <a:r>
              <a:t>  Fundamentals, capabilities, wrapping microservices, production concerns, and orchestration across services.</a:t>
            </a:r>
          </a:p>
          <a:p/>
          <a:p>
            <a:r>
              <a:t>- Two examples</a:t>
            </a:r>
          </a:p>
          <a:p/>
          <a:p>
            <a:r>
              <a:t>  The slides use the order platform.</a:t>
            </a:r>
          </a:p>
          <a:p/>
          <a:p>
            <a:r>
              <a:t>  Exercise 5.3 applies MCP controls to the banking Risk Assessment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Without a standard, every AI app writes its own connector to every backend.</a:t>
            </a:r>
          </a:p>
          <a:p/>
          <a:p>
            <a:r>
              <a:t>  MCP solves that integration problem.</a:t>
            </a:r>
          </a:p>
          <a:p/>
          <a:p>
            <a:r>
              <a:t>- What this part covers</a:t>
            </a:r>
          </a:p>
          <a:p/>
          <a:p>
            <a:r>
              <a:t>  The problem, the three roles, a request end to end, and what actually goes over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MCP is</a:t>
            </a:r>
          </a:p>
          <a:p/>
          <a:p>
            <a:r>
              <a:t>  MCP is a protocol for connecting AI applications to outside capabilities and context in a standard way.</a:t>
            </a:r>
          </a:p>
          <a:p/>
          <a:p>
            <a:r>
              <a:t>  It exposes tools, resources and prompts that sit in front of enterprise systems.</a:t>
            </a:r>
          </a:p>
          <a:p/>
          <a:p>
            <a:r>
              <a:t>- The problem without it</a:t>
            </a:r>
          </a:p>
          <a:p/>
          <a:p>
            <a:r>
              <a:t>  One agent needs Order, Payment, Git, file, database and search integrations.</a:t>
            </a:r>
          </a:p>
          <a:p/>
          <a:p>
            <a:r>
              <a:t>  Another AI application needs the same systems.</a:t>
            </a:r>
          </a:p>
          <a:p/>
          <a:p>
            <a:r>
              <a:t>  Without a standard, many AI applications times many integrations creates a lot of custom work.</a:t>
            </a:r>
          </a:p>
          <a:p/>
          <a:p>
            <a:r>
              <a:t>- What it standardizes</a:t>
            </a:r>
          </a:p>
          <a:p/>
          <a:p>
            <a:r>
              <a:t>  MCP sets common concepts and message patterns for exposing capabilities.</a:t>
            </a:r>
          </a:p>
          <a:p/>
          <a:p>
            <a:r>
              <a:t>- A careful analogy</a:t>
            </a:r>
          </a:p>
          <a:p/>
          <a:p>
            <a:r>
              <a:t>  REST standardized how many applications talk to HTTP services.</a:t>
            </a:r>
          </a:p>
          <a:p/>
          <a:p>
            <a:r>
              <a:t>  MCP standardizes a layer for AI applications to discover and use capabilities and context.</a:t>
            </a:r>
          </a:p>
          <a:p/>
          <a:p>
            <a:r>
              <a:t>  It is not simply 'REST for AI', but the analogy shows why a protocol boundary helps.</a:t>
            </a:r>
          </a:p>
          <a:p/>
          <a:p>
            <a:r>
              <a:t>- What the diagram shows</a:t>
            </a:r>
          </a:p>
          <a:p/>
          <a:p>
            <a:r>
              <a:t>  An AI application using MCP to reach tools, resources and prompts in enterprise systems.</a:t>
            </a:r>
          </a:p>
          <a:p/>
          <a:p>
            <a:r>
              <a:t>- Key point</a:t>
            </a:r>
          </a:p>
          <a:p/>
          <a:p>
            <a:r>
              <a:t>  MCP is the standard layer between AI applications and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Without MCP</a:t>
            </a:r>
          </a:p>
          <a:p/>
          <a:p>
            <a:r>
              <a:t>  The agent needs a custom connector for Order, Payment, Shipping and Inventory.</a:t>
            </a:r>
          </a:p>
          <a:p/>
          <a:p>
            <a:r>
              <a:t>  Each connector follows its own conventions.</a:t>
            </a:r>
          </a:p>
          <a:p/>
          <a:p>
            <a:r>
              <a:t>- With MCP</a:t>
            </a:r>
          </a:p>
          <a:p/>
          <a:p>
            <a:r>
              <a:t>  The agent uses an MCP client, which talks to a standard MCP interface on an MCP server.</a:t>
            </a:r>
          </a:p>
          <a:p/>
          <a:p>
            <a:r>
              <a:t>  That server exposes the enterprise services.</a:t>
            </a:r>
          </a:p>
          <a:p/>
          <a:p>
            <a:r>
              <a:t>- What an agent needs to know</a:t>
            </a:r>
          </a:p>
          <a:p/>
          <a:p>
            <a:r>
              <a:t>  Recall Module 10.</a:t>
            </a:r>
          </a:p>
          <a:p/>
          <a:p>
            <a:r>
              <a:t>  An agent needs to know what capabilities exist and what parameters they need.</a:t>
            </a:r>
          </a:p>
          <a:p/>
          <a:p>
            <a:r>
              <a:t>  It also needs to know what each one does, how to call it and what result to expect.</a:t>
            </a:r>
          </a:p>
          <a:p/>
          <a:p>
            <a:r>
              <a:t>  MCP gives a standard way to describe and discover these.</a:t>
            </a:r>
          </a:p>
          <a:p/>
          <a:p>
            <a:r>
              <a:t>- An example</a:t>
            </a:r>
          </a:p>
          <a:p/>
          <a:p>
            <a:r>
              <a:t>  An agent might discover getOrder, cancelOrder, getPayment, refundPayment and checkInventory.</a:t>
            </a:r>
          </a:p>
          <a:p/>
          <a:p>
            <a:r>
              <a:t>  The model reasons over their descriptions, instead of developers inventing a new convention for every agent.</a:t>
            </a:r>
          </a:p>
          <a:p/>
          <a:p>
            <a:r>
              <a:t>- When it helps most</a:t>
            </a:r>
          </a:p>
          <a:p/>
          <a:p>
            <a:r>
              <a:t>  It is especially useful when many AI clients need access to many enterprise systems.</a:t>
            </a:r>
          </a:p>
          <a:p/>
          <a:p>
            <a:r>
              <a:t>- What the diagram shows</a:t>
            </a:r>
          </a:p>
          <a:p/>
          <a:p>
            <a:r>
              <a:t>  A sprawl of custom connectors next to one standardized MCP capability layer.</a:t>
            </a:r>
          </a:p>
          <a:p/>
          <a:p>
            <a:r>
              <a:t>- Key point</a:t>
            </a:r>
          </a:p>
          <a:p/>
          <a:p>
            <a:r>
              <a:t>  Build a capability once; every MCP-aware client can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MCP host</a:t>
            </a:r>
          </a:p>
          <a:p/>
          <a:p>
            <a:r>
              <a:t>  The host is the application that contains the AI experience.</a:t>
            </a:r>
          </a:p>
          <a:p/>
          <a:p>
            <a:r>
              <a:t>  Examples are an AI assistant, an agent application, a developer tool or an enterprise copilot.</a:t>
            </a:r>
          </a:p>
          <a:p/>
          <a:p>
            <a:r>
              <a:t>- The MCP client</a:t>
            </a:r>
          </a:p>
          <a:p/>
          <a:p>
            <a:r>
              <a:t>  The client is the component inside the host that communicates using MCP.</a:t>
            </a:r>
          </a:p>
          <a:p/>
          <a:p>
            <a:r>
              <a:t>  The host uses the client, and the client sends protocol messages.</a:t>
            </a:r>
          </a:p>
          <a:p/>
          <a:p>
            <a:r>
              <a:t>- The MCP server</a:t>
            </a:r>
          </a:p>
          <a:p/>
          <a:p>
            <a:r>
              <a:t>  The server exposes selected capabilities: tools, resources and prompts.</a:t>
            </a:r>
          </a:p>
          <a:p/>
          <a:p>
            <a:r>
              <a:t>  In this course, a Commerce MCP Server sits in front of the Order, Payment, Inventory and Shipping APIs.</a:t>
            </a:r>
          </a:p>
          <a:p/>
          <a:p>
            <a:r>
              <a:t>- An important point</a:t>
            </a:r>
          </a:p>
          <a:p/>
          <a:p>
            <a:r>
              <a:t>  An MCP server doesn't have to contain the actual business logic.</a:t>
            </a:r>
          </a:p>
          <a:p/>
          <a:p>
            <a:r>
              <a:t>  It can be an adapter in front of existing enterprise systems.</a:t>
            </a:r>
          </a:p>
          <a:p/>
          <a:p>
            <a:r>
              <a:t>- What the diagram shows</a:t>
            </a:r>
          </a:p>
          <a:p/>
          <a:p>
            <a:r>
              <a:t>  The MCP host, client and server, with the server exposing tools, resources and prompts backed by backend systems.</a:t>
            </a:r>
          </a:p>
          <a:p/>
          <a:p>
            <a:r>
              <a:t>- Key point</a:t>
            </a:r>
          </a:p>
          <a:p/>
          <a:p>
            <a:r>
              <a:t>  Host holds the experience, the client speaks MCP, the server exposes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Intent and reasoning</a:t>
            </a:r>
          </a:p>
          <a:p/>
          <a:p>
            <a:r>
              <a:t>  The user asks what's happening with order 1001.</a:t>
            </a:r>
          </a:p>
          <a:p/>
          <a:p>
            <a:r>
              <a:t>  The agent reasons that it needs order information, and sees a suitable capability: getOrder.</a:t>
            </a:r>
          </a:p>
          <a:p/>
          <a:p>
            <a:r>
              <a:t>- Through MCP</a:t>
            </a:r>
          </a:p>
          <a:p/>
          <a:p>
            <a:r>
              <a:t>  The MCP client calls the MCP server with getOrder and orderId 1001.</a:t>
            </a:r>
          </a:p>
          <a:p/>
          <a:p>
            <a:r>
              <a:t>  The server maps that capability to GET /orders/1001.</a:t>
            </a:r>
          </a:p>
          <a:p/>
          <a:p>
            <a:r>
              <a:t>- Inside Spring Boot</a:t>
            </a:r>
          </a:p>
          <a:p/>
          <a:p>
            <a:r>
              <a:t>  Spring Boot runs the business logic: OrderController, OrderService, OrderRepository, and the Order database.</a:t>
            </a:r>
          </a:p>
          <a:p/>
          <a:p>
            <a:r>
              <a:t>  The result goes back to the agent, which can answer or pick another tool.</a:t>
            </a:r>
          </a:p>
          <a:p/>
          <a:p>
            <a:r>
              <a:t>- The separation</a:t>
            </a:r>
          </a:p>
          <a:p/>
          <a:p>
            <a:r>
              <a:t>  The agent understands business intent.</a:t>
            </a:r>
          </a:p>
          <a:p/>
          <a:p>
            <a:r>
              <a:t>  MCP exposes capabilities.</a:t>
            </a:r>
          </a:p>
          <a:p/>
          <a:p>
            <a:r>
              <a:t>  REST carries the backend request.</a:t>
            </a:r>
          </a:p>
          <a:p/>
          <a:p>
            <a:r>
              <a:t>  Spring Boot implements the business behavior.</a:t>
            </a:r>
          </a:p>
          <a:p/>
          <a:p>
            <a:r>
              <a:t>- An abstraction layer</a:t>
            </a:r>
          </a:p>
          <a:p/>
          <a:p>
            <a:r>
              <a:t>  The agent deals with a meaningful tool like getOrder(orderId), not HTTP details.</a:t>
            </a:r>
          </a:p>
          <a:p/>
          <a:p>
            <a:r>
              <a:t>  That makes MCP an AI-facing abstraction layer.</a:t>
            </a:r>
          </a:p>
          <a:p/>
          <a:p>
            <a:r>
              <a:t>- What the diagram shows</a:t>
            </a:r>
          </a:p>
          <a:p/>
          <a:p>
            <a:r>
              <a:t>  A user and agent calling getOrder through the MCP client and server, into the Spring Boot Order Service and database, and back.</a:t>
            </a:r>
          </a:p>
          <a:p/>
          <a:p>
            <a:r>
              <a:t>- Key point</a:t>
            </a:r>
          </a:p>
          <a:p/>
          <a:p>
            <a:r>
              <a:t>  The tool call ends in an ordinary service API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tools/list</a:t>
            </a:r>
          </a:p>
          <a:p/>
          <a:p>
            <a:r>
              <a:t>  The server describes each tool: name, description, input schema and hints such as read-only.</a:t>
            </a:r>
          </a:p>
          <a:p/>
          <a:p>
            <a:r>
              <a:t>- tools/call</a:t>
            </a:r>
          </a:p>
          <a:p/>
          <a:p>
            <a:r>
              <a:t>  The client sends the tool name and arguments with a request id; the response matches that id.</a:t>
            </a:r>
          </a:p>
          <a:p/>
          <a:p>
            <a:r>
              <a:t>- The result</a:t>
            </a:r>
          </a:p>
          <a:p/>
          <a:p>
            <a:r>
              <a:t>  structuredContent is machine-readable data; content is text the model can read.</a:t>
            </a:r>
          </a:p>
          <a:p/>
          <a:p>
            <a:r>
              <a:t>  Failures set isError to true.</a:t>
            </a:r>
          </a:p>
          <a:p/>
          <a:p>
            <a:r>
              <a:t>- You rarely write this</a:t>
            </a:r>
          </a:p>
          <a:p/>
          <a:p>
            <a:r>
              <a:t>  SDKs such as Spring AI generate these messages; knowing them helps with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Choosing the right capability type is the first design decision for any MCP server.</a:t>
            </a:r>
          </a:p>
          <a:p/>
          <a:p>
            <a:r>
              <a:t>- What comes next</a:t>
            </a:r>
          </a:p>
          <a:p/>
          <a:p>
            <a:r>
              <a:t>  The three primitives, when to use each, reference context, and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Tools</a:t>
            </a:r>
          </a:p>
          <a:p/>
          <a:p>
            <a:r>
              <a:t>  Tools let clients invoke capabilities, such as getOrder, cancelOrder and refundPayment.</a:t>
            </a:r>
          </a:p>
          <a:p/>
          <a:p>
            <a:r>
              <a:t>- Resources</a:t>
            </a:r>
          </a:p>
          <a:p/>
          <a:p>
            <a:r>
              <a:t>  Resources expose context, such as the refund policy, service documentation or order status definitions.</a:t>
            </a:r>
          </a:p>
          <a:p/>
          <a:p>
            <a:r>
              <a:t>- Prompts</a:t>
            </a:r>
          </a:p>
          <a:p/>
          <a:p>
            <a:r>
              <a:t>  Prompts are reusable prompt structures that clients can discover and use, such as an order investigation prompt.</a:t>
            </a:r>
          </a:p>
          <a:p/>
          <a:p>
            <a:r>
              <a:t>- A simple mental model</a:t>
            </a:r>
          </a:p>
          <a:p/>
          <a:p>
            <a:r>
              <a:t>  A tool does something.</a:t>
            </a:r>
          </a:p>
          <a:p/>
          <a:p>
            <a:r>
              <a:t>  A resource reads something.</a:t>
            </a:r>
          </a:p>
          <a:p/>
          <a:p>
            <a:r>
              <a:t>  A prompt structures an interaction.</a:t>
            </a:r>
          </a:p>
          <a:p/>
          <a:p>
            <a:r>
              <a:t>  The official server SDK describes MCP servers as exposing tools, resources and prompts.</a:t>
            </a:r>
          </a:p>
          <a:p/>
          <a:p>
            <a:r>
              <a:t>- For microservices</a:t>
            </a:r>
          </a:p>
          <a:p/>
          <a:p>
            <a:r>
              <a:t>  Tools usually matter most, because they connect agents to business operations.</a:t>
            </a:r>
          </a:p>
          <a:p/>
          <a:p>
            <a:r>
              <a:t>- What the diagram shows</a:t>
            </a:r>
          </a:p>
          <a:p/>
          <a:p>
            <a:r>
              <a:t>  Three branches: tools for actions, resources for context, prompts for reusable interaction templates.</a:t>
            </a:r>
          </a:p>
          <a:p/>
          <a:p>
            <a:r>
              <a:t>- Key point</a:t>
            </a:r>
          </a:p>
          <a:p/>
          <a:p>
            <a:r>
              <a:t>  Tools do, resources inform, prompts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different requests</a:t>
            </a:r>
          </a:p>
          <a:p/>
          <a:p>
            <a:r>
              <a:t>  If the user asks 'can this payment be refunded?', the agent may need a resource: the refund policy.</a:t>
            </a:r>
          </a:p>
          <a:p/>
          <a:p>
            <a:r>
              <a:t>  If the user says 'refund payment 501', that needs an operation: refundPayment(501).</a:t>
            </a:r>
          </a:p>
          <a:p/>
          <a:p>
            <a:r>
              <a:t>- Knowledge is not authority</a:t>
            </a:r>
          </a:p>
          <a:p/>
          <a:p>
            <a:r>
              <a:t>  Don't confuse knowledge with authority.</a:t>
            </a:r>
          </a:p>
          <a:p/>
          <a:p>
            <a:r>
              <a:t>  Knowing the refund policy does not give the agent permission to issue a refund.</a:t>
            </a:r>
          </a:p>
          <a:p/>
          <a:p>
            <a:r>
              <a:t>- The rule</a:t>
            </a:r>
          </a:p>
          <a:p/>
          <a:p>
            <a:r>
              <a:t>  Resources provide knowledge; tools provide capability.</a:t>
            </a:r>
          </a:p>
          <a:p/>
          <a:p>
            <a:r>
              <a:t>  Tool execution still needs authorization.</a:t>
            </a:r>
          </a:p>
          <a:p/>
          <a:p>
            <a:r>
              <a:t>  Never expose a write operation as if it were passive context retrieval.</a:t>
            </a:r>
          </a:p>
          <a:p/>
          <a:p>
            <a:r>
              <a:t>- What the diagram shows</a:t>
            </a:r>
          </a:p>
          <a:p/>
          <a:p>
            <a:r>
              <a:t>  A read-and-context path compared with an action-and-tool path.</a:t>
            </a:r>
          </a:p>
          <a:p/>
          <a:p>
            <a:r>
              <a:t>- Key point</a:t>
            </a:r>
          </a:p>
          <a:p/>
          <a:p>
            <a:r>
              <a:t>  Resources provide context; tools provide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Useful context</a:t>
            </a:r>
          </a:p>
          <a:p/>
          <a:p>
            <a:r>
              <a:t>  Resources suit contextual information: refund eligibility policy, order status definitions, shipping policy, service documentation and runbooks.</a:t>
            </a:r>
          </a:p>
          <a:p/>
          <a:p>
            <a:r>
              <a:t>- Combining tool and resource</a:t>
            </a:r>
          </a:p>
          <a:p/>
          <a:p>
            <a:r>
              <a:t>  Suppose the user asks why order 1001 can't be refunded.</a:t>
            </a:r>
          </a:p>
          <a:p/>
          <a:p>
            <a:r>
              <a:t>  The agent may combine the payment status from the getPaymentForOrder tool with the refund policy from a resource.</a:t>
            </a:r>
          </a:p>
          <a:p/>
          <a:p>
            <a:r>
              <a:t>- The distinction</a:t>
            </a:r>
          </a:p>
          <a:p/>
          <a:p>
            <a:r>
              <a:t>  Current business state comes from an authoritative service or tool.</a:t>
            </a:r>
          </a:p>
          <a:p/>
          <a:p>
            <a:r>
              <a:t>  Reference knowledge comes from a resource.</a:t>
            </a:r>
          </a:p>
          <a:p/>
          <a:p>
            <a:r>
              <a:t>  Keep authoritative operational state separate from reference context.</a:t>
            </a:r>
          </a:p>
          <a:p/>
          <a:p>
            <a:r>
              <a:t>- What the diagram shows</a:t>
            </a:r>
          </a:p>
          <a:p/>
          <a:p>
            <a:r>
              <a:t>  An agent reading policies, runbooks and documentation as MCP resources for grounded reasoning.</a:t>
            </a:r>
          </a:p>
          <a:p/>
          <a:p>
            <a:r>
              <a:t>- Key point</a:t>
            </a:r>
          </a:p>
          <a:p/>
          <a:p>
            <a:r>
              <a:t>  Resources give reference context; live state still comes from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clients learn</a:t>
            </a:r>
          </a:p>
          <a:p/>
          <a:p>
            <a:r>
              <a:t>  How does an AI host know what a server offers?</a:t>
            </a:r>
          </a:p>
          <a:p/>
          <a:p>
            <a:r>
              <a:t>  It discovers the capabilities.</a:t>
            </a:r>
          </a:p>
          <a:p/>
          <a:p>
            <a:r>
              <a:t>  It asks what tools, resources and prompts the server exposes.</a:t>
            </a:r>
          </a:p>
          <a:p/>
          <a:p>
            <a:r>
              <a:t>- An example catalog</a:t>
            </a:r>
          </a:p>
          <a:p/>
          <a:p>
            <a:r>
              <a:t>  An Order MCP Server might list the tools getOrder, createOrder and cancelOrder.</a:t>
            </a:r>
          </a:p>
          <a:p/>
          <a:p>
            <a:r>
              <a:t>  It might also list the resource order-status-guide and the prompt investigate-order.</a:t>
            </a:r>
          </a:p>
          <a:p/>
          <a:p>
            <a:r>
              <a:t>- Discovery in the current spec</a:t>
            </a:r>
          </a:p>
          <a:p/>
          <a:p>
            <a:r>
              <a:t>  The current stateless specification adds server/discover for getting a server's capabilities.</a:t>
            </a:r>
          </a:p>
          <a:p/>
          <a:p>
            <a:r>
              <a:t>  It replaces the old connection-based initialization.</a:t>
            </a:r>
          </a:p>
          <a:p/>
          <a:p>
            <a:r>
              <a:t>- Caching</a:t>
            </a:r>
          </a:p>
          <a:p/>
          <a:p>
            <a:r>
              <a:t>  List and read responses now carry cache hints such as ttlMs and cacheScope.</a:t>
            </a:r>
          </a:p>
          <a:p/>
          <a:p>
            <a:r>
              <a:t>  That way clients don't have to rediscover unchanged catalogs on every interaction.</a:t>
            </a:r>
          </a:p>
          <a:p/>
          <a:p>
            <a:r>
              <a:t>  Ten agents times a hundred requests against an unchanged tool list shouldn't mean needless rediscovery.</a:t>
            </a:r>
          </a:p>
          <a:p/>
          <a:p>
            <a:r>
              <a:t>- What the diagram shows</a:t>
            </a:r>
          </a:p>
          <a:p/>
          <a:p>
            <a:r>
              <a:t>  An MCP client discovering the server's catalog of tools, resources and prompts.</a:t>
            </a:r>
          </a:p>
          <a:p/>
          <a:p>
            <a:r>
              <a:t>- Key point</a:t>
            </a:r>
          </a:p>
          <a:p/>
          <a:p>
            <a:r>
              <a:t>  Clients learn what's available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Tools</a:t>
            </a:r>
          </a:p>
          <a:p/>
          <a:p>
            <a:r>
              <a:t>  Order status is live data, so it's a read tool.</a:t>
            </a:r>
          </a:p>
          <a:p/>
          <a:p>
            <a:r>
              <a:t>  Refunds and reservations change state, so they're action tools.</a:t>
            </a:r>
          </a:p>
          <a:p/>
          <a:p>
            <a:r>
              <a:t>- Resources and prompts</a:t>
            </a:r>
          </a:p>
          <a:p/>
          <a:p>
            <a:r>
              <a:t>  Policies and error catalogs are reference documents.</a:t>
            </a:r>
          </a:p>
          <a:p/>
          <a:p>
            <a:r>
              <a:t>  The investigation steps are a reusable prompt template.</a:t>
            </a:r>
          </a:p>
          <a:p/>
          <a:p>
            <a:r>
              <a:t>- Approval</a:t>
            </a:r>
          </a:p>
          <a:p/>
          <a:p>
            <a:r>
              <a:t>  Refunds move money and always need approval.</a:t>
            </a:r>
          </a:p>
          <a:p/>
          <a:p>
            <a:r>
              <a:t>  Stock reservations may be automatic within business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This is where MCP meets everything we built: controllers, services, security and data ownership.</a:t>
            </a:r>
          </a:p>
          <a:p/>
          <a:p>
            <a:r>
              <a:t>- What comes next</a:t>
            </a:r>
          </a:p>
          <a:p/>
          <a:p>
            <a:r>
              <a:t>  Where MCP fits beside REST, a Spring AI MCP server, server boundaries, tool mapping and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of the most important slides</a:t>
            </a:r>
          </a:p>
          <a:p/>
          <a:p>
            <a:r>
              <a:t>  Don't tell learners that MCP replaces REST.</a:t>
            </a:r>
          </a:p>
          <a:p/>
          <a:p>
            <a:r>
              <a:t>- REST still has users</a:t>
            </a:r>
          </a:p>
          <a:p/>
          <a:p>
            <a:r>
              <a:t>  Existing Spring Boot APIs may already serve web apps, mobile apps, other microservices, partners and API gateways.</a:t>
            </a:r>
          </a:p>
          <a:p/>
          <a:p>
            <a:r>
              <a:t>  There is no reason to throw those contracts away just because agents need access.</a:t>
            </a:r>
          </a:p>
          <a:p/>
          <a:p>
            <a:r>
              <a:t>- Add a layer</a:t>
            </a:r>
          </a:p>
          <a:p/>
          <a:p>
            <a:r>
              <a:t>  An existing REST API plus an MCP capability layer gives an agent-accessible microservice.</a:t>
            </a:r>
          </a:p>
          <a:p/>
          <a:p>
            <a:r>
              <a:t>- Each layer has a job</a:t>
            </a:r>
          </a:p>
          <a:p/>
          <a:p>
            <a:r>
              <a:t>  The MCP tool cancelOrder(orderId) maps to the REST call PATCH /orders/{id}/cancel.</a:t>
            </a:r>
          </a:p>
          <a:p/>
          <a:p>
            <a:r>
              <a:t>  That runs OrderService.cancelOrder() in Spring Boot.</a:t>
            </a:r>
          </a:p>
          <a:p/>
          <a:p>
            <a:r>
              <a:t>  Each layer serves a different purpose.</a:t>
            </a:r>
          </a:p>
          <a:p/>
          <a:p>
            <a:r>
              <a:t>- The message</a:t>
            </a:r>
          </a:p>
          <a:p/>
          <a:p>
            <a:r>
              <a:t>  MCP complements REST.</a:t>
            </a:r>
          </a:p>
          <a:p/>
          <a:p>
            <a:r>
              <a:t>  It does not automatically replace it.</a:t>
            </a:r>
          </a:p>
          <a:p/>
          <a:p>
            <a:r>
              <a:t>- What the diagram shows</a:t>
            </a:r>
          </a:p>
          <a:p/>
          <a:p>
            <a:r>
              <a:t>  An agent using MCP to reach an MCP server that calls an existing REST API on a Spring Boot service.</a:t>
            </a:r>
          </a:p>
          <a:p/>
          <a:p>
            <a:r>
              <a:t>- Key point</a:t>
            </a:r>
          </a:p>
          <a:p/>
          <a:p>
            <a:r>
              <a:t>  MCP complements REST — it wraps existing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REST clients</a:t>
            </a:r>
          </a:p>
          <a:p/>
          <a:p>
            <a:r>
              <a:t>  Apps, services and batch jobs know exactly which endpoints they need, so REST is simpler and faster.</a:t>
            </a:r>
          </a:p>
          <a:p/>
          <a:p>
            <a:r>
              <a:t>- MCP clients</a:t>
            </a:r>
          </a:p>
          <a:p/>
          <a:p>
            <a:r>
              <a:t>  Copilots and agents benefit from discovery, descriptions and schemas.</a:t>
            </a:r>
          </a:p>
          <a:p/>
          <a:p>
            <a:r>
              <a:t>- What doesn't change</a:t>
            </a:r>
          </a:p>
          <a:p/>
          <a:p>
            <a:r>
              <a:t>  Both paths end at the same service API, with the same security and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 the service we built</a:t>
            </a:r>
          </a:p>
          <a:p/>
          <a:p>
            <a:r>
              <a:t>  The existing endpoint is GET /orders/1001.</a:t>
            </a:r>
          </a:p>
          <a:p/>
          <a:p>
            <a:r>
              <a:t>  MCP exposes it as getOrder(orderId).</a:t>
            </a:r>
          </a:p>
          <a:p/>
          <a:p>
            <a:r>
              <a:t>- What the agent doesn't need</a:t>
            </a:r>
          </a:p>
          <a:p/>
          <a:p>
            <a:r>
              <a:t>  The agent doesn't need to reason about the HTTP URL, the HTTP client library, serialization details or the controller structure.</a:t>
            </a:r>
          </a:p>
          <a:p/>
          <a:p>
            <a:r>
              <a:t>  It sees a capability with a meaningful description.</a:t>
            </a:r>
          </a:p>
          <a:p/>
          <a:p>
            <a:r>
              <a:t>- The MCP server's job</a:t>
            </a:r>
          </a:p>
          <a:p/>
          <a:p>
            <a:r>
              <a:t>  The server takes the MCP input and validates it.</a:t>
            </a:r>
          </a:p>
          <a:p/>
          <a:p>
            <a:r>
              <a:t>  It maps it to a REST request, calls the Order Service, maps the response and returns an MCP result.</a:t>
            </a:r>
          </a:p>
          <a:p/>
          <a:p>
            <a:r>
              <a:t>- The architecture rule</a:t>
            </a:r>
          </a:p>
          <a:p/>
          <a:p>
            <a:r>
              <a:t>  The MCP server should call the Order Service API, not the Order database directly.</a:t>
            </a:r>
          </a:p>
          <a:p/>
          <a:p>
            <a:r>
              <a:t>  The only exception is when direct data access is explicitly the design you intend.</a:t>
            </a:r>
          </a:p>
          <a:p/>
          <a:p>
            <a:r>
              <a:t>  This keeps the design principles from Modules 2 and 5.</a:t>
            </a:r>
          </a:p>
          <a:p/>
          <a:p>
            <a:r>
              <a:t>- What the diagram shows</a:t>
            </a:r>
          </a:p>
          <a:p/>
          <a:p>
            <a:r>
              <a:t>  An MCP tool mapped to a REST endpoint, then controller, service, repository and database.</a:t>
            </a:r>
          </a:p>
          <a:p/>
          <a:p>
            <a:r>
              <a:t>- Key point</a:t>
            </a:r>
          </a:p>
          <a:p/>
          <a:p>
            <a:r>
              <a:t>  The MCP server calls the API — never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tool</a:t>
            </a:r>
          </a:p>
          <a:p/>
          <a:p>
            <a:r>
              <a:t>  @Tool turns a method into an MCP tool.</a:t>
            </a:r>
          </a:p>
          <a:p/>
          <a:p>
            <a:r>
              <a:t>  Its parameters become the input schema, with descriptions from @ToolParam.</a:t>
            </a:r>
          </a:p>
          <a:p/>
          <a:p>
            <a:r>
              <a:t>- The call</a:t>
            </a:r>
          </a:p>
          <a:p/>
          <a:p>
            <a:r>
              <a:t>  The tool calls GET /api/v1/orders/{id} on Order Service, so validation, security and data ownership are unchanged.</a:t>
            </a:r>
          </a:p>
          <a:p/>
          <a:p>
            <a:r>
              <a:t>- Registration</a:t>
            </a:r>
          </a:p>
          <a:p/>
          <a:p>
            <a:r>
              <a:t>  A ToolCallbackProvider registers the tool object, and the MCP server starter exposes it over the protocol.</a:t>
            </a:r>
          </a:p>
          <a:p/>
          <a:p>
            <a:r>
              <a:t>- Versions</a:t>
            </a:r>
          </a:p>
          <a:p/>
          <a:p>
            <a:r>
              <a:t>  Spring AI's MCP support is evolving quickly — check property names against the version you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Pattern A: domain-specific servers</a:t>
            </a:r>
          </a:p>
          <a:p/>
          <a:p>
            <a:r>
              <a:t>  One option is separate Order, Payment and Shipping MCP servers.</a:t>
            </a:r>
          </a:p>
          <a:p/>
          <a:p>
            <a:r>
              <a:t>  Advantages are clear ownership, a smaller security scope, easier independent deployment, and a domain-aligned capability catalog.</a:t>
            </a:r>
          </a:p>
          <a:p/>
          <a:p>
            <a:r>
              <a:t>- Pattern B: an aggregated server</a:t>
            </a:r>
          </a:p>
          <a:p/>
          <a:p>
            <a:r>
              <a:t>  Another option is one Commerce MCP Server with Order, Payment, Inventory and Shipping tools.</a:t>
            </a:r>
          </a:p>
          <a:p/>
          <a:p>
            <a:r>
              <a:t>  Advantages are simpler discovery, one interface, and an easier experience across domains.</a:t>
            </a:r>
          </a:p>
          <a:p/>
          <a:p>
            <a:r>
              <a:t>- The tradeoff</a:t>
            </a:r>
          </a:p>
          <a:p/>
          <a:p>
            <a:r>
              <a:t>  It is convenience versus isolation and ownership.</a:t>
            </a:r>
          </a:p>
          <a:p/>
          <a:p>
            <a:r>
              <a:t>  Discuss the tradeoff; don't claim one pattern is always right.</a:t>
            </a:r>
          </a:p>
          <a:p/>
          <a:p>
            <a:r>
              <a:t>- Link to Module 2</a:t>
            </a:r>
          </a:p>
          <a:p/>
          <a:p>
            <a:r>
              <a:t>  MCP server boundaries should be intentional, just like microservice boundaries.</a:t>
            </a:r>
          </a:p>
          <a:p/>
          <a:p>
            <a:r>
              <a:t>- What the diagram shows</a:t>
            </a:r>
          </a:p>
          <a:p/>
          <a:p>
            <a:r>
              <a:t>  A commerce MCP server exposing Order, Payment and Inventory tools that call separate services.</a:t>
            </a:r>
          </a:p>
          <a:p/>
          <a:p>
            <a:r>
              <a:t>- Key point</a:t>
            </a:r>
          </a:p>
          <a:p/>
          <a:p>
            <a:r>
              <a:t>  Server boundaries are a design decision, like service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example mapping</a:t>
            </a:r>
          </a:p>
          <a:p/>
          <a:p>
            <a:r>
              <a:t>  GET /orders/{id} becomes getOrder, and POST /orders becomes createOrder.</a:t>
            </a:r>
          </a:p>
          <a:p/>
          <a:p>
            <a:r>
              <a:t>  PATCH /orders/{id}/cancel becomes cancelOrder, and GET /payments/order/{id} becomes getPaymentForOrder.</a:t>
            </a:r>
          </a:p>
          <a:p/>
          <a:p>
            <a:r>
              <a:t>  POST /payments/{id}/refund becomes refundPayment, and GET /inventory/{sku} becomes checkInventory.</a:t>
            </a:r>
          </a:p>
          <a:p/>
          <a:p>
            <a:r>
              <a:t>- Don't map mechanically</a:t>
            </a:r>
          </a:p>
          <a:p/>
          <a:p>
            <a:r>
              <a:t>  Don't expose every REST endpoint.</a:t>
            </a:r>
          </a:p>
          <a:p/>
          <a:p>
            <a:r>
              <a:t>  Turning 87 REST endpoints into 87 MCP tools is the wrong approach.</a:t>
            </a:r>
          </a:p>
          <a:p/>
          <a:p>
            <a:r>
              <a:t>  Ask which capabilities are actually useful to an agent.</a:t>
            </a:r>
          </a:p>
          <a:p/>
          <a:p>
            <a:r>
              <a:t>- Keep internal endpoints out</a:t>
            </a:r>
          </a:p>
          <a:p/>
          <a:p>
            <a:r>
              <a:t>  Endpoints like /admin/rebuild-index, /internal/cache/flush or /debug/database-state probably should not become normal agent tools.</a:t>
            </a:r>
          </a:p>
          <a:p/>
          <a:p>
            <a:r>
              <a:t>- The rule</a:t>
            </a:r>
          </a:p>
          <a:p/>
          <a:p>
            <a:r>
              <a:t>  A REST endpoint is not automatically an MCP tool.</a:t>
            </a:r>
          </a:p>
          <a:p/>
          <a:p>
            <a:r>
              <a:t>  A tool is a capability you intentionally expose to agents.</a:t>
            </a:r>
          </a:p>
          <a:p/>
          <a:p>
            <a:r>
              <a:t>- What the diagram shows</a:t>
            </a:r>
          </a:p>
          <a:p/>
          <a:p>
            <a:r>
              <a:t>  Backend endpoints on the left mapped to meaningful business tools on the right.</a:t>
            </a:r>
          </a:p>
          <a:p/>
          <a:p>
            <a:r>
              <a:t>- Key point</a:t>
            </a:r>
          </a:p>
          <a:p/>
          <a:p>
            <a:r>
              <a:t>  Expose business capabilities, not every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Design matters</a:t>
            </a:r>
          </a:p>
          <a:p/>
          <a:p>
            <a:r>
              <a:t>  How you design a tool directly affects how reliably an agent can use it.</a:t>
            </a:r>
          </a:p>
          <a:p/>
          <a:p>
            <a:r>
              <a:t>  A tool contract has a name, description, input schema, output schema, error behavior and security requirements.</a:t>
            </a:r>
          </a:p>
          <a:p/>
          <a:p>
            <a:r>
              <a:t>- Names and descriptions</a:t>
            </a:r>
          </a:p>
          <a:p/>
          <a:p>
            <a:r>
              <a:t>  cancelOrder is a much better name than process.</a:t>
            </a:r>
          </a:p>
          <a:p/>
          <a:p>
            <a:r>
              <a:t>  The description should say when to use it.</a:t>
            </a:r>
          </a:p>
          <a:p/>
          <a:p>
            <a:r>
              <a:t>  For example: cancels an existing order when its business state allows cancellation.</a:t>
            </a:r>
          </a:p>
          <a:p/>
          <a:p>
            <a:r>
              <a:t>- Inputs and outputs</a:t>
            </a:r>
          </a:p>
          <a:p/>
          <a:p>
            <a:r>
              <a:t>  Specify the input, orderId, with the right type and validation.</a:t>
            </a:r>
          </a:p>
          <a:p/>
          <a:p>
            <a:r>
              <a:t>  Prefer predictable structured output, such as orderId, previousStatus CONFIRMED and newStatus CANCELLED.</a:t>
            </a:r>
          </a:p>
          <a:p/>
          <a:p>
            <a:r>
              <a:t>- Schemas in the current spec</a:t>
            </a:r>
          </a:p>
          <a:p/>
          <a:p>
            <a:r>
              <a:t>  The current specification allows full JSON Schema 2020-12 for tools, including composition and conditional rules.</a:t>
            </a:r>
          </a:p>
          <a:p/>
          <a:p>
            <a:r>
              <a:t>  Input schemas still have an object at the root.</a:t>
            </a:r>
          </a:p>
          <a:p/>
          <a:p>
            <a:r>
              <a:t>- The teaching point</a:t>
            </a:r>
          </a:p>
          <a:p/>
          <a:p>
            <a:r>
              <a:t>  Tool contracts are APIs for AI clients.</a:t>
            </a:r>
          </a:p>
          <a:p/>
          <a:p>
            <a:r>
              <a:t>  Design them as carefully as normal enterprise API contracts.</a:t>
            </a:r>
          </a:p>
          <a:p/>
          <a:p>
            <a:r>
              <a:t>- What the diagram shows</a:t>
            </a:r>
          </a:p>
          <a:p/>
          <a:p>
            <a:r>
              <a:t>  A tool's name, description, input schema, output schema, errors and security scope.</a:t>
            </a:r>
          </a:p>
          <a:p/>
          <a:p>
            <a:r>
              <a:t>- Key point</a:t>
            </a:r>
          </a:p>
          <a:p/>
          <a:p>
            <a:r>
              <a:t>  Tool contracts deserve the same care as API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Description</a:t>
            </a:r>
          </a:p>
          <a:p/>
          <a:p>
            <a:r>
              <a:t>  The model reads the description to choose tools, so it states preconditions and limits in plain words.</a:t>
            </a:r>
          </a:p>
          <a:p/>
          <a:p>
            <a:r>
              <a:t>- Schemas</a:t>
            </a:r>
          </a:p>
          <a:p/>
          <a:p>
            <a:r>
              <a:t>  The input schema rejects malformed IDs and oversized text.</a:t>
            </a:r>
          </a:p>
          <a:p/>
          <a:p>
            <a:r>
              <a:t>  The output schema says the result is a pending request.</a:t>
            </a:r>
          </a:p>
          <a:p/>
          <a:p>
            <a:r>
              <a:t>- Annotations</a:t>
            </a:r>
          </a:p>
          <a:p/>
          <a:p>
            <a:r>
              <a:t>  Hints such as idempotent or read-only help clients decide when to ask for confirmation, but they are not security controls.</a:t>
            </a:r>
          </a:p>
          <a:p/>
          <a:p>
            <a:r>
              <a:t>- Enforcement</a:t>
            </a:r>
          </a:p>
          <a:p/>
          <a:p>
            <a:r>
              <a:t>  Authorization, approval and business rules are still enforced by the server and the Payment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 tools</a:t>
            </a:r>
          </a:p>
          <a:p/>
          <a:p>
            <a:r>
              <a:t>  Order, payment and stock lookups are safe read tools with clear names.</a:t>
            </a:r>
          </a:p>
          <a:p/>
          <a:p>
            <a:r>
              <a:t>- Action tools</a:t>
            </a:r>
          </a:p>
          <a:p/>
          <a:p>
            <a:r>
              <a:t>  Cancelling and refunding change state.</a:t>
            </a:r>
          </a:p>
          <a:p/>
          <a:p>
            <a:r>
              <a:t>  The refund tool creates a request that needs approval.</a:t>
            </a:r>
          </a:p>
          <a:p/>
          <a:p>
            <a:r>
              <a:t>- Keep out</a:t>
            </a:r>
          </a:p>
          <a:p/>
          <a:p>
            <a:r>
              <a:t>  Bulk admin deletion and metrics are operational endpoints, not business capabilities for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An MCP server is a new entry point to business capabilities, so it needs the same production controls as any API.</a:t>
            </a:r>
          </a:p>
          <a:p/>
          <a:p>
            <a:r>
              <a:t>- What comes next</a:t>
            </a:r>
          </a:p>
          <a:p/>
          <a:p>
            <a:r>
              <a:t>  Scaling, gateways, OAuth-based security, layered defenses, the official security exercise, and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earlier model</a:t>
            </a:r>
          </a:p>
          <a:p/>
          <a:p>
            <a:r>
              <a:t>  Older MCP deployments needed more connection and session handling: a client, a sticky session, one specific server, and shared session state.</a:t>
            </a:r>
          </a:p>
          <a:p/>
          <a:p>
            <a:r>
              <a:t>- The current model</a:t>
            </a:r>
          </a:p>
          <a:p/>
          <a:p>
            <a:r>
              <a:t>  The 2026-07-28 specification moved the protocol core to stateless request and response.</a:t>
            </a:r>
          </a:p>
          <a:p/>
          <a:p>
            <a:r>
              <a:t>  The old protocol handshake and session model was removed.</a:t>
            </a:r>
          </a:p>
          <a:p/>
          <a:p>
            <a:r>
              <a:t>  Requests can reach any compatible server instance without sticky routing or a shared session store.</a:t>
            </a:r>
          </a:p>
          <a:p/>
          <a:p>
            <a:r>
              <a:t>- Link to Module 8</a:t>
            </a:r>
          </a:p>
          <a:p/>
          <a:p>
            <a:r>
              <a:t>  Package the MCP server as an image and run it as an OpenShift deployment with several replicas behind a service.</a:t>
            </a:r>
          </a:p>
          <a:p/>
          <a:p>
            <a:r>
              <a:t>  Benefits are horizontal scaling, easier load balancing, better failure recovery, cloud-native deployment and simpler gateways.</a:t>
            </a:r>
          </a:p>
          <a:p/>
          <a:p>
            <a:r>
              <a:t>- A very important distinction</a:t>
            </a:r>
          </a:p>
          <a:p/>
          <a:p>
            <a:r>
              <a:t>  Stateless MCP does not mean your business application has no state.</a:t>
            </a:r>
          </a:p>
          <a:p/>
          <a:p>
            <a:r>
              <a:t>  Order state still lives in the Order database, and workflow state can live in a suitable durable store.</a:t>
            </a:r>
          </a:p>
          <a:p/>
          <a:p>
            <a:r>
              <a:t>- What the diagram shows</a:t>
            </a:r>
          </a:p>
          <a:p/>
          <a:p>
            <a:r>
              <a:t>  A load balancer spreading requests across three MCP server replicas that share backend APIs, with no sticky sessions.</a:t>
            </a:r>
          </a:p>
          <a:p/>
          <a:p>
            <a:r>
              <a:t>- Key point</a:t>
            </a:r>
          </a:p>
          <a:p/>
          <a:p>
            <a:r>
              <a:t>  Stateless servers scale like any cloud-native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Same controls as other traffic</a:t>
            </a:r>
          </a:p>
          <a:p/>
          <a:p>
            <a:r>
              <a:t>  Production MCP traffic may need the same infrastructure controls as any enterprise traffic.</a:t>
            </a:r>
          </a:p>
          <a:p/>
          <a:p>
            <a:r>
              <a:t>  The flow is: AI host, MCP client, API gateway or web application firewall, MCP server, then the service APIs.</a:t>
            </a:r>
          </a:p>
          <a:p/>
          <a:p>
            <a:r>
              <a:t>- What the gateway enforces</a:t>
            </a:r>
          </a:p>
          <a:p/>
          <a:p>
            <a:r>
              <a:t>  Authentication checks who is calling, and routing picks which MCP server gets the request.</a:t>
            </a:r>
          </a:p>
          <a:p/>
          <a:p>
            <a:r>
              <a:t>  Rate limiting prevents runaway or abusive tool use.</a:t>
            </a:r>
          </a:p>
          <a:p/>
          <a:p>
            <a:r>
              <a:t>  Policy decides whether this client may use this capability.</a:t>
            </a:r>
          </a:p>
          <a:p/>
          <a:p>
            <a:r>
              <a:t>  Observability records requests and latency.</a:t>
            </a:r>
          </a:p>
          <a:p/>
          <a:p>
            <a:r>
              <a:t>- Routable headers</a:t>
            </a:r>
          </a:p>
          <a:p/>
          <a:p>
            <a:r>
              <a:t>  The current Streamable HTTP transport requires headers named Mcp-Method and Mcp-Name.</a:t>
            </a:r>
          </a:p>
          <a:p/>
          <a:p>
            <a:r>
              <a:t>  Gateways, load balancers and rate limiters can then see the requested operation without deeply parsing the JSON body.</a:t>
            </a:r>
          </a:p>
          <a:p/>
          <a:p>
            <a:r>
              <a:t>  That makes MCP fit better with normal enterprise HTTP infrastructure.</a:t>
            </a:r>
          </a:p>
          <a:p/>
          <a:p>
            <a:r>
              <a:t>- What the diagram shows</a:t>
            </a:r>
          </a:p>
          <a:p/>
          <a:p>
            <a:r>
              <a:t>  An AI host and MCP client going through a gateway to the MCP server and microservices, with authentication, routing, rate limiting and audit.</a:t>
            </a:r>
          </a:p>
          <a:p/>
          <a:p>
            <a:r>
              <a:t>- Key point</a:t>
            </a:r>
          </a:p>
          <a:p/>
          <a:p>
            <a:r>
              <a:t>  MCP traffic gets the same edge controls as any HTTP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questions</a:t>
            </a:r>
          </a:p>
          <a:p/>
          <a:p>
            <a:r>
              <a:t>  Authentication asks: who are you?</a:t>
            </a:r>
          </a:p>
          <a:p/>
          <a:p>
            <a:r>
              <a:t>  Authorization asks: what may you do?</a:t>
            </a:r>
          </a:p>
          <a:p/>
          <a:p>
            <a:r>
              <a:t>- The flow</a:t>
            </a:r>
          </a:p>
          <a:p/>
          <a:p>
            <a:r>
              <a:t>  The agent has an identity and gets an access token from an authorization server.</a:t>
            </a:r>
          </a:p>
          <a:p/>
          <a:p>
            <a:r>
              <a:t>  The MCP server checks tool permission before the backend service runs.</a:t>
            </a:r>
          </a:p>
          <a:p/>
          <a:p>
            <a:r>
              <a:t>- Least privilege</a:t>
            </a:r>
          </a:p>
          <a:p/>
          <a:p>
            <a:r>
              <a:t>  An order-support agent might be allowed getOrder, checkInventory and cancelOrder, but not refundPayment.</a:t>
            </a:r>
          </a:p>
          <a:p/>
          <a:p>
            <a:r>
              <a:t>  That is a normal least-privilege design.</a:t>
            </a:r>
          </a:p>
          <a:p/>
          <a:p>
            <a:r>
              <a:t>- The current spec</a:t>
            </a:r>
          </a:p>
          <a:p/>
          <a:p>
            <a:r>
              <a:t>  The current MCP specification hardened authorization to align more closely with OAuth and OpenID Connect deployments.</a:t>
            </a:r>
          </a:p>
          <a:p/>
          <a:p>
            <a:r>
              <a:t>  It includes issuer validation to reduce the risk of authorization-server mix-up.</a:t>
            </a:r>
          </a:p>
          <a:p/>
          <a:p>
            <a:r>
              <a:t>  The direction for client registration moves toward Client ID Metadata Documents instead of Dynamic Client Registration.</a:t>
            </a:r>
          </a:p>
          <a:p/>
          <a:p>
            <a:r>
              <a:t>- Never a super-user</a:t>
            </a:r>
          </a:p>
          <a:p/>
          <a:p>
            <a:r>
              <a:t>  Connecting an agent to MCP should never mean giving the model one giant super-user credential.</a:t>
            </a:r>
          </a:p>
          <a:p/>
          <a:p>
            <a:r>
              <a:t>- What the diagram shows</a:t>
            </a:r>
          </a:p>
          <a:p/>
          <a:p>
            <a:r>
              <a:t>  An agent identity getting a token from an authorization server, and the MCP server checking tool permissions.</a:t>
            </a:r>
          </a:p>
          <a:p/>
          <a:p>
            <a:r>
              <a:t>- Key point</a:t>
            </a:r>
          </a:p>
          <a:p/>
          <a:p>
            <a:r>
              <a:t>  Authenticate the caller, then authorize every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Resource server</a:t>
            </a:r>
          </a:p>
          <a:p/>
          <a:p>
            <a:r>
              <a:t>  The MCP endpoint requires a valid JWT.</a:t>
            </a:r>
          </a:p>
          <a:p/>
          <a:p>
            <a:r>
              <a:t>  Only the health endpoint stays public.</a:t>
            </a:r>
          </a:p>
          <a:p/>
          <a:p>
            <a:r>
              <a:t>- Per-tool authorization</a:t>
            </a:r>
          </a:p>
          <a:p/>
          <a:p>
            <a:r>
              <a:t>  @PreAuthorize requires the refunds.request scope before the tool runs, so a read-only user's agent can't request refunds.</a:t>
            </a:r>
          </a:p>
          <a:p/>
          <a:p>
            <a:r>
              <a:t>- Identity propagation</a:t>
            </a:r>
          </a:p>
          <a:p/>
          <a:p>
            <a:r>
              <a:t>  The caller's token is forwarded, so Payment Service checks the same identity.</a:t>
            </a:r>
          </a:p>
          <a:p/>
          <a:p>
            <a:r>
              <a:t>  The MCP server never uses a shared super-user token.</a:t>
            </a:r>
          </a:p>
          <a:p/>
          <a:p>
            <a:r>
              <a:t>- Audit</a:t>
            </a:r>
          </a:p>
          <a:p/>
          <a:p>
            <a:r>
              <a:t>  Tool name, IDs, caller, correlation ID and outcome are recorded — never the token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Layers one to three</a:t>
            </a:r>
          </a:p>
          <a:p/>
          <a:p>
            <a:r>
              <a:t>  Layer 1 is MCP identity: who is calling the MCP server?</a:t>
            </a:r>
          </a:p>
          <a:p/>
          <a:p>
            <a:r>
              <a:t>  Layer 2 is tool authorization: may this caller use refundPayment at all?</a:t>
            </a:r>
          </a:p>
          <a:p/>
          <a:p>
            <a:r>
              <a:t>  Layer 3 is input validation: is the orderId valid?</a:t>
            </a:r>
          </a:p>
          <a:p/>
          <a:p>
            <a:r>
              <a:t>- Layers four to six</a:t>
            </a:r>
          </a:p>
          <a:p/>
          <a:p>
            <a:r>
              <a:t>  Layer 4 is backend authorization: the Order Service still protects itself.</a:t>
            </a:r>
          </a:p>
          <a:p/>
          <a:p>
            <a:r>
              <a:t>  Layer 5 is business rules: even an authorized caller can't cancel a SHIPPED order if the domain forbids it.</a:t>
            </a:r>
          </a:p>
          <a:p/>
          <a:p>
            <a:r>
              <a:t>  Layer 6 is audit: record sensitive actions.</a:t>
            </a:r>
          </a:p>
          <a:p/>
          <a:p>
            <a:r>
              <a:t>- Principles</a:t>
            </a:r>
          </a:p>
          <a:p/>
          <a:p>
            <a:r>
              <a:t>  Use least privilege and a tool allow-list, and validate parameters.</a:t>
            </a:r>
          </a:p>
          <a:p/>
          <a:p>
            <a:r>
              <a:t>  Never expose secrets in tool responses, and rate-limit sensitive tools.</a:t>
            </a:r>
          </a:p>
          <a:p/>
          <a:p>
            <a:r>
              <a:t>  Separate read and write permissions, keep backend authorization, and audit high-risk calls.</a:t>
            </a:r>
          </a:p>
          <a:p/>
          <a:p>
            <a:r>
              <a:t>- The critical rule</a:t>
            </a:r>
          </a:p>
          <a:p/>
          <a:p>
            <a:r>
              <a:t>  MCP authentication does not grant permission to do everything downstream.</a:t>
            </a:r>
          </a:p>
          <a:p/>
          <a:p>
            <a:r>
              <a:t>  Defense in depth still applies.</a:t>
            </a:r>
          </a:p>
          <a:p/>
          <a:p>
            <a:r>
              <a:t>- What the diagram shows</a:t>
            </a:r>
          </a:p>
          <a:p/>
          <a:p>
            <a:r>
              <a:t>  MCP authentication, tool authorization, input validation, service authorization, business rules and audit as layers.</a:t>
            </a:r>
          </a:p>
          <a:p/>
          <a:p>
            <a:r>
              <a:t>- Key point</a:t>
            </a:r>
          </a:p>
          <a:p/>
          <a:p>
            <a:r>
              <a:t>  Every layer checks — including the microservice.</a:t>
            </a:r>
          </a:p>
          <a:p/>
          <a:p>
            <a:r>
              <a:t>- MCP-specific threats</a:t>
            </a:r>
          </a:p>
          <a:p/>
          <a:p>
            <a:r>
              <a:t>  Tool results can contain text that tries to steer the model, and a malicious server can publish misleading tool descriptions.</a:t>
            </a:r>
          </a:p>
          <a:p/>
          <a:p>
            <a:r>
              <a:t>  Use trusted servers, strict schemas and approval for risky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The worksheet is the starter mcp-controls.md in Lab 5, which is already filled in.</a:t>
            </a:r>
          </a:p>
          <a:p/>
          <a:p>
            <a:r>
              <a:t>- Controls</a:t>
            </a:r>
          </a:p>
          <a:p/>
          <a:p>
            <a:r>
              <a:t>  get_assessment needs risk.read and submit_review needs risk.write.</a:t>
            </a:r>
          </a:p>
          <a:p/>
          <a:p>
            <a:r>
              <a:t>  The model never posts a review by itself.</a:t>
            </a:r>
          </a:p>
          <a:p/>
          <a:p>
            <a:r>
              <a:t>- Scope</a:t>
            </a:r>
          </a:p>
          <a:p/>
          <a:p>
            <a:r>
              <a:t>  This is awareness only.</a:t>
            </a:r>
          </a:p>
          <a:p/>
          <a:p>
            <a:r>
              <a:t>  Learners discuss the controls; they don't run an MCP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Another distributed request path</a:t>
            </a:r>
          </a:p>
          <a:p/>
          <a:p>
            <a:r>
              <a:t>  An MCP tool call is another request path through a distributed system.</a:t>
            </a:r>
          </a:p>
          <a:p/>
          <a:p>
            <a:r>
              <a:t>  It goes from the AI agent to the MCP client, gateway, MCP server, Spring Boot service, and database or dependency.</a:t>
            </a:r>
          </a:p>
          <a:p/>
          <a:p>
            <a:r>
              <a:t>  So Module 6 still applies.</a:t>
            </a:r>
          </a:p>
          <a:p/>
          <a:p>
            <a:r>
              <a:t>- Timeouts and retries</a:t>
            </a:r>
          </a:p>
          <a:p/>
          <a:p>
            <a:r>
              <a:t>  What if the Payment Service doesn't respond?</a:t>
            </a:r>
          </a:p>
          <a:p/>
          <a:p>
            <a:r>
              <a:t>  Set timeouts.</a:t>
            </a:r>
          </a:p>
          <a:p/>
          <a:p>
            <a:r>
              <a:t>  Retrying getOrder is usually fine.</a:t>
            </a:r>
          </a:p>
          <a:p/>
          <a:p>
            <a:r>
              <a:t>  Don't blindly retry refundPayment unless it has idempotency protection, meaning a repeat does no extra harm.</a:t>
            </a:r>
          </a:p>
          <a:p/>
          <a:p>
            <a:r>
              <a:t>- Circuit breakers and tracing</a:t>
            </a:r>
          </a:p>
          <a:p/>
          <a:p>
            <a:r>
              <a:t>  Circuit breakers protect MCP servers from failing dependencies.</a:t>
            </a:r>
          </a:p>
          <a:p/>
          <a:p>
            <a:r>
              <a:t>  The current MCP documentation standardizes passing W3C Trace Context.</a:t>
            </a:r>
          </a:p>
          <a:p/>
          <a:p>
            <a:r>
              <a:t>  That way one trace connects the client, MCP server, gateways and downstream systems.</a:t>
            </a:r>
          </a:p>
          <a:p/>
          <a:p>
            <a:r>
              <a:t>- What to track</a:t>
            </a:r>
          </a:p>
          <a:p/>
          <a:p>
            <a:r>
              <a:t>  Track the trace ID, tool name, caller, latency, status, retries, errors, backend call and final outcome.</a:t>
            </a:r>
          </a:p>
          <a:p/>
          <a:p>
            <a:r>
              <a:t>- The key question</a:t>
            </a:r>
          </a:p>
          <a:p/>
          <a:p>
            <a:r>
              <a:t>  A good trace answers: did the agent choose the wrong tool, did MCP fail, or did the backend service fail?</a:t>
            </a:r>
          </a:p>
          <a:p/>
          <a:p>
            <a:r>
              <a:t>- What the diagram shows</a:t>
            </a:r>
          </a:p>
          <a:p/>
          <a:p>
            <a:r>
              <a:t>  An agent, MCP client, gateway, MCP server, Spring Boot service and dependency linked by trace IDs and metrics.</a:t>
            </a:r>
          </a:p>
          <a:p/>
          <a:p>
            <a:r>
              <a:t>- Key point</a:t>
            </a:r>
          </a:p>
          <a:p/>
          <a:p>
            <a:r>
              <a:t>  A tool call is a distributed request — trace every 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This brings Modules 10 and 11 together: agents reasoning, MCP connecting, services deciding.</a:t>
            </a:r>
          </a:p>
          <a:p/>
          <a:p>
            <a:r>
              <a:t>- What comes next</a:t>
            </a:r>
          </a:p>
          <a:p/>
          <a:p>
            <a:r>
              <a:t>  The central architecture, a multi-step cancellation, long-running tasks, a design review, and the full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central architecture</a:t>
            </a:r>
          </a:p>
          <a:p/>
          <a:p>
            <a:r>
              <a:t>  This is the central architecture of the module.</a:t>
            </a:r>
          </a:p>
          <a:p/>
          <a:p>
            <a:r>
              <a:t>  The user talks to the AI agent, and the agent uses the MCP client to reach the MCP server.</a:t>
            </a:r>
          </a:p>
          <a:p/>
          <a:p>
            <a:r>
              <a:t>  Order, Payment and Inventory tools call their APIs and services, and each service has its own database.</a:t>
            </a:r>
          </a:p>
          <a:p/>
          <a:p>
            <a:r>
              <a:t>- What the agent sees</a:t>
            </a:r>
          </a:p>
          <a:p/>
          <a:p>
            <a:r>
              <a:t>  The agent sees tools like getOrder, cancelOrder, getPayment, refundPayment and checkInventory.</a:t>
            </a:r>
          </a:p>
          <a:p/>
          <a:p>
            <a:r>
              <a:t>  It doesn't need to know controller classes, repository code, database tables or the internal network.</a:t>
            </a:r>
          </a:p>
          <a:p/>
          <a:p>
            <a:r>
              <a:t>- Three responsibilities</a:t>
            </a:r>
          </a:p>
          <a:p/>
          <a:p>
            <a:r>
              <a:t>  The agent decides which capability it needs.</a:t>
            </a:r>
          </a:p>
          <a:p/>
          <a:p>
            <a:r>
              <a:t>  MCP provides standard access.</a:t>
            </a:r>
          </a:p>
          <a:p/>
          <a:p>
            <a:r>
              <a:t>  The microservice validates and executes the business behavior.</a:t>
            </a:r>
          </a:p>
          <a:p/>
          <a:p>
            <a:r>
              <a:t>  That separation is the foundation of the module.</a:t>
            </a:r>
          </a:p>
          <a:p/>
          <a:p>
            <a:r>
              <a:t>- What the diagram shows</a:t>
            </a:r>
          </a:p>
          <a:p/>
          <a:p>
            <a:r>
              <a:t>  A user and agent using the MCP client and server to reach Order, Payment and Inventory tools, backed by Spring Boot services and databases.</a:t>
            </a:r>
          </a:p>
          <a:p/>
          <a:p>
            <a:r>
              <a:t>- Key point</a:t>
            </a:r>
          </a:p>
          <a:p/>
          <a:p>
            <a:r>
              <a:t>  Agents use one standard capability layer instead of custom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Combining Modules 10 and 11</a:t>
            </a:r>
          </a:p>
          <a:p/>
          <a:p>
            <a:r>
              <a:t>  The user says: cancel order 1001 and refund the payment if it was captured.</a:t>
            </a:r>
          </a:p>
          <a:p/>
          <a:p>
            <a:r>
              <a:t>  The agent works through the MCP client and server.</a:t>
            </a:r>
          </a:p>
          <a:p/>
          <a:p>
            <a:r>
              <a:t>- The decision path</a:t>
            </a:r>
          </a:p>
          <a:p/>
          <a:p>
            <a:r>
              <a:t>  It calls getOrder(1001).</a:t>
            </a:r>
          </a:p>
          <a:p/>
          <a:p>
            <a:r>
              <a:t>  If cancellation isn't allowed, it explains why.</a:t>
            </a:r>
          </a:p>
          <a:p/>
          <a:p>
            <a:r>
              <a:t>  If it is, it calls cancelOrder, then getPayment.</a:t>
            </a:r>
          </a:p>
          <a:p/>
          <a:p>
            <a:r>
              <a:t>  If the payment wasn't captured, it finishes.</a:t>
            </a:r>
          </a:p>
          <a:p/>
          <a:p>
            <a:r>
              <a:t>  If it was, it calls refundPayment, verifies the result and responds.</a:t>
            </a:r>
          </a:p>
          <a:p/>
          <a:p>
            <a:r>
              <a:t>- Who owns what</a:t>
            </a:r>
          </a:p>
          <a:p/>
          <a:p>
            <a:r>
              <a:t>  The agent owns reasoning, sequencing and decisions.</a:t>
            </a:r>
          </a:p>
          <a:p/>
          <a:p>
            <a:r>
              <a:t>  MCP owns capability discovery, tool contracts and the call protocol.</a:t>
            </a:r>
          </a:p>
          <a:p/>
          <a:p>
            <a:r>
              <a:t>  The microservices own business rules, transactions, data and authorization.</a:t>
            </a:r>
          </a:p>
          <a:p/>
          <a:p>
            <a:r>
              <a:t>- A memorable summary</a:t>
            </a:r>
          </a:p>
          <a:p/>
          <a:p>
            <a:r>
              <a:t>  Agent: why, and what next?</a:t>
            </a:r>
          </a:p>
          <a:p/>
          <a:p>
            <a:r>
              <a:t>  MCP: how do I access the capability?</a:t>
            </a:r>
          </a:p>
          <a:p/>
          <a:p>
            <a:r>
              <a:t>  Microservice: can this business operation happen?</a:t>
            </a:r>
          </a:p>
          <a:p/>
          <a:p>
            <a:r>
              <a:t>- What the diagram shows</a:t>
            </a:r>
          </a:p>
          <a:p/>
          <a:p>
            <a:r>
              <a:t>  An agent calling getOrder, cancelOrder, getPayment and, only if needed, refundPayment.</a:t>
            </a:r>
          </a:p>
          <a:p/>
          <a:p>
            <a:r>
              <a:t>- Key point</a:t>
            </a:r>
          </a:p>
          <a:p/>
          <a:p>
            <a:r>
              <a:t>  The agent orchestrates; each service keeps business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every call is quick</a:t>
            </a:r>
          </a:p>
          <a:p/>
          <a:p>
            <a:r>
              <a:t>  Some tool calls can't finish quickly.</a:t>
            </a:r>
          </a:p>
          <a:p/>
          <a:p>
            <a:r>
              <a:t>  Examples are generating a compliance report, running a vulnerability scan, provisioning an environment, batch reconciliation or analyzing thousands of logs.</a:t>
            </a:r>
          </a:p>
          <a:p/>
          <a:p>
            <a:r>
              <a:t>  A normal synchronous request could exceed the HTTP, gateway or agent timeout.</a:t>
            </a:r>
          </a:p>
          <a:p/>
          <a:p>
            <a:r>
              <a:t>- The Tasks extension</a:t>
            </a:r>
          </a:p>
          <a:p/>
          <a:p>
            <a:r>
              <a:t>  The current MCP Tasks extension lets a server turn a tools/call into an asynchronous task.</a:t>
            </a:r>
          </a:p>
          <a:p/>
          <a:p>
            <a:r>
              <a:t>  The client then works with it using tasks/get, tasks/update and tasks/cancel.</a:t>
            </a:r>
          </a:p>
          <a:p/>
          <a:p>
            <a:r>
              <a:t>  The server decides when a call becomes a task; the client doesn't force it for every call.</a:t>
            </a:r>
          </a:p>
          <a:p/>
          <a:p>
            <a:r>
              <a:t>- An example</a:t>
            </a:r>
          </a:p>
          <a:p/>
          <a:p>
            <a:r>
              <a:t>  runSecurityScan returns task ID T123.</a:t>
            </a:r>
          </a:p>
          <a:p/>
          <a:p>
            <a:r>
              <a:t>  The task shows RUNNING, then RUNNING, then COMPLETED, and then the scan result is available.</a:t>
            </a:r>
          </a:p>
          <a:p/>
          <a:p>
            <a:r>
              <a:t>- Security still matters</a:t>
            </a:r>
          </a:p>
          <a:p/>
          <a:p>
            <a:r>
              <a:t>  Task IDs must be hard to guess.</a:t>
            </a:r>
          </a:p>
          <a:p/>
          <a:p>
            <a:r>
              <a:t>  Authorization must be checked on every task-related request.</a:t>
            </a:r>
          </a:p>
          <a:p/>
          <a:p>
            <a:r>
              <a:t>- What the diagram shows</a:t>
            </a:r>
          </a:p>
          <a:p/>
          <a:p>
            <a:r>
              <a:t>  A tool call creating a task with an ID, then polling, updates or cancellation until completion and the result.</a:t>
            </a:r>
          </a:p>
          <a:p/>
          <a:p>
            <a:r>
              <a:t>- Key point</a:t>
            </a:r>
          </a:p>
          <a:p/>
          <a:p>
            <a:r>
              <a:t>  Long operations become trackable, cancellable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Contract</a:t>
            </a:r>
          </a:p>
          <a:p/>
          <a:p>
            <a:r>
              <a:t>  A vague name and description give the model no idea when to use it, and a free-form operation string accepts anything.</a:t>
            </a:r>
          </a:p>
          <a:p/>
          <a:p>
            <a:r>
              <a:t>- Security</a:t>
            </a:r>
          </a:p>
          <a:p/>
          <a:p>
            <a:r>
              <a:t>  Raw SQL bypasses Payment Service's rules and ownership, and a shared admin account ignores who is actually asking.</a:t>
            </a:r>
          </a:p>
          <a:p/>
          <a:p>
            <a:r>
              <a:t>- Redesign</a:t>
            </a:r>
          </a:p>
          <a:p/>
          <a:p>
            <a:r>
              <a:t>  Split it into a read tool and a request_refund tool that uses the caller's identity, a strict schema and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Support and payments</a:t>
            </a:r>
          </a:p>
          <a:p/>
          <a:p>
            <a:r>
              <a:t>  For order support, a user asks why order 1001 hasn't shipped, and the agent uses getOrder and getShipment through a Commerce MCP server.</a:t>
            </a:r>
          </a:p>
          <a:p/>
          <a:p>
            <a:r>
              <a:t>  For payment operations, the agent can read payment state and, with enough permission, start controlled actions.</a:t>
            </a:r>
          </a:p>
          <a:p/>
          <a:p>
            <a:r>
              <a:t>- Inventory and incidents</a:t>
            </a:r>
          </a:p>
          <a:p/>
          <a:p>
            <a:r>
              <a:t>  For inventory, 'is SKU A100 available?' maps naturally to checkInventory.</a:t>
            </a:r>
          </a:p>
          <a:p/>
          <a:p>
            <a:r>
              <a:t>  For incident investigation, expose carefully designed read-oriented tools like getDeploymentStatus, searchServiceLogs and getServiceMetrics.</a:t>
            </a:r>
          </a:p>
          <a:p/>
          <a:p>
            <a:r>
              <a:t>  Be much more careful with destructive operations.</a:t>
            </a:r>
          </a:p>
          <a:p/>
          <a:p>
            <a:r>
              <a:t>- Developer operations</a:t>
            </a:r>
          </a:p>
          <a:p/>
          <a:p>
            <a:r>
              <a:t>  Through a platform MCP server, an agent can inspect the CI pipeline, container image, OpenShift deployment and pod health.</a:t>
            </a:r>
          </a:p>
          <a:p/>
          <a:p>
            <a:r>
              <a:t>- Cross-service orchestration</a:t>
            </a:r>
          </a:p>
          <a:p/>
          <a:p>
            <a:r>
              <a:t>  The agent combines several MCP tools to meet one business goal.</a:t>
            </a:r>
          </a:p>
          <a:p/>
          <a:p>
            <a:r>
              <a:t>  MCP is most valuable when many AI clients need consistent access to controlled capabilities.</a:t>
            </a:r>
          </a:p>
          <a:p/>
          <a:p>
            <a:r>
              <a:t>- What the diagram shows</a:t>
            </a:r>
          </a:p>
          <a:p/>
          <a:p>
            <a:r>
              <a:t>  Six panels: order support, payments, inventory, incident investigation, DevOps and enterprise orchestration.</a:t>
            </a:r>
          </a:p>
          <a:p/>
          <a:p>
            <a:r>
              <a:t>- Key point</a:t>
            </a:r>
          </a:p>
          <a:p/>
          <a:p>
            <a:r>
              <a:t>  MCP pays off when many AI clients need consistent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Intent to discovery</a:t>
            </a:r>
          </a:p>
          <a:p/>
          <a:p>
            <a:r>
              <a:t>  The user gives business intent: cancel order 1001 and refund if appropriate.</a:t>
            </a:r>
          </a:p>
          <a:p/>
          <a:p>
            <a:r>
              <a:t>  The agent works out what it needs, and the MCP client discovers capabilities like getOrder, cancelOrder, getPayment and refundPayment.</a:t>
            </a:r>
          </a:p>
          <a:p/>
          <a:p>
            <a:r>
              <a:t>- Gateway and server</a:t>
            </a:r>
          </a:p>
          <a:p/>
          <a:p>
            <a:r>
              <a:t>  The gateway protects MCP traffic with authentication, authorization, routing, rate limits, policy and tracing.</a:t>
            </a:r>
          </a:p>
          <a:p/>
          <a:p>
            <a:r>
              <a:t>  The MCP server exposes only intentional capabilities, not every internal API.</a:t>
            </a:r>
          </a:p>
          <a:p/>
          <a:p>
            <a:r>
              <a:t>- Tool to Spring Boot</a:t>
            </a:r>
          </a:p>
          <a:p/>
          <a:p>
            <a:r>
              <a:t>  The agent selects getOrder(1001), and the MCP server calls GET /orders/1001.</a:t>
            </a:r>
          </a:p>
          <a:p/>
          <a:p>
            <a:r>
              <a:t>  Spring Boot enforces the domain through the controller, service, business rules and repository.</a:t>
            </a:r>
          </a:p>
          <a:p/>
          <a:p>
            <a:r>
              <a:t>  Each service's own database stays authoritative.</a:t>
            </a:r>
          </a:p>
          <a:p/>
          <a:p>
            <a:r>
              <a:t>- Orchestration, events, platform</a:t>
            </a:r>
          </a:p>
          <a:p/>
          <a:p>
            <a:r>
              <a:t>  The agent may call more tools, such as cancelOrder, getPayment and refundPayment.</a:t>
            </a:r>
          </a:p>
          <a:p/>
          <a:p>
            <a:r>
              <a:t>  Services still publish events like OrderCancelled and PaymentRefunded; MCP doesn't replace event-driven architecture.</a:t>
            </a:r>
          </a:p>
          <a:p/>
          <a:p>
            <a:r>
              <a:t>  With the stateless protocol, MCP servers scale as normal replicated pods on OpenShift.</a:t>
            </a:r>
          </a:p>
          <a:p/>
          <a:p>
            <a:r>
              <a:t>- Final message</a:t>
            </a:r>
          </a:p>
          <a:p/>
          <a:p>
            <a:r>
              <a:t>  The whole path from user to agent, tool, API and database should be traceable.</a:t>
            </a:r>
          </a:p>
          <a:p/>
          <a:p>
            <a:r>
              <a:t>  MCP should not replace a well-designed microservices architecture.</a:t>
            </a:r>
          </a:p>
          <a:p/>
          <a:p>
            <a:r>
              <a:t>  It adds a standard, intentional, secure AI-facing capability layer: the agent reasons, MCP connects, and the microservice stays the business authority.</a:t>
            </a:r>
          </a:p>
          <a:p/>
          <a:p>
            <a:r>
              <a:t>- What the diagram shows</a:t>
            </a:r>
          </a:p>
          <a:p/>
          <a:p>
            <a:r>
              <a:t>  A user goal and agent, the MCP client, gateway and server, tools and resources, Spring Boot services with databases and a broker on OpenShift, with security, audit and observability.</a:t>
            </a:r>
          </a:p>
          <a:p/>
          <a:p>
            <a:r>
              <a:t>- Key point</a:t>
            </a:r>
          </a:p>
          <a:p/>
          <a:p>
            <a:r>
              <a:t>  The agent reasons, MCP connects, the microservice stays 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risky MCP designs.</a:t>
            </a:r>
          </a:p>
          <a:p/>
          <a:p>
            <a:r>
              <a:t>- Scope</a:t>
            </a:r>
          </a:p>
          <a:p/>
          <a:p>
            <a:r>
              <a:t>  MCP doesn't replace REST or provide security by itself, and not every endpoint belongs in a tool list.</a:t>
            </a:r>
          </a:p>
          <a:p/>
          <a:p>
            <a:r>
              <a:t>- Enforcement</a:t>
            </a:r>
          </a:p>
          <a:p/>
          <a:p>
            <a:r>
              <a:t>  Tool annotations are hints for clients.</a:t>
            </a:r>
          </a:p>
          <a:p/>
          <a:p>
            <a:r>
              <a:t>  Authorization and business rules are enforced by servers and services.</a:t>
            </a:r>
          </a:p>
          <a:p/>
          <a:p>
            <a:r>
              <a:t>- Anti-patterns</a:t>
            </a:r>
          </a:p>
          <a:p/>
          <a:p>
            <a:r>
              <a:t>  Database shortcuts, shared super-user tokens, vague or free-form tools, untrusted servers and missing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MCP</a:t>
            </a:r>
          </a:p>
          <a:p/>
          <a:p>
            <a:r>
              <a:t>  It connects AI clients to tools, resources and context through a structured protocol.</a:t>
            </a:r>
          </a:p>
          <a:p/>
          <a:p>
            <a:r>
              <a:t>- 2. Client</a:t>
            </a:r>
          </a:p>
          <a:p/>
          <a:p>
            <a:r>
              <a:t>  It discovers and invokes tools from MCP servers.</a:t>
            </a:r>
          </a:p>
          <a:p/>
          <a:p>
            <a:r>
              <a:t>- 3. Server</a:t>
            </a:r>
          </a:p>
          <a:p/>
          <a:p>
            <a:r>
              <a:t>  It exposes tools and resources and implements calls to backend systems.</a:t>
            </a:r>
          </a:p>
          <a:p/>
          <a:p>
            <a:r>
              <a:t>- 4. Tool</a:t>
            </a:r>
          </a:p>
          <a:p/>
          <a:p>
            <a:r>
              <a:t>  A callable operation with structured inputs and outputs.</a:t>
            </a:r>
          </a:p>
          <a:p/>
          <a:p>
            <a:r>
              <a:t>- 5. Narrow tools</a:t>
            </a:r>
          </a:p>
          <a:p/>
          <a:p>
            <a:r>
              <a:t>  They reduce risk, improve clarity and enforce least privilege.</a:t>
            </a:r>
          </a:p>
          <a:p/>
          <a:p>
            <a:r>
              <a:t>- 6. APIs, not databases</a:t>
            </a:r>
          </a:p>
          <a:p/>
          <a:p>
            <a:r>
              <a:t>  APIs preserve ownership, validation, logging and security boundaries.</a:t>
            </a:r>
          </a:p>
          <a:p/>
          <a:p>
            <a:r>
              <a:t>- 7. Read vs. action</a:t>
            </a:r>
          </a:p>
          <a:p/>
          <a:p>
            <a:r>
              <a:t>  Read tools retrieve information; action tools change state and need stronger controls.</a:t>
            </a:r>
          </a:p>
          <a:p/>
          <a:p>
            <a:r>
              <a:t>- 8. Correlation IDs</a:t>
            </a:r>
          </a:p>
          <a:p/>
          <a:p>
            <a:r>
              <a:t>  They connect AI, MCP and backend service logs.</a:t>
            </a:r>
          </a:p>
          <a:p/>
          <a:p>
            <a:r>
              <a:t>- 9. Timeouts</a:t>
            </a:r>
          </a:p>
          <a:p/>
          <a:p>
            <a:r>
              <a:t>  Return a safe structured error — never invent the missing data.</a:t>
            </a:r>
          </a:p>
          <a:p/>
          <a:p>
            <a:r>
              <a:t>- 10. Approval</a:t>
            </a:r>
          </a:p>
          <a:p/>
          <a:p>
            <a:r>
              <a:t>  Sensitive actions affect customers, money, compliance or official records.</a:t>
            </a:r>
          </a:p>
          <a:p/>
          <a:p>
            <a:r>
              <a:t>- Practical scenario</a:t>
            </a:r>
          </a:p>
          <a:p/>
          <a:p>
            <a:r>
              <a:t>  Investigating a failed payment: read tools for payment and transaction, masked data, approval for any refund, and tool calls logged with correlation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explained MCP, designed tools and servers for our microservices, secured and scaled them, and orchestrated services through them.</a:t>
            </a:r>
          </a:p>
          <a:p/>
          <a:p>
            <a:r>
              <a:t>- Next module</a:t>
            </a:r>
          </a:p>
          <a:p/>
          <a:p>
            <a:r>
              <a:t>  Module 12 goes deep on security and compliance: OAuth2, OIDC, JWT validation, secrets and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"The agent reasons, MCP connects, the microservice stays the authority."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Model Context Protocol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(MCP) and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Standardized AI access to enterprise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MCP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Clients and servers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Tools, resources,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Calling Spring Boot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Designing MCP-enabled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Agent-to-backend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Security and 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Enterprise MCP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MCP architecture, servers, clients, tools, microservices, security and design patterns.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52728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493776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why MCP exists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Describe MCP host / client / server roles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Differentiate tools, resources and prompts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Map REST APIs to MCP tools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useful MCP tool contracts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Connect MCP to Spring Boot microservices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scalable MCP servers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Apply authentication and authorization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Integrate agents with multiple services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Handle long-running operations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Monitor MCP interactions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Identify practical enterprise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18888"/>
            <a:ext cx="4937760" cy="82296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18888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The agent reasons, MCP connects, the microservice stays the authority.</a:t>
            </a:r>
          </a:p>
        </p:txBody>
      </p:sp>
      <p:sp>
        <p:nvSpPr>
          <p:cNvPr id="10" name="Oval 9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243584"/>
            <a:ext cx="5605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FIVE SECTIONS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67335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24728" y="185623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7099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MCP fundamentals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02082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Host → Client →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478024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4728" y="2660904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1460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3A9E"/>
                </a:solidFill>
                <a:latin typeface="Nirmala UI"/>
              </a:rPr>
              <a:t>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82549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 · Resources · Prompts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282696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4728" y="346557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319272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Microservices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63016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MCP → REST API → Spring Boot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4087368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24728" y="4270248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12394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690C"/>
                </a:solidFill>
                <a:latin typeface="Nirmala UI"/>
              </a:rPr>
              <a:t>Production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443484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Gateway · Security · Scaling · 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892040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24728" y="5074920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92861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Agentic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5239512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Agent → MCP → multiple microservices → business outcome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gives agents a standard, secure way to reach microservice capabilities.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open standard for connecting AI applications to tools and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MCP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AI application the user works in, such as an IDE or an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MCP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connector inside the host that talks to one MCP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program that exposes tools, resources and prompts over MCP.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action the model can invoke, such as get_order or request_refund.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Read-only context the server exposes, such as a refund policy document.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Prompt 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reusable interaction the server offers, chosen by the user.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JSON-RPC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simple request-and-response message format MCP uses on the wire.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Integrated Development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Web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Model Context Protocol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 Authorization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OIDC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OpenID 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Primary Account Number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Remote Procedure 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Transport Layer Security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Identifier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WAF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24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Web Application Firewall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10 TO MODULE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Agents need tools — MCP gives them one standard, governed way to reach 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10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Agents that plan and call tools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Narrow, typed tool definitions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Bounded loops and stop conditions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Safe tool endpoints in Spring Boot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Policy, approval and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Standardize how agents discover and call microservice capabilities.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11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MCP is and how a request 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Tools, resources, prompts, discovery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Wrap Spring Boot APIs as MCP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good tool contracts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Scale, gateway and security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4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Reliability and tracing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4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Orchestrate services through MCP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10 designed agents; Module 11 connects them to microservices through one standard protocol.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MCP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Why a protocol — and which roles it defines.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MCP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Capabilities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Microservices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Agents call tools to reach services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Tools must be narrow and typed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keep business authority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Why do agents need a standard protocol to reach tools and context?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MCP is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it matters for agentic AI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Host, client and server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How a request flows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protocol messages — in 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IS MODEL CONTEXT PROTOCOL?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Why MCP exists and what problem it solves.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22639"/>
            <a:ext cx="7415783" cy="28870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5791"/>
            <a:ext cx="7269480" cy="27407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 open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How AI applications discover and use tools, resources and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Not a replacement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Your REST APIs, security and business logic stay where they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ANALOGY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Like a common plug shape for AI integrations.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is a standard protocol connecting AI applications to capabilities and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MCP MATTERS FOR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Standardized tool and context access instead of custom integrations per agent.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47377"/>
            <a:ext cx="7415783" cy="38375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0529"/>
            <a:ext cx="7269480" cy="36912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Without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 agents × M systems = N × M custom connectors to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With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system exposes one MCP server; any client can use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MOST USEFUL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when many AI clients need the same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replaces one-off connectors with one standard way to find and call capabilities.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ARCHITECTURE: HOST, CLIENT, AND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core architectural 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625305"/>
            <a:ext cx="11210544" cy="24491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98457"/>
            <a:ext cx="11064240" cy="23028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AI application — Copilot, an IDE or your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Inside the host; one connection per MCP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Exposes capabilities and calls the real backend.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IMPORTANT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server holds no business data of its 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Host holds the AI experience, the client speaks MCP, the server exposes capabilities.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AN MCP REQUEST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AI host → MCP client → MCP server → backend capability →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477802"/>
            <a:ext cx="7415783" cy="217671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954"/>
            <a:ext cx="7269480" cy="2030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STEP BY STEP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Agent decides to call get_order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Client sends tools/call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Server calls GET /api/v1/orders/{id}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validates, reads, returns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Result goes back to the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SEPARATION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Reasoning, protocol and business logic stay apart.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tool call flows agent → MCP → REST → Spring Boot, and the result returns to the agent.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GOES OVER THE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MCP messages are JSON-RPC: discover the tools, then call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tools/list —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"jsonrpc": "2.0", "id": 1,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"result":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"tools": [{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"name": "get_order",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"description": "Status and items of one order. Read-only.",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"inputSchema":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"type": "object",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"properties": { "orderId": { "type": "string" }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"required": ["orderId"]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"annotations": { "readOnlyHint": true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}]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tools/call — request and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 "jsonrpc": "2.0", "id": 7,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"method": "tools/call",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"params": { "name": "get_order",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"arguments": { "orderId": "ORD-1045" } }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 "jsonrpc": "2.0", "id": 7,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"result":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"structuredContent":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"orderId": "ORD-1045", "status": "SHIPPED"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"content": [{ "type": "text",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   "text": "Order ORD-1045 is SHIPPED" }],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"isError": false }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tools/list returns names, descriptions and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tools/call sends the tool name and validated arguments.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data for code, text for the model — or isError.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is plain JSON-RPC: list capabilities, call a tool, get structured results.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MCP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a server can offer — and how clients find it.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MCP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Capabilities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Microservices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MCP standardizes AI-to-capability access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Host, client and server have distinct roles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Messages are JSON-RPC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can an MCP server expose — and how do clients learn about it?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Tools, resources and prompts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Tools vs. resources for microservices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Enterprise context through resources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Discovery and capability listing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tool, resource or prompt?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CAPABILITIES: TOOLS, RESOURCES, AND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Different ways servers expose functionality and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6932"/>
            <a:ext cx="7415783" cy="42384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084"/>
            <a:ext cx="7269480" cy="4092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Model-invoked actions: get_order, request_refund.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Read-only context by URI: policies, runbooks,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User-chosen templates: “Investigate a failed payment.”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MENTAL MODEL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Tools do, resources inform, prompts 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Tools do, resources inform, prompts structure — servers can expose all three.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TOOLS VS. RESOURCES IN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Actions versus read-oriented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755" y="1316736"/>
            <a:ext cx="7299249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07" y="1389888"/>
            <a:ext cx="7152945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policy://refunds — what the refund rules say.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request_refund — actually starts a refund, under authorization.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Knowing a policy never grants the right to act on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Resources provide context; tools provide capability.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RESOURCES FOR ENTERPRISE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Exposing read-only business and reference information safely.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76230"/>
            <a:ext cx="7415783" cy="27798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9382"/>
            <a:ext cx="7269480" cy="2633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resource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061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 "uri": "policy://payments/refunds/v3",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"name": "Refund policy",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"mimeType": "text/markdown"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25618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GOOD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9093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9093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Runbooks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34822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API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334822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Error catalogs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84200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84200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FOR LIVE STATE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Order status comes from a tool.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Resources give reference context; live business state still comes from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DISCOVERY AND CAPABILITY LISTING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clients discover available server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04443"/>
            <a:ext cx="7415783" cy="3323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7595"/>
            <a:ext cx="7269480" cy="3177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Client and server agree on protocol version and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tools/list, resources/list and prompts/list return the catalog.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Servers can notify clients when the list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CACHE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Reuse the catalog while it's unchanged.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Clients discover what a server offers — and cache it while it's unchanged.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TOOL, RESOURCE OR PROMPT?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Classify each capability for an order-support MCP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8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363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team wants to expose: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Current status of an order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The refund policy document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“Investigate a failed payment” steps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Start a refund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The error-code catalog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Reserve stock for an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363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each: tool, resource or prompt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which tools change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which need human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0363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Tools: 1, 4, 6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Resources: 2, 5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Prompt: 3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6576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State-changing: 4 and 6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1330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782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Approval: 4 always; 6 by policy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Live data and actions are tools, reference content is a resource, reusable workflows are prompts.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MCP AND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Put an MCP layer in front of the services we already built.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MCP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Capabilities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Microservices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Tools act; resources inform; prompts structure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Clients discover capabilities at runtime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Actions are separated from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expose our Spring Boot microservices to agents through MCP?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MCP and REST together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Calling Spring Boot through MCP — with Spring AI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Server design across services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Mapping APIs to tools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Tool contracts — with a schema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Exercises: MCP or REST? Map APIs to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AND TRADITIONAL REST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MCP isn't a replacement for REST — it can wrap or orchestrate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340158"/>
            <a:ext cx="7415783" cy="24520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13310"/>
            <a:ext cx="7269480" cy="23056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REST keeps serving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Web apps, mobile apps and other services call the APIs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MCP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AI-friendly layer: descriptions, schemas, discovery.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MESSAGE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MCP complements 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complements REST. It does not automatically replace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MCP OR REST?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which clients should use MCP — and which should stay on REST.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8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Consumers of the order platform: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 Mobile app showing order history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 Support copilot answering questions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 Payment Service calling Order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 IDE agent helping ops engineers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 Nightly reconciliation 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MCP or REST for each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the reason in a few words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stays the same either 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A, C, E: REST — fixed, known calls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B, D: MCP — AI clients discovering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Both reach the same Order API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Same authorization and validation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database shortcuts for either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MCP for AI clients that discover capabilities; keep REST for fixed, programmatic integrations.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CALLING A SPRING BOOT MICROSERVICE THROUGH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 → MCP tool → REST endpoint → Spring Boot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357302"/>
            <a:ext cx="11210544" cy="29851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30454"/>
            <a:ext cx="11064240" cy="28388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the agent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get_order(orderId) — not URLs, headers or JSON mapping.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server's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Map the tool to the API, pass identity, shape the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675632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80" y="4675632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ARCHITECTURE 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Call the service API — never its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should call the service API — not bypass the service to reach its database.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 MCP SERVER WITH SPRING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Annotated methods become MCP tools that call the existing Order API.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OrderTools.java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class OrderTools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private final RestClient orderApi;   // http://order-service:8080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OrderTools(RestClient.Builder builder)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this.orderApi = builder.baseUrl("http://order-service:8080").build();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@Tool(name = "get_order",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description = "Status and items of one order. Read-only.")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OrderSummary getOrder(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@ToolParam(description = "Order id, e.g. ORD-1045") String orderId)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return orderApi.get()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.uri("/api/v1/orders/{id}", orderId)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.retrieve()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.body(OrderSummary.class);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Register and configure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@Bean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ToolCallbackProvider orderToolProvider(OrderTools tools)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return MethodToolCallbackProvider.builder()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.toolObjects(tools)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.build();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pom.xml: spring-ai-starter-mcp-server-webmvc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application.yml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ai: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mcp: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server: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name: order-mcp-server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version: 1.0.0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Name and description become the MCP tool definition.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RestClient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tool calls Order Service's API, with its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Spring AI MCP server starter handles the protocol.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Spring AI MCP server is a thin adapter: annotated tools calling your existing service APIs.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AN MCP SERVER FOR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MCP adapter layer in front of Order, Payment and Inventory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8839"/>
            <a:ext cx="7415783" cy="37546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1991"/>
            <a:ext cx="7269480" cy="36083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server per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Owned by each service team; clear ownership and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One aggregated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Simpler for clients; watch it doesn't become a monolith.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Choose server boundaries like service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MCP server boundaries deliberately — weigh convenience against ownership.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MAPPING MICROSERVICE APIS TO MCP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getOrder, cancelOrder, refundPayment and other meaningful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38679"/>
            <a:ext cx="7415783" cy="345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1831"/>
            <a:ext cx="7269480" cy="33086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MAP CAPABILITIES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 /orders/{id} → get_order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 /orders/{id}/cancel → cancel_order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 /payments/{id}/refunds → request_refund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840736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KEEP OUT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21564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882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Internal admin endpoints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52653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49910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Bulk delete</a:t>
            </a:r>
          </a:p>
        </p:txBody>
      </p:sp>
      <p:sp>
        <p:nvSpPr>
          <p:cNvPr id="18" name="Oval 17"/>
          <p:cNvSpPr/>
          <p:nvPr/>
        </p:nvSpPr>
        <p:spPr>
          <a:xfrm>
            <a:off x="8183880" y="383743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81000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Health and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Expose meaningful business capabilities as tools — not every endpoint.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GOOD MCP TOOL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Names, descriptions, schemas, inputs, outputs and errors.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416858"/>
            <a:ext cx="11210544" cy="286604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90010"/>
            <a:ext cx="11064240" cy="27197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verb_noun, specific: request_refund, not do_payment.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Schemas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Typed input and output with patterns and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Safe, structured errors — never invented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TREAT IT AS AN API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Version it and review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tool contracts as carefully as any enterprise API contract.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TOOL CONTRACT FOR A STATE-CHANGING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Precise description, strict input, structured output and honest hints.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7168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request_refund — tool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498079" cy="402564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"name": "request_refund",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"title": "Request a refund",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"description": "Create a refund REQUEST for a captured payment.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A person must approve it. Use only after get_payment shows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status CAPTURED. Never for partial amounts.",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"inputSchema":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"type": "object",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"properties":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"paymentId": { "type": "string", "pattern": "^PAY-[0-9]+$" },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"reason":    { "type": "string", "maxLength": 200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"required": ["paymentId", "reason"],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"additionalProperties": false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"outputSchema":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"type": "object",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"properties":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"refundRequestId": { "type": "string" },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"status": { "enum": ["PENDING_APPROVAL", "REJECTED"]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"annotations": { "readOnlyHint": false, "destructiveHint": false,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       "idempotentHint": true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98448"/>
            <a:ext cx="347472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353312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320040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Says when to use it — and when not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379726"/>
            <a:ext cx="347472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43459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5486"/>
            <a:ext cx="320040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Pattern, length limit and no extra properties.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46932"/>
            <a:ext cx="347472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01795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12692"/>
            <a:ext cx="320040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pending request, not a finished refund.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914138"/>
            <a:ext cx="347472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914138"/>
            <a:ext cx="310896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HINTS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are advisory — the server still enforces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good tool contract tells the model when to use it and lets the server reject anything else.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MAP APIS TO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Design the tool list for a commerce MCP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Existing endpoints: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GET  /api/v1/orders/{id}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POST /api/v1/orders/{id}/cancel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GET  /api/v1/payments/{id}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POST /api/v1/payments/{id}/refunds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GET  /api/v1/inventory/{sku}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DELETE /api/v1/admin/orders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GET  /actuator/metrics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which endpoints become tools — and name them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each tool read or state-changing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endpoints you'd keep out, and why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get_order, get_payment, check_stock: read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cancel_order: state-changing, scoped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request_refund: state-changing, approval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Out: admin bulk delete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Out: actuator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Expose a small set of well-named business tools; keep admin and operational endpoints out.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Run MCP servers like any enterprise workload — scaled, secured and observed.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MCP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Capabilities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Microservices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MCP servers wrap existing APIs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Tools map to business capabilities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Contracts are precise and enforced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96012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run MCP servers safely in production?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65576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89534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83133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Stateless servers and horizontal scaling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29768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23367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MCP behind an API gateway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000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63600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Authentication and authorization — in code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0235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03834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Defense in depth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0468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44068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5.3: MCP security controls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0702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84301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Reliability and observability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STATELESS MCP AND HORIZONTAL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current stateless core and load-balanced server instances.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43029"/>
            <a:ext cx="7415783" cy="38462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6181"/>
            <a:ext cx="7269480" cy="3699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Three replicas on OpenShift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7967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replicas: 3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template: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spec: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containers: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- name: order-mcp-server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readinessProbe: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httpGet: { path: /actuator/health/readiness,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       port: 8080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552444"/>
            <a:ext cx="3520440" cy="109347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6073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 sticky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918204"/>
            <a:ext cx="3246120" cy="67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Any replica can serve any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773930"/>
            <a:ext cx="3520440" cy="105994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773930"/>
            <a:ext cx="3154680" cy="1059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8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Same Deployments, probes and scaling.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stateless protocol core lets MCP servers scale like any cloud-native workload.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BEHIND AN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Routing, policy enforcement, rate limiting and tracing.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79984"/>
            <a:ext cx="7415783" cy="357235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3136"/>
            <a:ext cx="7269480" cy="3426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GATEWAY ENFORCES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Token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Rate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WAF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Audit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017520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Agent traffic is bursty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79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Rate-limit per agent and per user.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25500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5500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STILL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MCP server and services authorize too.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Treat MCP traffic like enterprise HTTP traffic — gateways route and govern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AUTHENTICATION AND AUTHORIZATION FOR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OAuth-based access, identity propagation and least privilege.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332152"/>
            <a:ext cx="7415783" cy="24680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5304"/>
            <a:ext cx="7269480" cy="23217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MCP server is an OAuth resource server; no anonymous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Authorize per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get_order needs orders.read; request_refund needs refunds.request.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Propagate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Pass the user's token or a scoped one — never a super-user.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12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OAuth2, OIDC and JWT in depth.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Authenticate the caller, authorize each tool — never hand the model super-user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SECURING TOOLS IN THE 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Validate the token, check a scope per tool, forward identity and audit the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SecurityConfig.java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@Bean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SecurityFilterChain mcp(HttpSecurity http) throws Exception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http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.authorizeHttpRequests(a -&gt; a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.requestMatchers("/actuator/health/**").permitAll()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.anyRequest().authenticated())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.oauth2ResourceServer(o -&gt; o.jwt(Customizer.withDefaults()))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.build();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PaymentTools.java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@Tool(name = "request_refund", description = "…")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@PreAuthorize("hasAuthority('SCOPE_refunds.request')")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RefundRequest requestRefund(String paymentId, String reason)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Jwt caller = currentJwt();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RefundRequest result = paymentApi.post()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.uri("/api/v1/payments/{id}/refund-requests", paymentId)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.headers(h -&gt; h.setBearerAuth(caller.getTokenValue()))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.header("Idempotency-Key", idempotencyKey(paymentId, reason))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.body(new RefundReason(reason))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.retrieve()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.body(RefundRequest.class);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audit.toolCall("request_refund", paymentId, caller.getSubject(),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 correlationId(), result.status());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result;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MCP request carries a validated JWT.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Per-tool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model can't use a tool the caller lacks.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Forward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Service authorizes the same user again.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Secure MCP like any API: validate tokens, scope each tool, forward identity and audit every call.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SECURING MCP-ENABLED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Tool allow-lists, validation, service credentials and audit.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47371"/>
            <a:ext cx="7415783" cy="28375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20523"/>
            <a:ext cx="7269480" cy="269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MCP-SPECIFIC THREATS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Prompt injection in tool results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Poisoned tool descriptions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Over-powerful tools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leaking into prompts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Defenses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Trusted servers only, strict schemas, output sanitizing.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CRITICAL 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microservice still authorizes everything.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Defense in depth still applies — every layer checks, including the microservice.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5.3 — MCP SECURITY CONTROLS FOR BANKING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5 checkpoint C: authentication, human-in-the-loop and audit for tool exposure.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298448"/>
            <a:ext cx="3520440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labs/day-05/lab5/starter/mcp-controls.md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 assistant would call Lab 5's Risk Assessment Service through two MCP tools: get_assessment and submit_review.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Awareness only — no MCP runtime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Walk mcp-controls.md: who may call get_assessment and submit_review?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tool needs a human in the loop before money-movement effects?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audit fields would you persist (actor, tool, correlation ID, decision)?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46278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40791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Don't start an MCP process, Keycloak or a Microsoft agent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get_assessment: risk.read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submit_review: risk.write, human-confirmed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superuser token; no anonymous calls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Audit: tool, IDs, caller, correlation, outcome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Never log tokens, keys or PAN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Tools carry the user's identity, need narrow scopes, keep humans on reviews and leave an audit trail.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RELIABILITY AND OBSERVABILITY FOR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Timeouts, retries, tracing, metrics and tool-call auditing.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34335"/>
            <a:ext cx="7415783" cy="406364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7487"/>
            <a:ext cx="7269480" cy="39173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backend call from a tool has one — Module 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99360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5422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Safe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65120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isError with a clear reason; never guess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70027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047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Tool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4047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Tool error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4866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Calls per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4866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Trace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980432"/>
            <a:ext cx="3520440" cy="85343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980432"/>
            <a:ext cx="3154680" cy="8534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KEY QUESTION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Which agent run caused this service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MCP tool call is a distributed request — make every hop resilient and traceable.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AGENTIC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agent, one protocol, many services — each keeping its authority.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MCP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Capabilities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Microservices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MCP servers scale statelessly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Tokens, scopes and audit protect tools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tool call is traced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an agent complete a business task across several services through MCP?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Agent + MCP + Spring Boot architecture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Multi-service orchestration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Long-running operations and tasks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review a risky tool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Use cases and the complete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AI AGENT + MCP + SPRING BOOT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agent using MCP to safely interact with multiple microservices.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52622"/>
            <a:ext cx="7415783" cy="302707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5774"/>
            <a:ext cx="7269480" cy="28807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Understands intent and plans the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MCP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Exposes tools, checks scopes, forwards identity.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59352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01421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325112"/>
            <a:ext cx="3246120" cy="688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Validate, enforce rules, own the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Agents use a standard MCP capability layer instead of custom integration code per backend.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FOR MULTI-SERVICE API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agent task invoking Order, Payment and Shipping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6068"/>
            <a:ext cx="7415783" cy="31201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9220"/>
            <a:ext cx="7269480" cy="2973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DECISION PATH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get_order: is it cancellable?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cancel_order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get_payment: was it captured?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request_refund — only if captured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SUMMARY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agent orchestrates, MCP connects, services decide.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agent orchestrates, MCP connects, and each microservice keeps business authority.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LONG-RUNNING OPERATIONS AND MCP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Handling operations that don't complete immediately.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Bulk reconciliation, report generation, a multi-step refund.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Task handle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an ID at once; the client polls or is notified.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Cancel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Clients can cancel a task that's no longer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SECURITY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Only the caller who started it may read or cancel.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Tasks turn long tool calls into trackable, cancellable asynchronous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REVIEW A RISKY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Find the problems before this tool reaches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 proposes this MCP tool: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name: run_payment_operation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description: Does payment stuff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input: { operation: string,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sql: string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auth: shared service account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(payments admin)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effect: executes immediately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at least five problems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the risk of each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Redesign it as safe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Vague name and description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Free-form SQL → injection, bypasses the API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Shared admin account → no least privilege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Executes immediately → no approval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Redesign: get_payment + request_refund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Replace one all-powerful tool with narrow, typed, scoped tools — and approvals for risky ones.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PRACTICAL MCP PATTERNS AND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Support agent, DevOps agent, order operations and incident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2597"/>
            <a:ext cx="7415783" cy="42071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5749"/>
            <a:ext cx="7269480" cy="40608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GOOD FITS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Many AI clients need the same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211836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9092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Capabilities are well governed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42925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0182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Actions have clear owners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840736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USE PLAIN REST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21564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882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Service-to-service calls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52653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49910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fixed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9380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9380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START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with read-only tools, then add approved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pays off most when many AI clients need consistent access to controlled capabilities.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MCP-ENABLED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 → MCP → gateway → Spring Boot → data, events and OpenShift.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MODULE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Agent discovers tools through MCP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Gateway authenticates and limits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Server authorizes and forwards identity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enforce rules and own data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Audit, traces and metrics throughout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microservice remains the business authority.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agent reasons, MCP connects, and the microservice remains the business authority.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MCP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make MCP integrations fragile or unsafe.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MCP replaces REST APIs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adds an AI-friendly layer on 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MCP handles security for 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Auth, scopes and audit are still our 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Expose every endpoint as a tool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Expose business capabilities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Tool hints enforce safety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Hints advise; servers enforce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Resources are live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Live state comes from service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MCP server reading service databases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super-user token for all tools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Vague tool names and descriptions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Free-form SQL or command tools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Untrusted third-party MCP servers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4759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correlation between agent and service 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8044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8044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Agent reasons, MCP connects, service decides.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MCP is only as safe as its tool design, identity handling and the services behind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MCP used for?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an MCP client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an MCP server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an MCP tool?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keep tools narrow and task-specific?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call APIs instead of service databases?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tool vs. action tool?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do correlation IDs matter for MCP?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if a backend service times out?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require approval for sensitive actions?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11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custom connectors to a standard, secure capability layer for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MCP hosts, clients, servers and messages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between tools, resources and prompts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Wrap Spring Boot APIs as well-designed MCP tools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Scale, secure and trace MCP servers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Orchestrate several services through MCP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12 — SECURITY AND COMPLIANCE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OAuth2 and OIDC protect every hop?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validate JWTs in Spring Boot?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manage secrets and prove compliance?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The scopes you designed for MCP tools — Module 12 enforces them.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12 secures every identity in this picture — users, services, agents and pipelines.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