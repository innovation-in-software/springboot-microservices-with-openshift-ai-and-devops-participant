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From Module 9 to Module 10</a:t>
            </a:r>
          </a:p>
          <a:p/>
          <a:p>
            <a:r>
              <a:t>  Module 9 was about a developer using GitHub Copilot to write code.</a:t>
            </a:r>
          </a:p>
          <a:p/>
          <a:p>
            <a:r>
              <a:t>  Module 10 changes the role of AI.</a:t>
            </a:r>
          </a:p>
          <a:p/>
          <a:p>
            <a:r>
              <a:t>  Instead of only helping a developer write code, AI can take part in a business workflow.</a:t>
            </a:r>
          </a:p>
          <a:p/>
          <a:p>
            <a:r>
              <a:t>- An example</a:t>
            </a:r>
          </a:p>
          <a:p/>
          <a:p>
            <a:r>
              <a:t>  A customer says: cancel order 1001 if it hasn't shipped, and refund the payment if needed.</a:t>
            </a:r>
          </a:p>
          <a:p/>
          <a:p>
            <a:r>
              <a:t>  A normal chat AI might explain how to do that.</a:t>
            </a:r>
          </a:p>
          <a:p/>
          <a:p>
            <a:r>
              <a:t>  An agent can understand the goal, check the order and its status, cancel it, check the payment, issue the refund and report back.</a:t>
            </a:r>
          </a:p>
          <a:p/>
          <a:p>
            <a:r>
              <a:t>- The key distinction</a:t>
            </a:r>
          </a:p>
          <a:p/>
          <a:p>
            <a:r>
              <a:t>  Generative AI produces content.</a:t>
            </a:r>
          </a:p>
          <a:p/>
          <a:p>
            <a:r>
              <a:t>  Agentic AI uses reasoning plus approved tools to work toward a goal.</a:t>
            </a:r>
          </a:p>
          <a:p/>
          <a:p>
            <a:r>
              <a:t>  This module is about doing that safely in enterprise microservices.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By the end of this module</a:t>
            </a:r>
          </a:p>
          <a:p/>
          <a:p>
            <a:r>
              <a:t>  Learners should be able to explain agentic AI and tell assistants, copilots and agents apart.</a:t>
            </a:r>
          </a:p>
          <a:p/>
          <a:p>
            <a:r>
              <a:t>  They should name the parts of an agent, explain its execution loop and describe Microsoft's agent services.</a:t>
            </a:r>
          </a:p>
          <a:p/>
          <a:p>
            <a:r>
              <a:t>  They should connect agents to enterprise APIs, design workflows, use tool calling, and design single- and multi-agent solutions.</a:t>
            </a:r>
          </a:p>
          <a:p/>
          <a:p>
            <a:r>
              <a:t>  They should orchestrate Spring Boot microservices, apply security guardrails and monitor agent workflows.</a:t>
            </a:r>
          </a:p>
          <a:p/>
          <a:p>
            <a:r>
              <a:t>- Five sections</a:t>
            </a:r>
          </a:p>
          <a:p/>
          <a:p>
            <a:r>
              <a:t>  Section 1 is agent basics: goal, reason, act, observe.</a:t>
            </a:r>
          </a:p>
          <a:p/>
          <a:p>
            <a:r>
              <a:t>  Section 2 is the Microsoft agent ecosystem: Copilot Studio, Microsoft Foundry, models, tools, knowledge and workflows.</a:t>
            </a:r>
          </a:p>
          <a:p/>
          <a:p>
            <a:r>
              <a:t>  Section 3 is workflow design, and Section 4 is microservice orchestration across the Order, Payment, Inventory and Shipping APIs.</a:t>
            </a:r>
          </a:p>
          <a:p/>
          <a:p>
            <a:r>
              <a:t>  Section 5 is enterprise controls: identity, authorization, guardrails, approval, audit and observability.</a:t>
            </a:r>
          </a:p>
          <a:p/>
          <a:p>
            <a:r>
              <a:t>- The real goal</a:t>
            </a:r>
          </a:p>
          <a:p/>
          <a:p>
            <a:r>
              <a:t>  The goal is not an unrestricted autonomous system.</a:t>
            </a:r>
          </a:p>
          <a:p/>
          <a:p>
            <a:r>
              <a:t>  It is controlled autonomy around clearly defined enterprise capabilities.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How to run this slide</a:t>
            </a:r>
          </a:p>
          <a:p/>
          <a:p>
            <a:r>
              <a:t>  Read each term once and give a quick example from the order platform or the banking lab.</a:t>
            </a:r>
          </a:p>
          <a:p/>
          <a:p>
            <a:r>
              <a:t>- Agentic AI</a:t>
            </a:r>
          </a:p>
          <a:p/>
          <a:p>
            <a:r>
              <a:t>  AI that plans and takes steps toward a goal using tools, not just one answer.</a:t>
            </a:r>
          </a:p>
          <a:p/>
          <a:p>
            <a:r>
              <a:t>- AI agent</a:t>
            </a:r>
          </a:p>
          <a:p/>
          <a:p>
            <a:r>
              <a:t>  A model plus instructions, tools, memory and guardrails that works toward a goal.</a:t>
            </a:r>
          </a:p>
          <a:p/>
          <a:p>
            <a:r>
              <a:t>- Large language model</a:t>
            </a:r>
          </a:p>
          <a:p/>
          <a:p>
            <a:r>
              <a:t>  A model trained on large amounts of text that generates language and reasoning.</a:t>
            </a:r>
          </a:p>
          <a:p/>
          <a:p>
            <a:r>
              <a:t>- Tool calling</a:t>
            </a:r>
          </a:p>
          <a:p/>
          <a:p>
            <a:r>
              <a:t>  The model asks the application to run a named function with arguments.</a:t>
            </a:r>
          </a:p>
          <a:p/>
          <a:p>
            <a:r>
              <a:t>- Grounding</a:t>
            </a:r>
          </a:p>
          <a:p/>
          <a:p>
            <a:r>
              <a:t>  Giving the model current, trusted enterprise data so its answers rest on facts.</a:t>
            </a:r>
          </a:p>
          <a:p/>
          <a:p>
            <a:r>
              <a:t>- Orchestration</a:t>
            </a:r>
          </a:p>
          <a:p/>
          <a:p>
            <a:r>
              <a:t>  Coordinating the steps, tools or agents needed to complete a task.</a:t>
            </a:r>
          </a:p>
          <a:p/>
          <a:p>
            <a:r>
              <a:t>- Stop condition</a:t>
            </a:r>
          </a:p>
          <a:p/>
          <a:p>
            <a:r>
              <a:t>  A rule that ends an agent loop, such as done, blocked or out of steps.</a:t>
            </a:r>
          </a:p>
          <a:p/>
          <a:p>
            <a:r>
              <a:t>- Human approval</a:t>
            </a:r>
          </a:p>
          <a:p/>
          <a:p>
            <a:r>
              <a:t>  A person must confirm a high-risk action before it happens.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How to run this slide</a:t>
            </a:r>
          </a:p>
          <a:p/>
          <a:p>
            <a:r>
              <a:t>  Don't read every row.</a:t>
            </a:r>
          </a:p>
          <a:p/>
          <a:p>
            <a:r>
              <a:t>  Point out the few this module uses most, and say the full list is here for reference.</a:t>
            </a:r>
          </a:p>
          <a:p/>
          <a:p>
            <a:r>
              <a:t>- Reference</a:t>
            </a:r>
          </a:p>
          <a:p/>
          <a:p>
            <a:r>
              <a:t>  AI is Artificial Intelligence; API is Application Programming Interface; FAQ is Frequently Asked Questions; HTTP is HyperText Transfer Protocol; LLM is Large Language Model; MCP is Model Context Protocol; PII is Personally Identifiable Information; RAG is Retrieval-Augmented Generation.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Bridge from Module 9</a:t>
            </a:r>
          </a:p>
          <a:p/>
          <a:p>
            <a:r>
              <a:t>  Copilot suggested code a person reviewed.</a:t>
            </a:r>
          </a:p>
          <a:p/>
          <a:p>
            <a:r>
              <a:t>  An agent goes further: it decides and calls tools.</a:t>
            </a:r>
          </a:p>
          <a:p/>
          <a:p>
            <a:r>
              <a:t>  That raises the stakes.</a:t>
            </a:r>
          </a:p>
          <a:p/>
          <a:p>
            <a:r>
              <a:t>- The path</a:t>
            </a:r>
          </a:p>
          <a:p/>
          <a:p>
            <a:r>
              <a:t>  Agent fundamentals, the Microsoft ecosystem, workflow design, orchestration of our microservices, and enterprise controls.</a:t>
            </a:r>
          </a:p>
          <a:p/>
          <a:p>
            <a:r>
              <a:t>- Two examples</a:t>
            </a:r>
          </a:p>
          <a:p/>
          <a:p>
            <a:r>
              <a:t>  The slides use order support.</a:t>
            </a:r>
          </a:p>
          <a:p/>
          <a:p>
            <a:r>
              <a:t>  Exercise 5.1 and Lab 5 use the banking Risk Assessment Service, where a model scores and Java policy decides.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Why start here</a:t>
            </a:r>
          </a:p>
          <a:p/>
          <a:p>
            <a:r>
              <a:t>  Teams often label any chatbot an agent.</a:t>
            </a:r>
          </a:p>
          <a:p/>
          <a:p>
            <a:r>
              <a:t>  Clear definitions decide how much control a design needs.</a:t>
            </a:r>
          </a:p>
          <a:p/>
          <a:p>
            <a:r>
              <a:t>- What this part covers</a:t>
            </a:r>
          </a:p>
          <a:p/>
          <a:p>
            <a:r>
              <a:t>  The shift from answers to goals, the parts of an agent, the loop it runs, and how autonomy should match risk.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Response-oriented AI</a:t>
            </a:r>
          </a:p>
          <a:p/>
          <a:p>
            <a:r>
              <a:t>  Traditional generative AI is mostly prompt, model, response.</a:t>
            </a:r>
          </a:p>
          <a:p/>
          <a:p>
            <a:r>
              <a:t>  If a user asks how an order can be cancelled, the AI gives instructions.</a:t>
            </a:r>
          </a:p>
          <a:p/>
          <a:p>
            <a:r>
              <a:t>- Agentic behavior</a:t>
            </a:r>
          </a:p>
          <a:p/>
          <a:p>
            <a:r>
              <a:t>  Now the user says: cancel order 1001 if it is eligible.</a:t>
            </a:r>
          </a:p>
          <a:p/>
          <a:p>
            <a:r>
              <a:t>  The agent may need to get the order, check its status, and decide whether cancellation is allowed.</a:t>
            </a:r>
          </a:p>
          <a:p/>
          <a:p>
            <a:r>
              <a:t>  Then it calls the cancellation API, checks the result and reports completion.</a:t>
            </a:r>
          </a:p>
          <a:p/>
          <a:p>
            <a:r>
              <a:t>- What it combines</a:t>
            </a:r>
          </a:p>
          <a:p/>
          <a:p>
            <a:r>
              <a:t>  Agentic AI combines reasoning, state, tools, actions and feedback.</a:t>
            </a:r>
          </a:p>
          <a:p/>
          <a:p>
            <a:r>
              <a:t>- The defining idea</a:t>
            </a:r>
          </a:p>
          <a:p/>
          <a:p>
            <a:r>
              <a:t>  It is not just longer prompts.</a:t>
            </a:r>
          </a:p>
          <a:p/>
          <a:p>
            <a:r>
              <a:t>  It is AI taking part in a loop of decisions and actions: goal, plan, select action, use tool, observe result, adjust.</a:t>
            </a:r>
          </a:p>
          <a:p/>
          <a:p>
            <a:r>
              <a:t>- What the diagram shows</a:t>
            </a:r>
          </a:p>
          <a:p/>
          <a:p>
            <a:r>
              <a:t>  A single prompt → model → response next to a goal → plan → tool → observe → adjust loop.</a:t>
            </a:r>
          </a:p>
          <a:p/>
          <a:p>
            <a:r>
              <a:t>- Key point</a:t>
            </a:r>
          </a:p>
          <a:p/>
          <a:p>
            <a:r>
              <a:t>  Generative AI answers; agentic AI works toward a goal in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A spectrum</a:t>
            </a:r>
          </a:p>
          <a:p/>
          <a:p>
            <a:r>
              <a:t>  Teach this as a spectrum, not an on-off switch.</a:t>
            </a:r>
          </a:p>
          <a:p/>
          <a:p>
            <a:r>
              <a:t>- Chatbot and assistant</a:t>
            </a:r>
          </a:p>
          <a:p/>
          <a:p>
            <a:r>
              <a:t>  A chatbot is mainly conversation: a question gets an answer.</a:t>
            </a:r>
          </a:p>
          <a:p/>
          <a:p>
            <a:r>
              <a:t>  An assistant uses extra context, such as knowledge, to give a better answer or recommendation.</a:t>
            </a:r>
          </a:p>
          <a:p/>
          <a:p>
            <a:r>
              <a:t>- Copilot</a:t>
            </a:r>
          </a:p>
          <a:p/>
          <a:p>
            <a:r>
              <a:t>  A copilot works alongside the user, like a developer with GitHub Copilot.</a:t>
            </a:r>
          </a:p>
          <a:p/>
          <a:p>
            <a:r>
              <a:t>- Agent</a:t>
            </a:r>
          </a:p>
          <a:p/>
          <a:p>
            <a:r>
              <a:t>  An agent can decide which approved action to take.</a:t>
            </a:r>
          </a:p>
          <a:p/>
          <a:p>
            <a:r>
              <a:t>  It selects an API, calls it and uses the result.</a:t>
            </a:r>
          </a:p>
          <a:p/>
          <a:p>
            <a:r>
              <a:t>- Autonomous workflow</a:t>
            </a:r>
          </a:p>
          <a:p/>
          <a:p>
            <a:r>
              <a:t>  An autonomous workflow may start without anyone typing a prompt.</a:t>
            </a:r>
          </a:p>
          <a:p/>
          <a:p>
            <a:r>
              <a:t>  For example, an OrderDelayed event starts the workflow, the agent checks shipping and notifies the customer.</a:t>
            </a:r>
          </a:p>
          <a:p/>
          <a:p>
            <a:r>
              <a:t>  Microsoft describes Copilot Studio autonomous agents as reacting to events and taking actions based on triggers, instructions and guardrails.</a:t>
            </a:r>
          </a:p>
          <a:p/>
          <a:p>
            <a:r>
              <a:t>- What the diagram shows</a:t>
            </a:r>
          </a:p>
          <a:p/>
          <a:p>
            <a:r>
              <a:t>  A progression from chatbot to assistant, copilot, tool-using agent and autonomous workflow.</a:t>
            </a:r>
          </a:p>
          <a:p/>
          <a:p>
            <a:r>
              <a:t>- Key point</a:t>
            </a:r>
          </a:p>
          <a:p/>
          <a:p>
            <a:r>
              <a:t>  Each step adds autonomy — and needs more control.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More than a model</a:t>
            </a:r>
          </a:p>
          <a:p/>
          <a:p>
            <a:r>
              <a:t>  An agent is more than a large language model.</a:t>
            </a:r>
          </a:p>
          <a:p/>
          <a:p>
            <a:r>
              <a:t>  It has several parts.</a:t>
            </a:r>
          </a:p>
          <a:p/>
          <a:p>
            <a:r>
              <a:t>- Instructions and model</a:t>
            </a:r>
          </a:p>
          <a:p/>
          <a:p>
            <a:r>
              <a:t>  Instructions define its behavior.</a:t>
            </a:r>
          </a:p>
          <a:p/>
          <a:p>
            <a:r>
              <a:t>  For example: you are an Order Support Agent, and never refund a payment unless the cancellation succeeded.</a:t>
            </a:r>
          </a:p>
          <a:p/>
          <a:p>
            <a:r>
              <a:t>  The model does the language understanding and reasoning.</a:t>
            </a:r>
          </a:p>
          <a:p/>
          <a:p>
            <a:r>
              <a:t>- State and tools</a:t>
            </a:r>
          </a:p>
          <a:p/>
          <a:p>
            <a:r>
              <a:t>  State stores what the agent needs across steps, such as orderId 1001 and the current step being the payment check.</a:t>
            </a:r>
          </a:p>
          <a:p/>
          <a:p>
            <a:r>
              <a:t>  Tools let the agent act on systems, such as getOrder, cancelOrder, getPayment and refundPayment.</a:t>
            </a:r>
          </a:p>
          <a:p/>
          <a:p>
            <a:r>
              <a:t>- Guardrails</a:t>
            </a:r>
          </a:p>
          <a:p/>
          <a:p>
            <a:r>
              <a:t>  Guardrails, identity and audit wrap around everything and limit what the agent may do.</a:t>
            </a:r>
          </a:p>
          <a:p/>
          <a:p>
            <a:r>
              <a:t>- Why it matters</a:t>
            </a:r>
          </a:p>
          <a:p/>
          <a:p>
            <a:r>
              <a:t>  A model without tools can suggest an action.</a:t>
            </a:r>
          </a:p>
          <a:p/>
          <a:p>
            <a:r>
              <a:t>  An agent with tools may actually execute one.</a:t>
            </a:r>
          </a:p>
          <a:p/>
          <a:p>
            <a:r>
              <a:t>  That is why identity, authorization, validation and auditing matter so much.</a:t>
            </a:r>
          </a:p>
          <a:p/>
          <a:p>
            <a:r>
              <a:t>- What the diagram shows</a:t>
            </a:r>
          </a:p>
          <a:p/>
          <a:p>
            <a:r>
              <a:t>  Instructions, model, memory and state, planner and tools, all surrounded by guardrails.</a:t>
            </a:r>
          </a:p>
          <a:p/>
          <a:p>
            <a:r>
              <a:t>- Key point</a:t>
            </a:r>
          </a:p>
          <a:p/>
          <a:p>
            <a:r>
              <a:t>  An agent is a model plus instructions, state, tools and guardrails.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The loop</a:t>
            </a:r>
          </a:p>
          <a:p/>
          <a:p>
            <a:r>
              <a:t>  The agent loop is: goal, observe, reason and plan, select an action, use a tool, receive the result, then check if the goal is complete.</a:t>
            </a:r>
          </a:p>
          <a:p/>
          <a:p>
            <a:r>
              <a:t>  If not, repeat.</a:t>
            </a:r>
          </a:p>
          <a:p/>
          <a:p>
            <a:r>
              <a:t>  If yes, respond.</a:t>
            </a:r>
          </a:p>
          <a:p/>
          <a:p>
            <a:r>
              <a:t>- A worked example</a:t>
            </a:r>
          </a:p>
          <a:p/>
          <a:p>
            <a:r>
              <a:t>  The goal: find out why order 1001 has not shipped.</a:t>
            </a:r>
          </a:p>
          <a:p/>
          <a:p>
            <a:r>
              <a:t>  The agent observes orderId 1001, and reasons that it needs the order status.</a:t>
            </a:r>
          </a:p>
          <a:p/>
          <a:p>
            <a:r>
              <a:t>  It calls getOrder(1001) and learns the status is CONFIRMED.</a:t>
            </a:r>
          </a:p>
          <a:p/>
          <a:p>
            <a:r>
              <a:t>- It loops again</a:t>
            </a:r>
          </a:p>
          <a:p/>
          <a:p>
            <a:r>
              <a:t>  Now it realizes it needs shipping information.</a:t>
            </a:r>
          </a:p>
          <a:p/>
          <a:p>
            <a:r>
              <a:t>  It calls getShipment(1001) and learns the shipment status is LABEL_PENDING.</a:t>
            </a:r>
          </a:p>
          <a:p/>
          <a:p>
            <a:r>
              <a:t>- Deciding it is done</a:t>
            </a:r>
          </a:p>
          <a:p/>
          <a:p>
            <a:r>
              <a:t>  It now has enough evidence to answer: the order is confirmed, but shipment creation hasn't finished.</a:t>
            </a:r>
          </a:p>
          <a:p/>
          <a:p>
            <a:r>
              <a:t>- The key point</a:t>
            </a:r>
          </a:p>
          <a:p/>
          <a:p>
            <a:r>
              <a:t>  Each tool result becomes new evidence for the next decision.</a:t>
            </a:r>
          </a:p>
          <a:p/>
          <a:p>
            <a:r>
              <a:t>- What the diagram shows</a:t>
            </a:r>
          </a:p>
          <a:p/>
          <a:p>
            <a:r>
              <a:t>  Goal, observe, reason and plan, select an action, use a tool, receive the result, check if complete, and repeat.</a:t>
            </a:r>
          </a:p>
          <a:p/>
          <a:p>
            <a:r>
              <a:t>- Key point</a:t>
            </a:r>
          </a:p>
          <a:p/>
          <a:p>
            <a:r>
              <a:t>  The agent loops until the goal is met or a stop condition fires.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Match autonomy to risk</a:t>
            </a:r>
          </a:p>
          <a:p/>
          <a:p>
            <a:r>
              <a:t>  The amount of autonomy should match the risk of the action.</a:t>
            </a:r>
          </a:p>
          <a:p/>
          <a:p>
            <a:r>
              <a:t>- Levels 1 and 2</a:t>
            </a:r>
          </a:p>
          <a:p/>
          <a:p>
            <a:r>
              <a:t>  Level 1 is a recommendation: the agent says 'I recommend cancelling the order', and a human does it.</a:t>
            </a:r>
          </a:p>
          <a:p/>
          <a:p>
            <a:r>
              <a:t>  Level 2 is approval-based: the agent proposes cancellation, a human approves, and then the agent calls the API.</a:t>
            </a:r>
          </a:p>
          <a:p/>
          <a:p>
            <a:r>
              <a:t>- Levels 3 and 4</a:t>
            </a:r>
          </a:p>
          <a:p/>
          <a:p>
            <a:r>
              <a:t>  Level 3 is limited autonomy: low-risk tasks run automatically, like getting shipping status or sending a standard notification.</a:t>
            </a:r>
          </a:p>
          <a:p/>
          <a:p>
            <a:r>
              <a:t>  Level 4 is higher autonomy: the agent performs several approved actions without constant human involvement.</a:t>
            </a:r>
          </a:p>
          <a:p/>
          <a:p>
            <a:r>
              <a:t>- Not unlimited</a:t>
            </a:r>
          </a:p>
          <a:p/>
          <a:p>
            <a:r>
              <a:t>  Enterprise systems should never read autonomy as unlimited permissions plus unlimited actions.</a:t>
            </a:r>
          </a:p>
          <a:p/>
          <a:p>
            <a:r>
              <a:t>  More autonomy needs stronger controls.</a:t>
            </a:r>
          </a:p>
          <a:p/>
          <a:p>
            <a:r>
              <a:t>- What the diagram shows</a:t>
            </a:r>
          </a:p>
          <a:p/>
          <a:p>
            <a:r>
              <a:t>  Assistant, copilot, agent and autonomous workflow, with human approval points as autonomy increases.</a:t>
            </a:r>
          </a:p>
          <a:p/>
          <a:p>
            <a:r>
              <a:t>- Key point</a:t>
            </a:r>
          </a:p>
          <a:p/>
          <a:p>
            <a:r>
              <a:t>  The higher the risk, the more human control.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Reading vs. acting</a:t>
            </a:r>
          </a:p>
          <a:p/>
          <a:p>
            <a:r>
              <a:t>  The FAQ bot and the drafting copilot never act.</a:t>
            </a:r>
          </a:p>
          <a:p/>
          <a:p>
            <a:r>
              <a:t>  The lookup agent calls tools but only reads.</a:t>
            </a:r>
          </a:p>
          <a:p/>
          <a:p>
            <a:r>
              <a:t>- Actions</a:t>
            </a:r>
          </a:p>
          <a:p/>
          <a:p>
            <a:r>
              <a:t>  Cancelling orders changes state, so it needs authorization, idempotency and usually approval.</a:t>
            </a:r>
          </a:p>
          <a:p/>
          <a:p>
            <a:r>
              <a:t>- Autonomous workflow</a:t>
            </a:r>
          </a:p>
          <a:p/>
          <a:p>
            <a:r>
              <a:t>  The nightly job acts without a person in the loop, so it needs strict limits, a stop condition and alerts.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From concept to platform</a:t>
            </a:r>
          </a:p>
          <a:p/>
          <a:p>
            <a:r>
              <a:t>  Part 1 defined agents.</a:t>
            </a:r>
          </a:p>
          <a:p/>
          <a:p>
            <a:r>
              <a:t>  Part 2 maps those parts to Microsoft services.</a:t>
            </a:r>
          </a:p>
          <a:p/>
          <a:p>
            <a:r>
              <a:t>- What comes next</a:t>
            </a:r>
          </a:p>
          <a:p/>
          <a:p>
            <a:r>
              <a:t>  Copilot Studio agents, Foundry, the model and tool-calling loop, and grounding in enterprise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When Copilot becomes agentic</a:t>
            </a:r>
          </a:p>
          <a:p/>
          <a:p>
            <a:r>
              <a:t>  Copilot becomes agentic when it moves beyond conversation into controlled actions.</a:t>
            </a:r>
          </a:p>
          <a:p/>
          <a:p>
            <a:r>
              <a:t>  The flow is: user, Copilot, understand intent, use context, select a tool or workflow, execute, return the result.</a:t>
            </a:r>
          </a:p>
          <a:p/>
          <a:p>
            <a:r>
              <a:t>- From reading to acting</a:t>
            </a:r>
          </a:p>
          <a:p/>
          <a:p>
            <a:r>
              <a:t>  A user asks whether order 1001 qualifies for cancellation, so the agent retrieves information.</a:t>
            </a:r>
          </a:p>
          <a:p/>
          <a:p>
            <a:r>
              <a:t>  Then the user says 'cancel it', and the agent may call an approved action.</a:t>
            </a:r>
          </a:p>
          <a:p/>
          <a:p>
            <a:r>
              <a:t>- In Microsoft Copilot Studio</a:t>
            </a:r>
          </a:p>
          <a:p/>
          <a:p>
            <a:r>
              <a:t>  Agents can be connected to knowledge sources, actions, triggers, tools and workflows.</a:t>
            </a:r>
          </a:p>
          <a:p/>
          <a:p>
            <a:r>
              <a:t>  Workflows can also be added as tools that an agent can call.</a:t>
            </a:r>
          </a:p>
          <a:p/>
          <a:p>
            <a:r>
              <a:t>- Knowledge versus tools</a:t>
            </a:r>
          </a:p>
          <a:p/>
          <a:p>
            <a:r>
              <a:t>  Knowledge tells the agent something.</a:t>
            </a:r>
          </a:p>
          <a:p/>
          <a:p>
            <a:r>
              <a:t>  A tool lets the agent do something.</a:t>
            </a:r>
          </a:p>
          <a:p/>
          <a:p>
            <a:r>
              <a:t>- What the diagram shows</a:t>
            </a:r>
          </a:p>
          <a:p/>
          <a:p>
            <a:r>
              <a:t>  A user's request to Copilot, which understands intent, gathers context, selects a tool or workflow, acts and returns a result.</a:t>
            </a:r>
          </a:p>
          <a:p/>
          <a:p>
            <a:r>
              <a:t>- Key point</a:t>
            </a:r>
          </a:p>
          <a:p/>
          <a:p>
            <a:r>
              <a:t>  Copilot becomes an agent when it can take actions through tools.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An order example</a:t>
            </a:r>
          </a:p>
          <a:p/>
          <a:p>
            <a:r>
              <a:t>  The user asks why order 1001 is delayed.</a:t>
            </a:r>
          </a:p>
          <a:p/>
          <a:p>
            <a:r>
              <a:t>  Copilot interprets the intent, and the agent calls the Order API and the Shipping API.</a:t>
            </a:r>
          </a:p>
          <a:p/>
          <a:p>
            <a:r>
              <a:t>  It reasons over the order status and shipment status, then returns an explanation.</a:t>
            </a:r>
          </a:p>
          <a:p/>
          <a:p>
            <a:r>
              <a:t>- Translating intent</a:t>
            </a:r>
          </a:p>
          <a:p/>
          <a:p>
            <a:r>
              <a:t>  The user speaks naturally: why is my order delayed?</a:t>
            </a:r>
          </a:p>
          <a:p/>
          <a:p>
            <a:r>
              <a:t>  The system needs specific calls, like GET /orders/1001 and GET /shipments with the order ID.</a:t>
            </a:r>
          </a:p>
          <a:p/>
          <a:p>
            <a:r>
              <a:t>  The agent becomes an intelligence layer between human intent and enterprise capabilities.</a:t>
            </a:r>
          </a:p>
          <a:p/>
          <a:p>
            <a:r>
              <a:t>- Adding action</a:t>
            </a:r>
          </a:p>
          <a:p/>
          <a:p>
            <a:r>
              <a:t>  Then extend the request: if it is delayed, notify the customer.</a:t>
            </a:r>
          </a:p>
          <a:p/>
          <a:p>
            <a:r>
              <a:t>  Now the agent is action-oriented rather than information-only.</a:t>
            </a:r>
          </a:p>
          <a:p/>
          <a:p>
            <a:r>
              <a:t>- Still governed</a:t>
            </a:r>
          </a:p>
          <a:p/>
          <a:p>
            <a:r>
              <a:t>  This does not mean bypassing API contracts.</a:t>
            </a:r>
          </a:p>
          <a:p/>
          <a:p>
            <a:r>
              <a:t>  The agent should still use governed services.</a:t>
            </a:r>
          </a:p>
          <a:p/>
          <a:p>
            <a:r>
              <a:t>- What the diagram shows</a:t>
            </a:r>
          </a:p>
          <a:p/>
          <a:p>
            <a:r>
              <a:t>  A user question handled by an agent that calls the Order API and Shipping API and combines the results into a response or action.</a:t>
            </a:r>
          </a:p>
          <a:p/>
          <a:p>
            <a:r>
              <a:t>- Key point</a:t>
            </a:r>
          </a:p>
          <a:p/>
          <a:p>
            <a:r>
              <a:t>  The agent turns a question into governed API calls.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Roles, not a catalog</a:t>
            </a:r>
          </a:p>
          <a:p/>
          <a:p>
            <a:r>
              <a:t>  Teach product names as architectural roles, not as a product catalog.</a:t>
            </a:r>
          </a:p>
          <a:p/>
          <a:p>
            <a:r>
              <a:t>- Copilot Studio and Foundry</a:t>
            </a:r>
          </a:p>
          <a:p/>
          <a:p>
            <a:r>
              <a:t>  Microsoft Copilot Studio is useful for building and orchestrating business-oriented agents and workflows.</a:t>
            </a:r>
          </a:p>
          <a:p/>
          <a:p>
            <a:r>
              <a:t>  Microsoft Foundry is a development platform for models and agents.</a:t>
            </a:r>
          </a:p>
          <a:p/>
          <a:p>
            <a:r>
              <a:t>  Its SDK supports getting model responses, creating agents, and running multi-turn agent conversations.</a:t>
            </a:r>
          </a:p>
          <a:p/>
          <a:p>
            <a:r>
              <a:t>- Agents, tools, knowledge</a:t>
            </a:r>
          </a:p>
          <a:p/>
          <a:p>
            <a:r>
              <a:t>  These platforms give you agents, tools and knowledge, which connect down to enterprise systems.</a:t>
            </a:r>
          </a:p>
          <a:p/>
          <a:p>
            <a:r>
              <a:t>  Supporting capabilities include search and grounding, APIs, workflows, identity, monitoring and data.</a:t>
            </a:r>
          </a:p>
          <a:p/>
          <a:p>
            <a:r>
              <a:t>- Your systems still matter</a:t>
            </a:r>
          </a:p>
          <a:p/>
          <a:p>
            <a:r>
              <a:t>  Your Spring Boot APIs, databases, messaging, search and business workflows remain important.</a:t>
            </a:r>
          </a:p>
          <a:p/>
          <a:p>
            <a:r>
              <a:t>  AI sits above or alongside them.</a:t>
            </a:r>
          </a:p>
          <a:p/>
          <a:p>
            <a:r>
              <a:t>- What the diagram shows</a:t>
            </a:r>
          </a:p>
          <a:p/>
          <a:p>
            <a:r>
              <a:t>  Copilot Studio, Microsoft Foundry, models, agents, tools, knowledge, search, workflows and enterprise systems.</a:t>
            </a:r>
          </a:p>
          <a:p/>
          <a:p>
            <a:r>
              <a:t>- Key point</a:t>
            </a:r>
          </a:p>
          <a:p/>
          <a:p>
            <a:r>
              <a:t>  Each service plays a role; your systems stay the source of truth.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More than calling an LLM</a:t>
            </a:r>
          </a:p>
          <a:p/>
          <a:p>
            <a:r>
              <a:t>  Don't teach an enterprise AI application as just a REST call to a large language model.</a:t>
            </a:r>
          </a:p>
          <a:p/>
          <a:p>
            <a:r>
              <a:t>  Real solutions need more.</a:t>
            </a:r>
          </a:p>
          <a:p/>
          <a:p>
            <a:r>
              <a:t>- The questions</a:t>
            </a:r>
          </a:p>
          <a:p/>
          <a:p>
            <a:r>
              <a:t>  Model selection asks which model is right.</a:t>
            </a:r>
          </a:p>
          <a:p/>
          <a:p>
            <a:r>
              <a:t>  Instructions ask what role the agent has.</a:t>
            </a:r>
          </a:p>
          <a:p/>
          <a:p>
            <a:r>
              <a:t>  Tools ask what it is allowed to call.</a:t>
            </a:r>
          </a:p>
          <a:p/>
          <a:p>
            <a:r>
              <a:t>  Conversations ask what context should persist.</a:t>
            </a:r>
          </a:p>
          <a:p/>
          <a:p>
            <a:r>
              <a:t>  Responses ask what result the agent produced.</a:t>
            </a:r>
          </a:p>
          <a:p/>
          <a:p>
            <a:r>
              <a:t>- Foundry runtime model</a:t>
            </a:r>
          </a:p>
          <a:p/>
          <a:p>
            <a:r>
              <a:t>  Foundry Agent Service describes agents, conversations and responses as its core runtime parts.</a:t>
            </a:r>
          </a:p>
          <a:p/>
          <a:p>
            <a:r>
              <a:t>  An agent combines a model with instructions and tools.</a:t>
            </a:r>
          </a:p>
          <a:p/>
          <a:p>
            <a:r>
              <a:t>  A conversation keeps history across turns.</a:t>
            </a:r>
          </a:p>
          <a:p/>
          <a:p>
            <a:r>
              <a:t>- Supporting pieces</a:t>
            </a:r>
          </a:p>
          <a:p/>
          <a:p>
            <a:r>
              <a:t>  Evaluation, safety, monitoring and state support the whole flow.</a:t>
            </a:r>
          </a:p>
          <a:p/>
          <a:p>
            <a:r>
              <a:t>  This gives learners a practical mental model of the runtime.</a:t>
            </a:r>
          </a:p>
          <a:p/>
          <a:p>
            <a:r>
              <a:t>- What the diagram shows</a:t>
            </a:r>
          </a:p>
          <a:p/>
          <a:p>
            <a:r>
              <a:t>  An application or agent using Foundry, which combines a model, instructions, tools and state to produce a response or action.</a:t>
            </a:r>
          </a:p>
          <a:p/>
          <a:p>
            <a:r>
              <a:t>- Key point</a:t>
            </a:r>
          </a:p>
          <a:p/>
          <a:p>
            <a:r>
              <a:t>  Foundry hosts the agent runtime around the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A common misconception</a:t>
            </a:r>
          </a:p>
          <a:p/>
          <a:p>
            <a:r>
              <a:t>  Many people think the model itself connects directly to every backend.</a:t>
            </a:r>
          </a:p>
          <a:p/>
          <a:p>
            <a:r>
              <a:t>  It does not.</a:t>
            </a:r>
          </a:p>
          <a:p/>
          <a:p>
            <a:r>
              <a:t>- The safer architecture</a:t>
            </a:r>
          </a:p>
          <a:p/>
          <a:p>
            <a:r>
              <a:t>  The model requests a tool.</a:t>
            </a:r>
          </a:p>
          <a:p/>
          <a:p>
            <a:r>
              <a:t>  The agent or application layer runs the approved function and returns the result.</a:t>
            </a:r>
          </a:p>
          <a:p/>
          <a:p>
            <a:r>
              <a:t>  Then the model decides what to do next.</a:t>
            </a:r>
          </a:p>
          <a:p/>
          <a:p>
            <a:r>
              <a:t>- An example</a:t>
            </a:r>
          </a:p>
          <a:p/>
          <a:p>
            <a:r>
              <a:t>  The model requests getOrder with orderId 1001.</a:t>
            </a:r>
          </a:p>
          <a:p/>
          <a:p>
            <a:r>
              <a:t>  The application runs GET /orders/1001 and returns JSON with orderId 1001 and status CONFIRMED.</a:t>
            </a:r>
          </a:p>
          <a:p/>
          <a:p>
            <a:r>
              <a:t>- Controlled tools</a:t>
            </a:r>
          </a:p>
          <a:p/>
          <a:p>
            <a:r>
              <a:t>  The agent exposes controlled tools, such as getOrder, cancelOrder and getInventory.</a:t>
            </a:r>
          </a:p>
          <a:p/>
          <a:p>
            <a:r>
              <a:t>  This separation matters for security, logging, validation, authorization and error handling.</a:t>
            </a:r>
          </a:p>
          <a:p/>
          <a:p>
            <a:r>
              <a:t>- What the diagram shows</a:t>
            </a:r>
          </a:p>
          <a:p/>
          <a:p>
            <a:r>
              <a:t>  An agent asking the model, the model requesting a tool, the application executing it, and the result returning to the model.</a:t>
            </a:r>
          </a:p>
          <a:p/>
          <a:p>
            <a:r>
              <a:t>- Key point</a:t>
            </a:r>
          </a:p>
          <a:p/>
          <a:p>
            <a:r>
              <a:t>  The model requests tools; the application executes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Models don't know current facts</a:t>
            </a:r>
          </a:p>
          <a:p/>
          <a:p>
            <a:r>
              <a:t>  Models don't automatically know current enterprise facts.</a:t>
            </a:r>
          </a:p>
          <a:p/>
          <a:p>
            <a:r>
              <a:t>  Relying on model memory creates a risk of hallucination, meaning confident but made-up answers.</a:t>
            </a:r>
          </a:p>
          <a:p/>
          <a:p>
            <a:r>
              <a:t>- Where answers should come from</a:t>
            </a:r>
          </a:p>
          <a:p/>
          <a:p>
            <a:r>
              <a:t>  For 'what is the status of order 1001?', the answer should come from the Order Service, not model memory.</a:t>
            </a:r>
          </a:p>
          <a:p/>
          <a:p>
            <a:r>
              <a:t>  For 'what is our refund policy?', the answer may come from enterprise knowledge.</a:t>
            </a:r>
          </a:p>
          <a:p/>
          <a:p>
            <a:r>
              <a:t>- Two kinds of grounding</a:t>
            </a:r>
          </a:p>
          <a:p/>
          <a:p>
            <a:r>
              <a:t>  Grounding means giving the model relevant trusted information at runtime.</a:t>
            </a:r>
          </a:p>
          <a:p/>
          <a:p>
            <a:r>
              <a:t>  Operational grounding uses APIs, databases through APIs, and business services.</a:t>
            </a:r>
          </a:p>
          <a:p/>
          <a:p>
            <a:r>
              <a:t>  Knowledge grounding uses documents, policies, FAQs and search indexes.</a:t>
            </a:r>
          </a:p>
          <a:p/>
          <a:p>
            <a:r>
              <a:t>- The flow</a:t>
            </a:r>
          </a:p>
          <a:p/>
          <a:p>
            <a:r>
              <a:t>  A question comes in, and the agent retrieves trusted enterprise context and gives it to the model.</a:t>
            </a:r>
          </a:p>
          <a:p/>
          <a:p>
            <a:r>
              <a:t>  The model then produces a grounded answer based on that evidence.</a:t>
            </a:r>
          </a:p>
          <a:p/>
          <a:p>
            <a:r>
              <a:t>- What the diagram shows</a:t>
            </a:r>
          </a:p>
          <a:p/>
          <a:p>
            <a:r>
              <a:t>  An agent connected to enterprise search, knowledge documents, APIs and business data, producing a grounded response.</a:t>
            </a:r>
          </a:p>
          <a:p/>
          <a:p>
            <a:r>
              <a:t>- Key point</a:t>
            </a:r>
          </a:p>
          <a:p/>
          <a:p>
            <a:r>
              <a:t>  Current facts come from enterprise systems, not model memory.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Why this part</a:t>
            </a:r>
          </a:p>
          <a:p/>
          <a:p>
            <a:r>
              <a:t>  Most agent failures are design failures: tools that are too powerful, loops that never end, state kept in the wrong place.</a:t>
            </a:r>
          </a:p>
          <a:p/>
          <a:p>
            <a:r>
              <a:t>- What comes next</a:t>
            </a:r>
          </a:p>
          <a:p/>
          <a:p>
            <a:r>
              <a:t>  Tool definitions, a bounded loop, one or many agents, and where state lives.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A core mechanism</a:t>
            </a:r>
          </a:p>
          <a:p/>
          <a:p>
            <a:r>
              <a:t>  Function calling is one of the core mechanisms behind agents.</a:t>
            </a:r>
          </a:p>
          <a:p/>
          <a:p>
            <a:r>
              <a:t>  Suppose the tools are getOrder, cancelOrder, getPayment and refundPayment.</a:t>
            </a:r>
          </a:p>
          <a:p/>
          <a:p>
            <a:r>
              <a:t>- Describing a tool</a:t>
            </a:r>
          </a:p>
          <a:p/>
          <a:p>
            <a:r>
              <a:t>  The agent is told what each tool does, which parameters it needs, and what result to expect.</a:t>
            </a:r>
          </a:p>
          <a:p/>
          <a:p>
            <a:r>
              <a:t>  A tool definition has a name, description, parameters and result.</a:t>
            </a:r>
          </a:p>
          <a:p/>
          <a:p>
            <a:r>
              <a:t>- How a call works</a:t>
            </a:r>
          </a:p>
          <a:p/>
          <a:p>
            <a:r>
              <a:t>  The prompt comes in and the model requests a function.</a:t>
            </a:r>
          </a:p>
          <a:p/>
          <a:p>
            <a:r>
              <a:t>  The application executes the function and returns the result.</a:t>
            </a:r>
          </a:p>
          <a:p/>
          <a:p>
            <a:r>
              <a:t>  Then the model continues.</a:t>
            </a:r>
          </a:p>
          <a:p/>
          <a:p>
            <a:r>
              <a:t>  Microsoft Foundry's function-calling docs follow this pattern: define and register the tools, let the agent request a call, run it in your app, then return the result.</a:t>
            </a:r>
          </a:p>
          <a:p/>
          <a:p>
            <a:r>
              <a:t>- The critical point</a:t>
            </a:r>
          </a:p>
          <a:p/>
          <a:p>
            <a:r>
              <a:t>  The agent requests the capability.</a:t>
            </a:r>
          </a:p>
          <a:p/>
          <a:p>
            <a:r>
              <a:t>  Your application stays responsible for executing it securely.</a:t>
            </a:r>
          </a:p>
          <a:p/>
          <a:p>
            <a:r>
              <a:t>  The model picks from approved capabilities; it never gets unlimited access to infrastructure.</a:t>
            </a:r>
          </a:p>
          <a:p/>
          <a:p>
            <a:r>
              <a:t>- What the diagram shows</a:t>
            </a:r>
          </a:p>
          <a:p/>
          <a:p>
            <a:r>
              <a:t>  A user goal, an agent choosing among getOrder, cancelOrder, refundPayment and checkInventory, and results returning to the agent.</a:t>
            </a:r>
          </a:p>
          <a:p/>
          <a:p>
            <a:r>
              <a:t>- Key point</a:t>
            </a:r>
          </a:p>
          <a:p/>
          <a:p>
            <a:r>
              <a:t>  Agents choose from approved tools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The read tool</a:t>
            </a:r>
          </a:p>
          <a:p/>
          <a:p>
            <a:r>
              <a:t>  get_order_status reads one order.</a:t>
            </a:r>
          </a:p>
          <a:p/>
          <a:p>
            <a:r>
              <a:t>  The pattern and additionalProperties false mean the application can reject invalid arguments.</a:t>
            </a:r>
          </a:p>
          <a:p/>
          <a:p>
            <a:r>
              <a:t>- The action tool</a:t>
            </a:r>
          </a:p>
          <a:p/>
          <a:p>
            <a:r>
              <a:t>  It doesn't cancel.</a:t>
            </a:r>
          </a:p>
          <a:p/>
          <a:p>
            <a:r>
              <a:t>  It creates a request that a person approves, so the model can't cancel an order on its own.</a:t>
            </a:r>
          </a:p>
          <a:p/>
          <a:p>
            <a:r>
              <a:t>- Descriptions</a:t>
            </a:r>
          </a:p>
          <a:p/>
          <a:p>
            <a:r>
              <a:t>  The model chooses tools from their names and descriptions, so they must say what the tool does and when not to use it.</a:t>
            </a:r>
          </a:p>
          <a:p/>
          <a:p>
            <a:r>
              <a:t>- Module 11</a:t>
            </a:r>
          </a:p>
          <a:p/>
          <a:p>
            <a:r>
              <a:t>  MCP standardizes how tools like these are described and discovered.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Explicit boundaries</a:t>
            </a:r>
          </a:p>
          <a:p/>
          <a:p>
            <a:r>
              <a:t>  An autonomous workflow needs explicit boundaries.</a:t>
            </a:r>
          </a:p>
          <a:p/>
          <a:p>
            <a:r>
              <a:t>  Ask six questions: what is the goal, what starts it, what tools exist, what decisions AI may make, what needs approval, and when it stops.</a:t>
            </a:r>
          </a:p>
          <a:p/>
          <a:p>
            <a:r>
              <a:t>- Goal, trigger, tools</a:t>
            </a:r>
          </a:p>
          <a:p/>
          <a:p>
            <a:r>
              <a:t>  The goal might be resolving delayed-order cases.</a:t>
            </a:r>
          </a:p>
          <a:p/>
          <a:p>
            <a:r>
              <a:t>  It could be triggered by an event, a schedule, a user request or an alert.</a:t>
            </a:r>
          </a:p>
          <a:p/>
          <a:p>
            <a:r>
              <a:t>  The tools might be the Order, Shipping and Notification APIs.</a:t>
            </a:r>
          </a:p>
          <a:p/>
          <a:p>
            <a:r>
              <a:t>- Decision authority</a:t>
            </a:r>
          </a:p>
          <a:p/>
          <a:p>
            <a:r>
              <a:t>  The agent may be allowed to retrieve information, categorize the delay and send a standard message.</a:t>
            </a:r>
          </a:p>
          <a:p/>
          <a:p>
            <a:r>
              <a:t>  But it should not automatically refund five thousand dollars.</a:t>
            </a:r>
          </a:p>
          <a:p/>
          <a:p>
            <a:r>
              <a:t>- The example flow</a:t>
            </a:r>
          </a:p>
          <a:p/>
          <a:p>
            <a:r>
              <a:t>  Check the order, then check the shipment.</a:t>
            </a:r>
          </a:p>
          <a:p/>
          <a:p>
            <a:r>
              <a:t>  If there is no delay, close it.</a:t>
            </a:r>
          </a:p>
          <a:p/>
          <a:p>
            <a:r>
              <a:t>  If there is, notify the customer, and if compensation is needed, get human approval.</a:t>
            </a:r>
          </a:p>
          <a:p/>
          <a:p>
            <a:r>
              <a:t>- Stop conditions</a:t>
            </a:r>
          </a:p>
          <a:p/>
          <a:p>
            <a:r>
              <a:t>  The agent must know when the task is finished.</a:t>
            </a:r>
          </a:p>
          <a:p/>
          <a:p>
            <a:r>
              <a:t>  Without a clear stop condition, an autonomous loop can waste time, API calls and money.</a:t>
            </a:r>
          </a:p>
          <a:p/>
          <a:p>
            <a:r>
              <a:t>- What the diagram shows</a:t>
            </a:r>
          </a:p>
          <a:p/>
          <a:p>
            <a:r>
              <a:t>  A trigger and goal leading to tool calls, decisions, an approval gate and a completion or stop condition.</a:t>
            </a:r>
          </a:p>
          <a:p/>
          <a:p>
            <a:r>
              <a:t>- Key point</a:t>
            </a:r>
          </a:p>
          <a:p/>
          <a:p>
            <a:r>
              <a:t>  Every autonomous workflow needs an approval gate and a stop condition.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The loop</a:t>
            </a:r>
          </a:p>
          <a:p/>
          <a:p>
            <a:r>
              <a:t>  Each turn, the model either answers or requests a tool.</a:t>
            </a:r>
          </a:p>
          <a:p/>
          <a:p>
            <a:r>
              <a:t>  The runner, not the model, decides what happens next.</a:t>
            </a:r>
          </a:p>
          <a:p/>
          <a:p>
            <a:r>
              <a:t>- Allow-list</a:t>
            </a:r>
          </a:p>
          <a:p/>
          <a:p>
            <a:r>
              <a:t>  Only tools the user is allowed to use are offered, and each call is checked again.</a:t>
            </a:r>
          </a:p>
          <a:p/>
          <a:p>
            <a:r>
              <a:t>- Approval</a:t>
            </a:r>
          </a:p>
          <a:p/>
          <a:p>
            <a:r>
              <a:t>  A state-changing call ends the automatic run and waits for a person.</a:t>
            </a:r>
          </a:p>
          <a:p/>
          <a:p>
            <a:r>
              <a:t>- Limits</a:t>
            </a:r>
          </a:p>
          <a:p/>
          <a:p>
            <a:r>
              <a:t>  A maximum number of steps and a time budget guarantee the loop ends, even if the model keeps asking for tools.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Often the simplest</a:t>
            </a:r>
          </a:p>
          <a:p/>
          <a:p>
            <a:r>
              <a:t>  A single-agent pattern is often the simplest architecture.</a:t>
            </a:r>
          </a:p>
          <a:p/>
          <a:p>
            <a:r>
              <a:t>  One Order Support Agent owns the goal of resolving an order support request.</a:t>
            </a:r>
          </a:p>
          <a:p/>
          <a:p>
            <a:r>
              <a:t>- Several tools</a:t>
            </a:r>
          </a:p>
          <a:p/>
          <a:p>
            <a:r>
              <a:t>  It uses several tools: getOrder, getShipment, then it works out the status.</a:t>
            </a:r>
          </a:p>
          <a:p/>
          <a:p>
            <a:r>
              <a:t>  Then it calls sendNotification and returns a resolution.</a:t>
            </a:r>
          </a:p>
          <a:p/>
          <a:p>
            <a:r>
              <a:t>- Advantages</a:t>
            </a:r>
          </a:p>
          <a:p/>
          <a:p>
            <a:r>
              <a:t>  It is a simple mental model and easier to debug.</a:t>
            </a:r>
          </a:p>
          <a:p/>
          <a:p>
            <a:r>
              <a:t>  There are fewer handoffs, and it is easier to observe and to control access.</a:t>
            </a:r>
          </a:p>
          <a:p/>
          <a:p>
            <a:r>
              <a:t>- Start here</a:t>
            </a:r>
          </a:p>
          <a:p/>
          <a:p>
            <a:r>
              <a:t>  Start with one agent unless specialization gives a clear advantage.</a:t>
            </a:r>
          </a:p>
          <a:p/>
          <a:p>
            <a:r>
              <a:t>- What the diagram shows</a:t>
            </a:r>
          </a:p>
          <a:p/>
          <a:p>
            <a:r>
              <a:t>  One Order Support Agent coordinating the Order, Shipping, Notification and Payment APIs.</a:t>
            </a:r>
          </a:p>
          <a:p/>
          <a:p>
            <a:r>
              <a:t>- Key point</a:t>
            </a:r>
          </a:p>
          <a:p/>
          <a:p>
            <a:r>
              <a:t>  One agent owning the goal is the simplest place to start.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Specialized agents</a:t>
            </a:r>
          </a:p>
          <a:p/>
          <a:p>
            <a:r>
              <a:t>  A multi-agent system gives each agent a specialty.</a:t>
            </a:r>
          </a:p>
          <a:p/>
          <a:p>
            <a:r>
              <a:t>  The Order Agent knows the order lifecycle and cancellation rules.</a:t>
            </a:r>
          </a:p>
          <a:p/>
          <a:p>
            <a:r>
              <a:t>  The Payment Agent knows capture, refunds and payment status, and the Shipping Agent knows shipment status and carrier information.</a:t>
            </a:r>
          </a:p>
          <a:p/>
          <a:p>
            <a:r>
              <a:t>- The supervisor</a:t>
            </a:r>
          </a:p>
          <a:p/>
          <a:p>
            <a:r>
              <a:t>  A supervisor agent takes the goal, delegates to the specialists, collects their results and resolves the case.</a:t>
            </a:r>
          </a:p>
          <a:p/>
          <a:p>
            <a:r>
              <a:t>- A warning</a:t>
            </a:r>
          </a:p>
          <a:p/>
          <a:p>
            <a:r>
              <a:t>  More agents does not mean better architecture.</a:t>
            </a:r>
          </a:p>
          <a:p/>
          <a:p>
            <a:r>
              <a:t>  Multi-agent systems add coordination complexity, latency, state and cost.</a:t>
            </a:r>
          </a:p>
          <a:p/>
          <a:p>
            <a:r>
              <a:t>  They also make debugging harder and add security boundaries.</a:t>
            </a:r>
          </a:p>
          <a:p/>
          <a:p>
            <a:r>
              <a:t>- When to use it</a:t>
            </a:r>
          </a:p>
          <a:p/>
          <a:p>
            <a:r>
              <a:t>  Use them when specialization actually helps.</a:t>
            </a:r>
          </a:p>
          <a:p/>
          <a:p>
            <a:r>
              <a:t>  If one deterministic workflow works, don't add five agents just because multi-agent sounds advanced.</a:t>
            </a:r>
          </a:p>
          <a:p/>
          <a:p>
            <a:r>
              <a:t>- What the diagram shows</a:t>
            </a:r>
          </a:p>
          <a:p/>
          <a:p>
            <a:r>
              <a:t>  A supervisor agent coordinating specialized Order, Payment and Shipping agents.</a:t>
            </a:r>
          </a:p>
          <a:p/>
          <a:p>
            <a:r>
              <a:t>- Key point</a:t>
            </a:r>
          </a:p>
          <a:p/>
          <a:p>
            <a:r>
              <a:t>  Specialized agents help complex domains, at extra cost and complexity.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Three layers</a:t>
            </a:r>
          </a:p>
          <a:p/>
          <a:p>
            <a:r>
              <a:t>  Short-term context is the current conversation, such as 'earlier the user said order 1001'.</a:t>
            </a:r>
          </a:p>
          <a:p/>
          <a:p>
            <a:r>
              <a:t>  Workflow state tracks progress, like orderChecked true and paymentChecked false.</a:t>
            </a:r>
          </a:p>
          <a:p/>
          <a:p>
            <a:r>
              <a:t>  Business state is the authoritative enterprise data.</a:t>
            </a:r>
          </a:p>
          <a:p/>
          <a:p>
            <a:r>
              <a:t>- Don't confuse them</a:t>
            </a:r>
          </a:p>
          <a:p/>
          <a:p>
            <a:r>
              <a:t>  Do not confuse AI memory with source-of-truth business data.</a:t>
            </a:r>
          </a:p>
          <a:p/>
          <a:p>
            <a:r>
              <a:t>  Order status, payment status and inventory quantity must come from the Order, Payment and Inventory services.</a:t>
            </a:r>
          </a:p>
          <a:p/>
          <a:p>
            <a:r>
              <a:t>- An example</a:t>
            </a:r>
          </a:p>
          <a:p/>
          <a:p>
            <a:r>
              <a:t>  Order status SHIPPED should come from the Order service and its database.</a:t>
            </a:r>
          </a:p>
          <a:p/>
          <a:p>
            <a:r>
              <a:t>  It should not come from something the model remembers from the conversation.</a:t>
            </a:r>
          </a:p>
          <a:p/>
          <a:p>
            <a:r>
              <a:t>- Link to Module 5</a:t>
            </a:r>
          </a:p>
          <a:p/>
          <a:p>
            <a:r>
              <a:t>  This keeps the data-ownership principles from Module 5.</a:t>
            </a:r>
          </a:p>
          <a:p/>
          <a:p>
            <a:r>
              <a:t>- What the diagram shows</a:t>
            </a:r>
          </a:p>
          <a:p/>
          <a:p>
            <a:r>
              <a:t>  Conversation context, workflow state and the authoritative business state, kept separate.</a:t>
            </a:r>
          </a:p>
          <a:p/>
          <a:p>
            <a:r>
              <a:t>- Key point</a:t>
            </a:r>
          </a:p>
          <a:p/>
          <a:p>
            <a:r>
              <a:t>  Services own the business facts; the agent only tracks its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Tools</a:t>
            </a:r>
          </a:p>
          <a:p/>
          <a:p>
            <a:r>
              <a:t>  Lookups are read tools.</a:t>
            </a:r>
          </a:p>
          <a:p/>
          <a:p>
            <a:r>
              <a:t>  Reships and refunds are action tools that create requests rather than acting directly.</a:t>
            </a:r>
          </a:p>
          <a:p/>
          <a:p>
            <a:r>
              <a:t>- Approval</a:t>
            </a:r>
          </a:p>
          <a:p/>
          <a:p>
            <a:r>
              <a:t>  Refunds always need approval; reships may be automatic below a value limit set by the business.</a:t>
            </a:r>
          </a:p>
          <a:p/>
          <a:p>
            <a:r>
              <a:t>- Stop conditions</a:t>
            </a:r>
          </a:p>
          <a:p/>
          <a:p>
            <a:r>
              <a:t>  Stop when resolved, after a step or time limit, or when the request is unclear or out of policy — then hand over to a person.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Why this part</a:t>
            </a:r>
          </a:p>
          <a:p/>
          <a:p>
            <a:r>
              <a:t>  This is where agents meet everything from Modules 1–8: boundaries, APIs, events and security.</a:t>
            </a:r>
          </a:p>
          <a:p/>
          <a:p>
            <a:r>
              <a:t>- What comes next</a:t>
            </a:r>
          </a:p>
          <a:p/>
          <a:p>
            <a:r>
              <a:t>  Orchestrating API calls, exposing a safe tool endpoint, using the gateway and events, and a support scenario.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Where agents meet microservices</a:t>
            </a:r>
          </a:p>
          <a:p/>
          <a:p>
            <a:r>
              <a:t>  This is where agentic AI becomes relevant to microservices.</a:t>
            </a:r>
          </a:p>
          <a:p/>
          <a:p>
            <a:r>
              <a:t>  The user says: cancel order 1001 and refund it if the payment has already been captured.</a:t>
            </a:r>
          </a:p>
          <a:p/>
          <a:p>
            <a:r>
              <a:t>- The decision path</a:t>
            </a:r>
          </a:p>
          <a:p/>
          <a:p>
            <a:r>
              <a:t>  The agent gets the order status and asks if cancellation is allowed; if not, it explains why.</a:t>
            </a:r>
          </a:p>
          <a:p/>
          <a:p>
            <a:r>
              <a:t>  If yes, it cancels the order and gets the payment status.</a:t>
            </a:r>
          </a:p>
          <a:p/>
          <a:p>
            <a:r>
              <a:t>  If the payment wasn't captured, it finishes.</a:t>
            </a:r>
          </a:p>
          <a:p/>
          <a:p>
            <a:r>
              <a:t>  If it was, it refunds, verifies the result and responds.</a:t>
            </a:r>
          </a:p>
          <a:p/>
          <a:p>
            <a:r>
              <a:t>- Intent to APIs</a:t>
            </a:r>
          </a:p>
          <a:p/>
          <a:p>
            <a:r>
              <a:t>  The user gives business intent: cancel and refund if appropriate.</a:t>
            </a:r>
          </a:p>
          <a:p/>
          <a:p>
            <a:r>
              <a:t>  The system offers technical capabilities: GET the order, PATCH to cancel, GET the payment, POST a refund.</a:t>
            </a:r>
          </a:p>
          <a:p/>
          <a:p>
            <a:r>
              <a:t>  The agent maps intent to a sequence of API decisions.</a:t>
            </a:r>
          </a:p>
          <a:p/>
          <a:p>
            <a:r>
              <a:t>- Still bound by rules</a:t>
            </a:r>
          </a:p>
          <a:p/>
          <a:p>
            <a:r>
              <a:t>  This differs from a hard-coded workflow because the model may choose tools based on context.</a:t>
            </a:r>
          </a:p>
          <a:p/>
          <a:p>
            <a:r>
              <a:t>  But every action must still obey business rules.</a:t>
            </a:r>
          </a:p>
          <a:p/>
          <a:p>
            <a:r>
              <a:t>- What the diagram shows</a:t>
            </a:r>
          </a:p>
          <a:p/>
          <a:p>
            <a:r>
              <a:t>  “Cancel the order and refund if captured”: the agent checks the order, cancels it, checks the payment and refunds only if needed.</a:t>
            </a:r>
          </a:p>
          <a:p/>
          <a:p>
            <a:r>
              <a:t>- Key point</a:t>
            </a:r>
          </a:p>
          <a:p/>
          <a:p>
            <a:r>
              <a:t>  The agent maps intent to a sequence of API decisions.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Authorization</a:t>
            </a:r>
          </a:p>
          <a:p/>
          <a:p>
            <a:r>
              <a:t>  The caller's token must carry a narrow scope for requesting cancellations, not a broad admin role.</a:t>
            </a:r>
          </a:p>
          <a:p/>
          <a:p>
            <a:r>
              <a:t>- Idempotency</a:t>
            </a:r>
          </a:p>
          <a:p/>
          <a:p>
            <a:r>
              <a:t>  Agents retry.</a:t>
            </a:r>
          </a:p>
          <a:p/>
          <a:p>
            <a:r>
              <a:t>  The Idempotency-Key makes a repeated call return the same pending request.</a:t>
            </a:r>
          </a:p>
          <a:p/>
          <a:p>
            <a:r>
              <a:t>- Approval</a:t>
            </a:r>
          </a:p>
          <a:p/>
          <a:p>
            <a:r>
              <a:t>  The endpoint returns 202 with a pending request.</a:t>
            </a:r>
          </a:p>
          <a:p/>
          <a:p>
            <a:r>
              <a:t>  A separate, human-only endpoint approves it.</a:t>
            </a:r>
          </a:p>
          <a:p/>
          <a:p>
            <a:r>
              <a:t>- Audit</a:t>
            </a:r>
          </a:p>
          <a:p/>
          <a:p>
            <a:r>
              <a:t>  Every request records who asked, for which order and when.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Boundaries stay valid</a:t>
            </a:r>
          </a:p>
          <a:p/>
          <a:p>
            <a:r>
              <a:t>  Connect back to Module 2: microservice boundaries still apply.</a:t>
            </a:r>
          </a:p>
          <a:p/>
          <a:p>
            <a:r>
              <a:t>  The flow is user or Copilot, AI agent, API gateway, then the Order, Payment, Inventory and Shipping services, each with its own database.</a:t>
            </a:r>
          </a:p>
          <a:p/>
          <a:p>
            <a:r>
              <a:t>- Bad design</a:t>
            </a:r>
          </a:p>
          <a:p/>
          <a:p>
            <a:r>
              <a:t>  A bad design lets the agent run SQL directly against the Order database and the Payment database.</a:t>
            </a:r>
          </a:p>
          <a:p/>
          <a:p>
            <a:r>
              <a:t>- Better design</a:t>
            </a:r>
          </a:p>
          <a:p/>
          <a:p>
            <a:r>
              <a:t>  A better design has the agent go through the API gateway and approved tools to reach the Order and Payment services.</a:t>
            </a:r>
          </a:p>
          <a:p/>
          <a:p>
            <a:r>
              <a:t>- Why</a:t>
            </a:r>
          </a:p>
          <a:p/>
          <a:p>
            <a:r>
              <a:t>  The service layer owns validation, authorization, business rules, transactions and data ownership.</a:t>
            </a:r>
          </a:p>
          <a:p/>
          <a:p>
            <a:r>
              <a:t>  Agentic AI should not destroy the architecture that microservices established.</a:t>
            </a:r>
          </a:p>
          <a:p/>
          <a:p>
            <a:r>
              <a:t>- What the diagram shows</a:t>
            </a:r>
          </a:p>
          <a:p/>
          <a:p>
            <a:r>
              <a:t>  A user or Copilot calling an agent, which goes through the API gateway to the Order, Payment, Inventory and Shipping services and their own databases.</a:t>
            </a:r>
          </a:p>
          <a:p/>
          <a:p>
            <a:r>
              <a:t>- Key point</a:t>
            </a:r>
          </a:p>
          <a:p/>
          <a:p>
            <a:r>
              <a:t>  Agents respect the same service boundaries as any client.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Not only chat</a:t>
            </a:r>
          </a:p>
          <a:p/>
          <a:p>
            <a:r>
              <a:t>  Agents don't have to start from a chat message.</a:t>
            </a:r>
          </a:p>
          <a:p/>
          <a:p>
            <a:r>
              <a:t>  They can be triggered by events, schedules, alerts or workflow state changes.</a:t>
            </a:r>
          </a:p>
          <a:p/>
          <a:p>
            <a:r>
              <a:t>- An event-driven example</a:t>
            </a:r>
          </a:p>
          <a:p/>
          <a:p>
            <a:r>
              <a:t>  A ShipmentDelayed event is published to the message broker, and a support agent receives it.</a:t>
            </a:r>
          </a:p>
          <a:p/>
          <a:p>
            <a:r>
              <a:t>  It gets the order and shipment, and works out how serious the delay is.</a:t>
            </a:r>
          </a:p>
          <a:p/>
          <a:p>
            <a:r>
              <a:t>  It notifies the customer, escalates if it's a high-value order, and publishes a resolution event.</a:t>
            </a:r>
          </a:p>
          <a:p/>
          <a:p>
            <a:r>
              <a:t>- Microsoft tooling</a:t>
            </a:r>
          </a:p>
          <a:p/>
          <a:p>
            <a:r>
              <a:t>  Copilot Studio supports autonomous agents with triggers and actions.</a:t>
            </a:r>
          </a:p>
          <a:p/>
          <a:p>
            <a:r>
              <a:t>  Its workflows can include conditions, loops, flows built in natural language, and agent steps that need AI reasoning or tools.</a:t>
            </a:r>
          </a:p>
          <a:p/>
          <a:p>
            <a:r>
              <a:t>- Link to Module 4</a:t>
            </a:r>
          </a:p>
          <a:p/>
          <a:p>
            <a:r>
              <a:t>  Event-driven architecture plus agent reasoning gives an event-driven agentic workflow.</a:t>
            </a:r>
          </a:p>
          <a:p/>
          <a:p>
            <a:r>
              <a:t>- What the diagram shows</a:t>
            </a:r>
          </a:p>
          <a:p/>
          <a:p>
            <a:r>
              <a:t>  A business event on the message broker triggering an agent, which calls APIs, decides, acts and publishes a resolution event.</a:t>
            </a:r>
          </a:p>
          <a:p/>
          <a:p>
            <a:r>
              <a:t>- Key point</a:t>
            </a:r>
          </a:p>
          <a:p/>
          <a:p>
            <a:r>
              <a:t>  Events can start agents, and agents can publish events.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APIs</a:t>
            </a:r>
          </a:p>
          <a:p/>
          <a:p>
            <a:r>
              <a:t>  Only read tools are needed: payment status, the transaction and the order.</a:t>
            </a:r>
          </a:p>
          <a:p/>
          <a:p>
            <a:r>
              <a:t>- Data and sending</a:t>
            </a:r>
          </a:p>
          <a:p/>
          <a:p>
            <a:r>
              <a:t>  Mask account numbers and personal data in the prompt and the draft.</a:t>
            </a:r>
          </a:p>
          <a:p/>
          <a:p>
            <a:r>
              <a:t>  A support agent reviews and sends the reply.</a:t>
            </a:r>
          </a:p>
          <a:p/>
          <a:p>
            <a:r>
              <a:t>- Failure</a:t>
            </a:r>
          </a:p>
          <a:p/>
          <a:p>
            <a:r>
              <a:t>  If Transaction Service is unavailable, the assistant reports that it couldn't check, rather than inventing a reason.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Why this part</a:t>
            </a:r>
          </a:p>
          <a:p/>
          <a:p>
            <a:r>
              <a:t>  In banking, an agent's action must be as controlled and explainable as a person's.</a:t>
            </a:r>
          </a:p>
          <a:p/>
          <a:p>
            <a:r>
              <a:t>- What comes next</a:t>
            </a:r>
          </a:p>
          <a:p/>
          <a:p>
            <a:r>
              <a:t>  Approval gates, the model-policy boundary from Lab 5, reliability, use cases and the full picture.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Security is not optional</a:t>
            </a:r>
          </a:p>
          <a:p/>
          <a:p>
            <a:r>
              <a:t>  A tool request passes through authentication, authorization and a policy check.</a:t>
            </a:r>
          </a:p>
          <a:p/>
          <a:p>
            <a:r>
              <a:t>  If it's high-risk, it needs human approval before it executes, and everything is audited.</a:t>
            </a:r>
          </a:p>
          <a:p/>
          <a:p>
            <a:r>
              <a:t>- Identity and least privilege</a:t>
            </a:r>
          </a:p>
          <a:p/>
          <a:p>
            <a:r>
              <a:t>  Authentication asks who or what the agent is acting as.</a:t>
            </a:r>
          </a:p>
          <a:p/>
          <a:p>
            <a:r>
              <a:t>  Authorization asks what that identity may do.</a:t>
            </a:r>
          </a:p>
          <a:p/>
          <a:p>
            <a:r>
              <a:t>  An order-support agent should not get database admin, cluster admin or payroll access.</a:t>
            </a:r>
          </a:p>
          <a:p/>
          <a:p>
            <a:r>
              <a:t>- Allow-lists and approval</a:t>
            </a:r>
          </a:p>
          <a:p/>
          <a:p>
            <a:r>
              <a:t>  Expose only approved operations through a tool allow-list.</a:t>
            </a:r>
          </a:p>
          <a:p/>
          <a:p>
            <a:r>
              <a:t>  A high-risk action like a five-thousand-dollar refund may need approval; a low-risk action like getting shipment status may not.</a:t>
            </a:r>
          </a:p>
          <a:p/>
          <a:p>
            <a:r>
              <a:t>- Audit trail</a:t>
            </a:r>
          </a:p>
          <a:p/>
          <a:p>
            <a:r>
              <a:t>  Record who asked, what the agent decided, which tool it called, with what parameters, and what happened.</a:t>
            </a:r>
          </a:p>
          <a:p/>
          <a:p>
            <a:r>
              <a:t>  Also apply input and output validation, data isolation, rate limits and secret management.</a:t>
            </a:r>
          </a:p>
          <a:p/>
          <a:p>
            <a:r>
              <a:t>- Microsoft guidance</a:t>
            </a:r>
          </a:p>
          <a:p/>
          <a:p>
            <a:r>
              <a:t>  Microsoft's guidance for autonomous agents stresses triggers, instructions and guardrails.</a:t>
            </a:r>
          </a:p>
          <a:p/>
          <a:p>
            <a:r>
              <a:t>  It is also adding safe-sharing controls to reduce unsafe sharing of identities or credentials in agent workflows.</a:t>
            </a:r>
          </a:p>
          <a:p/>
          <a:p>
            <a:r>
              <a:t>- What the diagram shows</a:t>
            </a:r>
          </a:p>
          <a:p/>
          <a:p>
            <a:r>
              <a:t>  An agent decision passing authentication, authorization and a policy check, then human approval if needed, execution and audit.</a:t>
            </a:r>
          </a:p>
          <a:p/>
          <a:p>
            <a:r>
              <a:t>- Key point</a:t>
            </a:r>
          </a:p>
          <a:p/>
          <a:p>
            <a:r>
              <a:t>  Every agent action is identified, authorized, checked and audited.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ModelClient</a:t>
            </a:r>
          </a:p>
          <a:p/>
          <a:p>
            <a:r>
              <a:t>  It calls the model endpoint with a minimal request.</a:t>
            </a:r>
          </a:p>
          <a:p/>
          <a:p>
            <a:r>
              <a:t>  A timeout or server error returns an unavailable result instead of throwing.</a:t>
            </a:r>
          </a:p>
          <a:p/>
          <a:p>
            <a:r>
              <a:t>- PolicyEngine</a:t>
            </a:r>
          </a:p>
          <a:p/>
          <a:p>
            <a:r>
              <a:t>  The Java policy table from Module 9 turns the score into a decision.</a:t>
            </a:r>
          </a:p>
          <a:p/>
          <a:p>
            <a:r>
              <a:t>  Model unavailable always becomes HOLD.</a:t>
            </a:r>
          </a:p>
          <a:p/>
          <a:p>
            <a:r>
              <a:t>- Human review</a:t>
            </a:r>
          </a:p>
          <a:p/>
          <a:p>
            <a:r>
              <a:t>  HOLD assessments stay pending until someone with risk.write approves or declines them.</a:t>
            </a:r>
          </a:p>
          <a:p/>
          <a:p>
            <a:r>
              <a:t>- The principle</a:t>
            </a:r>
          </a:p>
          <a:p/>
          <a:p>
            <a:r>
              <a:t>  The AI never approves money movement on its 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Official checkpoint</a:t>
            </a:r>
          </a:p>
          <a:p/>
          <a:p>
            <a:r>
              <a:t>  This is the official OUTLINE.md checkpoint.</a:t>
            </a:r>
          </a:p>
          <a:p/>
          <a:p>
            <a:r>
              <a:t>  Use the worksheet in labs/day-05/exercises.</a:t>
            </a:r>
          </a:p>
          <a:p/>
          <a:p>
            <a:r>
              <a:t>- The boundary</a:t>
            </a:r>
          </a:p>
          <a:p/>
          <a:p>
            <a:r>
              <a:t>  The model scores, the Java policy decides, and a person reviews every HOLD.</a:t>
            </a:r>
          </a:p>
          <a:p/>
          <a:p>
            <a:r>
              <a:t>- Failure</a:t>
            </a:r>
          </a:p>
          <a:p/>
          <a:p>
            <a:r>
              <a:t>  When the model times out or errors, the result is HOLD MODEL_UNAVAILABLE — never an automatic approval.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Two uncertain layers</a:t>
            </a:r>
          </a:p>
          <a:p/>
          <a:p>
            <a:r>
              <a:t>  Agentic systems combine AI reasoning with distributed systems, and both can fail in surprising ways.</a:t>
            </a:r>
          </a:p>
          <a:p/>
          <a:p>
            <a:r>
              <a:t>  So Module 6 becomes very relevant.</a:t>
            </a:r>
          </a:p>
          <a:p/>
          <a:p>
            <a:r>
              <a:t>- Timeouts and retries</a:t>
            </a:r>
          </a:p>
          <a:p/>
          <a:p>
            <a:r>
              <a:t>  What if the Payment API takes too long?</a:t>
            </a:r>
          </a:p>
          <a:p/>
          <a:p>
            <a:r>
              <a:t>  That needs a timeout.</a:t>
            </a:r>
          </a:p>
          <a:p/>
          <a:p>
            <a:r>
              <a:t>  Should the call be retried?</a:t>
            </a:r>
          </a:p>
          <a:p/>
          <a:p>
            <a:r>
              <a:t>  Be careful with actions that change data.</a:t>
            </a:r>
          </a:p>
          <a:p/>
          <a:p>
            <a:r>
              <a:t>  refundPayment must be idempotent, meaning a repeat call does no extra harm, or be protected against duplicates.</a:t>
            </a:r>
          </a:p>
          <a:p/>
          <a:p>
            <a:r>
              <a:t>- Circuit breakers and fallback</a:t>
            </a:r>
          </a:p>
          <a:p/>
          <a:p>
            <a:r>
              <a:t>  What happens when the Shipping Service is down?</a:t>
            </a:r>
          </a:p>
          <a:p/>
          <a:p>
            <a:r>
              <a:t>  A circuit breaker stops calling it for a while.</a:t>
            </a:r>
          </a:p>
          <a:p/>
          <a:p>
            <a:r>
              <a:t>  A sensible fallback may be to escalate the case to a human instead of retrying again and again.</a:t>
            </a:r>
          </a:p>
          <a:p/>
          <a:p>
            <a:r>
              <a:t>- Observability</a:t>
            </a:r>
          </a:p>
          <a:p/>
          <a:p>
            <a:r>
              <a:t>  Record the goal, agent decision, tool chosen, arguments, result, latency, errors, tokens and cost, and outcome.</a:t>
            </a:r>
          </a:p>
          <a:p/>
          <a:p>
            <a:r>
              <a:t>  Traditional tracing asks which service failed.</a:t>
            </a:r>
          </a:p>
          <a:p/>
          <a:p>
            <a:r>
              <a:t>  Agent tracing also asks why the agent chose that tool, what context it had, and what result shaped the next decision.</a:t>
            </a:r>
          </a:p>
          <a:p/>
          <a:p>
            <a:r>
              <a:t>- What the diagram shows</a:t>
            </a:r>
          </a:p>
          <a:p/>
          <a:p>
            <a:r>
              <a:t>  An agent's tool calls protected by timeouts, retries and fallbacks, plus logs, traces, latency, token cost, tool decisions and outcomes.</a:t>
            </a:r>
          </a:p>
          <a:p/>
          <a:p>
            <a:r>
              <a:t>- Key point</a:t>
            </a:r>
          </a:p>
          <a:p/>
          <a:p>
            <a:r>
              <a:t>  Make the reasoning path as observable as the service calls.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Order support and incidents</a:t>
            </a:r>
          </a:p>
          <a:p/>
          <a:p>
            <a:r>
              <a:t>  An order support agent answers 'where is my order?' by combining the Order, Payment and Shipping services.</a:t>
            </a:r>
          </a:p>
          <a:p/>
          <a:p>
            <a:r>
              <a:t>  An incident response agent reacts to an error-rate alert: it checks metrics, looks at recent deployments and summarizes the likely cause.</a:t>
            </a:r>
          </a:p>
          <a:p/>
          <a:p>
            <a:r>
              <a:t>  Destructive fixes stay behind approval.</a:t>
            </a:r>
          </a:p>
          <a:p/>
          <a:p>
            <a:r>
              <a:t>- Developer operations</a:t>
            </a:r>
          </a:p>
          <a:p/>
          <a:p>
            <a:r>
              <a:t>  A developer operations agent can get pipeline status, deployment status, pod failures and logs from Git, CI/CD and OpenShift.</a:t>
            </a:r>
          </a:p>
          <a:p/>
          <a:p>
            <a:r>
              <a:t>- Customer service and inventory</a:t>
            </a:r>
          </a:p>
          <a:p/>
          <a:p>
            <a:r>
              <a:t>  A customer service agent handles a ticket using customer, billing and order data.</a:t>
            </a:r>
          </a:p>
          <a:p/>
          <a:p>
            <a:r>
              <a:t>  An inventory exception agent reacts to LowStockDetected and recommends restocking with supplier data.</a:t>
            </a:r>
          </a:p>
          <a:p/>
          <a:p>
            <a:r>
              <a:t>- API orchestration</a:t>
            </a:r>
          </a:p>
          <a:p/>
          <a:p>
            <a:r>
              <a:t>  An API orchestration agent turns a business goal in natural language into a controlled API workflow.</a:t>
            </a:r>
          </a:p>
          <a:p/>
          <a:p>
            <a:r>
              <a:t>  This is one of the strongest business cases for agentic AI.</a:t>
            </a:r>
          </a:p>
          <a:p/>
          <a:p>
            <a:r>
              <a:t>- What the diagram shows</a:t>
            </a:r>
          </a:p>
          <a:p/>
          <a:p>
            <a:r>
              <a:t>  Six panels: order support, incident response, DevOps, customer service, inventory and API orchestration.</a:t>
            </a:r>
          </a:p>
          <a:p/>
          <a:p>
            <a:r>
              <a:t>- Key point</a:t>
            </a:r>
          </a:p>
          <a:p/>
          <a:p>
            <a:r>
              <a:t>  Agents add value where one goal spans several services.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Goal, interface, agent</a:t>
            </a:r>
          </a:p>
          <a:p/>
          <a:p>
            <a:r>
              <a:t>  A goal comes from a user or a business event, like OrderDelayed.</a:t>
            </a:r>
          </a:p>
          <a:p/>
          <a:p>
            <a:r>
              <a:t>  Copilot or another interface presents the agent, but the interface isn't the intelligence itself.</a:t>
            </a:r>
          </a:p>
          <a:p/>
          <a:p>
            <a:r>
              <a:t>  The agent gets instructions, such as never refunding over five hundred dollars without approval, plus state and guardrails.</a:t>
            </a:r>
          </a:p>
          <a:p/>
          <a:p>
            <a:r>
              <a:t>- Model and tools</a:t>
            </a:r>
          </a:p>
          <a:p/>
          <a:p>
            <a:r>
              <a:t>  The model, through Microsoft Foundry, reasons over the goal: what do I know, what do I need, which tool should I use?</a:t>
            </a:r>
          </a:p>
          <a:p/>
          <a:p>
            <a:r>
              <a:t>  The agent calls approved tools like getOrder, getPayment, cancelOrder, refundPayment and getShipment.</a:t>
            </a:r>
          </a:p>
          <a:p/>
          <a:p>
            <a:r>
              <a:t>- Services stay authoritative</a:t>
            </a:r>
          </a:p>
          <a:p/>
          <a:p>
            <a:r>
              <a:t>  Tools call the Spring Boot services, which still enforce domain rules, transactions, authorization and data ownership.</a:t>
            </a:r>
          </a:p>
          <a:p/>
          <a:p>
            <a:r>
              <a:t>  Each service owns its database.</a:t>
            </a:r>
          </a:p>
          <a:p/>
          <a:p>
            <a:r>
              <a:t>  Messaging events like OrderCreated, ShipmentDelayed or PaymentFailed can start or continue workflows.</a:t>
            </a:r>
          </a:p>
          <a:p/>
          <a:p>
            <a:r>
              <a:t>- Approval and observability</a:t>
            </a:r>
          </a:p>
          <a:p/>
          <a:p>
            <a:r>
              <a:t>  High-risk actions need approval: the agent recommends a refund, a human approves, then it runs.</a:t>
            </a:r>
          </a:p>
          <a:p/>
          <a:p>
            <a:r>
              <a:t>  Record the trigger, tool decision, API call, result, latency, failures and final outcome, and feed that back.</a:t>
            </a:r>
          </a:p>
          <a:p/>
          <a:p>
            <a:r>
              <a:t>- Final message</a:t>
            </a:r>
          </a:p>
          <a:p/>
          <a:p>
            <a:r>
              <a:t>  Agentic AI adds an intelligent orchestration layer above enterprise capabilities.</a:t>
            </a:r>
          </a:p>
          <a:p/>
          <a:p>
            <a:r>
              <a:t>  Spring Boot microservices stay authoritative for business logic and data.</a:t>
            </a:r>
          </a:p>
          <a:p/>
          <a:p>
            <a:r>
              <a:t>  Identity, authorization, guardrails, human approval, observability and auditing decide how much autonomy the agent really gets.</a:t>
            </a:r>
          </a:p>
          <a:p/>
          <a:p>
            <a:r>
              <a:t>- What the diagram shows</a:t>
            </a:r>
          </a:p>
          <a:p/>
          <a:p>
            <a:r>
              <a:t>  A user or event reaching Copilot and an agent with instructions, state and guardrails, Microsoft Foundry and a model, tools reaching search, the gateway and broker, Spring Boot services and databases, with approval, audit and observability.</a:t>
            </a:r>
          </a:p>
          <a:p/>
          <a:p>
            <a:r>
              <a:t>- Key point</a:t>
            </a:r>
          </a:p>
          <a:p/>
          <a:p>
            <a:r>
              <a:t>  Agents orchestrate above the services — never around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Why this slide</a:t>
            </a:r>
          </a:p>
          <a:p/>
          <a:p>
            <a:r>
              <a:t>  Before the knowledge check, clear away the beliefs behind most unsafe agent designs.</a:t>
            </a:r>
          </a:p>
          <a:p/>
          <a:p>
            <a:r>
              <a:t>- Authority</a:t>
            </a:r>
          </a:p>
          <a:p/>
          <a:p>
            <a:r>
              <a:t>  The model advises.</a:t>
            </a:r>
          </a:p>
          <a:p/>
          <a:p>
            <a:r>
              <a:t>  Policy, services and people make the binding decisions.</a:t>
            </a:r>
          </a:p>
          <a:p/>
          <a:p>
            <a:r>
              <a:t>- Design</a:t>
            </a:r>
          </a:p>
          <a:p/>
          <a:p>
            <a:r>
              <a:t>  Multi-agent systems add cost and failure modes, and business facts belong in services, not the agent's memory.</a:t>
            </a:r>
          </a:p>
          <a:p/>
          <a:p>
            <a:r>
              <a:t>- Anti-patterns</a:t>
            </a:r>
          </a:p>
          <a:p/>
          <a:p>
            <a:r>
              <a:t>  Database access, super-user tokens, unbounded loops, unmasked data, auto-executed high-risk actions and untraced decisions.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- 1. Agentic AI</a:t>
            </a:r>
          </a:p>
          <a:p/>
          <a:p>
            <a:r>
              <a:t>  AI that uses models, goals, tools and multi-step reasoning to complete tasks.</a:t>
            </a:r>
          </a:p>
          <a:p/>
          <a:p>
            <a:r>
              <a:t>- 2. Agent vs. chatbot</a:t>
            </a:r>
          </a:p>
          <a:p/>
          <a:p>
            <a:r>
              <a:t>  An agent uses tools and continues through a workflow; a chatbot usually just answers.</a:t>
            </a:r>
          </a:p>
          <a:p/>
          <a:p>
            <a:r>
              <a:t>- 3. Limited tools</a:t>
            </a:r>
          </a:p>
          <a:p/>
          <a:p>
            <a:r>
              <a:t>  They reduce risk and enforce least privilege.</a:t>
            </a:r>
          </a:p>
          <a:p/>
          <a:p>
            <a:r>
              <a:t>- 4. Human-in-the-loop</a:t>
            </a:r>
          </a:p>
          <a:p/>
          <a:p>
            <a:r>
              <a:t>  AI prepares or recommends; a person approves before execution.</a:t>
            </a:r>
          </a:p>
          <a:p/>
          <a:p>
            <a:r>
              <a:t>- 5. Microsoft services</a:t>
            </a:r>
          </a:p>
          <a:p/>
          <a:p>
            <a:r>
              <a:t>  For example Copilot Studio, Microsoft Foundry, Azure OpenAI, Azure AI Search, API Management, Key Vault and Azure Monitor.</a:t>
            </a:r>
          </a:p>
          <a:p/>
          <a:p>
            <a:r>
              <a:t>- 6. API orchestration</a:t>
            </a:r>
          </a:p>
          <a:p/>
          <a:p>
            <a:r>
              <a:t>  It lets agents gather data and complete steps across several services.</a:t>
            </a:r>
          </a:p>
          <a:p/>
          <a:p>
            <a:r>
              <a:t>- 7. Data</a:t>
            </a:r>
          </a:p>
          <a:p/>
          <a:p>
            <a:r>
              <a:t>  Customer data, account numbers, passwords, tokens, keys and unnecessary regulated information.</a:t>
            </a:r>
          </a:p>
          <a:p/>
          <a:p>
            <a:r>
              <a:t>- 8. Audit logs</a:t>
            </a:r>
          </a:p>
          <a:p/>
          <a:p>
            <a:r>
              <a:t>  They show what the agent did, which tools it called and who approved.</a:t>
            </a:r>
          </a:p>
          <a:p/>
          <a:p>
            <a:r>
              <a:t>- 9. Stop condition</a:t>
            </a:r>
          </a:p>
          <a:p/>
          <a:p>
            <a:r>
              <a:t>  A rule that tells the agent to stop, escalate or ask for help.</a:t>
            </a:r>
          </a:p>
          <a:p/>
          <a:p>
            <a:r>
              <a:t>- 10. Approval</a:t>
            </a:r>
          </a:p>
          <a:p/>
          <a:p>
            <a:r>
              <a:t>  High-risk actions affect customers, money, compliance and legal outcomes.</a:t>
            </a:r>
          </a:p>
          <a:p/>
          <a:p>
            <a:r>
              <a:t>- Practical scenario</a:t>
            </a:r>
          </a:p>
          <a:p/>
          <a:p>
            <a:r>
              <a:t>  Investigating a failed payment: read-only calls, masked data, a person sends the reply, everything logged, and an honest message if a service is down.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Recap</a:t>
            </a:r>
          </a:p>
          <a:p/>
          <a:p>
            <a:r>
              <a:t>  We defined agents, mapped them to Microsoft services, designed tools and loops, orchestrated microservices and wrapped everything in enterprise controls.</a:t>
            </a:r>
          </a:p>
          <a:p/>
          <a:p>
            <a:r>
              <a:t>- Next module</a:t>
            </a:r>
          </a:p>
          <a:p/>
          <a:p>
            <a:r>
              <a:t>  Module 11 introduces the Model Context Protocol, the standard way to expose tools and context to agents.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43216" y="109728"/>
            <a:ext cx="35661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400" b="0" i="1">
                <a:solidFill>
                  <a:srgbClr val="595959"/>
                </a:solidFill>
                <a:latin typeface="Nirmala UI"/>
              </a:rPr>
              <a:t>"Controlled autonomy around clearly defined enterprise capabilities."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3327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300" b="0" i="0">
                <a:solidFill>
                  <a:srgbClr val="002060"/>
                </a:solidFill>
                <a:latin typeface="Leelawadee"/>
              </a:rPr>
              <a:t>MODULE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65960"/>
            <a:ext cx="1124712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D1282E"/>
                </a:solidFill>
                <a:latin typeface="Leelawadee"/>
              </a:rPr>
              <a:t>Agentic AI with</a:t>
            </a:r>
          </a:p>
          <a:p>
            <a:pPr algn="l"/>
            <a:r>
              <a:rPr sz="4000" b="1" i="0">
                <a:solidFill>
                  <a:srgbClr val="D1282E"/>
                </a:solidFill>
                <a:latin typeface="Leelawadee"/>
              </a:rPr>
              <a:t>Microsoft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886200"/>
            <a:ext cx="100584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002060"/>
                </a:solidFill>
                <a:latin typeface="Nirmala UI"/>
              </a:rPr>
              <a:t>From AI assistance to goal-driven autonomous workflows.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172200"/>
            <a:ext cx="752551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595959"/>
                </a:solidFill>
                <a:latin typeface="Nirmala UI"/>
              </a:rPr>
              <a:t>SPRING BOOT MICROSERVICES BOOTCAMP  •  MODULE 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709160"/>
            <a:ext cx="1325880" cy="868680"/>
          </a:xfrm>
          <a:prstGeom prst="roundRect">
            <a:avLst>
              <a:gd name="adj" fmla="val 12000"/>
            </a:avLst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Agentic AI concepts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74520" y="4709160"/>
            <a:ext cx="1325880" cy="868680"/>
          </a:xfrm>
          <a:prstGeom prst="roundRect">
            <a:avLst>
              <a:gd name="adj" fmla="val 12000"/>
            </a:avLst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Copilot as an agent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40" y="4709160"/>
            <a:ext cx="1325880" cy="868680"/>
          </a:xfrm>
          <a:prstGeom prst="roundRect">
            <a:avLst>
              <a:gd name="adj" fmla="val 12000"/>
            </a:avLst>
          </a:prstGeom>
          <a:solidFill>
            <a:srgbClr val="A86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Microsoft AI integration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09160" y="4709160"/>
            <a:ext cx="1325880" cy="868680"/>
          </a:xfrm>
          <a:prstGeom prst="roundRect">
            <a:avLst>
              <a:gd name="adj" fmla="val 12000"/>
            </a:avLst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Tools and function calling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4709160"/>
            <a:ext cx="1325880" cy="868680"/>
          </a:xfrm>
          <a:prstGeom prst="roundRect">
            <a:avLst>
              <a:gd name="adj" fmla="val 1200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Autonomous workflow design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43800" y="4709160"/>
            <a:ext cx="1325880" cy="868680"/>
          </a:xfrm>
          <a:prstGeom prst="roundRect">
            <a:avLst>
              <a:gd name="adj" fmla="val 12000"/>
            </a:avLst>
          </a:prstGeom>
          <a:solidFill>
            <a:srgbClr val="287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API orchestration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20" y="4709160"/>
            <a:ext cx="1325880" cy="868680"/>
          </a:xfrm>
          <a:prstGeom prst="roundRect">
            <a:avLst>
              <a:gd name="adj" fmla="val 12000"/>
            </a:avLst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Agentic microservices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378440" y="4709160"/>
            <a:ext cx="1325880" cy="868680"/>
          </a:xfrm>
          <a:prstGeom prst="roundRect">
            <a:avLst>
              <a:gd name="adj" fmla="val 12000"/>
            </a:avLst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Security and observability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Agents, tools, orchestration, Microsoft services and microservices use cases.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252728"/>
            <a:ext cx="310896" cy="310896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52728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252728"/>
            <a:ext cx="455371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BY THE END OF THIS MODULE, YOU CAN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64208"/>
            <a:ext cx="4937760" cy="2688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D1282E"/>
                </a:solidFill>
                <a:latin typeface="Nirmala UI"/>
              </a:rPr>
              <a:t>1.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Explain agentic AI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D1282E"/>
                </a:solidFill>
                <a:latin typeface="Nirmala UI"/>
              </a:rPr>
              <a:t>2.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Distinguish assistants, copilots and agents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D1282E"/>
                </a:solidFill>
                <a:latin typeface="Nirmala UI"/>
              </a:rPr>
              <a:t>3.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Identify core agent components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D1282E"/>
                </a:solidFill>
                <a:latin typeface="Nirmala UI"/>
              </a:rPr>
              <a:t>4.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Explain an agent execution loop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D1282E"/>
                </a:solidFill>
                <a:latin typeface="Nirmala UI"/>
              </a:rPr>
              <a:t>5.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Describe Microsoft agent services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D1282E"/>
                </a:solidFill>
                <a:latin typeface="Nirmala UI"/>
              </a:rPr>
              <a:t>6.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Integrate agents with enterprise APIs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D1282E"/>
                </a:solidFill>
                <a:latin typeface="Nirmala UI"/>
              </a:rPr>
              <a:t>7.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Design autonomous workflows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D1282E"/>
                </a:solidFill>
                <a:latin typeface="Nirmala UI"/>
              </a:rPr>
              <a:t>8.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Use tool / function calling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D1282E"/>
                </a:solidFill>
                <a:latin typeface="Nirmala UI"/>
              </a:rPr>
              <a:t>9.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Design single- and multi-agent solutions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D1282E"/>
                </a:solidFill>
                <a:latin typeface="Nirmala UI"/>
              </a:rPr>
              <a:t>10.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Orchestrate Spring Boot microservices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D1282E"/>
                </a:solidFill>
                <a:latin typeface="Nirmala UI"/>
              </a:rPr>
              <a:t>11.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Apply agent security guardrails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D1282E"/>
                </a:solidFill>
                <a:latin typeface="Nirmala UI"/>
              </a:rPr>
              <a:t>12.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Monitor agent workflows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818888"/>
            <a:ext cx="4937760" cy="822960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4818888"/>
            <a:ext cx="45720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D1282E"/>
                </a:solidFill>
                <a:latin typeface="Nirmala UI"/>
              </a:rPr>
              <a:t>THE GOAL  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Controlled autonomy around clearly defined enterprise capabilities.</a:t>
            </a:r>
          </a:p>
        </p:txBody>
      </p:sp>
      <p:sp>
        <p:nvSpPr>
          <p:cNvPr id="10" name="Oval 9"/>
          <p:cNvSpPr/>
          <p:nvPr/>
        </p:nvSpPr>
        <p:spPr>
          <a:xfrm>
            <a:off x="5715000" y="1252728"/>
            <a:ext cx="310896" cy="310896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15000" y="1252728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9048" y="1243584"/>
            <a:ext cx="56052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D1282E"/>
                </a:solidFill>
                <a:latin typeface="Nirmala UI"/>
              </a:rPr>
              <a:t>FIVE SECTIONS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715000" y="1673352"/>
            <a:ext cx="5989320" cy="713232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824728" y="1856232"/>
            <a:ext cx="347472" cy="34747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81928" y="1709928"/>
            <a:ext cx="53035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02060"/>
                </a:solidFill>
                <a:latin typeface="Nirmala UI"/>
              </a:rPr>
              <a:t>Agent fundamentals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1928" y="2020824"/>
            <a:ext cx="53035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Goal → Reason → Act → Observe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15000" y="2478024"/>
            <a:ext cx="5989320" cy="713232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824728" y="2660904"/>
            <a:ext cx="347472" cy="347472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81928" y="2514600"/>
            <a:ext cx="53035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5B3A9E"/>
                </a:solidFill>
                <a:latin typeface="Nirmala UI"/>
              </a:rPr>
              <a:t>Microsoft agent ecosystem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81928" y="2825496"/>
            <a:ext cx="53035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Copilot Studio · Foundry · Models · Tools · Knowledge · Workflows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715000" y="3282696"/>
            <a:ext cx="5989320" cy="713232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824728" y="3465576"/>
            <a:ext cx="347472" cy="347472"/>
          </a:xfrm>
          <a:prstGeom prst="ellipse">
            <a:avLst/>
          </a:prstGeom>
          <a:solidFill>
            <a:srgbClr val="287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81928" y="3319272"/>
            <a:ext cx="53035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E7C7B"/>
                </a:solidFill>
                <a:latin typeface="Nirmala UI"/>
              </a:rPr>
              <a:t>Workflow design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81928" y="3630168"/>
            <a:ext cx="53035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Goal → Plan → Tools → Conditions → Completion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15000" y="4087368"/>
            <a:ext cx="5989320" cy="713232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824728" y="4270248"/>
            <a:ext cx="347472" cy="347472"/>
          </a:xfrm>
          <a:prstGeom prst="ellipse">
            <a:avLst/>
          </a:prstGeom>
          <a:solidFill>
            <a:srgbClr val="A86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81928" y="4123944"/>
            <a:ext cx="53035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C9690C"/>
                </a:solidFill>
                <a:latin typeface="Nirmala UI"/>
              </a:rPr>
              <a:t>Microservice orchestration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81928" y="4434840"/>
            <a:ext cx="53035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Agent → Order · Payment · Inventory · Shipping APIs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715000" y="4892040"/>
            <a:ext cx="5989320" cy="713232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824728" y="5074920"/>
            <a:ext cx="347472" cy="34747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81928" y="4928616"/>
            <a:ext cx="53035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D1282E"/>
                </a:solidFill>
                <a:latin typeface="Nirmala UI"/>
              </a:rPr>
              <a:t>Enterprise controls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81928" y="5239512"/>
            <a:ext cx="53035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Identity · Authorization · Guardrails · Approval · Audit · Observability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Learn to give agents controlled autonomy over well-defined enterprise capabilities.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38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KEY TERMS FOR THIS MODULE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Plain definitions for the words we'll use most.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98448"/>
            <a:ext cx="5486400" cy="1024128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03504" y="1408176"/>
            <a:ext cx="365760" cy="36576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371600"/>
            <a:ext cx="47091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2060"/>
                </a:solidFill>
                <a:latin typeface="Nirmala UI"/>
              </a:rPr>
              <a:t>Agentic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773936"/>
            <a:ext cx="470916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AI that plans and takes steps toward a goal using tools, not just one answer.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98448"/>
            <a:ext cx="5486400" cy="1024128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364224" y="1408176"/>
            <a:ext cx="365760" cy="365760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1371600"/>
            <a:ext cx="47091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5B3A9E"/>
                </a:solidFill>
                <a:latin typeface="Nirmala UI"/>
              </a:rPr>
              <a:t>AI 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1773936"/>
            <a:ext cx="470916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A model plus instructions, tools, memory and guardrails that works toward a goal.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468880"/>
            <a:ext cx="5486400" cy="1024128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03504" y="2578608"/>
            <a:ext cx="365760" cy="365760"/>
          </a:xfrm>
          <a:prstGeom prst="ellipse">
            <a:avLst/>
          </a:prstGeom>
          <a:solidFill>
            <a:srgbClr val="287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542032"/>
            <a:ext cx="47091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E7C7B"/>
                </a:solidFill>
                <a:latin typeface="Nirmala UI"/>
              </a:rPr>
              <a:t>Large language model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944368"/>
            <a:ext cx="470916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A model trained on large amounts of text that generates language and reasoning.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468880"/>
            <a:ext cx="5486400" cy="1024128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64224" y="2578608"/>
            <a:ext cx="365760" cy="365760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2542032"/>
            <a:ext cx="47091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E7D32"/>
                </a:solidFill>
                <a:latin typeface="Nirmala UI"/>
              </a:rPr>
              <a:t>Tool calling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2944368"/>
            <a:ext cx="470916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The model asks the application to run a named function with arguments.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639312"/>
            <a:ext cx="5486400" cy="1024128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03504" y="3749040"/>
            <a:ext cx="365760" cy="365760"/>
          </a:xfrm>
          <a:prstGeom prst="ellipse">
            <a:avLst/>
          </a:prstGeom>
          <a:solidFill>
            <a:srgbClr val="A86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3712464"/>
            <a:ext cx="47091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C9690C"/>
                </a:solidFill>
                <a:latin typeface="Nirmala UI"/>
              </a:rPr>
              <a:t>Grounding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4114800"/>
            <a:ext cx="470916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Giving the model current, trusted enterprise data so its answers rest on facts.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3639312"/>
            <a:ext cx="5486400" cy="1024128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64224" y="3749040"/>
            <a:ext cx="365760" cy="365760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3712464"/>
            <a:ext cx="47091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D1282E"/>
                </a:solidFill>
                <a:latin typeface="Nirmala UI"/>
              </a:rPr>
              <a:t>Orchestration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4114800"/>
            <a:ext cx="470916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Coordinating the steps, tools or agents needed to complete a task.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4809744"/>
            <a:ext cx="5486400" cy="1024128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03504" y="4919472"/>
            <a:ext cx="365760" cy="36576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4882896"/>
            <a:ext cx="47091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2060"/>
                </a:solidFill>
                <a:latin typeface="Nirmala UI"/>
              </a:rPr>
              <a:t>Stop condition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" y="5285231"/>
            <a:ext cx="470916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A rule that ends an agent loop, such as done, blocked or out of steps.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17920" y="4809744"/>
            <a:ext cx="5486400" cy="1024128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364224" y="4919472"/>
            <a:ext cx="365760" cy="365760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4882896"/>
            <a:ext cx="47091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5B3A9E"/>
                </a:solidFill>
                <a:latin typeface="Nirmala UI"/>
              </a:rPr>
              <a:t>Human approval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5285231"/>
            <a:ext cx="470916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A person must confirm a high-risk action before it happens.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Agree on the words first — every later slide builds on them.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41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FULL FORMS USED IN THIS MODULE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Every abbreviation on these slides, spelled out.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44168"/>
            <a:ext cx="1005840" cy="475488"/>
          </a:xfrm>
          <a:prstGeom prst="roundRect">
            <a:avLst>
              <a:gd name="adj" fmla="val 10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002060"/>
                </a:solidFill>
                <a:latin typeface="Nirmala UI"/>
              </a:rPr>
              <a:t>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72768" y="1298448"/>
            <a:ext cx="24627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Artificial Intelligence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911095"/>
            <a:ext cx="1005840" cy="475488"/>
          </a:xfrm>
          <a:prstGeom prst="roundRect">
            <a:avLst>
              <a:gd name="adj" fmla="val 10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002060"/>
                </a:solidFill>
                <a:latin typeface="Nirmala UI"/>
              </a:rPr>
              <a:t>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72768" y="1865376"/>
            <a:ext cx="24627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Application Programming Interface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478024"/>
            <a:ext cx="1005840" cy="475488"/>
          </a:xfrm>
          <a:prstGeom prst="roundRect">
            <a:avLst>
              <a:gd name="adj" fmla="val 10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002060"/>
                </a:solidFill>
                <a:latin typeface="Nirmala UI"/>
              </a:rPr>
              <a:t>FAQ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72768" y="2432304"/>
            <a:ext cx="24627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Frequently Asked Questions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82440" y="1344168"/>
            <a:ext cx="1005840" cy="475488"/>
          </a:xfrm>
          <a:prstGeom prst="roundRect">
            <a:avLst>
              <a:gd name="adj" fmla="val 10000"/>
            </a:avLst>
          </a:prstGeom>
          <a:solidFill>
            <a:srgbClr val="EF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5B3A9E"/>
                </a:solidFill>
                <a:latin typeface="Nirmala UI"/>
              </a:rPr>
              <a:t>HTTP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98008" y="1298448"/>
            <a:ext cx="24627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HyperText Transfer Protocol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82440" y="1911095"/>
            <a:ext cx="1005840" cy="475488"/>
          </a:xfrm>
          <a:prstGeom prst="roundRect">
            <a:avLst>
              <a:gd name="adj" fmla="val 10000"/>
            </a:avLst>
          </a:prstGeom>
          <a:solidFill>
            <a:srgbClr val="EF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5B3A9E"/>
                </a:solidFill>
                <a:latin typeface="Nirmala UI"/>
              </a:rPr>
              <a:t>LLM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98008" y="1865376"/>
            <a:ext cx="24627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Large Language Model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82440" y="2478024"/>
            <a:ext cx="1005840" cy="475488"/>
          </a:xfrm>
          <a:prstGeom prst="roundRect">
            <a:avLst>
              <a:gd name="adj" fmla="val 10000"/>
            </a:avLst>
          </a:prstGeom>
          <a:solidFill>
            <a:srgbClr val="EF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5B3A9E"/>
                </a:solidFill>
                <a:latin typeface="Nirmala UI"/>
              </a:rPr>
              <a:t>MCP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98008" y="2432304"/>
            <a:ext cx="24627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Model Context Protocol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07680" y="1344168"/>
            <a:ext cx="1005840" cy="475488"/>
          </a:xfrm>
          <a:prstGeom prst="roundRect">
            <a:avLst>
              <a:gd name="adj" fmla="val 10000"/>
            </a:avLst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0E7C7B"/>
                </a:solidFill>
                <a:latin typeface="Nirmala UI"/>
              </a:rPr>
              <a:t>PII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23248" y="1298448"/>
            <a:ext cx="24627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Personally Identifiable Information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07680" y="1911095"/>
            <a:ext cx="1005840" cy="475488"/>
          </a:xfrm>
          <a:prstGeom prst="roundRect">
            <a:avLst>
              <a:gd name="adj" fmla="val 10000"/>
            </a:avLst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0E7C7B"/>
                </a:solidFill>
                <a:latin typeface="Nirmala UI"/>
              </a:rPr>
              <a:t>RAG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23248" y="1865376"/>
            <a:ext cx="24627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Retrieval-Augmented Generation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When an abbreviation isn't clear, the full form is on this slide.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5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FROM MODULE 9 TO MODULE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AI helped us write the code — now AI takes actions on the running services.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98448"/>
            <a:ext cx="4663440" cy="45354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5" name="Round Same Side Corner Rectangle 4"/>
          <p:cNvSpPr/>
          <p:nvPr/>
        </p:nvSpPr>
        <p:spPr>
          <a:xfrm>
            <a:off x="457200" y="1298448"/>
            <a:ext cx="466344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298448"/>
            <a:ext cx="43891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MODULES 1–9 GAVE US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1965960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874519"/>
            <a:ext cx="3886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Order, Payment, Inventory and Shipping APIs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2532888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441448"/>
            <a:ext cx="3886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Events, idempotency and Sagas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099816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008376"/>
            <a:ext cx="3886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Security, resilience and observability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3666744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575303"/>
            <a:ext cx="3886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Pipelines and OpenShift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4233671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4142231"/>
            <a:ext cx="3886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Copilot as a reviewed coding assistant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4690872"/>
            <a:ext cx="4389120" cy="960120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690872"/>
            <a:ext cx="4023359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D1282E"/>
                </a:solidFill>
                <a:latin typeface="Nirmala UI"/>
              </a:rPr>
              <a:t>NOW  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Let AI agents act on these services — with limits, approvals and audit.</a:t>
            </a:r>
          </a:p>
        </p:txBody>
      </p:sp>
      <p:sp>
        <p:nvSpPr>
          <p:cNvPr id="19" name="Oval 18"/>
          <p:cNvSpPr/>
          <p:nvPr/>
        </p:nvSpPr>
        <p:spPr>
          <a:xfrm>
            <a:off x="5486400" y="1298448"/>
            <a:ext cx="310896" cy="310896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0" y="1298448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🧭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70448" y="1289304"/>
            <a:ext cx="58338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D1282E"/>
                </a:solidFill>
                <a:latin typeface="Nirmala UI"/>
              </a:rPr>
              <a:t>OUR PATH THROUGH MODULE 10</a:t>
            </a:r>
          </a:p>
        </p:txBody>
      </p:sp>
      <p:sp>
        <p:nvSpPr>
          <p:cNvPr id="22" name="Oval 21"/>
          <p:cNvSpPr/>
          <p:nvPr/>
        </p:nvSpPr>
        <p:spPr>
          <a:xfrm>
            <a:off x="5486400" y="1839250"/>
            <a:ext cx="347472" cy="34747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1719072"/>
            <a:ext cx="4297680" cy="5878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What agents are and how they loop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332720" y="1830106"/>
            <a:ext cx="1371600" cy="365760"/>
          </a:xfrm>
          <a:prstGeom prst="roundRect">
            <a:avLst>
              <a:gd name="adj" fmla="val 14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002060"/>
                </a:solidFill>
                <a:latin typeface="Nirmala UI"/>
              </a:rPr>
              <a:t>Part 1</a:t>
            </a:r>
          </a:p>
        </p:txBody>
      </p:sp>
      <p:sp>
        <p:nvSpPr>
          <p:cNvPr id="25" name="Oval 24"/>
          <p:cNvSpPr/>
          <p:nvPr/>
        </p:nvSpPr>
        <p:spPr>
          <a:xfrm>
            <a:off x="5486400" y="2427078"/>
            <a:ext cx="347472" cy="347472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0" y="2306900"/>
            <a:ext cx="4297680" cy="5878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Copilot, Foundry and grounding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332720" y="2417934"/>
            <a:ext cx="1371600" cy="365760"/>
          </a:xfrm>
          <a:prstGeom prst="roundRect">
            <a:avLst>
              <a:gd name="adj" fmla="val 14000"/>
            </a:avLst>
          </a:prstGeom>
          <a:solidFill>
            <a:srgbClr val="EF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5B3A9E"/>
                </a:solidFill>
                <a:latin typeface="Nirmala UI"/>
              </a:rPr>
              <a:t>Part 2</a:t>
            </a:r>
          </a:p>
        </p:txBody>
      </p:sp>
      <p:sp>
        <p:nvSpPr>
          <p:cNvPr id="28" name="Oval 27"/>
          <p:cNvSpPr/>
          <p:nvPr/>
        </p:nvSpPr>
        <p:spPr>
          <a:xfrm>
            <a:off x="5486400" y="3014907"/>
            <a:ext cx="347472" cy="347472"/>
          </a:xfrm>
          <a:prstGeom prst="ellipse">
            <a:avLst/>
          </a:prstGeom>
          <a:solidFill>
            <a:srgbClr val="287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0" y="2894729"/>
            <a:ext cx="4297680" cy="5878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Tools, loops and stop conditions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332720" y="3005763"/>
            <a:ext cx="1371600" cy="365760"/>
          </a:xfrm>
          <a:prstGeom prst="roundRect">
            <a:avLst>
              <a:gd name="adj" fmla="val 14000"/>
            </a:avLst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0E7C7B"/>
                </a:solidFill>
                <a:latin typeface="Nirmala UI"/>
              </a:rPr>
              <a:t>Part 3</a:t>
            </a:r>
          </a:p>
        </p:txBody>
      </p:sp>
      <p:sp>
        <p:nvSpPr>
          <p:cNvPr id="31" name="Oval 30"/>
          <p:cNvSpPr/>
          <p:nvPr/>
        </p:nvSpPr>
        <p:spPr>
          <a:xfrm>
            <a:off x="5486400" y="3602736"/>
            <a:ext cx="347472" cy="347472"/>
          </a:xfrm>
          <a:prstGeom prst="ellipse">
            <a:avLst/>
          </a:prstGeom>
          <a:solidFill>
            <a:srgbClr val="287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0" y="3482557"/>
            <a:ext cx="4297680" cy="5878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Single- and multi-agent designs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332720" y="3593592"/>
            <a:ext cx="1371600" cy="365760"/>
          </a:xfrm>
          <a:prstGeom prst="roundRect">
            <a:avLst>
              <a:gd name="adj" fmla="val 14000"/>
            </a:avLst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0E7C7B"/>
                </a:solidFill>
                <a:latin typeface="Nirmala UI"/>
              </a:rPr>
              <a:t>Part 3</a:t>
            </a:r>
          </a:p>
        </p:txBody>
      </p:sp>
      <p:sp>
        <p:nvSpPr>
          <p:cNvPr id="34" name="Oval 33"/>
          <p:cNvSpPr/>
          <p:nvPr/>
        </p:nvSpPr>
        <p:spPr>
          <a:xfrm>
            <a:off x="5486400" y="4190564"/>
            <a:ext cx="347472" cy="34747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0" y="4070386"/>
            <a:ext cx="4297680" cy="5878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Orchestrating Spring Boot services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332720" y="4181420"/>
            <a:ext cx="1371600" cy="365760"/>
          </a:xfrm>
          <a:prstGeom prst="roundRect">
            <a:avLst>
              <a:gd name="adj" fmla="val 14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2E7D32"/>
                </a:solidFill>
                <a:latin typeface="Nirmala UI"/>
              </a:rPr>
              <a:t>Part 4</a:t>
            </a:r>
          </a:p>
        </p:txBody>
      </p:sp>
      <p:sp>
        <p:nvSpPr>
          <p:cNvPr id="37" name="Oval 36"/>
          <p:cNvSpPr/>
          <p:nvPr/>
        </p:nvSpPr>
        <p:spPr>
          <a:xfrm>
            <a:off x="5486400" y="4778393"/>
            <a:ext cx="347472" cy="34747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0" y="4658214"/>
            <a:ext cx="4297680" cy="5878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Guardrails, approval and policy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332720" y="4769249"/>
            <a:ext cx="1371600" cy="365760"/>
          </a:xfrm>
          <a:prstGeom prst="roundRect">
            <a:avLst>
              <a:gd name="adj" fmla="val 14000"/>
            </a:avLst>
          </a:prstGeom>
          <a:solidFill>
            <a:srgbClr val="FD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D1282E"/>
                </a:solidFill>
                <a:latin typeface="Nirmala UI"/>
              </a:rPr>
              <a:t>Part 5</a:t>
            </a:r>
          </a:p>
        </p:txBody>
      </p:sp>
      <p:sp>
        <p:nvSpPr>
          <p:cNvPr id="40" name="Oval 39"/>
          <p:cNvSpPr/>
          <p:nvPr/>
        </p:nvSpPr>
        <p:spPr>
          <a:xfrm>
            <a:off x="5486400" y="5366221"/>
            <a:ext cx="347472" cy="34747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43600" y="5246043"/>
            <a:ext cx="4297680" cy="5878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Reliability, use cases and the big picture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332720" y="5357077"/>
            <a:ext cx="1371600" cy="365760"/>
          </a:xfrm>
          <a:prstGeom prst="roundRect">
            <a:avLst>
              <a:gd name="adj" fmla="val 14000"/>
            </a:avLst>
          </a:prstGeom>
          <a:solidFill>
            <a:srgbClr val="FD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D1282E"/>
                </a:solidFill>
                <a:latin typeface="Nirmala UI"/>
              </a:rPr>
              <a:t>Part 5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Module 9 used AI to build services; Module 10 lets AI use them — under control.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48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PART 1: AGENT FUNDAMENTALS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What turns a model into an agent — and why that changes the risk.</a:t>
            </a:r>
          </a:p>
        </p:txBody>
      </p:sp>
      <p:sp>
        <p:nvSpPr>
          <p:cNvPr id="4" name="Pentagon 3"/>
          <p:cNvSpPr/>
          <p:nvPr/>
        </p:nvSpPr>
        <p:spPr>
          <a:xfrm>
            <a:off x="457200" y="1298448"/>
            <a:ext cx="2391338" cy="713232"/>
          </a:xfrm>
          <a:prstGeom prst="homePlate">
            <a:avLst>
              <a:gd name="adj" fmla="val 30000"/>
            </a:avLst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98448"/>
            <a:ext cx="2131649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Part 1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Agent fundamentals</a:t>
            </a:r>
          </a:p>
        </p:txBody>
      </p:sp>
      <p:sp>
        <p:nvSpPr>
          <p:cNvPr id="6" name="Chevron 5"/>
          <p:cNvSpPr/>
          <p:nvPr/>
        </p:nvSpPr>
        <p:spPr>
          <a:xfrm>
            <a:off x="2671145" y="1298448"/>
            <a:ext cx="2391338" cy="713232"/>
          </a:xfrm>
          <a:prstGeom prst="chevron">
            <a:avLst>
              <a:gd name="adj" fmla="val 30000"/>
            </a:avLst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85114" y="1298448"/>
            <a:ext cx="2009119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Part 2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Microsoft ecosystem</a:t>
            </a:r>
          </a:p>
        </p:txBody>
      </p:sp>
      <p:sp>
        <p:nvSpPr>
          <p:cNvPr id="8" name="Chevron 7"/>
          <p:cNvSpPr/>
          <p:nvPr/>
        </p:nvSpPr>
        <p:spPr>
          <a:xfrm>
            <a:off x="4885090" y="1298448"/>
            <a:ext cx="2391338" cy="713232"/>
          </a:xfrm>
          <a:prstGeom prst="chevron">
            <a:avLst>
              <a:gd name="adj" fmla="val 30000"/>
            </a:avLst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99060" y="1298448"/>
            <a:ext cx="2009119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Part 3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Workflow design</a:t>
            </a:r>
          </a:p>
        </p:txBody>
      </p:sp>
      <p:sp>
        <p:nvSpPr>
          <p:cNvPr id="10" name="Chevron 9"/>
          <p:cNvSpPr/>
          <p:nvPr/>
        </p:nvSpPr>
        <p:spPr>
          <a:xfrm>
            <a:off x="7099035" y="1298448"/>
            <a:ext cx="2391338" cy="713232"/>
          </a:xfrm>
          <a:prstGeom prst="chevron">
            <a:avLst>
              <a:gd name="adj" fmla="val 30000"/>
            </a:avLst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3005" y="1298448"/>
            <a:ext cx="2009119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Part 4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Orchestration</a:t>
            </a:r>
          </a:p>
        </p:txBody>
      </p:sp>
      <p:sp>
        <p:nvSpPr>
          <p:cNvPr id="12" name="Chevron 11"/>
          <p:cNvSpPr/>
          <p:nvPr/>
        </p:nvSpPr>
        <p:spPr>
          <a:xfrm>
            <a:off x="9312981" y="1298448"/>
            <a:ext cx="2391338" cy="713232"/>
          </a:xfrm>
          <a:prstGeom prst="chevron">
            <a:avLst>
              <a:gd name="adj" fmla="val 30000"/>
            </a:avLst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26950" y="1298448"/>
            <a:ext cx="2009119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Part 5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Enterprise controls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304288"/>
            <a:ext cx="4937760" cy="22311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5" name="Round Same Side Corner Rectangle 14"/>
          <p:cNvSpPr/>
          <p:nvPr/>
        </p:nvSpPr>
        <p:spPr>
          <a:xfrm>
            <a:off x="457200" y="2304288"/>
            <a:ext cx="493776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2304288"/>
            <a:ext cx="46634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SO FAR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2953512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2880360"/>
            <a:ext cx="41605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Copilot drafts code for people to review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" y="3429000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3355848"/>
            <a:ext cx="41605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Services expose governed APIs</a:t>
            </a:r>
          </a:p>
        </p:txBody>
      </p:sp>
      <p:sp>
        <p:nvSpPr>
          <p:cNvPr id="21" name="Oval 20"/>
          <p:cNvSpPr/>
          <p:nvPr/>
        </p:nvSpPr>
        <p:spPr>
          <a:xfrm>
            <a:off x="640080" y="3904488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3831336"/>
            <a:ext cx="41605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Every action is secured and observable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760720" y="2304288"/>
            <a:ext cx="5943600" cy="1062736"/>
          </a:xfrm>
          <a:prstGeom prst="roundRect">
            <a:avLst>
              <a:gd name="adj" fmla="val 8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89320" y="2395728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NEXT QUESTION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89320" y="2688336"/>
            <a:ext cx="5486400" cy="605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02060"/>
                </a:solidFill>
                <a:latin typeface="Nirmala UI"/>
              </a:rPr>
              <a:t>What is an AI agent — and how is it different from a chatbot or Copilot?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60720" y="3568192"/>
            <a:ext cx="5943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IN THIS PART</a:t>
            </a:r>
          </a:p>
        </p:txBody>
      </p:sp>
      <p:sp>
        <p:nvSpPr>
          <p:cNvPr id="27" name="Oval 26"/>
          <p:cNvSpPr/>
          <p:nvPr/>
        </p:nvSpPr>
        <p:spPr>
          <a:xfrm>
            <a:off x="5760720" y="3996266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44768" y="3933952"/>
            <a:ext cx="5559552" cy="3989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Generative vs. agentic AI</a:t>
            </a:r>
          </a:p>
        </p:txBody>
      </p:sp>
      <p:sp>
        <p:nvSpPr>
          <p:cNvPr id="29" name="Oval 28"/>
          <p:cNvSpPr/>
          <p:nvPr/>
        </p:nvSpPr>
        <p:spPr>
          <a:xfrm>
            <a:off x="5760720" y="4395216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44768" y="4332901"/>
            <a:ext cx="5559552" cy="3989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From chatbot to autonomous agent</a:t>
            </a:r>
          </a:p>
        </p:txBody>
      </p:sp>
      <p:sp>
        <p:nvSpPr>
          <p:cNvPr id="31" name="Oval 30"/>
          <p:cNvSpPr/>
          <p:nvPr/>
        </p:nvSpPr>
        <p:spPr>
          <a:xfrm>
            <a:off x="5760720" y="4794165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44768" y="4731850"/>
            <a:ext cx="5559552" cy="3989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Core components of an agent</a:t>
            </a:r>
          </a:p>
        </p:txBody>
      </p:sp>
      <p:sp>
        <p:nvSpPr>
          <p:cNvPr id="33" name="Oval 32"/>
          <p:cNvSpPr/>
          <p:nvPr/>
        </p:nvSpPr>
        <p:spPr>
          <a:xfrm>
            <a:off x="5760720" y="5193114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44768" y="5130800"/>
            <a:ext cx="5559552" cy="3989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The execution loop</a:t>
            </a:r>
          </a:p>
        </p:txBody>
      </p:sp>
      <p:sp>
        <p:nvSpPr>
          <p:cNvPr id="35" name="Oval 34"/>
          <p:cNvSpPr/>
          <p:nvPr/>
        </p:nvSpPr>
        <p:spPr>
          <a:xfrm>
            <a:off x="5760720" y="5592064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44768" y="5529749"/>
            <a:ext cx="5559552" cy="3989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Levels of autonomy</a:t>
            </a:r>
          </a:p>
        </p:txBody>
      </p:sp>
      <p:sp>
        <p:nvSpPr>
          <p:cNvPr id="37" name="Oval 36"/>
          <p:cNvSpPr/>
          <p:nvPr/>
        </p:nvSpPr>
        <p:spPr>
          <a:xfrm>
            <a:off x="5760720" y="5991013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44768" y="5928698"/>
            <a:ext cx="5559552" cy="3989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Exercise: chatbot, copilot or agent?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42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WHAT IS AGENTIC AI?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The difference between generative AI and goal-driven agents.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1400076"/>
            <a:ext cx="7415783" cy="4332167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0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73228"/>
            <a:ext cx="7269480" cy="4185863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183880" y="1298448"/>
            <a:ext cx="3520440" cy="12954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0" y="1353312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Generative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1664208"/>
            <a:ext cx="3246120" cy="8747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One prompt in, one response out — a person acts on it.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80" y="2721864"/>
            <a:ext cx="3520440" cy="12954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2776728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Agentic 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3087624"/>
            <a:ext cx="3246120" cy="874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A goal in; the agent plans, calls tools, reads results and adjusts.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80" y="4145280"/>
            <a:ext cx="3520440" cy="1075944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4145280"/>
            <a:ext cx="3154680" cy="1075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DEFINING IDEA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The agent takes part in the actions, not just the answer.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An agent takes part in a multi-step loop of decisions and actions — not just one response.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9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FROM PROMPT-RESPONSE AI TO AUTONOMOUS AGENTS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Prompt → response versus goal → plan → act → observe → iterate.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2166936"/>
            <a:ext cx="7415783" cy="2798446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0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240088"/>
            <a:ext cx="7269480" cy="265214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183880" y="1298448"/>
            <a:ext cx="3520440" cy="12954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0" y="1353312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Chatbot and assistant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1664208"/>
            <a:ext cx="3246120" cy="8747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Answer questions; people take every action.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80" y="2721864"/>
            <a:ext cx="3520440" cy="12954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2776728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5B3A9E"/>
                </a:solidFill>
                <a:latin typeface="Nirmala UI"/>
              </a:rPr>
              <a:t>Copilot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3087624"/>
            <a:ext cx="3246120" cy="874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Suggests and drafts inside a person's workflow.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80" y="4145280"/>
            <a:ext cx="3520440" cy="12954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4200144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Agent and autonomous workflow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4511040"/>
            <a:ext cx="3246120" cy="8747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Calls tools and completes steps — with limits.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AI moves from answering prompts to pursuing goals — one step of autonomy at a time.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0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CORE COMPONENTS OF AN AI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Model, instructions, memory/state, tools, planner and guardrails.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1460538"/>
            <a:ext cx="7415783" cy="421124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0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33690"/>
            <a:ext cx="7269480" cy="406493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183880" y="1298448"/>
            <a:ext cx="3520440" cy="1092707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0" y="1353312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Instructions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1664208"/>
            <a:ext cx="3246120" cy="6720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Role, goal, allowed actions and when to stop or escalate.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80" y="2519172"/>
            <a:ext cx="3520440" cy="1092707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2574036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Tools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2884932"/>
            <a:ext cx="3246120" cy="6720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Narrow, approved functions — not raw database access.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80" y="3739896"/>
            <a:ext cx="3520440" cy="1092707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3794759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State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4105656"/>
            <a:ext cx="3246120" cy="6720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What the agent has done so far in this task.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80" y="4960620"/>
            <a:ext cx="3520440" cy="873252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4960620"/>
            <a:ext cx="3154680" cy="8732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GUARDRAILS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wrap everything: identity, policy, approval, audit.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An agent is a model plus instructions, state, tools and guardrails.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2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AGENTIC AI EXECUTION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Perceive → reason/plan → act → observe → adjust.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1587736"/>
            <a:ext cx="7415783" cy="3956847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0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60888"/>
            <a:ext cx="7269480" cy="381054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83880" y="1298448"/>
            <a:ext cx="3520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E7C7B"/>
                </a:solidFill>
                <a:latin typeface="Nirmala UI"/>
              </a:rPr>
              <a:t>A WORKED EXAMPLE</a:t>
            </a:r>
          </a:p>
        </p:txBody>
      </p:sp>
      <p:sp>
        <p:nvSpPr>
          <p:cNvPr id="7" name="Oval 6"/>
          <p:cNvSpPr/>
          <p:nvPr/>
        </p:nvSpPr>
        <p:spPr>
          <a:xfrm>
            <a:off x="8183880" y="1673352"/>
            <a:ext cx="256032" cy="256032"/>
          </a:xfrm>
          <a:prstGeom prst="ellipse">
            <a:avLst/>
          </a:prstGeom>
          <a:solidFill>
            <a:srgbClr val="287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1645920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Goal: “Where is order 1045?”</a:t>
            </a:r>
          </a:p>
        </p:txBody>
      </p:sp>
      <p:sp>
        <p:nvSpPr>
          <p:cNvPr id="9" name="Oval 8"/>
          <p:cNvSpPr/>
          <p:nvPr/>
        </p:nvSpPr>
        <p:spPr>
          <a:xfrm>
            <a:off x="8183880" y="1984248"/>
            <a:ext cx="256032" cy="256032"/>
          </a:xfrm>
          <a:prstGeom prst="ellipse">
            <a:avLst/>
          </a:prstGeom>
          <a:solidFill>
            <a:srgbClr val="287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9640" y="1956816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Plan: look up the order</a:t>
            </a:r>
          </a:p>
        </p:txBody>
      </p:sp>
      <p:sp>
        <p:nvSpPr>
          <p:cNvPr id="11" name="Oval 10"/>
          <p:cNvSpPr/>
          <p:nvPr/>
        </p:nvSpPr>
        <p:spPr>
          <a:xfrm>
            <a:off x="8183880" y="2295144"/>
            <a:ext cx="256032" cy="256032"/>
          </a:xfrm>
          <a:prstGeom prst="ellipse">
            <a:avLst/>
          </a:prstGeom>
          <a:solidFill>
            <a:srgbClr val="287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49640" y="2267712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Act: call getOrder</a:t>
            </a:r>
          </a:p>
        </p:txBody>
      </p:sp>
      <p:sp>
        <p:nvSpPr>
          <p:cNvPr id="13" name="Oval 12"/>
          <p:cNvSpPr/>
          <p:nvPr/>
        </p:nvSpPr>
        <p:spPr>
          <a:xfrm>
            <a:off x="8183880" y="2606039"/>
            <a:ext cx="256032" cy="256032"/>
          </a:xfrm>
          <a:prstGeom prst="ellipse">
            <a:avLst/>
          </a:prstGeom>
          <a:solidFill>
            <a:srgbClr val="287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2578608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Observe: status SHIPPED</a:t>
            </a:r>
          </a:p>
        </p:txBody>
      </p:sp>
      <p:sp>
        <p:nvSpPr>
          <p:cNvPr id="15" name="Oval 14"/>
          <p:cNvSpPr/>
          <p:nvPr/>
        </p:nvSpPr>
        <p:spPr>
          <a:xfrm>
            <a:off x="8183880" y="2916935"/>
            <a:ext cx="256032" cy="256032"/>
          </a:xfrm>
          <a:prstGeom prst="ellipse">
            <a:avLst/>
          </a:prstGeom>
          <a:solidFill>
            <a:srgbClr val="287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9640" y="2889503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Act: call getShipment</a:t>
            </a:r>
          </a:p>
        </p:txBody>
      </p:sp>
      <p:sp>
        <p:nvSpPr>
          <p:cNvPr id="17" name="Oval 16"/>
          <p:cNvSpPr/>
          <p:nvPr/>
        </p:nvSpPr>
        <p:spPr>
          <a:xfrm>
            <a:off x="8183880" y="3227831"/>
            <a:ext cx="256032" cy="256032"/>
          </a:xfrm>
          <a:prstGeom prst="ellipse">
            <a:avLst/>
          </a:prstGeom>
          <a:solidFill>
            <a:srgbClr val="287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49640" y="3200399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Done: answer with tracking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83880" y="3639312"/>
            <a:ext cx="3520440" cy="1075944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66760" y="3639312"/>
            <a:ext cx="3154680" cy="1075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STOP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when done, blocked, or out of steps.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Agents loop — observe, reason, act, read the result — until the goal is complete.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6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LEVELS OF AI AUTONOMY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Assistant, copilot, semi-autonomous agent and autonomous workflow.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1547378"/>
            <a:ext cx="7415783" cy="403756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07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20530"/>
            <a:ext cx="7269480" cy="389125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183880" y="1298448"/>
            <a:ext cx="3520440" cy="1092707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0" y="1353312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Low risk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1664208"/>
            <a:ext cx="3246120" cy="6720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Read-only lookups can run without approval.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80" y="2519172"/>
            <a:ext cx="3520440" cy="1092707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2574036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Medium risk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2884932"/>
            <a:ext cx="3246120" cy="6720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Drafts and recommendations — a person confirms.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80" y="3739896"/>
            <a:ext cx="3520440" cy="1092707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3794759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High risk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4105656"/>
            <a:ext cx="3246120" cy="6720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Refunds, freezes, money movement — always approved.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80" y="4960620"/>
            <a:ext cx="3520440" cy="873252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4960620"/>
            <a:ext cx="3154680" cy="8732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RULE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Match autonomy to risk, not to capability.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Match autonomy to risk: the riskier the action, the stronger the control.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2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EXERCISE: CHATBOT, COPILOT OR AGENT?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Classify each system — and decide the control it needs.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98448"/>
            <a:ext cx="2016252" cy="384048"/>
          </a:xfrm>
          <a:prstGeom prst="roundRect">
            <a:avLst>
              <a:gd name="adj" fmla="val 14000"/>
            </a:avLst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PRACTICE EXERCISE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610612" y="1298448"/>
            <a:ext cx="1143000" cy="384048"/>
          </a:xfrm>
          <a:prstGeom prst="roundRect">
            <a:avLst>
              <a:gd name="adj" fmla="val 14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424242"/>
                </a:solidFill>
                <a:latin typeface="Nirmala UI"/>
              </a:rPr>
              <a:t>10 MIN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65376"/>
            <a:ext cx="3840480" cy="316483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457200" y="1865376"/>
            <a:ext cx="384048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865376"/>
            <a:ext cx="35661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SCENARIO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395728"/>
            <a:ext cx="3566160" cy="3266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Five proposals from the business: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795524"/>
            <a:ext cx="3621024" cy="121894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1 FAQ bot answering fee questions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2 Drafts replies for support staff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3 Looks up order + shipment, answers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4 Cancels orders when customers ask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5 Nightly: finds stuck payments, retries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1865376"/>
            <a:ext cx="3886200" cy="316483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2" name="Round Same Side Corner Rectangle 11"/>
          <p:cNvSpPr/>
          <p:nvPr/>
        </p:nvSpPr>
        <p:spPr>
          <a:xfrm>
            <a:off x="4526280" y="1865376"/>
            <a:ext cx="388620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1865376"/>
            <a:ext cx="36118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YOUR TASKS</a:t>
            </a:r>
          </a:p>
        </p:txBody>
      </p:sp>
      <p:sp>
        <p:nvSpPr>
          <p:cNvPr id="14" name="Oval 13"/>
          <p:cNvSpPr/>
          <p:nvPr/>
        </p:nvSpPr>
        <p:spPr>
          <a:xfrm>
            <a:off x="4663440" y="2450592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56632" y="2395728"/>
            <a:ext cx="3218688" cy="5435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Label each: chatbot, copilot, agent or autonomous workflow</a:t>
            </a:r>
          </a:p>
        </p:txBody>
      </p:sp>
      <p:sp>
        <p:nvSpPr>
          <p:cNvPr id="16" name="Oval 15"/>
          <p:cNvSpPr/>
          <p:nvPr/>
        </p:nvSpPr>
        <p:spPr>
          <a:xfrm>
            <a:off x="4663440" y="3049016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56632" y="2994152"/>
            <a:ext cx="3218688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Mark which actions change state</a:t>
            </a:r>
          </a:p>
        </p:txBody>
      </p:sp>
      <p:sp>
        <p:nvSpPr>
          <p:cNvPr id="18" name="Oval 17"/>
          <p:cNvSpPr/>
          <p:nvPr/>
        </p:nvSpPr>
        <p:spPr>
          <a:xfrm>
            <a:off x="4663440" y="3506216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56632" y="3451352"/>
            <a:ext cx="3218688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Choose the control each needs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41080" y="1865376"/>
            <a:ext cx="3063240" cy="316483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1" name="Round Same Side Corner Rectangle 20"/>
          <p:cNvSpPr/>
          <p:nvPr/>
        </p:nvSpPr>
        <p:spPr>
          <a:xfrm>
            <a:off x="8641080" y="1865376"/>
            <a:ext cx="306324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78240" y="1865376"/>
            <a:ext cx="27889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EXPECTED OUTCOME</a:t>
            </a:r>
          </a:p>
        </p:txBody>
      </p:sp>
      <p:sp>
        <p:nvSpPr>
          <p:cNvPr id="23" name="Oval 22"/>
          <p:cNvSpPr/>
          <p:nvPr/>
        </p:nvSpPr>
        <p:spPr>
          <a:xfrm>
            <a:off x="8778240" y="2450592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16567" y="2395728"/>
            <a:ext cx="245059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1 chatbot; 2 copilot</a:t>
            </a:r>
          </a:p>
        </p:txBody>
      </p:sp>
      <p:sp>
        <p:nvSpPr>
          <p:cNvPr id="25" name="Oval 24"/>
          <p:cNvSpPr/>
          <p:nvPr/>
        </p:nvSpPr>
        <p:spPr>
          <a:xfrm>
            <a:off x="8778240" y="2871216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16567" y="2816352"/>
            <a:ext cx="245059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3 agent — read-only tools</a:t>
            </a:r>
          </a:p>
        </p:txBody>
      </p:sp>
      <p:sp>
        <p:nvSpPr>
          <p:cNvPr id="27" name="Oval 26"/>
          <p:cNvSpPr/>
          <p:nvPr/>
        </p:nvSpPr>
        <p:spPr>
          <a:xfrm>
            <a:off x="8778240" y="3291840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16567" y="3236976"/>
            <a:ext cx="245059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4 agent — needs approval</a:t>
            </a:r>
          </a:p>
        </p:txBody>
      </p:sp>
      <p:sp>
        <p:nvSpPr>
          <p:cNvPr id="29" name="Oval 28"/>
          <p:cNvSpPr/>
          <p:nvPr/>
        </p:nvSpPr>
        <p:spPr>
          <a:xfrm>
            <a:off x="8778240" y="3712463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16567" y="3657600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5 autonomous — limits and alerts</a:t>
            </a:r>
          </a:p>
        </p:txBody>
      </p:sp>
      <p:sp>
        <p:nvSpPr>
          <p:cNvPr id="31" name="Oval 30"/>
          <p:cNvSpPr/>
          <p:nvPr/>
        </p:nvSpPr>
        <p:spPr>
          <a:xfrm>
            <a:off x="8778240" y="4261611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16567" y="4206748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State changes need identity and audit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The label matters less than the actions: anything that changes state needs authority, limits and audit.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38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PART 2: THE MICROSOFT AGENT ECOSYSTEM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Where agents are built, which models they use and how they are grounded.</a:t>
            </a:r>
          </a:p>
        </p:txBody>
      </p:sp>
      <p:sp>
        <p:nvSpPr>
          <p:cNvPr id="4" name="Pentagon 3"/>
          <p:cNvSpPr/>
          <p:nvPr/>
        </p:nvSpPr>
        <p:spPr>
          <a:xfrm>
            <a:off x="457200" y="1298448"/>
            <a:ext cx="2391338" cy="713232"/>
          </a:xfrm>
          <a:prstGeom prst="homePlate">
            <a:avLst>
              <a:gd name="adj" fmla="val 3000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98448"/>
            <a:ext cx="2131649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✓ Part 1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Agent fundamentals</a:t>
            </a:r>
          </a:p>
        </p:txBody>
      </p:sp>
      <p:sp>
        <p:nvSpPr>
          <p:cNvPr id="6" name="Chevron 5"/>
          <p:cNvSpPr/>
          <p:nvPr/>
        </p:nvSpPr>
        <p:spPr>
          <a:xfrm>
            <a:off x="2671145" y="1298448"/>
            <a:ext cx="2391338" cy="713232"/>
          </a:xfrm>
          <a:prstGeom prst="chevron">
            <a:avLst>
              <a:gd name="adj" fmla="val 30000"/>
            </a:avLst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85114" y="1298448"/>
            <a:ext cx="2009119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Part 2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Microsoft ecosystem</a:t>
            </a:r>
          </a:p>
        </p:txBody>
      </p:sp>
      <p:sp>
        <p:nvSpPr>
          <p:cNvPr id="8" name="Chevron 7"/>
          <p:cNvSpPr/>
          <p:nvPr/>
        </p:nvSpPr>
        <p:spPr>
          <a:xfrm>
            <a:off x="4885090" y="1298448"/>
            <a:ext cx="2391338" cy="713232"/>
          </a:xfrm>
          <a:prstGeom prst="chevron">
            <a:avLst>
              <a:gd name="adj" fmla="val 30000"/>
            </a:avLst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99060" y="1298448"/>
            <a:ext cx="2009119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Part 3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Workflow design</a:t>
            </a:r>
          </a:p>
        </p:txBody>
      </p:sp>
      <p:sp>
        <p:nvSpPr>
          <p:cNvPr id="10" name="Chevron 9"/>
          <p:cNvSpPr/>
          <p:nvPr/>
        </p:nvSpPr>
        <p:spPr>
          <a:xfrm>
            <a:off x="7099035" y="1298448"/>
            <a:ext cx="2391338" cy="713232"/>
          </a:xfrm>
          <a:prstGeom prst="chevron">
            <a:avLst>
              <a:gd name="adj" fmla="val 30000"/>
            </a:avLst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3005" y="1298448"/>
            <a:ext cx="2009119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Part 4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Orchestration</a:t>
            </a:r>
          </a:p>
        </p:txBody>
      </p:sp>
      <p:sp>
        <p:nvSpPr>
          <p:cNvPr id="12" name="Chevron 11"/>
          <p:cNvSpPr/>
          <p:nvPr/>
        </p:nvSpPr>
        <p:spPr>
          <a:xfrm>
            <a:off x="9312981" y="1298448"/>
            <a:ext cx="2391338" cy="713232"/>
          </a:xfrm>
          <a:prstGeom prst="chevron">
            <a:avLst>
              <a:gd name="adj" fmla="val 30000"/>
            </a:avLst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26950" y="1298448"/>
            <a:ext cx="2009119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Part 5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Enterprise controls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304288"/>
            <a:ext cx="4937760" cy="24033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5" name="Round Same Side Corner Rectangle 14"/>
          <p:cNvSpPr/>
          <p:nvPr/>
        </p:nvSpPr>
        <p:spPr>
          <a:xfrm>
            <a:off x="457200" y="2304288"/>
            <a:ext cx="493776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2304288"/>
            <a:ext cx="46634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SO FAR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2953512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2880360"/>
            <a:ext cx="41605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Agents loop toward a goal with tools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" y="3429000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3355848"/>
            <a:ext cx="4160520" cy="5928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Instructions, state and guardrails shape behavior</a:t>
            </a:r>
          </a:p>
        </p:txBody>
      </p:sp>
      <p:sp>
        <p:nvSpPr>
          <p:cNvPr id="21" name="Oval 20"/>
          <p:cNvSpPr/>
          <p:nvPr/>
        </p:nvSpPr>
        <p:spPr>
          <a:xfrm>
            <a:off x="640080" y="4076700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4003548"/>
            <a:ext cx="41605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Autonomy must match risk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760720" y="2304288"/>
            <a:ext cx="5943600" cy="1062736"/>
          </a:xfrm>
          <a:prstGeom prst="roundRect">
            <a:avLst>
              <a:gd name="adj" fmla="val 8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89320" y="2395728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NEXT QUESTION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89320" y="2688336"/>
            <a:ext cx="5486400" cy="605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02060"/>
                </a:solidFill>
                <a:latin typeface="Nirmala UI"/>
              </a:rPr>
              <a:t>Which Microsoft services do we use to build agents — and what does each do?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60720" y="3568192"/>
            <a:ext cx="5943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IN THIS PART</a:t>
            </a:r>
          </a:p>
        </p:txBody>
      </p:sp>
      <p:sp>
        <p:nvSpPr>
          <p:cNvPr id="27" name="Oval 26"/>
          <p:cNvSpPr/>
          <p:nvPr/>
        </p:nvSpPr>
        <p:spPr>
          <a:xfrm>
            <a:off x="5760720" y="3996266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44768" y="3933952"/>
            <a:ext cx="5559552" cy="3989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Copilot as an agent</a:t>
            </a:r>
          </a:p>
        </p:txBody>
      </p:sp>
      <p:sp>
        <p:nvSpPr>
          <p:cNvPr id="29" name="Oval 28"/>
          <p:cNvSpPr/>
          <p:nvPr/>
        </p:nvSpPr>
        <p:spPr>
          <a:xfrm>
            <a:off x="5760720" y="4395216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44768" y="4332901"/>
            <a:ext cx="5559552" cy="3989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An order-support agent workflow</a:t>
            </a:r>
          </a:p>
        </p:txBody>
      </p:sp>
      <p:sp>
        <p:nvSpPr>
          <p:cNvPr id="31" name="Oval 30"/>
          <p:cNvSpPr/>
          <p:nvPr/>
        </p:nvSpPr>
        <p:spPr>
          <a:xfrm>
            <a:off x="5760720" y="4794165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44768" y="4731850"/>
            <a:ext cx="5559552" cy="3989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The Microsoft AI services landscape</a:t>
            </a:r>
          </a:p>
        </p:txBody>
      </p:sp>
      <p:sp>
        <p:nvSpPr>
          <p:cNvPr id="33" name="Oval 32"/>
          <p:cNvSpPr/>
          <p:nvPr/>
        </p:nvSpPr>
        <p:spPr>
          <a:xfrm>
            <a:off x="5760720" y="5193114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44768" y="5130800"/>
            <a:ext cx="5559552" cy="3989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Microsoft Foundry and models</a:t>
            </a:r>
          </a:p>
        </p:txBody>
      </p:sp>
      <p:sp>
        <p:nvSpPr>
          <p:cNvPr id="35" name="Oval 34"/>
          <p:cNvSpPr/>
          <p:nvPr/>
        </p:nvSpPr>
        <p:spPr>
          <a:xfrm>
            <a:off x="5760720" y="5592064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44768" y="5529749"/>
            <a:ext cx="5559552" cy="3989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Tool calling with Azure OpenAI</a:t>
            </a:r>
          </a:p>
        </p:txBody>
      </p:sp>
      <p:sp>
        <p:nvSpPr>
          <p:cNvPr id="37" name="Oval 36"/>
          <p:cNvSpPr/>
          <p:nvPr/>
        </p:nvSpPr>
        <p:spPr>
          <a:xfrm>
            <a:off x="5760720" y="5991013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44768" y="5928698"/>
            <a:ext cx="5559552" cy="3989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Grounding with enterprise data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42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USING COPILOT AS AN AI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Copilot as an interface that reasons over context and invokes tools and workflows.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5239" y="1316736"/>
            <a:ext cx="10691041" cy="306628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08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391" y="1389888"/>
            <a:ext cx="10544737" cy="291998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57200" y="4675632"/>
            <a:ext cx="3627120" cy="115824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4730496"/>
            <a:ext cx="3352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Knowledge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5041392"/>
            <a:ext cx="3352800" cy="7376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Documents and sites the agent can read — it tells the agent something.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67200" y="4675632"/>
            <a:ext cx="3627120" cy="115824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04360" y="4730496"/>
            <a:ext cx="3352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Nirmala UI"/>
              </a:rPr>
              <a:t>Tools and actions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04360" y="5041392"/>
            <a:ext cx="3352800" cy="7376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Connectors and APIs — they let the agent do something.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77200" y="4675632"/>
            <a:ext cx="3627120" cy="1158240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60080" y="4675632"/>
            <a:ext cx="3261360" cy="1158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COPILOT STUDIO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builds these agents with low code.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Knowledge tells the agent something; tools let it do something.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9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COPILOT AGENT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User intent → context → reasoning → tool call → result → response/action.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63813" y="1316736"/>
            <a:ext cx="10033892" cy="306628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09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965" y="1389888"/>
            <a:ext cx="9887588" cy="291998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57200" y="4675632"/>
            <a:ext cx="3627120" cy="115824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4730496"/>
            <a:ext cx="3352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Intent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5041392"/>
            <a:ext cx="3352800" cy="7376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“Where's my order, and can I change the address?”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67200" y="4675632"/>
            <a:ext cx="3627120" cy="115824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04360" y="4730496"/>
            <a:ext cx="3352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Calls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04360" y="5041392"/>
            <a:ext cx="3352800" cy="7376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getOrder, getShipment — then, if allowed, updateAddress.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77200" y="4675632"/>
            <a:ext cx="3627120" cy="1158240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60080" y="4675632"/>
            <a:ext cx="3261360" cy="1158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STILL GOVERNED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Tools run with the user's permissions, not admin rights.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The agent turns natural-language intent into calls to governed enterprise APIs.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9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MICROSOFT AI SERVICES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Copilot Studio, Foundry, models, tools, knowledge and enterprise systems.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1438779"/>
            <a:ext cx="7415783" cy="42547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10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11931"/>
            <a:ext cx="7269480" cy="4108456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183880" y="1298448"/>
            <a:ext cx="3520440" cy="1092707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0" y="1353312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Copilot Studio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1664208"/>
            <a:ext cx="3246120" cy="6720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Build and publish agents with low code and connectors.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80" y="2519172"/>
            <a:ext cx="3520440" cy="1092707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2574036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Microsoft Foundry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2884932"/>
            <a:ext cx="3246120" cy="6720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Pro-code agents, model deployments and evaluation.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80" y="3739896"/>
            <a:ext cx="3520440" cy="1092707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3794759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Azure AI Search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4105656"/>
            <a:ext cx="3246120" cy="6720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Retrieval over enterprise content for grounding.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80" y="4960620"/>
            <a:ext cx="3520440" cy="873252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4960620"/>
            <a:ext cx="3154680" cy="8732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YOUR SYSTEMS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stay the source of truth.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Microsoft's AI services give agents models, tools and knowledge on top of your systems.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2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MICROSOFT FOUNDRY AND MODEL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Model access, deployment, prompts, grounding and evaluation.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1525920"/>
            <a:ext cx="7415783" cy="408047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1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99072"/>
            <a:ext cx="7269480" cy="393417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83880" y="1298448"/>
            <a:ext cx="3520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5B3A9E"/>
                </a:solidFill>
                <a:latin typeface="Nirmala UI"/>
              </a:rPr>
              <a:t>WHAT FOUNDRY PROVIDES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83880" y="1645920"/>
            <a:ext cx="1723644" cy="365760"/>
          </a:xfrm>
          <a:prstGeom prst="roundRect">
            <a:avLst>
              <a:gd name="adj" fmla="val 14000"/>
            </a:avLst>
          </a:prstGeom>
          <a:solidFill>
            <a:srgbClr val="EF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5B3A9E"/>
                </a:solidFill>
                <a:latin typeface="Nirmala UI"/>
              </a:rPr>
              <a:t>Model catalog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80676" y="1645920"/>
            <a:ext cx="1723644" cy="365760"/>
          </a:xfrm>
          <a:prstGeom prst="roundRect">
            <a:avLst>
              <a:gd name="adj" fmla="val 14000"/>
            </a:avLst>
          </a:prstGeom>
          <a:solidFill>
            <a:srgbClr val="EF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5B3A9E"/>
                </a:solidFill>
                <a:latin typeface="Nirmala UI"/>
              </a:rPr>
              <a:t>Deployments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80" y="2084832"/>
            <a:ext cx="1723644" cy="365760"/>
          </a:xfrm>
          <a:prstGeom prst="roundRect">
            <a:avLst>
              <a:gd name="adj" fmla="val 14000"/>
            </a:avLst>
          </a:prstGeom>
          <a:solidFill>
            <a:srgbClr val="EF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5B3A9E"/>
                </a:solidFill>
                <a:latin typeface="Nirmala UI"/>
              </a:rPr>
              <a:t>Agent Service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980676" y="2084832"/>
            <a:ext cx="1723644" cy="365760"/>
          </a:xfrm>
          <a:prstGeom prst="roundRect">
            <a:avLst>
              <a:gd name="adj" fmla="val 14000"/>
            </a:avLst>
          </a:prstGeom>
          <a:solidFill>
            <a:srgbClr val="EF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5B3A9E"/>
                </a:solidFill>
                <a:latin typeface="Nirmala UI"/>
              </a:rPr>
              <a:t>Evaluations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80" y="2523744"/>
            <a:ext cx="1723644" cy="365760"/>
          </a:xfrm>
          <a:prstGeom prst="roundRect">
            <a:avLst>
              <a:gd name="adj" fmla="val 14000"/>
            </a:avLst>
          </a:prstGeom>
          <a:solidFill>
            <a:srgbClr val="EF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5B3A9E"/>
                </a:solidFill>
                <a:latin typeface="Nirmala UI"/>
              </a:rPr>
              <a:t>Content safety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980676" y="2523744"/>
            <a:ext cx="1723644" cy="365760"/>
          </a:xfrm>
          <a:prstGeom prst="roundRect">
            <a:avLst>
              <a:gd name="adj" fmla="val 14000"/>
            </a:avLst>
          </a:prstGeom>
          <a:solidFill>
            <a:srgbClr val="EF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5B3A9E"/>
                </a:solidFill>
                <a:latin typeface="Nirmala UI"/>
              </a:rPr>
              <a:t>Tracing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80" y="3017520"/>
            <a:ext cx="3520440" cy="12954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3072384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Model choice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3383279"/>
            <a:ext cx="3246120" cy="874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Pick for quality, latency and cost — then evaluate.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3880" y="4440936"/>
            <a:ext cx="3520440" cy="1075944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60" y="4440936"/>
            <a:ext cx="3154680" cy="1075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MORE THAN AN LLM CALL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Instructions, tools, state and evaluation.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Enterprise AI needs model choice, instructions, tools, state and evaluation — not just an LLM call.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3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AZURE OPENAI IN AN AGENTIC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The LLM as the reasoning engine inside an enterprise agent.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1650502"/>
            <a:ext cx="7415783" cy="3831314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1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23654"/>
            <a:ext cx="7269480" cy="368501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83880" y="1298448"/>
            <a:ext cx="3520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HOW TOOL CALLING REALLY WORKS</a:t>
            </a:r>
          </a:p>
        </p:txBody>
      </p:sp>
      <p:sp>
        <p:nvSpPr>
          <p:cNvPr id="7" name="Oval 6"/>
          <p:cNvSpPr/>
          <p:nvPr/>
        </p:nvSpPr>
        <p:spPr>
          <a:xfrm>
            <a:off x="8183880" y="1673352"/>
            <a:ext cx="256032" cy="25603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1645920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The model never calls your API directly</a:t>
            </a:r>
          </a:p>
        </p:txBody>
      </p:sp>
      <p:sp>
        <p:nvSpPr>
          <p:cNvPr id="9" name="Oval 8"/>
          <p:cNvSpPr/>
          <p:nvPr/>
        </p:nvSpPr>
        <p:spPr>
          <a:xfrm>
            <a:off x="8183880" y="1984248"/>
            <a:ext cx="256032" cy="25603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9640" y="1956816"/>
            <a:ext cx="3154680" cy="4450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It returns a tool request with arguments</a:t>
            </a:r>
          </a:p>
        </p:txBody>
      </p:sp>
      <p:sp>
        <p:nvSpPr>
          <p:cNvPr id="11" name="Oval 10"/>
          <p:cNvSpPr/>
          <p:nvPr/>
        </p:nvSpPr>
        <p:spPr>
          <a:xfrm>
            <a:off x="8183880" y="2429256"/>
            <a:ext cx="256032" cy="25603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49640" y="2401824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Your code validates and executes it</a:t>
            </a:r>
          </a:p>
        </p:txBody>
      </p:sp>
      <p:sp>
        <p:nvSpPr>
          <p:cNvPr id="13" name="Oval 12"/>
          <p:cNvSpPr/>
          <p:nvPr/>
        </p:nvSpPr>
        <p:spPr>
          <a:xfrm>
            <a:off x="8183880" y="2740152"/>
            <a:ext cx="256032" cy="25603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2712720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The result goes back to the model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80" y="3151632"/>
            <a:ext cx="3520440" cy="890016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3151632"/>
            <a:ext cx="3154680" cy="8900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CONTROL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stays in the application.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The model reasons and requests tools; the application executes them under control.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2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GROUNDING AGENTS WITH ENTERPRISE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Search/RAG, internal knowledge, APIs and databases.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1540695"/>
            <a:ext cx="7415783" cy="405092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1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13847"/>
            <a:ext cx="7269480" cy="390462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183880" y="1298448"/>
            <a:ext cx="3520440" cy="12954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0" y="1353312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Knowledge grounding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1664208"/>
            <a:ext cx="3246120" cy="8747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Policies, runbooks and FAQs retrieved through search.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80" y="2721864"/>
            <a:ext cx="3520440" cy="12954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2776728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Live grounding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3087624"/>
            <a:ext cx="3246120" cy="874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Current order and payment status from service APIs.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83880" y="4145280"/>
            <a:ext cx="3520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GROUNDING PREVENTS</a:t>
            </a:r>
          </a:p>
        </p:txBody>
      </p:sp>
      <p:sp>
        <p:nvSpPr>
          <p:cNvPr id="13" name="Oval 12"/>
          <p:cNvSpPr/>
          <p:nvPr/>
        </p:nvSpPr>
        <p:spPr>
          <a:xfrm>
            <a:off x="8183880" y="4520184"/>
            <a:ext cx="256032" cy="25603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4492752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Guessing an order status</a:t>
            </a:r>
          </a:p>
        </p:txBody>
      </p:sp>
      <p:sp>
        <p:nvSpPr>
          <p:cNvPr id="15" name="Oval 14"/>
          <p:cNvSpPr/>
          <p:nvPr/>
        </p:nvSpPr>
        <p:spPr>
          <a:xfrm>
            <a:off x="8183880" y="4831080"/>
            <a:ext cx="256032" cy="25603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9640" y="4803648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Quoting an old policy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Ground agents in enterprise data — current facts come from services, not model memory.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2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PART 3: DESIGNING AGENT WORKFLOWS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Give an agent tools, a loop and clear limits.</a:t>
            </a:r>
          </a:p>
        </p:txBody>
      </p:sp>
      <p:sp>
        <p:nvSpPr>
          <p:cNvPr id="4" name="Pentagon 3"/>
          <p:cNvSpPr/>
          <p:nvPr/>
        </p:nvSpPr>
        <p:spPr>
          <a:xfrm>
            <a:off x="457200" y="1298448"/>
            <a:ext cx="2391338" cy="713232"/>
          </a:xfrm>
          <a:prstGeom prst="homePlate">
            <a:avLst>
              <a:gd name="adj" fmla="val 3000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98448"/>
            <a:ext cx="2131649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✓ Part 1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Agent fundamentals</a:t>
            </a:r>
          </a:p>
        </p:txBody>
      </p:sp>
      <p:sp>
        <p:nvSpPr>
          <p:cNvPr id="6" name="Chevron 5"/>
          <p:cNvSpPr/>
          <p:nvPr/>
        </p:nvSpPr>
        <p:spPr>
          <a:xfrm>
            <a:off x="2671145" y="1298448"/>
            <a:ext cx="2391338" cy="713232"/>
          </a:xfrm>
          <a:prstGeom prst="chevron">
            <a:avLst>
              <a:gd name="adj" fmla="val 3000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85114" y="1298448"/>
            <a:ext cx="2009119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✓ Part 2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Microsoft ecosystem</a:t>
            </a:r>
          </a:p>
        </p:txBody>
      </p:sp>
      <p:sp>
        <p:nvSpPr>
          <p:cNvPr id="8" name="Chevron 7"/>
          <p:cNvSpPr/>
          <p:nvPr/>
        </p:nvSpPr>
        <p:spPr>
          <a:xfrm>
            <a:off x="4885090" y="1298448"/>
            <a:ext cx="2391338" cy="713232"/>
          </a:xfrm>
          <a:prstGeom prst="chevron">
            <a:avLst>
              <a:gd name="adj" fmla="val 30000"/>
            </a:avLst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99060" y="1298448"/>
            <a:ext cx="2009119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Part 3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Workflow design</a:t>
            </a:r>
          </a:p>
        </p:txBody>
      </p:sp>
      <p:sp>
        <p:nvSpPr>
          <p:cNvPr id="10" name="Chevron 9"/>
          <p:cNvSpPr/>
          <p:nvPr/>
        </p:nvSpPr>
        <p:spPr>
          <a:xfrm>
            <a:off x="7099035" y="1298448"/>
            <a:ext cx="2391338" cy="713232"/>
          </a:xfrm>
          <a:prstGeom prst="chevron">
            <a:avLst>
              <a:gd name="adj" fmla="val 30000"/>
            </a:avLst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3005" y="1298448"/>
            <a:ext cx="2009119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Part 4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Orchestration</a:t>
            </a:r>
          </a:p>
        </p:txBody>
      </p:sp>
      <p:sp>
        <p:nvSpPr>
          <p:cNvPr id="12" name="Chevron 11"/>
          <p:cNvSpPr/>
          <p:nvPr/>
        </p:nvSpPr>
        <p:spPr>
          <a:xfrm>
            <a:off x="9312981" y="1298448"/>
            <a:ext cx="2391338" cy="713232"/>
          </a:xfrm>
          <a:prstGeom prst="chevron">
            <a:avLst>
              <a:gd name="adj" fmla="val 30000"/>
            </a:avLst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26950" y="1298448"/>
            <a:ext cx="2009119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Part 5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Enterprise controls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304288"/>
            <a:ext cx="4937760" cy="22311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5" name="Round Same Side Corner Rectangle 14"/>
          <p:cNvSpPr/>
          <p:nvPr/>
        </p:nvSpPr>
        <p:spPr>
          <a:xfrm>
            <a:off x="457200" y="2304288"/>
            <a:ext cx="493776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2304288"/>
            <a:ext cx="46634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SO FAR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2953512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2880360"/>
            <a:ext cx="41605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Copilot Studio and Foundry build agents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" y="3429000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3355848"/>
            <a:ext cx="41605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The model requests; the app executes</a:t>
            </a:r>
          </a:p>
        </p:txBody>
      </p:sp>
      <p:sp>
        <p:nvSpPr>
          <p:cNvPr id="21" name="Oval 20"/>
          <p:cNvSpPr/>
          <p:nvPr/>
        </p:nvSpPr>
        <p:spPr>
          <a:xfrm>
            <a:off x="640080" y="3904488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3831336"/>
            <a:ext cx="41605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Grounding supplies current facts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760720" y="2304288"/>
            <a:ext cx="5943600" cy="1062736"/>
          </a:xfrm>
          <a:prstGeom prst="roundRect">
            <a:avLst>
              <a:gd name="adj" fmla="val 8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89320" y="2395728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NEXT QUESTION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89320" y="2688336"/>
            <a:ext cx="5486400" cy="605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02060"/>
                </a:solidFill>
                <a:latin typeface="Nirmala UI"/>
              </a:rPr>
              <a:t>How do we design what an agent may do — and when it must stop?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60720" y="3568192"/>
            <a:ext cx="5943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IN THIS PART</a:t>
            </a:r>
          </a:p>
        </p:txBody>
      </p:sp>
      <p:sp>
        <p:nvSpPr>
          <p:cNvPr id="27" name="Oval 26"/>
          <p:cNvSpPr/>
          <p:nvPr/>
        </p:nvSpPr>
        <p:spPr>
          <a:xfrm>
            <a:off x="5760720" y="3997960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44768" y="3933952"/>
            <a:ext cx="555955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Tools and function calling — a tool definition</a:t>
            </a:r>
          </a:p>
        </p:txBody>
      </p:sp>
      <p:sp>
        <p:nvSpPr>
          <p:cNvPr id="29" name="Oval 28"/>
          <p:cNvSpPr/>
          <p:nvPr/>
        </p:nvSpPr>
        <p:spPr>
          <a:xfrm>
            <a:off x="5760720" y="4400296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44768" y="4336288"/>
            <a:ext cx="555955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Autonomous workflow design — a bounded loop</a:t>
            </a:r>
          </a:p>
        </p:txBody>
      </p:sp>
      <p:sp>
        <p:nvSpPr>
          <p:cNvPr id="31" name="Oval 30"/>
          <p:cNvSpPr/>
          <p:nvPr/>
        </p:nvSpPr>
        <p:spPr>
          <a:xfrm>
            <a:off x="5760720" y="4802632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44768" y="4738624"/>
            <a:ext cx="555955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Single-agent and multi-agent patterns</a:t>
            </a:r>
          </a:p>
        </p:txBody>
      </p:sp>
      <p:sp>
        <p:nvSpPr>
          <p:cNvPr id="33" name="Oval 32"/>
          <p:cNvSpPr/>
          <p:nvPr/>
        </p:nvSpPr>
        <p:spPr>
          <a:xfrm>
            <a:off x="5760720" y="5204968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44768" y="5140960"/>
            <a:ext cx="555955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State, memory and context</a:t>
            </a:r>
          </a:p>
        </p:txBody>
      </p:sp>
      <p:sp>
        <p:nvSpPr>
          <p:cNvPr id="35" name="Oval 34"/>
          <p:cNvSpPr/>
          <p:nvPr/>
        </p:nvSpPr>
        <p:spPr>
          <a:xfrm>
            <a:off x="5760720" y="5607304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44768" y="5543296"/>
            <a:ext cx="555955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Exercise: design tools and stop conditions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40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TOOLS AND FUNCTION CALLING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How agents invoke APIs and business operations.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1816940"/>
            <a:ext cx="7415783" cy="349843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1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90092"/>
            <a:ext cx="7269480" cy="335213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183880" y="1298448"/>
            <a:ext cx="3520440" cy="1092707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0" y="1353312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Name and description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1664208"/>
            <a:ext cx="3246120" cy="6720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Tell the model when — and when not — to use it.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80" y="2519172"/>
            <a:ext cx="3520440" cy="1092707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2574036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Schema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2884932"/>
            <a:ext cx="3246120" cy="6720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Strict, typed inputs the application can validate.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80" y="3739896"/>
            <a:ext cx="3520440" cy="1092707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3794759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Scope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4105656"/>
            <a:ext cx="3246120" cy="6720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Read tools freely; state-changing tools need approval.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80" y="4960620"/>
            <a:ext cx="3520440" cy="873252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4960620"/>
            <a:ext cx="3154680" cy="8732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CRITICAL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Approved capabilities only — never raw infrastructure.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Models choose from approved capabilities — never unlimited access to infrastructure.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2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DEFINING TOOLS FOR AN ORDER-SUPPORT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Narrow, typed, well-described tools — one to read, one to request an action.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325880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298448"/>
            <a:ext cx="518007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Nirmala UI"/>
              </a:rPr>
              <a:t>get_order_status (read-only)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27632"/>
            <a:ext cx="5509260" cy="2894837"/>
          </a:xfrm>
          <a:prstGeom prst="roundRect">
            <a:avLst>
              <a:gd name="adj" fmla="val 6000"/>
            </a:avLst>
          </a:prstGeom>
          <a:solidFill>
            <a:srgbClr val="E8F5E9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{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"type": "function",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"name": "get_order_status",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"description": "Return status and shipment of ONE order.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   Read-only. Use before answering status questions.",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"parameters": {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  "type": "object",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  "properties": {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    "orderId": { "type": "string",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                 "pattern": "^ORD-[0-9]{4,}$" }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  },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  "required": ["orderId"],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  "additionalProperties": false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}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95060" y="1298448"/>
            <a:ext cx="55092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request_order_cancellation (action)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5060" y="1627632"/>
            <a:ext cx="5509260" cy="2894837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{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"type": "function",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"name": "request_order_cancellation",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"description": "Create a cancellation REQUEST that a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   person must approve. Never cancels directly.",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"parameters": {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  "type": "object",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  "properties": {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    "orderId": { "type": "string" },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    "reason":  { "type": "string", "maxLength": 200 }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  },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  "required": ["orderId", "reason"],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  "additionalProperties": false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}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751070"/>
            <a:ext cx="3627120" cy="1082802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4805933"/>
            <a:ext cx="3352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Descriptions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5116830"/>
            <a:ext cx="3352800" cy="6621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The model picks tools by reading them — make them precise.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67200" y="4751070"/>
            <a:ext cx="3627120" cy="1082802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04360" y="4805933"/>
            <a:ext cx="3352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Strict schemas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04360" y="5116830"/>
            <a:ext cx="3352800" cy="6621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Patterns and no extra properties block junk input.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77200" y="4751070"/>
            <a:ext cx="3627120" cy="1082802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14360" y="4805933"/>
            <a:ext cx="3352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Requests, not actions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4360" y="5116830"/>
            <a:ext cx="3352800" cy="6621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The risky tool only creates a pending request.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Design tools like public APIs: narrow purpose, strict schema, and no direct high-risk actions.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3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DESIGNING AUTONOMOUS WORKFLOWS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Goal, steps, tools, conditions, state, retry and termination.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1732362"/>
            <a:ext cx="7415783" cy="3667594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1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05514"/>
            <a:ext cx="7269480" cy="352129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83880" y="1298448"/>
            <a:ext cx="3520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BEFORE YOU BUILD</a:t>
            </a:r>
          </a:p>
        </p:txBody>
      </p:sp>
      <p:sp>
        <p:nvSpPr>
          <p:cNvPr id="7" name="Oval 6"/>
          <p:cNvSpPr/>
          <p:nvPr/>
        </p:nvSpPr>
        <p:spPr>
          <a:xfrm>
            <a:off x="8183880" y="1673352"/>
            <a:ext cx="256032" cy="25603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1645920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Explicit goal and trigger</a:t>
            </a:r>
          </a:p>
        </p:txBody>
      </p:sp>
      <p:sp>
        <p:nvSpPr>
          <p:cNvPr id="9" name="Oval 8"/>
          <p:cNvSpPr/>
          <p:nvPr/>
        </p:nvSpPr>
        <p:spPr>
          <a:xfrm>
            <a:off x="8183880" y="1984248"/>
            <a:ext cx="256032" cy="25603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9640" y="1956816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Allowed tools only</a:t>
            </a:r>
          </a:p>
        </p:txBody>
      </p:sp>
      <p:sp>
        <p:nvSpPr>
          <p:cNvPr id="11" name="Oval 10"/>
          <p:cNvSpPr/>
          <p:nvPr/>
        </p:nvSpPr>
        <p:spPr>
          <a:xfrm>
            <a:off x="8183880" y="2295144"/>
            <a:ext cx="256032" cy="25603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49640" y="2267712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Decision authority defined</a:t>
            </a:r>
          </a:p>
        </p:txBody>
      </p:sp>
      <p:sp>
        <p:nvSpPr>
          <p:cNvPr id="13" name="Oval 12"/>
          <p:cNvSpPr/>
          <p:nvPr/>
        </p:nvSpPr>
        <p:spPr>
          <a:xfrm>
            <a:off x="8183880" y="2606039"/>
            <a:ext cx="256032" cy="25603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2578608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Approval gate for risky steps</a:t>
            </a:r>
          </a:p>
        </p:txBody>
      </p:sp>
      <p:sp>
        <p:nvSpPr>
          <p:cNvPr id="15" name="Oval 14"/>
          <p:cNvSpPr/>
          <p:nvPr/>
        </p:nvSpPr>
        <p:spPr>
          <a:xfrm>
            <a:off x="8183880" y="2916935"/>
            <a:ext cx="256032" cy="25603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9640" y="2889503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Step, time and cost limits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83880" y="3328416"/>
            <a:ext cx="3520440" cy="1075944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66760" y="3328416"/>
            <a:ext cx="3154680" cy="1075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STOP CONDITIONS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Done, blocked, over budget — or escalate.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Autonomous workflows need an explicit goal, trigger, tools, authority, approvals and stop condition.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4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A BOUNDED AGENT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Allowed tools, approval for state changes, and hard limits on steps and time.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325880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298448"/>
            <a:ext cx="7168895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Nirmala UI"/>
              </a:rPr>
              <a:t>AgentRunner.java (simplified)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27632"/>
            <a:ext cx="7498079" cy="3943096"/>
          </a:xfrm>
          <a:prstGeom prst="roundRect">
            <a:avLst>
              <a:gd name="adj" fmla="val 6000"/>
            </a:avLst>
          </a:prstGeom>
          <a:solidFill>
            <a:srgbClr val="E8F5E9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public AgentOutcome run(Goal goal, User user) {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AgentRun run = AgentRun.start(goal, MAX_STEPS, Duration.ofSeconds(60));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/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while (true) {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  ModelTurn turn = model.next(run.context(), tools.allowedFor(user));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  if (turn.isFinalAnswer())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    return run.complete(turn.answer());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/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  ToolCall call = turn.toolCall();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  if (!tools.isAllowed(call, user))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    return run.escalate("TOOL_NOT_ALLOWED");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  if (call.changesState())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    return run.awaitApproval(call);          // a person decides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/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  run.record(call, tools.execute(call));       // timeout + audit inside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/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  if (run.steps() &gt;= MAX_STEPS || run.expired())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    return run.escalate("LIMIT_REACHED");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}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}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1298448"/>
            <a:ext cx="3474720" cy="1092707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66760" y="1353312"/>
            <a:ext cx="32004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Allow-list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66760" y="1664208"/>
            <a:ext cx="3200400" cy="6720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Tools are filtered by the user's permissions first.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2519172"/>
            <a:ext cx="3474720" cy="1092707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66760" y="2574036"/>
            <a:ext cx="32004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Approval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60" y="2884932"/>
            <a:ext cx="3200400" cy="6720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Any state change pauses for a human decision.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3739896"/>
            <a:ext cx="3474720" cy="1092707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6760" y="3794759"/>
            <a:ext cx="32004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Limits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4105656"/>
            <a:ext cx="3200400" cy="6720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Step and time limits stop infinite loops.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4960620"/>
            <a:ext cx="3474720" cy="873252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4960620"/>
            <a:ext cx="3108960" cy="8732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AUDIT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Every call and result is recorded.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An agent loop is only safe with an allow-list, an approval gate and hard stop conditions.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3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SINGLE-AGENT WORKFLOW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One agent coordinating several business tools.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1644059"/>
            <a:ext cx="7415783" cy="3844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1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17211"/>
            <a:ext cx="7269480" cy="369789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83880" y="1298448"/>
            <a:ext cx="3520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Nirmala UI"/>
              </a:rPr>
              <a:t>ADVANTAGES</a:t>
            </a:r>
          </a:p>
        </p:txBody>
      </p:sp>
      <p:sp>
        <p:nvSpPr>
          <p:cNvPr id="7" name="Oval 6"/>
          <p:cNvSpPr/>
          <p:nvPr/>
        </p:nvSpPr>
        <p:spPr>
          <a:xfrm>
            <a:off x="8183880" y="1673352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1645920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One set of instructions</a:t>
            </a:r>
          </a:p>
        </p:txBody>
      </p:sp>
      <p:sp>
        <p:nvSpPr>
          <p:cNvPr id="9" name="Oval 8"/>
          <p:cNvSpPr/>
          <p:nvPr/>
        </p:nvSpPr>
        <p:spPr>
          <a:xfrm>
            <a:off x="8183880" y="1984248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9640" y="1956816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One audit trail</a:t>
            </a:r>
          </a:p>
        </p:txBody>
      </p:sp>
      <p:sp>
        <p:nvSpPr>
          <p:cNvPr id="11" name="Oval 10"/>
          <p:cNvSpPr/>
          <p:nvPr/>
        </p:nvSpPr>
        <p:spPr>
          <a:xfrm>
            <a:off x="8183880" y="2295144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49640" y="2267712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Easier to test and debug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80" y="2706624"/>
            <a:ext cx="3520440" cy="12954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2761488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Keep tools focused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3072384"/>
            <a:ext cx="3246120" cy="874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Four to ten well-described tools beats forty.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3880" y="4130040"/>
            <a:ext cx="3520440" cy="1075944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60" y="4130040"/>
            <a:ext cx="3154680" cy="1075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START HERE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Split into more agents only when you must.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One agent owning the goal is the simplest place to start.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3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MULTI-AGENT WORKFLOW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Specialized agents coordinating tasks.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1499342"/>
            <a:ext cx="7415783" cy="4133635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17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72494"/>
            <a:ext cx="7269480" cy="3987331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183880" y="1298448"/>
            <a:ext cx="3520440" cy="12954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0" y="1353312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Supervisor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1664208"/>
            <a:ext cx="3246120" cy="8747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Breaks the goal down and routes work to specialists.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80" y="2721864"/>
            <a:ext cx="3520440" cy="12954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2776728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Specialists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3087624"/>
            <a:ext cx="3246120" cy="874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Order, Payment and Shipping agents with narrow tools.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83880" y="4145280"/>
            <a:ext cx="3520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TRADE-OFFS</a:t>
            </a:r>
          </a:p>
        </p:txBody>
      </p:sp>
      <p:sp>
        <p:nvSpPr>
          <p:cNvPr id="13" name="Oval 12"/>
          <p:cNvSpPr/>
          <p:nvPr/>
        </p:nvSpPr>
        <p:spPr>
          <a:xfrm>
            <a:off x="8183880" y="4520184"/>
            <a:ext cx="256032" cy="25603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!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4492752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More model calls and cost</a:t>
            </a:r>
          </a:p>
        </p:txBody>
      </p:sp>
      <p:sp>
        <p:nvSpPr>
          <p:cNvPr id="15" name="Oval 14"/>
          <p:cNvSpPr/>
          <p:nvPr/>
        </p:nvSpPr>
        <p:spPr>
          <a:xfrm>
            <a:off x="8183880" y="4831080"/>
            <a:ext cx="256032" cy="25603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!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9640" y="4803648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Harder tracing</a:t>
            </a:r>
          </a:p>
        </p:txBody>
      </p:sp>
      <p:sp>
        <p:nvSpPr>
          <p:cNvPr id="17" name="Oval 16"/>
          <p:cNvSpPr/>
          <p:nvPr/>
        </p:nvSpPr>
        <p:spPr>
          <a:xfrm>
            <a:off x="8183880" y="5141976"/>
            <a:ext cx="256032" cy="25603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49640" y="5114544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Agents misunderstanding each other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Specialized agents can help complex domains — but every extra agent adds cost and complexity.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4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AGENT STATE, MEMORY, AND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Conversation state, workflow state, durable state and context limits.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1693029"/>
            <a:ext cx="7415783" cy="3746261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18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66181"/>
            <a:ext cx="7269480" cy="3599957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183880" y="1298448"/>
            <a:ext cx="3520440" cy="12954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0" y="1353312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Conversation context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1664208"/>
            <a:ext cx="3246120" cy="8747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What the user said — trimmed to fit the context window.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80" y="2721864"/>
            <a:ext cx="3520440" cy="12954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2776728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5B3A9E"/>
                </a:solidFill>
                <a:latin typeface="Nirmala UI"/>
              </a:rPr>
              <a:t>Workflow state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3087624"/>
            <a:ext cx="3246120" cy="874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Steps done, pending approvals — stored durably.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80" y="4145280"/>
            <a:ext cx="3520440" cy="12954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4200144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Nirmala UI"/>
              </a:rPr>
              <a:t>Business state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4511040"/>
            <a:ext cx="3246120" cy="8747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Orders and payments — only in the owning services.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Keep conversation, workflow and business state separate — services own the facts.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0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EXERCISE: DESIGN TOOLS AND STOP CONDITIONS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Turn a business goal into a bounded agent design.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98448"/>
            <a:ext cx="2016252" cy="384048"/>
          </a:xfrm>
          <a:prstGeom prst="roundRect">
            <a:avLst>
              <a:gd name="adj" fmla="val 14000"/>
            </a:avLst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PRACTICE EXERCISE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610612" y="1298448"/>
            <a:ext cx="1143000" cy="384048"/>
          </a:xfrm>
          <a:prstGeom prst="roundRect">
            <a:avLst>
              <a:gd name="adj" fmla="val 14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424242"/>
                </a:solidFill>
                <a:latin typeface="Nirmala UI"/>
              </a:rPr>
              <a:t>12 MIN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65376"/>
            <a:ext cx="3840480" cy="3550411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457200" y="1865376"/>
            <a:ext cx="384048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865376"/>
            <a:ext cx="35661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SCENARIO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395728"/>
            <a:ext cx="3566160" cy="14112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Support wants an agent that handles “my order hasn't arrived” requests.</a:t>
            </a:r>
          </a:p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/>
            </a:r>
          </a:p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It may look up orders and shipments, reship low-value orders and request refunds.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865376"/>
            <a:ext cx="3886200" cy="3550411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1" name="Round Same Side Corner Rectangle 10"/>
          <p:cNvSpPr/>
          <p:nvPr/>
        </p:nvSpPr>
        <p:spPr>
          <a:xfrm>
            <a:off x="4526280" y="1865376"/>
            <a:ext cx="388620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1865376"/>
            <a:ext cx="36118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YOUR TASKS</a:t>
            </a:r>
          </a:p>
        </p:txBody>
      </p:sp>
      <p:sp>
        <p:nvSpPr>
          <p:cNvPr id="13" name="Oval 12"/>
          <p:cNvSpPr/>
          <p:nvPr/>
        </p:nvSpPr>
        <p:spPr>
          <a:xfrm>
            <a:off x="4663440" y="2450592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56632" y="2395728"/>
            <a:ext cx="3218688" cy="5435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List the tools — read or state-changing</a:t>
            </a:r>
          </a:p>
        </p:txBody>
      </p:sp>
      <p:sp>
        <p:nvSpPr>
          <p:cNvPr id="15" name="Oval 14"/>
          <p:cNvSpPr/>
          <p:nvPr/>
        </p:nvSpPr>
        <p:spPr>
          <a:xfrm>
            <a:off x="4663440" y="3049016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56632" y="2994152"/>
            <a:ext cx="3218688" cy="5435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Decide which actions need human approval</a:t>
            </a:r>
          </a:p>
        </p:txBody>
      </p:sp>
      <p:sp>
        <p:nvSpPr>
          <p:cNvPr id="17" name="Oval 16"/>
          <p:cNvSpPr/>
          <p:nvPr/>
        </p:nvSpPr>
        <p:spPr>
          <a:xfrm>
            <a:off x="4663440" y="3647440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56632" y="3592576"/>
            <a:ext cx="3218688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Write three stop conditions</a:t>
            </a:r>
          </a:p>
        </p:txBody>
      </p:sp>
      <p:sp>
        <p:nvSpPr>
          <p:cNvPr id="19" name="Oval 18"/>
          <p:cNvSpPr/>
          <p:nvPr/>
        </p:nvSpPr>
        <p:spPr>
          <a:xfrm>
            <a:off x="4663440" y="4104640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56632" y="4049776"/>
            <a:ext cx="3218688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Say where workflow state is stored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41080" y="1865376"/>
            <a:ext cx="3063240" cy="3550411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2" name="Round Same Side Corner Rectangle 21"/>
          <p:cNvSpPr/>
          <p:nvPr/>
        </p:nvSpPr>
        <p:spPr>
          <a:xfrm>
            <a:off x="8641080" y="1865376"/>
            <a:ext cx="306324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78240" y="1865376"/>
            <a:ext cx="27889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EXPECTED OUTCOME</a:t>
            </a:r>
          </a:p>
        </p:txBody>
      </p:sp>
      <p:sp>
        <p:nvSpPr>
          <p:cNvPr id="24" name="Oval 23"/>
          <p:cNvSpPr/>
          <p:nvPr/>
        </p:nvSpPr>
        <p:spPr>
          <a:xfrm>
            <a:off x="8778240" y="2450592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16567" y="2395728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Read: get_order, get_shipment</a:t>
            </a:r>
          </a:p>
        </p:txBody>
      </p:sp>
      <p:sp>
        <p:nvSpPr>
          <p:cNvPr id="26" name="Oval 25"/>
          <p:cNvSpPr/>
          <p:nvPr/>
        </p:nvSpPr>
        <p:spPr>
          <a:xfrm>
            <a:off x="8778240" y="2999740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16567" y="2944876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Action: request_reship, request_refund</a:t>
            </a:r>
          </a:p>
        </p:txBody>
      </p:sp>
      <p:sp>
        <p:nvSpPr>
          <p:cNvPr id="28" name="Oval 27"/>
          <p:cNvSpPr/>
          <p:nvPr/>
        </p:nvSpPr>
        <p:spPr>
          <a:xfrm>
            <a:off x="8778240" y="3548887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16567" y="3494023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Approval: refunds and reships above a limit</a:t>
            </a:r>
          </a:p>
        </p:txBody>
      </p:sp>
      <p:sp>
        <p:nvSpPr>
          <p:cNvPr id="30" name="Oval 29"/>
          <p:cNvSpPr/>
          <p:nvPr/>
        </p:nvSpPr>
        <p:spPr>
          <a:xfrm>
            <a:off x="8778240" y="4098035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16567" y="4043171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Stop: resolved, 8 steps, unclear intent → human</a:t>
            </a:r>
          </a:p>
        </p:txBody>
      </p:sp>
      <p:sp>
        <p:nvSpPr>
          <p:cNvPr id="32" name="Oval 31"/>
          <p:cNvSpPr/>
          <p:nvPr/>
        </p:nvSpPr>
        <p:spPr>
          <a:xfrm>
            <a:off x="8778240" y="4647183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16567" y="4592319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State in a workflow store — not the chat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Define read and action tools, approval rules and stop conditions before any prompt is written.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39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PART 4: MICROSERVICE ORCHESTRATION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Agents act through our services — never around them.</a:t>
            </a:r>
          </a:p>
        </p:txBody>
      </p:sp>
      <p:sp>
        <p:nvSpPr>
          <p:cNvPr id="4" name="Pentagon 3"/>
          <p:cNvSpPr/>
          <p:nvPr/>
        </p:nvSpPr>
        <p:spPr>
          <a:xfrm>
            <a:off x="457200" y="1298448"/>
            <a:ext cx="2391338" cy="713232"/>
          </a:xfrm>
          <a:prstGeom prst="homePlate">
            <a:avLst>
              <a:gd name="adj" fmla="val 3000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98448"/>
            <a:ext cx="2131649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✓ Part 1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Agent fundamentals</a:t>
            </a:r>
          </a:p>
        </p:txBody>
      </p:sp>
      <p:sp>
        <p:nvSpPr>
          <p:cNvPr id="6" name="Chevron 5"/>
          <p:cNvSpPr/>
          <p:nvPr/>
        </p:nvSpPr>
        <p:spPr>
          <a:xfrm>
            <a:off x="2671145" y="1298448"/>
            <a:ext cx="2391338" cy="713232"/>
          </a:xfrm>
          <a:prstGeom prst="chevron">
            <a:avLst>
              <a:gd name="adj" fmla="val 3000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85114" y="1298448"/>
            <a:ext cx="2009119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✓ Part 2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Microsoft ecosystem</a:t>
            </a:r>
          </a:p>
        </p:txBody>
      </p:sp>
      <p:sp>
        <p:nvSpPr>
          <p:cNvPr id="8" name="Chevron 7"/>
          <p:cNvSpPr/>
          <p:nvPr/>
        </p:nvSpPr>
        <p:spPr>
          <a:xfrm>
            <a:off x="4885090" y="1298448"/>
            <a:ext cx="2391338" cy="713232"/>
          </a:xfrm>
          <a:prstGeom prst="chevron">
            <a:avLst>
              <a:gd name="adj" fmla="val 3000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99060" y="1298448"/>
            <a:ext cx="2009119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✓ Part 3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Workflow design</a:t>
            </a:r>
          </a:p>
        </p:txBody>
      </p:sp>
      <p:sp>
        <p:nvSpPr>
          <p:cNvPr id="10" name="Chevron 9"/>
          <p:cNvSpPr/>
          <p:nvPr/>
        </p:nvSpPr>
        <p:spPr>
          <a:xfrm>
            <a:off x="7099035" y="1298448"/>
            <a:ext cx="2391338" cy="713232"/>
          </a:xfrm>
          <a:prstGeom prst="chevron">
            <a:avLst>
              <a:gd name="adj" fmla="val 30000"/>
            </a:avLst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3005" y="1298448"/>
            <a:ext cx="2009119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Part 4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Orchestration</a:t>
            </a:r>
          </a:p>
        </p:txBody>
      </p:sp>
      <p:sp>
        <p:nvSpPr>
          <p:cNvPr id="12" name="Chevron 11"/>
          <p:cNvSpPr/>
          <p:nvPr/>
        </p:nvSpPr>
        <p:spPr>
          <a:xfrm>
            <a:off x="9312981" y="1298448"/>
            <a:ext cx="2391338" cy="713232"/>
          </a:xfrm>
          <a:prstGeom prst="chevron">
            <a:avLst>
              <a:gd name="adj" fmla="val 30000"/>
            </a:avLst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26950" y="1298448"/>
            <a:ext cx="2009119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Part 5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Enterprise controls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304288"/>
            <a:ext cx="4937760" cy="24033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5" name="Round Same Side Corner Rectangle 14"/>
          <p:cNvSpPr/>
          <p:nvPr/>
        </p:nvSpPr>
        <p:spPr>
          <a:xfrm>
            <a:off x="457200" y="2304288"/>
            <a:ext cx="493776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2304288"/>
            <a:ext cx="46634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SO FAR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2953512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2880360"/>
            <a:ext cx="41605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Tools are narrow, typed and described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" y="3429000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3355848"/>
            <a:ext cx="4160520" cy="5928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Loops have allow-lists, approvals and limits</a:t>
            </a:r>
          </a:p>
        </p:txBody>
      </p:sp>
      <p:sp>
        <p:nvSpPr>
          <p:cNvPr id="21" name="Oval 20"/>
          <p:cNvSpPr/>
          <p:nvPr/>
        </p:nvSpPr>
        <p:spPr>
          <a:xfrm>
            <a:off x="640080" y="4076700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4003548"/>
            <a:ext cx="41605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Services own the business state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760720" y="2304288"/>
            <a:ext cx="5943600" cy="1062736"/>
          </a:xfrm>
          <a:prstGeom prst="roundRect">
            <a:avLst>
              <a:gd name="adj" fmla="val 8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89320" y="2395728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NEXT QUESTION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89320" y="2688336"/>
            <a:ext cx="5486400" cy="605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02060"/>
                </a:solidFill>
                <a:latin typeface="Nirmala UI"/>
              </a:rPr>
              <a:t>How should an agent use the Order, Payment, Inventory and Shipping services?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60720" y="3568192"/>
            <a:ext cx="5943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IN THIS PART</a:t>
            </a:r>
          </a:p>
        </p:txBody>
      </p:sp>
      <p:sp>
        <p:nvSpPr>
          <p:cNvPr id="27" name="Oval 26"/>
          <p:cNvSpPr/>
          <p:nvPr/>
        </p:nvSpPr>
        <p:spPr>
          <a:xfrm>
            <a:off x="5760720" y="3997960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44768" y="3933952"/>
            <a:ext cx="555955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AI-assisted API orchestration</a:t>
            </a:r>
          </a:p>
        </p:txBody>
      </p:sp>
      <p:sp>
        <p:nvSpPr>
          <p:cNvPr id="29" name="Oval 28"/>
          <p:cNvSpPr/>
          <p:nvPr/>
        </p:nvSpPr>
        <p:spPr>
          <a:xfrm>
            <a:off x="5760720" y="4400296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44768" y="4336288"/>
            <a:ext cx="555955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A Spring Boot tool adapter — in code</a:t>
            </a:r>
          </a:p>
        </p:txBody>
      </p:sp>
      <p:sp>
        <p:nvSpPr>
          <p:cNvPr id="31" name="Oval 30"/>
          <p:cNvSpPr/>
          <p:nvPr/>
        </p:nvSpPr>
        <p:spPr>
          <a:xfrm>
            <a:off x="5760720" y="4802632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44768" y="4738624"/>
            <a:ext cx="555955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Agents with Spring Boot microservices</a:t>
            </a:r>
          </a:p>
        </p:txBody>
      </p:sp>
      <p:sp>
        <p:nvSpPr>
          <p:cNvPr id="33" name="Oval 32"/>
          <p:cNvSpPr/>
          <p:nvPr/>
        </p:nvSpPr>
        <p:spPr>
          <a:xfrm>
            <a:off x="5760720" y="5204968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44768" y="5140960"/>
            <a:ext cx="555955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Event-driven agentic workflows</a:t>
            </a:r>
          </a:p>
        </p:txBody>
      </p:sp>
      <p:sp>
        <p:nvSpPr>
          <p:cNvPr id="35" name="Oval 34"/>
          <p:cNvSpPr/>
          <p:nvPr/>
        </p:nvSpPr>
        <p:spPr>
          <a:xfrm>
            <a:off x="5760720" y="5607304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44768" y="5543296"/>
            <a:ext cx="555955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Exercise: investigate a failed payment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40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AI-ASSISTED API ORCHESTRATION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An agent choosing and calling multiple APIs based on intent.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1738680"/>
            <a:ext cx="7415783" cy="365495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19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11832"/>
            <a:ext cx="7269480" cy="350865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183880" y="1298448"/>
            <a:ext cx="3520440" cy="12954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0" y="1353312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Decision path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1664208"/>
            <a:ext cx="3246120" cy="8747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Check order → cancel → check payment → refund only if captured.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80" y="2721864"/>
            <a:ext cx="3520440" cy="12954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2776728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Business rules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3087624"/>
            <a:ext cx="3246120" cy="874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The Order and Payment services still enforce them — the agent can't skip them.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80" y="4145280"/>
            <a:ext cx="3520440" cy="1075944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4145280"/>
            <a:ext cx="3154680" cy="1075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IDEMPOTENCY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Retries must never refund twice.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The agent maps business intent to a sequence of API decisions — within the business rules.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9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A SAFE TOOL ENDPOINT IN SPRING BOOT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The agent requests; the service validates, authorizes, records and waits for approval.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325880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298448"/>
            <a:ext cx="7168895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Nirmala UI"/>
              </a:rPr>
              <a:t>AgentToolController.java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27632"/>
            <a:ext cx="7498079" cy="4174235"/>
          </a:xfrm>
          <a:prstGeom prst="roundRect">
            <a:avLst>
              <a:gd name="adj" fmla="val 6000"/>
            </a:avLst>
          </a:prstGeom>
          <a:solidFill>
            <a:srgbClr val="E8F5E9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@RestController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@RequestMapping("/api/v1/agent-tools/orders")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class AgentToolController {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/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  @PostMapping("/{orderId}/cancellation-requests")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  @PreAuthorize("hasAuthority('SCOPE_orders.cancel.request')")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  ResponseEntity&lt;CancellationRequest&gt; requestCancellation(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      @PathVariable String orderId,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      @RequestHeader("Idempotency-Key") String key,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      @Valid @RequestBody CancellationReason body,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      @AuthenticationPrincipal Jwt caller) {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/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    CancellationRequest req = cancellations.request(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        orderId, body.reason(), key, caller.getSubject());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    audit.record("CANCEL_REQUESTED", orderId, caller.getSubject());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    return ResponseEntity.accepted().body(req);   // PENDING_APPROVAL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  }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}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1298448"/>
            <a:ext cx="3474720" cy="1092707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66760" y="1353312"/>
            <a:ext cx="32004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Narrow scope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66760" y="1664208"/>
            <a:ext cx="3200400" cy="6720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orders.cancel.request — not orders.admin.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2519172"/>
            <a:ext cx="3474720" cy="1092707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66760" y="2574036"/>
            <a:ext cx="32004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Idempotent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60" y="2884932"/>
            <a:ext cx="3200400" cy="6720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A repeated tool call returns the same request.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3739896"/>
            <a:ext cx="3474720" cy="1092707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6760" y="3794759"/>
            <a:ext cx="32004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202 Accepted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4105656"/>
            <a:ext cx="3200400" cy="6720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Nothing is cancelled until a person approves.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4960620"/>
            <a:ext cx="3474720" cy="873252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4960620"/>
            <a:ext cx="3108960" cy="8732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SAME RULES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Order Service still checks the order's state.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Expose agent actions as narrow, idempotent, audited requests — the service keeps the final say.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3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AGENTIC WORKFLOW WITH SPRING BOOT MICROSERVICES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Agent → API gateway → Order, Payment, Inventory and Shipping services.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1915052"/>
            <a:ext cx="7415783" cy="3302215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20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88204"/>
            <a:ext cx="7269480" cy="315591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83880" y="1298448"/>
            <a:ext cx="3520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BAD DESIGN</a:t>
            </a:r>
          </a:p>
        </p:txBody>
      </p:sp>
      <p:sp>
        <p:nvSpPr>
          <p:cNvPr id="7" name="Oval 6"/>
          <p:cNvSpPr/>
          <p:nvPr/>
        </p:nvSpPr>
        <p:spPr>
          <a:xfrm>
            <a:off x="8183880" y="1673352"/>
            <a:ext cx="256032" cy="25603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1645920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Direct database access</a:t>
            </a:r>
          </a:p>
        </p:txBody>
      </p:sp>
      <p:sp>
        <p:nvSpPr>
          <p:cNvPr id="9" name="Oval 8"/>
          <p:cNvSpPr/>
          <p:nvPr/>
        </p:nvSpPr>
        <p:spPr>
          <a:xfrm>
            <a:off x="8183880" y="1984248"/>
            <a:ext cx="256032" cy="25603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9640" y="1956816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A shared super-user token</a:t>
            </a:r>
          </a:p>
        </p:txBody>
      </p:sp>
      <p:sp>
        <p:nvSpPr>
          <p:cNvPr id="11" name="Oval 10"/>
          <p:cNvSpPr/>
          <p:nvPr/>
        </p:nvSpPr>
        <p:spPr>
          <a:xfrm>
            <a:off x="8183880" y="2295144"/>
            <a:ext cx="256032" cy="25603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49640" y="2267712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Calling internal-only endpoints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80" y="2706624"/>
            <a:ext cx="3520440" cy="12954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2761488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Better design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3072384"/>
            <a:ext cx="3246120" cy="874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Through the gateway, with the user's or a scoped workload identity.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3880" y="4130040"/>
            <a:ext cx="3520440" cy="1075944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60" y="4130040"/>
            <a:ext cx="3154680" cy="1075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WHY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Validation, security and audit already live in the services.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Agentic AI must respect the service boundaries established by the microservices.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3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EVENT-DRIVEN AGENTIC WORKFLOWS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Events trigger agents; agents invoke services and publish outcomes.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1999935"/>
            <a:ext cx="7415783" cy="3132449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2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073087"/>
            <a:ext cx="7269480" cy="298614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83880" y="1298448"/>
            <a:ext cx="35204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An example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83880" y="1627632"/>
            <a:ext cx="3520440" cy="103733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PaymentFailed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→ Incident agent investigates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→ calls Payment + Order APIs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→ publishes IssueTriaged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83880" y="2792984"/>
            <a:ext cx="3520440" cy="12954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0" y="2847848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Idempotent consumer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0" y="3158744"/>
            <a:ext cx="3246120" cy="874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The agent may receive the same event twice.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80" y="4216400"/>
            <a:ext cx="3520440" cy="1075944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66760" y="4216400"/>
            <a:ext cx="3154680" cy="1075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MODULE 4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Events, DLQs and correlation IDs still apply.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Events can start agents, and agents can publish events — powering autonomous operations.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8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EXERCISE: INVESTIGATE A FAILED PAYMENT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Design an assistant that investigates — and drafts, but doesn't send.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98448"/>
            <a:ext cx="2016252" cy="384048"/>
          </a:xfrm>
          <a:prstGeom prst="roundRect">
            <a:avLst>
              <a:gd name="adj" fmla="val 14000"/>
            </a:avLst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PRACTICE EXERCISE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610612" y="1298448"/>
            <a:ext cx="1143000" cy="384048"/>
          </a:xfrm>
          <a:prstGeom prst="roundRect">
            <a:avLst>
              <a:gd name="adj" fmla="val 14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424242"/>
                </a:solidFill>
                <a:latin typeface="Nirmala UI"/>
              </a:rPr>
              <a:t>12 MIN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65376"/>
            <a:ext cx="3840480" cy="3550411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457200" y="1865376"/>
            <a:ext cx="384048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865376"/>
            <a:ext cx="35661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SCENARIO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395728"/>
            <a:ext cx="3566160" cy="9773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An AI assistant is asked to investigate why a customer's payment failed and draft a response for the support agent.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865376"/>
            <a:ext cx="3886200" cy="3550411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1" name="Round Same Side Corner Rectangle 10"/>
          <p:cNvSpPr/>
          <p:nvPr/>
        </p:nvSpPr>
        <p:spPr>
          <a:xfrm>
            <a:off x="4526280" y="1865376"/>
            <a:ext cx="388620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1865376"/>
            <a:ext cx="36118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YOUR TASKS</a:t>
            </a:r>
          </a:p>
        </p:txBody>
      </p:sp>
      <p:sp>
        <p:nvSpPr>
          <p:cNvPr id="13" name="Oval 12"/>
          <p:cNvSpPr/>
          <p:nvPr/>
        </p:nvSpPr>
        <p:spPr>
          <a:xfrm>
            <a:off x="4663440" y="2450592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56632" y="2395728"/>
            <a:ext cx="3218688" cy="5435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Which microservice APIs should it call?</a:t>
            </a:r>
          </a:p>
        </p:txBody>
      </p:sp>
      <p:sp>
        <p:nvSpPr>
          <p:cNvPr id="15" name="Oval 14"/>
          <p:cNvSpPr/>
          <p:nvPr/>
        </p:nvSpPr>
        <p:spPr>
          <a:xfrm>
            <a:off x="4663440" y="3049016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56632" y="2994152"/>
            <a:ext cx="3218688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Which data must be masked?</a:t>
            </a:r>
          </a:p>
        </p:txBody>
      </p:sp>
      <p:sp>
        <p:nvSpPr>
          <p:cNvPr id="17" name="Oval 16"/>
          <p:cNvSpPr/>
          <p:nvPr/>
        </p:nvSpPr>
        <p:spPr>
          <a:xfrm>
            <a:off x="4663440" y="3506216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56632" y="3451352"/>
            <a:ext cx="3218688" cy="5435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Should it send the response automatically?</a:t>
            </a:r>
          </a:p>
        </p:txBody>
      </p:sp>
      <p:sp>
        <p:nvSpPr>
          <p:cNvPr id="19" name="Oval 18"/>
          <p:cNvSpPr/>
          <p:nvPr/>
        </p:nvSpPr>
        <p:spPr>
          <a:xfrm>
            <a:off x="4663440" y="4104640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56632" y="4049776"/>
            <a:ext cx="3218688" cy="5435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What is logged — and what if Transaction Service is down?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41080" y="1865376"/>
            <a:ext cx="3063240" cy="3550411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2" name="Round Same Side Corner Rectangle 21"/>
          <p:cNvSpPr/>
          <p:nvPr/>
        </p:nvSpPr>
        <p:spPr>
          <a:xfrm>
            <a:off x="8641080" y="1865376"/>
            <a:ext cx="306324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78240" y="1865376"/>
            <a:ext cx="27889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EXPECTED OUTCOME</a:t>
            </a:r>
          </a:p>
        </p:txBody>
      </p:sp>
      <p:sp>
        <p:nvSpPr>
          <p:cNvPr id="24" name="Oval 23"/>
          <p:cNvSpPr/>
          <p:nvPr/>
        </p:nvSpPr>
        <p:spPr>
          <a:xfrm>
            <a:off x="8778240" y="2450592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16567" y="2395728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Read: payment, transaction and order status</a:t>
            </a:r>
          </a:p>
        </p:txBody>
      </p:sp>
      <p:sp>
        <p:nvSpPr>
          <p:cNvPr id="26" name="Oval 25"/>
          <p:cNvSpPr/>
          <p:nvPr/>
        </p:nvSpPr>
        <p:spPr>
          <a:xfrm>
            <a:off x="8778240" y="2999740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16567" y="2944876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Mask account numbers and personal data</a:t>
            </a:r>
          </a:p>
        </p:txBody>
      </p:sp>
      <p:sp>
        <p:nvSpPr>
          <p:cNvPr id="28" name="Oval 27"/>
          <p:cNvSpPr/>
          <p:nvPr/>
        </p:nvSpPr>
        <p:spPr>
          <a:xfrm>
            <a:off x="8778240" y="3548887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16567" y="3494023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No — a person reviews and sends</a:t>
            </a:r>
          </a:p>
        </p:txBody>
      </p:sp>
      <p:sp>
        <p:nvSpPr>
          <p:cNvPr id="30" name="Oval 29"/>
          <p:cNvSpPr/>
          <p:nvPr/>
        </p:nvSpPr>
        <p:spPr>
          <a:xfrm>
            <a:off x="8778240" y="4098035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16567" y="4043171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Log tools, IDs, correlation and outcome</a:t>
            </a:r>
          </a:p>
        </p:txBody>
      </p:sp>
      <p:sp>
        <p:nvSpPr>
          <p:cNvPr id="32" name="Oval 31"/>
          <p:cNvSpPr/>
          <p:nvPr/>
        </p:nvSpPr>
        <p:spPr>
          <a:xfrm>
            <a:off x="8778240" y="4647183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16567" y="4592319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Service down → say so, don't guess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Read-only tools, masked data, a human sender, full audit — and honest answers when a service is down.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39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PART 5: ENTERPRISE CONTROLS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Identity, policy, approval, reliability and audit for every agent action.</a:t>
            </a:r>
          </a:p>
        </p:txBody>
      </p:sp>
      <p:sp>
        <p:nvSpPr>
          <p:cNvPr id="4" name="Pentagon 3"/>
          <p:cNvSpPr/>
          <p:nvPr/>
        </p:nvSpPr>
        <p:spPr>
          <a:xfrm>
            <a:off x="457200" y="1298448"/>
            <a:ext cx="2391338" cy="713232"/>
          </a:xfrm>
          <a:prstGeom prst="homePlate">
            <a:avLst>
              <a:gd name="adj" fmla="val 3000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98448"/>
            <a:ext cx="2131649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✓ Part 1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Agent fundamentals</a:t>
            </a:r>
          </a:p>
        </p:txBody>
      </p:sp>
      <p:sp>
        <p:nvSpPr>
          <p:cNvPr id="6" name="Chevron 5"/>
          <p:cNvSpPr/>
          <p:nvPr/>
        </p:nvSpPr>
        <p:spPr>
          <a:xfrm>
            <a:off x="2671145" y="1298448"/>
            <a:ext cx="2391338" cy="713232"/>
          </a:xfrm>
          <a:prstGeom prst="chevron">
            <a:avLst>
              <a:gd name="adj" fmla="val 3000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85114" y="1298448"/>
            <a:ext cx="2009119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✓ Part 2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Microsoft ecosystem</a:t>
            </a:r>
          </a:p>
        </p:txBody>
      </p:sp>
      <p:sp>
        <p:nvSpPr>
          <p:cNvPr id="8" name="Chevron 7"/>
          <p:cNvSpPr/>
          <p:nvPr/>
        </p:nvSpPr>
        <p:spPr>
          <a:xfrm>
            <a:off x="4885090" y="1298448"/>
            <a:ext cx="2391338" cy="713232"/>
          </a:xfrm>
          <a:prstGeom prst="chevron">
            <a:avLst>
              <a:gd name="adj" fmla="val 3000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99060" y="1298448"/>
            <a:ext cx="2009119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✓ Part 3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Workflow design</a:t>
            </a:r>
          </a:p>
        </p:txBody>
      </p:sp>
      <p:sp>
        <p:nvSpPr>
          <p:cNvPr id="10" name="Chevron 9"/>
          <p:cNvSpPr/>
          <p:nvPr/>
        </p:nvSpPr>
        <p:spPr>
          <a:xfrm>
            <a:off x="7099035" y="1298448"/>
            <a:ext cx="2391338" cy="713232"/>
          </a:xfrm>
          <a:prstGeom prst="chevron">
            <a:avLst>
              <a:gd name="adj" fmla="val 3000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3005" y="1298448"/>
            <a:ext cx="2009119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✓ Part 4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Orchestration</a:t>
            </a:r>
          </a:p>
        </p:txBody>
      </p:sp>
      <p:sp>
        <p:nvSpPr>
          <p:cNvPr id="12" name="Chevron 11"/>
          <p:cNvSpPr/>
          <p:nvPr/>
        </p:nvSpPr>
        <p:spPr>
          <a:xfrm>
            <a:off x="9312981" y="1298448"/>
            <a:ext cx="2391338" cy="713232"/>
          </a:xfrm>
          <a:prstGeom prst="chevron">
            <a:avLst>
              <a:gd name="adj" fmla="val 30000"/>
            </a:avLst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26950" y="1298448"/>
            <a:ext cx="2009119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Part 5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Enterprise controls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304288"/>
            <a:ext cx="4937760" cy="22311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5" name="Round Same Side Corner Rectangle 14"/>
          <p:cNvSpPr/>
          <p:nvPr/>
        </p:nvSpPr>
        <p:spPr>
          <a:xfrm>
            <a:off x="457200" y="2304288"/>
            <a:ext cx="493776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2304288"/>
            <a:ext cx="46634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SO FAR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2953512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2880360"/>
            <a:ext cx="41605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Agents call services through the gateway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" y="3429000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3355848"/>
            <a:ext cx="41605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Tool endpoints are narrow and idempotent</a:t>
            </a:r>
          </a:p>
        </p:txBody>
      </p:sp>
      <p:sp>
        <p:nvSpPr>
          <p:cNvPr id="21" name="Oval 20"/>
          <p:cNvSpPr/>
          <p:nvPr/>
        </p:nvSpPr>
        <p:spPr>
          <a:xfrm>
            <a:off x="640080" y="3904488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3831336"/>
            <a:ext cx="41605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Events can start agent workflows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760720" y="2304288"/>
            <a:ext cx="5943600" cy="1062736"/>
          </a:xfrm>
          <a:prstGeom prst="roundRect">
            <a:avLst>
              <a:gd name="adj" fmla="val 8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89320" y="2395728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NEXT QUESTION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89320" y="2688336"/>
            <a:ext cx="5486400" cy="605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02060"/>
                </a:solidFill>
                <a:latin typeface="Nirmala UI"/>
              </a:rPr>
              <a:t>How do we trust an agent in a regulated enterprise?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60720" y="3568192"/>
            <a:ext cx="5943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IN THIS PART</a:t>
            </a:r>
          </a:p>
        </p:txBody>
      </p:sp>
      <p:sp>
        <p:nvSpPr>
          <p:cNvPr id="27" name="Oval 26"/>
          <p:cNvSpPr/>
          <p:nvPr/>
        </p:nvSpPr>
        <p:spPr>
          <a:xfrm>
            <a:off x="5760720" y="3997960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44768" y="3933952"/>
            <a:ext cx="555955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Guardrails and human approval — in code</a:t>
            </a:r>
          </a:p>
        </p:txBody>
      </p:sp>
      <p:sp>
        <p:nvSpPr>
          <p:cNvPr id="29" name="Oval 28"/>
          <p:cNvSpPr/>
          <p:nvPr/>
        </p:nvSpPr>
        <p:spPr>
          <a:xfrm>
            <a:off x="5760720" y="4400296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44768" y="4336288"/>
            <a:ext cx="555955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Model versus policy — and Exercise 5.1</a:t>
            </a:r>
          </a:p>
        </p:txBody>
      </p:sp>
      <p:sp>
        <p:nvSpPr>
          <p:cNvPr id="31" name="Oval 30"/>
          <p:cNvSpPr/>
          <p:nvPr/>
        </p:nvSpPr>
        <p:spPr>
          <a:xfrm>
            <a:off x="5760720" y="4802632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44768" y="4738624"/>
            <a:ext cx="555955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Reliability and observability</a:t>
            </a:r>
          </a:p>
        </p:txBody>
      </p:sp>
      <p:sp>
        <p:nvSpPr>
          <p:cNvPr id="33" name="Oval 32"/>
          <p:cNvSpPr/>
          <p:nvPr/>
        </p:nvSpPr>
        <p:spPr>
          <a:xfrm>
            <a:off x="5760720" y="5204968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44768" y="5140960"/>
            <a:ext cx="555955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Enterprise use cases</a:t>
            </a:r>
          </a:p>
        </p:txBody>
      </p:sp>
      <p:sp>
        <p:nvSpPr>
          <p:cNvPr id="35" name="Oval 34"/>
          <p:cNvSpPr/>
          <p:nvPr/>
        </p:nvSpPr>
        <p:spPr>
          <a:xfrm>
            <a:off x="5760720" y="5607304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44768" y="5543296"/>
            <a:ext cx="555955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The complete architecture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40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GUARDRAILS, SECURITY, AND HUMAN APPROVAL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Authorization, data boundaries, approval gates and auditability.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1910417"/>
            <a:ext cx="7415783" cy="3311484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2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83569"/>
            <a:ext cx="7269480" cy="31651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183880" y="1298448"/>
            <a:ext cx="3520440" cy="1092707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0" y="1353312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Identity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1664208"/>
            <a:ext cx="3246120" cy="6720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The agent acts as the user — or a scoped workload identity.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80" y="2519172"/>
            <a:ext cx="3520440" cy="1092707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2574036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Policy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2884932"/>
            <a:ext cx="3246120" cy="6720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Deterministic rules decide what's allowed; the model doesn't.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80" y="3739896"/>
            <a:ext cx="3520440" cy="1092707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3794759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Approval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4105656"/>
            <a:ext cx="3246120" cy="6720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High-risk actions wait for a person with the right role.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80" y="4960620"/>
            <a:ext cx="3520440" cy="873252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4960620"/>
            <a:ext cx="3154680" cy="8732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AUDIT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Who asked, what ran, who approved, the outcome.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Every agent action passes identity, authorization, policy and — when risky — human approval.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2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MODEL SCORES, POLICY DECIDES, PEOPLE APPROVE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Lab 5's boundary in code: a model failure becomes HOLD, never APPROVE.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98448"/>
            <a:ext cx="55092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ModelClient.java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27632"/>
            <a:ext cx="5509260" cy="2647187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public ModelResult score(Transaction tx) {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try {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  return modelApi.post()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      .uri("/v1/score")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      .body(ScoreRequest.from(tx))       // no PII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      .retrieve()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      .body(ModelResult.class);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} catch (RestClientException e) {         // timeout or 5xx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  log.warn("Model unavailable transactionId={}", tx.id());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  return ModelResult.unavailable();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}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}</a:t>
            </a:r>
          </a:p>
        </p:txBody>
      </p:sp>
      <p:sp>
        <p:nvSpPr>
          <p:cNvPr id="6" name="Oval 5"/>
          <p:cNvSpPr/>
          <p:nvPr/>
        </p:nvSpPr>
        <p:spPr>
          <a:xfrm>
            <a:off x="6195060" y="1325880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24244" y="1298448"/>
            <a:ext cx="518007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Nirmala UI"/>
              </a:rPr>
              <a:t>AssessmentService.java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5060" y="1627632"/>
            <a:ext cx="5509260" cy="2647187"/>
          </a:xfrm>
          <a:prstGeom prst="roundRect">
            <a:avLst>
              <a:gd name="adj" fmla="val 6000"/>
            </a:avLst>
          </a:prstGeom>
          <a:solidFill>
            <a:srgbClr val="E8F5E9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@Transactional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public Assessment assess(TransactionSubmitted event) {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ModelResult model = modelClient.score(event.transaction());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Decision decision = policyEngine.decide(model, event.amount());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/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Assessment a = Assessment.of(event, model, decision);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if (decision.isHold())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  a.markPendingReview();     // needs risk.write to resolve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return assessments.save(a);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503420"/>
            <a:ext cx="3627120" cy="115824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4558283"/>
            <a:ext cx="3352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869180"/>
            <a:ext cx="3352800" cy="7376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Returns a score and metadata — never a disposition.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67200" y="4503420"/>
            <a:ext cx="3627120" cy="115824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04360" y="4558283"/>
            <a:ext cx="3352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Policy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04360" y="4869180"/>
            <a:ext cx="3352800" cy="7376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Deterministic Java decides APPROVE, HOLD or DECLINE.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77200" y="4503420"/>
            <a:ext cx="3627120" cy="115824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14360" y="4558283"/>
            <a:ext cx="3352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People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4360" y="4869180"/>
            <a:ext cx="3352800" cy="7376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A reviewer with risk.write resolves every HOLD.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Keep the model advisory: deterministic policy decides, failures fail safe, and people review holds.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3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EXERCISE 5.1 — MAP MODEL CALL → POLICY → DISPOSITION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Day 5 checkpoint A: clarity on the governance boundary.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98448"/>
            <a:ext cx="2436876" cy="384048"/>
          </a:xfrm>
          <a:prstGeom prst="roundRect">
            <a:avLst>
              <a:gd name="adj" fmla="val 14000"/>
            </a:avLst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OFFICIAL CHECKPOINT 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31236" y="1298448"/>
            <a:ext cx="1143000" cy="384048"/>
          </a:xfrm>
          <a:prstGeom prst="roundRect">
            <a:avLst>
              <a:gd name="adj" fmla="val 14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424242"/>
                </a:solidFill>
                <a:latin typeface="Nirmala UI"/>
              </a:rPr>
              <a:t>10 MIN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73952" y="1298448"/>
            <a:ext cx="5230368" cy="384048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ctr"/>
            <a:r>
              <a:rPr sz="1100" b="0" i="0">
                <a:solidFill>
                  <a:srgbClr val="000000"/>
                </a:solidFill>
                <a:latin typeface="Consolas"/>
              </a:rPr>
              <a:t>labs/day-05/exercises/exercise-5.1-model-policy-disposition.md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65376"/>
            <a:ext cx="3840480" cy="38491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8" name="Round Same Side Corner Rectangle 7"/>
          <p:cNvSpPr/>
          <p:nvPr/>
        </p:nvSpPr>
        <p:spPr>
          <a:xfrm>
            <a:off x="457200" y="1865376"/>
            <a:ext cx="384048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865376"/>
            <a:ext cx="35661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SCENARIO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395728"/>
            <a:ext cx="3566160" cy="16281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Lab 5's Risk Assessment Service consumes TransactionSubmitted, calls a model on OpenShift AI, and records a disposition.</a:t>
            </a:r>
          </a:p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/>
            </a:r>
          </a:p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Scope: Account, Transaction and Risk Assessment only.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1865376"/>
            <a:ext cx="3886200" cy="38491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2" name="Round Same Side Corner Rectangle 11"/>
          <p:cNvSpPr/>
          <p:nvPr/>
        </p:nvSpPr>
        <p:spPr>
          <a:xfrm>
            <a:off x="4526280" y="1865376"/>
            <a:ext cx="388620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1865376"/>
            <a:ext cx="36118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YOUR TASKS</a:t>
            </a:r>
          </a:p>
        </p:txBody>
      </p:sp>
      <p:sp>
        <p:nvSpPr>
          <p:cNvPr id="14" name="Oval 13"/>
          <p:cNvSpPr/>
          <p:nvPr/>
        </p:nvSpPr>
        <p:spPr>
          <a:xfrm>
            <a:off x="4663440" y="2450592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56632" y="2395728"/>
            <a:ext cx="3218688" cy="7604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The model returns a score and metadata — it does not approve, hold or decline</a:t>
            </a:r>
          </a:p>
        </p:txBody>
      </p:sp>
      <p:sp>
        <p:nvSpPr>
          <p:cNvPr id="16" name="Oval 15"/>
          <p:cNvSpPr/>
          <p:nvPr/>
        </p:nvSpPr>
        <p:spPr>
          <a:xfrm>
            <a:off x="4663440" y="3265932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56632" y="3211068"/>
            <a:ext cx="3218688" cy="7604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PolicyEngine is deterministic Java; HOLD routes to a human with risk.write</a:t>
            </a:r>
          </a:p>
        </p:txBody>
      </p:sp>
      <p:sp>
        <p:nvSpPr>
          <p:cNvPr id="18" name="Oval 17"/>
          <p:cNvSpPr/>
          <p:nvPr/>
        </p:nvSpPr>
        <p:spPr>
          <a:xfrm>
            <a:off x="4663440" y="4081271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56632" y="4026408"/>
            <a:ext cx="3218688" cy="5435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Timeout or 5xx → HOLD MODEL_UNAVAILABLE — never auto-approve</a:t>
            </a:r>
          </a:p>
        </p:txBody>
      </p:sp>
      <p:sp>
        <p:nvSpPr>
          <p:cNvPr id="20" name="Oval 19"/>
          <p:cNvSpPr/>
          <p:nvPr/>
        </p:nvSpPr>
        <p:spPr>
          <a:xfrm>
            <a:off x="4663440" y="4679696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56632" y="4624832"/>
            <a:ext cx="3218688" cy="7604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Workbenches and KServe stay lecture — call HTTP :8090 or MD287_MODEL_ROUTE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41080" y="1865376"/>
            <a:ext cx="3063240" cy="38491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3" name="Round Same Side Corner Rectangle 22"/>
          <p:cNvSpPr/>
          <p:nvPr/>
        </p:nvSpPr>
        <p:spPr>
          <a:xfrm>
            <a:off x="8641080" y="1865376"/>
            <a:ext cx="306324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778240" y="1865376"/>
            <a:ext cx="27889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EXPECTED OUTCOME</a:t>
            </a:r>
          </a:p>
        </p:txBody>
      </p:sp>
      <p:sp>
        <p:nvSpPr>
          <p:cNvPr id="25" name="Oval 24"/>
          <p:cNvSpPr/>
          <p:nvPr/>
        </p:nvSpPr>
        <p:spPr>
          <a:xfrm>
            <a:off x="8778240" y="2450592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16567" y="2395728"/>
            <a:ext cx="245059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A three-box map</a:t>
            </a:r>
          </a:p>
        </p:txBody>
      </p:sp>
      <p:sp>
        <p:nvSpPr>
          <p:cNvPr id="27" name="Oval 26"/>
          <p:cNvSpPr/>
          <p:nvPr/>
        </p:nvSpPr>
        <p:spPr>
          <a:xfrm>
            <a:off x="8778240" y="2871216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16567" y="2816352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Model (score) → Policy (disposition)</a:t>
            </a:r>
          </a:p>
        </p:txBody>
      </p:sp>
      <p:sp>
        <p:nvSpPr>
          <p:cNvPr id="29" name="Oval 28"/>
          <p:cNvSpPr/>
          <p:nvPr/>
        </p:nvSpPr>
        <p:spPr>
          <a:xfrm>
            <a:off x="8778240" y="3420364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16567" y="3365500"/>
            <a:ext cx="245059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→ Human review (HOLD only)</a:t>
            </a:r>
          </a:p>
        </p:txBody>
      </p:sp>
      <p:sp>
        <p:nvSpPr>
          <p:cNvPr id="31" name="Oval 30"/>
          <p:cNvSpPr/>
          <p:nvPr/>
        </p:nvSpPr>
        <p:spPr>
          <a:xfrm>
            <a:off x="8778240" y="3840987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16567" y="3786124"/>
            <a:ext cx="245059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Model failure is a HOLD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A three-box map: Model (score) → Policy (disposition) → Human review (HOLD only).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38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RELIABILITY AND OBSERVABILITY FOR AI AGENTS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Timeouts, retries, tool failures, tracing and token/cost monitoring.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1488683"/>
            <a:ext cx="7415783" cy="415495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2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61835"/>
            <a:ext cx="7269480" cy="40086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83880" y="1298448"/>
            <a:ext cx="35204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An agent audit record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83880" y="1627632"/>
            <a:ext cx="3520440" cy="163169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{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"agentRunId": "run-7f31",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"tool": "request_order_cancellation",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"caller": "user-2231",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"correlationId": "c-9a8e",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"outcome": "PENDING_APPROVAL",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"tokens": 1840, "latencyMs": 2310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83880" y="3387344"/>
            <a:ext cx="3520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E7C7B"/>
                </a:solidFill>
                <a:latin typeface="Nirmala UI"/>
              </a:rPr>
              <a:t>WATCH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80" y="3734816"/>
            <a:ext cx="1723644" cy="365760"/>
          </a:xfrm>
          <a:prstGeom prst="roundRect">
            <a:avLst>
              <a:gd name="adj" fmla="val 14000"/>
            </a:avLst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0E7C7B"/>
                </a:solidFill>
                <a:latin typeface="Nirmala UI"/>
              </a:rPr>
              <a:t>Tool errors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980676" y="3734816"/>
            <a:ext cx="1723644" cy="365760"/>
          </a:xfrm>
          <a:prstGeom prst="roundRect">
            <a:avLst>
              <a:gd name="adj" fmla="val 14000"/>
            </a:avLst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0E7C7B"/>
                </a:solidFill>
                <a:latin typeface="Nirmala UI"/>
              </a:rPr>
              <a:t>Steps per run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80" y="4173728"/>
            <a:ext cx="1723644" cy="365760"/>
          </a:xfrm>
          <a:prstGeom prst="roundRect">
            <a:avLst>
              <a:gd name="adj" fmla="val 14000"/>
            </a:avLst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0E7C7B"/>
                </a:solidFill>
                <a:latin typeface="Nirmala UI"/>
              </a:rPr>
              <a:t>Token cost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980676" y="4173728"/>
            <a:ext cx="1723644" cy="365760"/>
          </a:xfrm>
          <a:prstGeom prst="roundRect">
            <a:avLst>
              <a:gd name="adj" fmla="val 14000"/>
            </a:avLst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0E7C7B"/>
                </a:solidFill>
                <a:latin typeface="Nirmala UI"/>
              </a:rPr>
              <a:t>Escalations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Make the whole reasoning-and-action path resilient and observable.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8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ENTERPRISE USE CASES IN MICROSERVICES ENVIRONMENTS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Operations, support, incident handling, order workflows and developer automation.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1553900"/>
            <a:ext cx="7415783" cy="4024519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2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27052"/>
            <a:ext cx="7269480" cy="387821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83880" y="1298448"/>
            <a:ext cx="3520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Nirmala UI"/>
              </a:rPr>
              <a:t>GOOD FITS</a:t>
            </a:r>
          </a:p>
        </p:txBody>
      </p:sp>
      <p:sp>
        <p:nvSpPr>
          <p:cNvPr id="7" name="Oval 6"/>
          <p:cNvSpPr/>
          <p:nvPr/>
        </p:nvSpPr>
        <p:spPr>
          <a:xfrm>
            <a:off x="8183880" y="1673352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1645920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The goal spans several services</a:t>
            </a:r>
          </a:p>
        </p:txBody>
      </p:sp>
      <p:sp>
        <p:nvSpPr>
          <p:cNvPr id="9" name="Oval 8"/>
          <p:cNvSpPr/>
          <p:nvPr/>
        </p:nvSpPr>
        <p:spPr>
          <a:xfrm>
            <a:off x="8183880" y="1984248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9640" y="1956816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Steps are repetitive but vary</a:t>
            </a:r>
          </a:p>
        </p:txBody>
      </p:sp>
      <p:sp>
        <p:nvSpPr>
          <p:cNvPr id="11" name="Oval 10"/>
          <p:cNvSpPr/>
          <p:nvPr/>
        </p:nvSpPr>
        <p:spPr>
          <a:xfrm>
            <a:off x="8183880" y="2295144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49640" y="2267712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Tools and data are well governed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80" y="2706624"/>
            <a:ext cx="3520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POOR FITS</a:t>
            </a:r>
          </a:p>
        </p:txBody>
      </p:sp>
      <p:sp>
        <p:nvSpPr>
          <p:cNvPr id="14" name="Oval 13"/>
          <p:cNvSpPr/>
          <p:nvPr/>
        </p:nvSpPr>
        <p:spPr>
          <a:xfrm>
            <a:off x="8183880" y="3081527"/>
            <a:ext cx="256032" cy="25603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3054096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A fixed rule is enough</a:t>
            </a:r>
          </a:p>
        </p:txBody>
      </p:sp>
      <p:sp>
        <p:nvSpPr>
          <p:cNvPr id="16" name="Oval 15"/>
          <p:cNvSpPr/>
          <p:nvPr/>
        </p:nvSpPr>
        <p:spPr>
          <a:xfrm>
            <a:off x="8183880" y="3392423"/>
            <a:ext cx="256032" cy="25603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49640" y="3364991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No clear owner or audit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83880" y="3803904"/>
            <a:ext cx="3520440" cy="1075944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66760" y="3803904"/>
            <a:ext cx="3154680" cy="1075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START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read-only, then add approved actions.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Agentic AI adds the most value where a goal spans several enterprise services.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5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END-TO-END AGENTIC AI MICROSERVICES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User/Copilot → agent → Microsoft AI → tools/APIs → microservices → observability.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1486509"/>
            <a:ext cx="7415783" cy="41593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2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9661"/>
            <a:ext cx="7269480" cy="401299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83880" y="1298448"/>
            <a:ext cx="3520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EVERY PART OF THE MODULE</a:t>
            </a:r>
          </a:p>
        </p:txBody>
      </p:sp>
      <p:sp>
        <p:nvSpPr>
          <p:cNvPr id="7" name="Oval 6"/>
          <p:cNvSpPr/>
          <p:nvPr/>
        </p:nvSpPr>
        <p:spPr>
          <a:xfrm>
            <a:off x="8183880" y="1673352"/>
            <a:ext cx="256032" cy="25603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1645920"/>
            <a:ext cx="3154680" cy="4450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Agent with instructions, state, guardrails</a:t>
            </a:r>
          </a:p>
        </p:txBody>
      </p:sp>
      <p:sp>
        <p:nvSpPr>
          <p:cNvPr id="9" name="Oval 8"/>
          <p:cNvSpPr/>
          <p:nvPr/>
        </p:nvSpPr>
        <p:spPr>
          <a:xfrm>
            <a:off x="8183880" y="2118360"/>
            <a:ext cx="256032" cy="25603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9640" y="2090928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Foundry model requests tools</a:t>
            </a:r>
          </a:p>
        </p:txBody>
      </p:sp>
      <p:sp>
        <p:nvSpPr>
          <p:cNvPr id="11" name="Oval 10"/>
          <p:cNvSpPr/>
          <p:nvPr/>
        </p:nvSpPr>
        <p:spPr>
          <a:xfrm>
            <a:off x="8183880" y="2429256"/>
            <a:ext cx="256032" cy="25603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49640" y="2401824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Tools reach services via the gateway</a:t>
            </a:r>
          </a:p>
        </p:txBody>
      </p:sp>
      <p:sp>
        <p:nvSpPr>
          <p:cNvPr id="13" name="Oval 12"/>
          <p:cNvSpPr/>
          <p:nvPr/>
        </p:nvSpPr>
        <p:spPr>
          <a:xfrm>
            <a:off x="8183880" y="2740152"/>
            <a:ext cx="256032" cy="25603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2712720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Services and policy keep authority</a:t>
            </a:r>
          </a:p>
        </p:txBody>
      </p:sp>
      <p:sp>
        <p:nvSpPr>
          <p:cNvPr id="15" name="Oval 14"/>
          <p:cNvSpPr/>
          <p:nvPr/>
        </p:nvSpPr>
        <p:spPr>
          <a:xfrm>
            <a:off x="8183880" y="3051048"/>
            <a:ext cx="256032" cy="25603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9640" y="3023616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Approval, audit, traces and cost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83880" y="3462528"/>
            <a:ext cx="3520440" cy="1075944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66760" y="3462528"/>
            <a:ext cx="3154680" cy="1075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REMEMBER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Agents orchestrate above the services.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Agents orchestrate above enterprise capabilities — never bypassing APIs, data ownership or controls.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4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AGENTIC AI MISCONCEPTIONS AND ANTI-PATTERNS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Beliefs and habits that make agents unsafe, costly or unreliable.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98448"/>
            <a:ext cx="32918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MISCONCEPTION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69080" y="1298448"/>
            <a:ext cx="32918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Nirmala UI"/>
              </a:rPr>
              <a:t>REALITY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709928"/>
            <a:ext cx="3246120" cy="737006"/>
          </a:xfrm>
          <a:prstGeom prst="roundRect">
            <a:avLst>
              <a:gd name="adj" fmla="val 8000"/>
            </a:avLst>
          </a:prstGeom>
          <a:solidFill>
            <a:srgbClr val="FD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D1282E"/>
                </a:solidFill>
                <a:latin typeface="Nirmala UI"/>
              </a:rPr>
              <a:t>Any chatbot is an agent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730752" y="2078431"/>
            <a:ext cx="310896" cy="0"/>
          </a:xfrm>
          <a:prstGeom prst="line">
            <a:avLst/>
          </a:prstGeom>
          <a:ln w="22225">
            <a:solidFill>
              <a:srgbClr val="595959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069080" y="1709928"/>
            <a:ext cx="3337559" cy="737006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0" i="0">
                <a:solidFill>
                  <a:srgbClr val="2E7D32"/>
                </a:solidFill>
                <a:latin typeface="Nirmala UI"/>
              </a:rPr>
              <a:t>Agents plan and act through tools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556662"/>
            <a:ext cx="3246120" cy="737006"/>
          </a:xfrm>
          <a:prstGeom prst="roundRect">
            <a:avLst>
              <a:gd name="adj" fmla="val 8000"/>
            </a:avLst>
          </a:prstGeom>
          <a:solidFill>
            <a:srgbClr val="FD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D1282E"/>
                </a:solidFill>
                <a:latin typeface="Nirmala UI"/>
              </a:rPr>
              <a:t>The model can decide approvals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730752" y="2925165"/>
            <a:ext cx="310896" cy="0"/>
          </a:xfrm>
          <a:prstGeom prst="line">
            <a:avLst/>
          </a:prstGeom>
          <a:ln w="22225">
            <a:solidFill>
              <a:srgbClr val="595959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069080" y="2556662"/>
            <a:ext cx="3337559" cy="737006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0" i="0">
                <a:solidFill>
                  <a:srgbClr val="2E7D32"/>
                </a:solidFill>
                <a:latin typeface="Nirmala UI"/>
              </a:rPr>
              <a:t>Deterministic policy and people decide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403396"/>
            <a:ext cx="3246120" cy="737006"/>
          </a:xfrm>
          <a:prstGeom prst="roundRect">
            <a:avLst>
              <a:gd name="adj" fmla="val 8000"/>
            </a:avLst>
          </a:prstGeom>
          <a:solidFill>
            <a:srgbClr val="FD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D1282E"/>
                </a:solidFill>
                <a:latin typeface="Nirmala UI"/>
              </a:rPr>
              <a:t>More agents mean better results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730752" y="3771899"/>
            <a:ext cx="310896" cy="0"/>
          </a:xfrm>
          <a:prstGeom prst="line">
            <a:avLst/>
          </a:prstGeom>
          <a:ln w="22225">
            <a:solidFill>
              <a:srgbClr val="595959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069080" y="3403396"/>
            <a:ext cx="3337559" cy="737006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0" i="0">
                <a:solidFill>
                  <a:srgbClr val="2E7D32"/>
                </a:solidFill>
                <a:latin typeface="Nirmala UI"/>
              </a:rPr>
              <a:t>Start with one; add only when needed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250131"/>
            <a:ext cx="3246120" cy="737006"/>
          </a:xfrm>
          <a:prstGeom prst="roundRect">
            <a:avLst>
              <a:gd name="adj" fmla="val 8000"/>
            </a:avLst>
          </a:prstGeom>
          <a:solidFill>
            <a:srgbClr val="FD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D1282E"/>
                </a:solidFill>
                <a:latin typeface="Nirmala UI"/>
              </a:rPr>
              <a:t>The agent remembers business facts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730752" y="4618634"/>
            <a:ext cx="310896" cy="0"/>
          </a:xfrm>
          <a:prstGeom prst="line">
            <a:avLst/>
          </a:prstGeom>
          <a:ln w="22225">
            <a:solidFill>
              <a:srgbClr val="595959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069080" y="4250131"/>
            <a:ext cx="3337559" cy="737006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0" i="0">
                <a:solidFill>
                  <a:srgbClr val="2E7D32"/>
                </a:solidFill>
                <a:latin typeface="Nirmala UI"/>
              </a:rPr>
              <a:t>Services own the current state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096865"/>
            <a:ext cx="3246120" cy="737006"/>
          </a:xfrm>
          <a:prstGeom prst="roundRect">
            <a:avLst>
              <a:gd name="adj" fmla="val 8000"/>
            </a:avLst>
          </a:prstGeom>
          <a:solidFill>
            <a:srgbClr val="FD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D1282E"/>
                </a:solidFill>
                <a:latin typeface="Nirmala UI"/>
              </a:rPr>
              <a:t>Autonomy removes the need for audit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730752" y="5465368"/>
            <a:ext cx="310896" cy="0"/>
          </a:xfrm>
          <a:prstGeom prst="line">
            <a:avLst/>
          </a:prstGeom>
          <a:ln w="22225">
            <a:solidFill>
              <a:srgbClr val="595959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069080" y="5096865"/>
            <a:ext cx="3337559" cy="737006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0" i="0">
                <a:solidFill>
                  <a:srgbClr val="2E7D32"/>
                </a:solidFill>
                <a:latin typeface="Nirmala UI"/>
              </a:rPr>
              <a:t>More autonomy needs more audit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1298448"/>
            <a:ext cx="3931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ANTI-PATTERNS TO AVOID</a:t>
            </a:r>
          </a:p>
        </p:txBody>
      </p:sp>
      <p:sp>
        <p:nvSpPr>
          <p:cNvPr id="22" name="Oval 21"/>
          <p:cNvSpPr/>
          <p:nvPr/>
        </p:nvSpPr>
        <p:spPr>
          <a:xfrm>
            <a:off x="7772400" y="1673352"/>
            <a:ext cx="256032" cy="25603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0" y="1645920"/>
            <a:ext cx="3566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Direct database access for agents</a:t>
            </a:r>
          </a:p>
        </p:txBody>
      </p:sp>
      <p:sp>
        <p:nvSpPr>
          <p:cNvPr id="24" name="Oval 23"/>
          <p:cNvSpPr/>
          <p:nvPr/>
        </p:nvSpPr>
        <p:spPr>
          <a:xfrm>
            <a:off x="7772400" y="1984248"/>
            <a:ext cx="256032" cy="25603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38160" y="1956816"/>
            <a:ext cx="3566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One super-user token for all tools</a:t>
            </a:r>
          </a:p>
        </p:txBody>
      </p:sp>
      <p:sp>
        <p:nvSpPr>
          <p:cNvPr id="26" name="Oval 25"/>
          <p:cNvSpPr/>
          <p:nvPr/>
        </p:nvSpPr>
        <p:spPr>
          <a:xfrm>
            <a:off x="7772400" y="2295144"/>
            <a:ext cx="256032" cy="25603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38160" y="2267712"/>
            <a:ext cx="3566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No step, time or cost limits</a:t>
            </a:r>
          </a:p>
        </p:txBody>
      </p:sp>
      <p:sp>
        <p:nvSpPr>
          <p:cNvPr id="28" name="Oval 27"/>
          <p:cNvSpPr/>
          <p:nvPr/>
        </p:nvSpPr>
        <p:spPr>
          <a:xfrm>
            <a:off x="7772400" y="2606039"/>
            <a:ext cx="256032" cy="25603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38160" y="2578608"/>
            <a:ext cx="3566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Sending customer data unmasked</a:t>
            </a:r>
          </a:p>
        </p:txBody>
      </p:sp>
      <p:sp>
        <p:nvSpPr>
          <p:cNvPr id="30" name="Oval 29"/>
          <p:cNvSpPr/>
          <p:nvPr/>
        </p:nvSpPr>
        <p:spPr>
          <a:xfrm>
            <a:off x="7772400" y="2916935"/>
            <a:ext cx="256032" cy="25603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38160" y="2889503"/>
            <a:ext cx="3566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Auto-executing refunds or freezes</a:t>
            </a:r>
          </a:p>
        </p:txBody>
      </p:sp>
      <p:sp>
        <p:nvSpPr>
          <p:cNvPr id="32" name="Oval 31"/>
          <p:cNvSpPr/>
          <p:nvPr/>
        </p:nvSpPr>
        <p:spPr>
          <a:xfrm>
            <a:off x="7772400" y="3227831"/>
            <a:ext cx="256032" cy="25603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38160" y="3200399"/>
            <a:ext cx="3566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No tracing of tool decisions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772400" y="3639312"/>
            <a:ext cx="3931920" cy="1075944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55279" y="3639312"/>
            <a:ext cx="3566160" cy="1075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REMEMBER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Controlled autonomy over governed capabilities.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Useful agents have narrow tools, clear limits, human approval for risk and full audit.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41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KNOWLEDGE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Answer in your own words — then compare with a partner.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98448"/>
            <a:ext cx="5440680" cy="918057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03504" y="1565452"/>
            <a:ext cx="384048" cy="384048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298448"/>
            <a:ext cx="4617720" cy="91805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What is agentic AI?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326233"/>
            <a:ext cx="5440680" cy="918057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03504" y="2593238"/>
            <a:ext cx="384048" cy="38404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326233"/>
            <a:ext cx="4617720" cy="91805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How does an agent differ from a chatbot?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354019"/>
            <a:ext cx="5440680" cy="918057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03504" y="3621024"/>
            <a:ext cx="384048" cy="384048"/>
          </a:xfrm>
          <a:prstGeom prst="ellipse">
            <a:avLst/>
          </a:prstGeom>
          <a:solidFill>
            <a:srgbClr val="287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354019"/>
            <a:ext cx="4617720" cy="91805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Why should agent tools be limited?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381804"/>
            <a:ext cx="5440680" cy="918057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03504" y="4648809"/>
            <a:ext cx="384048" cy="38404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4381804"/>
            <a:ext cx="4617720" cy="91805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What is a human-in-the-loop workflow?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5409590"/>
            <a:ext cx="5440680" cy="918057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03504" y="5676595"/>
            <a:ext cx="384048" cy="384048"/>
          </a:xfrm>
          <a:prstGeom prst="ellipse">
            <a:avLst/>
          </a:prstGeom>
          <a:solidFill>
            <a:srgbClr val="A86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5409590"/>
            <a:ext cx="4617720" cy="91805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Name two Microsoft services for AI workflows.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1298448"/>
            <a:ext cx="5440680" cy="918057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09944" y="1565452"/>
            <a:ext cx="384048" cy="384048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0" y="1298448"/>
            <a:ext cx="4617720" cy="91805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Why is API orchestration useful for agents?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2326233"/>
            <a:ext cx="5440680" cy="918057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09944" y="2593238"/>
            <a:ext cx="384048" cy="384048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0" y="2326233"/>
            <a:ext cx="4617720" cy="91805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What data shouldn't be sent to AI services?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3354019"/>
            <a:ext cx="5440680" cy="918057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09944" y="3621024"/>
            <a:ext cx="384048" cy="38404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0" y="3354019"/>
            <a:ext cx="4617720" cy="91805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Why are audit logs important for agents?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63640" y="4381804"/>
            <a:ext cx="5440680" cy="918057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409944" y="4648809"/>
            <a:ext cx="384048" cy="384048"/>
          </a:xfrm>
          <a:prstGeom prst="ellipse">
            <a:avLst/>
          </a:prstGeom>
          <a:solidFill>
            <a:srgbClr val="287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49440" y="4381804"/>
            <a:ext cx="4617720" cy="91805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What is a stop condition?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63640" y="5409590"/>
            <a:ext cx="5440680" cy="918057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409944" y="5676595"/>
            <a:ext cx="384048" cy="38404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49440" y="5409590"/>
            <a:ext cx="4617720" cy="91805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Why must high-risk banking actions be approved?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37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MODULE 10 SUMMARY AND WHAT'S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From prompt-response AI to controlled agents acting on microservices.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98448"/>
            <a:ext cx="5577840" cy="45354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5" name="Round Same Side Corner Rectangle 4"/>
          <p:cNvSpPr/>
          <p:nvPr/>
        </p:nvSpPr>
        <p:spPr>
          <a:xfrm>
            <a:off x="457200" y="1298448"/>
            <a:ext cx="557784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298448"/>
            <a:ext cx="53035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YOU CAN NOW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2029967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874519"/>
            <a:ext cx="48006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Explain agents, their components and the execution loop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2633472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478024"/>
            <a:ext cx="48006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Map agent needs to Copilot Studio, Foundry and grounding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236976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081528"/>
            <a:ext cx="48006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Design narrow tools, bounded loops and stop conditions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3840479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685031"/>
            <a:ext cx="48006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Orchestrate Spring Boot services through safe tool endpoints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4443983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4288536"/>
            <a:ext cx="48006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Keep policy, approval and audit around every action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1298448"/>
            <a:ext cx="5303520" cy="2788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8" name="Round Same Side Corner Rectangle 17"/>
          <p:cNvSpPr/>
          <p:nvPr/>
        </p:nvSpPr>
        <p:spPr>
          <a:xfrm>
            <a:off x="6400800" y="1298448"/>
            <a:ext cx="530352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60" y="1298448"/>
            <a:ext cx="50292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Nirmala UI"/>
              </a:rPr>
              <a:t>NEXT: MODULE 11 — MCP AND MICROSERVICES</a:t>
            </a:r>
          </a:p>
        </p:txBody>
      </p:sp>
      <p:sp>
        <p:nvSpPr>
          <p:cNvPr id="20" name="Oval 19"/>
          <p:cNvSpPr/>
          <p:nvPr/>
        </p:nvSpPr>
        <p:spPr>
          <a:xfrm>
            <a:off x="6583680" y="1956816"/>
            <a:ext cx="347472" cy="34747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59168" y="1847088"/>
            <a:ext cx="44805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How do agents discover tools in a standard way?</a:t>
            </a:r>
          </a:p>
        </p:txBody>
      </p:sp>
      <p:sp>
        <p:nvSpPr>
          <p:cNvPr id="22" name="Oval 21"/>
          <p:cNvSpPr/>
          <p:nvPr/>
        </p:nvSpPr>
        <p:spPr>
          <a:xfrm>
            <a:off x="6583680" y="2615184"/>
            <a:ext cx="347472" cy="34747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59168" y="2505456"/>
            <a:ext cx="44805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How do we expose Spring Boot APIs as MCP tools?</a:t>
            </a:r>
          </a:p>
        </p:txBody>
      </p:sp>
      <p:sp>
        <p:nvSpPr>
          <p:cNvPr id="24" name="Oval 23"/>
          <p:cNvSpPr/>
          <p:nvPr/>
        </p:nvSpPr>
        <p:spPr>
          <a:xfrm>
            <a:off x="6583680" y="3273552"/>
            <a:ext cx="347472" cy="34747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59168" y="3163824"/>
            <a:ext cx="44805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How do we secure and scale MCP servers?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4270248"/>
            <a:ext cx="5303520" cy="1563624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0" y="4270248"/>
            <a:ext cx="4937760" cy="1563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D1282E"/>
                </a:solidFill>
                <a:latin typeface="Nirmala UI"/>
              </a:rPr>
              <a:t>BRING ALONG   </a:t>
            </a:r>
            <a:r>
              <a:rPr sz="1500" b="0" i="0">
                <a:solidFill>
                  <a:srgbClr val="000000"/>
                </a:solidFill>
                <a:latin typeface="Nirmala UI"/>
              </a:rPr>
              <a:t>The tools you designed today — Module 11 standardizes them with MCP.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Module 11 gives agents one standard, secure way to reach microservice capabilities.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33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44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