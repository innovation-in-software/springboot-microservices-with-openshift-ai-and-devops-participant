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new question</a:t>
            </a:r>
          </a:p>
          <a:p/>
          <a:p>
            <a:r>
              <a:t>  Until now we focused on building the application: design, Spring Boot, REST APIs, messaging, data and resilience.</a:t>
            </a:r>
          </a:p>
          <a:p/>
          <a:p>
            <a:r>
              <a:t>  Production software also needs a reliable answer to one question: how does a developer's code safely reach production?</a:t>
            </a:r>
          </a:p>
          <a:p/>
          <a:p>
            <a:r>
              <a:t>- The manual way</a:t>
            </a:r>
          </a:p>
          <a:p/>
          <a:p>
            <a:r>
              <a:t>  A manual process looks like this.</a:t>
            </a:r>
          </a:p>
          <a:p/>
          <a:p>
            <a:r>
              <a:t>  The developer builds on a laptop, copies the JAR, logs in to a server over SSH, replaces the application and restarts it.</a:t>
            </a:r>
          </a:p>
          <a:p/>
          <a:p>
            <a:r>
              <a:t>  That is hard to reproduce, hard to audit, and hard to scale across dozens of microservices.</a:t>
            </a:r>
          </a:p>
          <a:p/>
          <a:p>
            <a:r>
              <a:t>- The goal</a:t>
            </a:r>
          </a:p>
          <a:p/>
          <a:p>
            <a:r>
              <a:t>  Instead we want a repeatable flow.</a:t>
            </a:r>
          </a:p>
          <a:p/>
          <a:p>
            <a:r>
              <a:t>  Code goes into version control, then an automated build, automated tests and security checks.</a:t>
            </a:r>
          </a:p>
          <a:p/>
          <a:p>
            <a:r>
              <a:t>  Then we package, deploy, observe, and feed what we learn back in.</a:t>
            </a:r>
          </a:p>
          <a:p/>
          <a:p>
            <a:r>
              <a:t>  That is the focus of Module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be able to explain the DevOps lifecycle and apply Git workflows.</a:t>
            </a:r>
          </a:p>
          <a:p/>
          <a:p>
            <a:r>
              <a:t>  They should explain CI, continuous delivery and continuous deployment, and design a CI/CD pipeline.</a:t>
            </a:r>
          </a:p>
          <a:p/>
          <a:p>
            <a:r>
              <a:t>  They should understand GitHub Actions and Jenkins, automate testing, and build and promote immutable artifacts.</a:t>
            </a:r>
          </a:p>
          <a:p/>
          <a:p>
            <a:r>
              <a:t>  They should explain Blue/Green and Canary deployment, the basics of authentication and authorization, and security checks in CI/CD.</a:t>
            </a:r>
          </a:p>
          <a:p/>
          <a:p>
            <a:r>
              <a:t>- Four areas</a:t>
            </a:r>
          </a:p>
          <a:p/>
          <a:p>
            <a:r>
              <a:t>  Source control and collaboration: Git, branch, commit, pull request, merge.</a:t>
            </a:r>
          </a:p>
          <a:p/>
          <a:p>
            <a:r>
              <a:t>  CI/CD: build, test, scan, package, publish, deploy.</a:t>
            </a:r>
          </a:p>
          <a:p/>
          <a:p>
            <a:r>
              <a:t>  Release strategies: Blue/Green and Canary.</a:t>
            </a:r>
          </a:p>
          <a:p/>
          <a:p>
            <a:r>
              <a:t>  Security: authentication, authorization, secrets and security scanning.</a:t>
            </a:r>
          </a:p>
          <a:p/>
          <a:p>
            <a:r>
              <a:t>- The objective</a:t>
            </a:r>
          </a:p>
          <a:p/>
          <a:p>
            <a:r>
              <a:t>  Make delivery repeatable, automated, testable, secure and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Continuous integration</a:t>
            </a:r>
          </a:p>
          <a:p/>
          <a:p>
            <a:r>
              <a:t>  Merging small changes often, with an automated build and tests on every change.</a:t>
            </a:r>
          </a:p>
          <a:p/>
          <a:p>
            <a:r>
              <a:t>- Continuous delivery</a:t>
            </a:r>
          </a:p>
          <a:p/>
          <a:p>
            <a:r>
              <a:t>  Every change stays releasable; the production release is a deliberate step.</a:t>
            </a:r>
          </a:p>
          <a:p/>
          <a:p>
            <a:r>
              <a:t>- Continuous deployment</a:t>
            </a:r>
          </a:p>
          <a:p/>
          <a:p>
            <a:r>
              <a:t>  Every change that passes the pipeline goes to production automatically.</a:t>
            </a:r>
          </a:p>
          <a:p/>
          <a:p>
            <a:r>
              <a:t>- Pull request</a:t>
            </a:r>
          </a:p>
          <a:p/>
          <a:p>
            <a:r>
              <a:t>  A proposed change that is reviewed and checked before it's merged.</a:t>
            </a:r>
          </a:p>
          <a:p/>
          <a:p>
            <a:r>
              <a:t>- Quality gate</a:t>
            </a:r>
          </a:p>
          <a:p/>
          <a:p>
            <a:r>
              <a:t>  A pipeline check, such as tests or a scan, that must pass before moving on.</a:t>
            </a:r>
          </a:p>
          <a:p/>
          <a:p>
            <a:r>
              <a:t>- Build once, promote</a:t>
            </a:r>
          </a:p>
          <a:p/>
          <a:p>
            <a:r>
              <a:t>  Build one image, then move that exact artifact through every environment.</a:t>
            </a:r>
          </a:p>
          <a:p/>
          <a:p>
            <a:r>
              <a:t>- Blue/green deployment</a:t>
            </a:r>
          </a:p>
          <a:p/>
          <a:p>
            <a:r>
              <a:t>  Two identical environments; traffic switches from old to new all at once.</a:t>
            </a:r>
          </a:p>
          <a:p/>
          <a:p>
            <a:r>
              <a:t>- Canary deployment</a:t>
            </a:r>
          </a:p>
          <a:p/>
          <a:p>
            <a:r>
              <a:t>  Sending a small share of traffic to the new version before everyone gets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API is Application Programming Interface; CD is Continuous Delivery / Deployment; CI is Continuous Integration; CI/CD is Continuous Integration / Continuous Delivery; CVE is Common Vulnerabilities and Exposures; DB is Database; JWT is JSON Web Token; MFA is Multi-Factor Authentication; OAuth is Open Authorization; OIDC is OpenID Connect; PR is Pull Request; REST is Representational State Transfer; SAST is Static Application Security Testing; SBOM is Software Bill of Materials; SHA is Secure Hash Algorithm; SSO is Single Sign-On; YAML is YAML Ain't Markup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6</a:t>
            </a:r>
          </a:p>
          <a:p/>
          <a:p>
            <a:r>
              <a:t>  We can now build services that survive failure and tell us how they behave.</a:t>
            </a:r>
          </a:p>
          <a:p/>
          <a:p>
            <a:r>
              <a:t>  This module is about getting every change into production safely.</a:t>
            </a:r>
          </a:p>
          <a:p/>
          <a:p>
            <a:r>
              <a:t>- The path</a:t>
            </a:r>
          </a:p>
          <a:p/>
          <a:p>
            <a:r>
              <a:t>  Source control first, then CI/CD pipelines and testing, then release strategies, and finally security inside the pipeline.</a:t>
            </a:r>
          </a:p>
          <a:p/>
          <a:p>
            <a:r>
              <a:t>- Two examples</a:t>
            </a:r>
          </a:p>
          <a:p/>
          <a:p>
            <a:r>
              <a:t>  The slides follow the Order Service.</a:t>
            </a:r>
          </a:p>
          <a:p/>
          <a:p>
            <a:r>
              <a:t>  Exercises 3.3 and 4.3 and Lab 4 use the banking Account and Transaction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Pipelines, tests and deployments all start from a change in Git.</a:t>
            </a:r>
          </a:p>
          <a:p/>
          <a:p>
            <a:r>
              <a:t>  If the workflow is weak, automation just ships problems faster.</a:t>
            </a:r>
          </a:p>
          <a:p/>
          <a:p>
            <a:r>
              <a:t>- What this part covers</a:t>
            </a:r>
          </a:p>
          <a:p/>
          <a:p>
            <a:r>
              <a:t>  DevOps culture, the delivery lifecycle, Git workflows and the pull-request gates that protect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DevOps is not</a:t>
            </a:r>
          </a:p>
          <a:p/>
          <a:p>
            <a:r>
              <a:t>  DevOps is not the same as Jenkins.</a:t>
            </a:r>
          </a:p>
          <a:p/>
          <a:p>
            <a:r>
              <a:t>  It is also not simply Docker plus Kubernetes.</a:t>
            </a:r>
          </a:p>
          <a:p/>
          <a:p>
            <a:r>
              <a:t>- What DevOps is</a:t>
            </a:r>
          </a:p>
          <a:p/>
          <a:p>
            <a:r>
              <a:t>  DevOps combines culture, practices, automation, feedback and ownership.</a:t>
            </a:r>
          </a:p>
          <a:p/>
          <a:p>
            <a:r>
              <a:t>  Walk around the diagram: collaboration, automation, continuous feedback, shared ownership, fast delivery, reliability and observability.</a:t>
            </a:r>
          </a:p>
          <a:p/>
          <a:p>
            <a:r>
              <a:t>- From handoff to loop</a:t>
            </a:r>
          </a:p>
          <a:p/>
          <a:p>
            <a:r>
              <a:t>  The traditional handoff is a developer saying the code is finished, and operations being told to deploy it.</a:t>
            </a:r>
          </a:p>
          <a:p/>
          <a:p>
            <a:r>
              <a:t>  DevOps encourages a continuous lifecycle instead: develop, deliver, operate, observe and improve, then repeat.</a:t>
            </a:r>
          </a:p>
          <a:p/>
          <a:p>
            <a:r>
              <a:t>- Why it matters for microservices</a:t>
            </a:r>
          </a:p>
          <a:p/>
          <a:p>
            <a:r>
              <a:t>  This matters especially with microservices, because we may have many independently deployable applications.</a:t>
            </a:r>
          </a:p>
          <a:p/>
          <a:p>
            <a:r>
              <a:t>- What the diagram shows</a:t>
            </a:r>
          </a:p>
          <a:p/>
          <a:p>
            <a:r>
              <a:t>  DevOps in the centre, connected to collaboration, automation, shared ownership, feedback, reliability and observability.</a:t>
            </a:r>
          </a:p>
          <a:p/>
          <a:p>
            <a:r>
              <a:t>- Key point</a:t>
            </a:r>
          </a:p>
          <a:p/>
          <a:p>
            <a:r>
              <a:t>  DevOps is a culture and set of practices — the tools only support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Plan, code, build</a:t>
            </a:r>
          </a:p>
          <a:p/>
          <a:p>
            <a:r>
              <a:t>  Plan defines business requirements, user stories, technical work and acceptance criteria.</a:t>
            </a:r>
          </a:p>
          <a:p/>
          <a:p>
            <a:r>
              <a:t>  Code is where we develop the change.</a:t>
            </a:r>
          </a:p>
          <a:p/>
          <a:p>
            <a:r>
              <a:t>  Build compiles and packages it.</a:t>
            </a:r>
          </a:p>
          <a:p/>
          <a:p>
            <a:r>
              <a:t>  For Spring Boot, Java source goes through Maven to become a JAR.</a:t>
            </a:r>
          </a:p>
          <a:p/>
          <a:p>
            <a:r>
              <a:t>- Test, release, deploy</a:t>
            </a:r>
          </a:p>
          <a:p/>
          <a:p>
            <a:r>
              <a:t>  Test runs automated tests.</a:t>
            </a:r>
          </a:p>
          <a:p/>
          <a:p>
            <a:r>
              <a:t>  Release creates a versioned release candidate, or artifact.</a:t>
            </a:r>
          </a:p>
          <a:p/>
          <a:p>
            <a:r>
              <a:t>  Deploy places the application into an environment.</a:t>
            </a:r>
          </a:p>
          <a:p/>
          <a:p>
            <a:r>
              <a:t>- Operate, monitor, feedback</a:t>
            </a:r>
          </a:p>
          <a:p/>
          <a:p>
            <a:r>
              <a:t>  Operate means running the service.</a:t>
            </a:r>
          </a:p>
          <a:p/>
          <a:p>
            <a:r>
              <a:t>  Monitor means watching logs, metrics, traces, health and business indicators.</a:t>
            </a:r>
          </a:p>
          <a:p/>
          <a:p>
            <a:r>
              <a:t>  Feedback uses what we learn in development and production to improve the next change.</a:t>
            </a:r>
          </a:p>
          <a:p/>
          <a:p>
            <a:r>
              <a:t>- The key point</a:t>
            </a:r>
          </a:p>
          <a:p/>
          <a:p>
            <a:r>
              <a:t>  DevOps is a loop, not a one-way pipeline.</a:t>
            </a:r>
          </a:p>
          <a:p/>
          <a:p>
            <a:r>
              <a:t>- What the diagram shows</a:t>
            </a:r>
          </a:p>
          <a:p/>
          <a:p>
            <a:r>
              <a:t>  The loop of plan, code, build, test, release, deploy, operate, monitor and feedback.</a:t>
            </a:r>
          </a:p>
          <a:p/>
          <a:p>
            <a:r>
              <a:t>- Key point</a:t>
            </a:r>
          </a:p>
          <a:p/>
          <a:p>
            <a:r>
              <a:t>  What we learn in production flows straight back into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Apply it to Order Service</a:t>
            </a:r>
          </a:p>
          <a:p/>
          <a:p>
            <a:r>
              <a:t>  Now apply DevOps to our Order Service.</a:t>
            </a:r>
          </a:p>
          <a:p/>
          <a:p>
            <a:r>
              <a:t>  A developer changes OrderService.java and commits the change.</a:t>
            </a:r>
          </a:p>
          <a:p/>
          <a:p>
            <a:r>
              <a:t>  GitHub stores the version-controlled source, and the CI system starts.</a:t>
            </a:r>
          </a:p>
          <a:p/>
          <a:p>
            <a:r>
              <a:t>- What CI runs</a:t>
            </a:r>
          </a:p>
          <a:p/>
          <a:p>
            <a:r>
              <a:t>  It may run compile, unit tests, integration tests, static analysis and security checks.</a:t>
            </a:r>
          </a:p>
          <a:p/>
          <a:p>
            <a:r>
              <a:t>- From JAR to OpenShift</a:t>
            </a:r>
          </a:p>
          <a:p/>
          <a:p>
            <a:r>
              <a:t>  If everything passes, the Spring Boot JAR becomes a container image.</a:t>
            </a:r>
          </a:p>
          <a:p/>
          <a:p>
            <a:r>
              <a:t>  The image goes to a container registry, and then to OpenShift.</a:t>
            </a:r>
          </a:p>
          <a:p/>
          <a:p>
            <a:r>
              <a:t>- After deployment</a:t>
            </a:r>
          </a:p>
          <a:p/>
          <a:p>
            <a:r>
              <a:t>  Once it is deployed, telemetry tells us whether the release is healthy.</a:t>
            </a:r>
          </a:p>
          <a:p/>
          <a:p>
            <a:r>
              <a:t>  This slide sets up the architecture for the rest of Module 7.</a:t>
            </a:r>
          </a:p>
          <a:p/>
          <a:p>
            <a:r>
              <a:t>- What the diagram shows</a:t>
            </a:r>
          </a:p>
          <a:p/>
          <a:p>
            <a:r>
              <a:t>  A developer's change moving through Git, CI, build and test, a container image, the registry, OpenShift, the running service and observability.</a:t>
            </a:r>
          </a:p>
          <a:p/>
          <a:p>
            <a:r>
              <a:t>- Key point</a:t>
            </a:r>
          </a:p>
          <a:p/>
          <a:p>
            <a:r>
              <a:t>  Every service change follows the same automated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More than Java files</a:t>
            </a:r>
          </a:p>
          <a:p/>
          <a:p>
            <a:r>
              <a:t>  Git should contain much more than .java files.</a:t>
            </a:r>
          </a:p>
          <a:p/>
          <a:p>
            <a:r>
              <a:t>  A typical microservice repository has src, pom.xml, a Dockerfile and a Jenkinsfile.</a:t>
            </a:r>
          </a:p>
          <a:p/>
          <a:p>
            <a:r>
              <a:t>  It also has a .github/workflows folder, deployment files and a README.</a:t>
            </a:r>
          </a:p>
          <a:p/>
          <a:p>
            <a:r>
              <a:t>- Benefits</a:t>
            </a:r>
          </a:p>
          <a:p/>
          <a:p>
            <a:r>
              <a:t>  Version control gives us history, auditability, collaboration and the ability to roll back.</a:t>
            </a:r>
          </a:p>
          <a:p/>
          <a:p>
            <a:r>
              <a:t>  It also gives us review, and it triggers automation.</a:t>
            </a:r>
          </a:p>
          <a:p/>
          <a:p>
            <a:r>
              <a:t>- Pipeline as code</a:t>
            </a:r>
          </a:p>
          <a:p/>
          <a:p>
            <a:r>
              <a:t>  If a pipeline definition changes, that change goes through code review too.</a:t>
            </a:r>
          </a:p>
          <a:p/>
          <a:p>
            <a:r>
              <a:t>  This leads to the idea of pipeline as code.</a:t>
            </a:r>
          </a:p>
          <a:p/>
          <a:p>
            <a:r>
              <a:t>- What the diagram shows</a:t>
            </a:r>
          </a:p>
          <a:p/>
          <a:p>
            <a:r>
              <a:t>  One repository holding source, tests, the Dockerfile, pipeline code, configuration and deployment manifests.</a:t>
            </a:r>
          </a:p>
          <a:p/>
          <a:p>
            <a:r>
              <a:t>- Key point</a:t>
            </a:r>
          </a:p>
          <a:p/>
          <a:p>
            <a:r>
              <a:t>  If it isn't in Git, it can't be reviewed, versioned or rebuilt.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An example change</a:t>
            </a:r>
          </a:p>
          <a:p/>
          <a:p>
            <a:r>
              <a:t>  Suppose a developer is adding an order cancellation API.</a:t>
            </a:r>
          </a:p>
          <a:p/>
          <a:p>
            <a:r>
              <a:t>  They create a branch, for example feature/order-cancellation.</a:t>
            </a:r>
          </a:p>
          <a:p/>
          <a:p>
            <a:r>
              <a:t>- The flow</a:t>
            </a:r>
          </a:p>
          <a:p/>
          <a:p>
            <a:r>
              <a:t>  They edit, commit and push, then open a pull request.</a:t>
            </a:r>
          </a:p>
          <a:p/>
          <a:p>
            <a:r>
              <a:t>  The pull request is a controlled collaboration point.</a:t>
            </a:r>
          </a:p>
          <a:p/>
          <a:p>
            <a:r>
              <a:t>- Before merging</a:t>
            </a:r>
          </a:p>
          <a:p/>
          <a:p>
            <a:r>
              <a:t>  The build must pass, tests must pass, security checks must pass, and a reviewer must approve.</a:t>
            </a:r>
          </a:p>
          <a:p/>
          <a:p>
            <a:r>
              <a:t>  Then the change merges into the main integration branch.</a:t>
            </a:r>
          </a:p>
          <a:p/>
          <a:p>
            <a:r>
              <a:t>- The key point</a:t>
            </a:r>
          </a:p>
          <a:p/>
          <a:p>
            <a:r>
              <a:t>  A Git workflow is not only about storing code.</a:t>
            </a:r>
          </a:p>
          <a:p/>
          <a:p>
            <a:r>
              <a:t>  It creates the trigger and the governance model for automation.</a:t>
            </a:r>
          </a:p>
          <a:p/>
          <a:p>
            <a:r>
              <a:t>- What the diagram shows</a:t>
            </a:r>
          </a:p>
          <a:p/>
          <a:p>
            <a:r>
              <a:t>  A feature branch, commit, push, pull request, automated checks, review and merge.</a:t>
            </a:r>
          </a:p>
          <a:p/>
          <a:p>
            <a:r>
              <a:t>- Key point</a:t>
            </a:r>
          </a:p>
          <a:p/>
          <a:p>
            <a:r>
              <a:t>  Nothing reaches main without checks and a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Feature branching</a:t>
            </a:r>
          </a:p>
          <a:p/>
          <a:p>
            <a:r>
              <a:t>  Feature branching gives developers an isolated work area.</a:t>
            </a:r>
          </a:p>
          <a:p/>
          <a:p>
            <a:r>
              <a:t>  But long-lived branches cause large merge conflicts, large pull requests and delayed integration.</a:t>
            </a:r>
          </a:p>
          <a:p/>
          <a:p>
            <a:r>
              <a:t>- Trunk-based development</a:t>
            </a:r>
          </a:p>
          <a:p/>
          <a:p>
            <a:r>
              <a:t>  Trunk-based development emphasizes small changes and short-lived branches, where branches are used at all.</a:t>
            </a:r>
          </a:p>
          <a:p/>
          <a:p>
            <a:r>
              <a:t>  It relies on frequent integration and strong automated testing.</a:t>
            </a:r>
          </a:p>
          <a:p/>
          <a:p>
            <a:r>
              <a:t>- The real lesson</a:t>
            </a:r>
          </a:p>
          <a:p/>
          <a:p>
            <a:r>
              <a:t>  No single Git strategy is right for everyone.</a:t>
            </a:r>
          </a:p>
          <a:p/>
          <a:p>
            <a:r>
              <a:t>  The workflow should support frequent, safe integration and avoid large batches of unvalidated change.</a:t>
            </a:r>
          </a:p>
          <a:p/>
          <a:p>
            <a:r>
              <a:t>- What the diagram shows</a:t>
            </a:r>
          </a:p>
          <a:p/>
          <a:p>
            <a:r>
              <a:t>  A long-lived feature branch next to frequent, small integrations into trunk.</a:t>
            </a:r>
          </a:p>
          <a:p/>
          <a:p>
            <a:r>
              <a:t>- Key point</a:t>
            </a:r>
          </a:p>
          <a:p/>
          <a:p>
            <a:r>
              <a:t>  The smaller and more frequent the merge, the less painful it is.</a:t>
            </a:r>
          </a:p>
          <a:p/>
          <a:p>
            <a:r>
              <a:t>- Feature flags</a:t>
            </a:r>
          </a:p>
          <a:p/>
          <a:p>
            <a:r>
              <a:t>  Trunk-based teams merge unfinished work behind a flag, so main stays releasable while the feature is still being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problem</a:t>
            </a:r>
          </a:p>
          <a:p/>
          <a:p>
            <a:r>
              <a:t>  Three-week branches drift from main, so merges become large and risky.</a:t>
            </a:r>
          </a:p>
          <a:p/>
          <a:p>
            <a:r>
              <a:t>- A good answer</a:t>
            </a:r>
          </a:p>
          <a:p/>
          <a:p>
            <a:r>
              <a:t>  Short-lived branches or trunk-based development, with protected main and required checks.</a:t>
            </a:r>
          </a:p>
          <a:p/>
          <a:p>
            <a:r>
              <a:t>- Hotfixes</a:t>
            </a:r>
          </a:p>
          <a:p/>
          <a:p>
            <a:r>
              <a:t>  An urgent fix still goes through the pipeline.</a:t>
            </a:r>
          </a:p>
          <a:p/>
          <a:p>
            <a:r>
              <a:t>  The review is faster, not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place to enforce quality</a:t>
            </a:r>
          </a:p>
          <a:p/>
          <a:p>
            <a:r>
              <a:t>  A pull request is a good place to enforce quality before code reaches the main branch.</a:t>
            </a:r>
          </a:p>
          <a:p/>
          <a:p>
            <a:r>
              <a:t>  When a developer opens a PR, automation starts right away.</a:t>
            </a:r>
          </a:p>
          <a:p/>
          <a:p>
            <a:r>
              <a:t>- When checks fail</a:t>
            </a:r>
          </a:p>
          <a:p/>
          <a:p>
            <a:r>
              <a:t>  If unit tests fail, the PR shows the failure.</a:t>
            </a:r>
          </a:p>
          <a:p/>
          <a:p>
            <a:r>
              <a:t>  If a serious security issue is found, the merge may be blocked, depending on organizational policy.</a:t>
            </a:r>
          </a:p>
          <a:p/>
          <a:p>
            <a:r>
              <a:t>- Fast feedback</a:t>
            </a:r>
          </a:p>
          <a:p/>
          <a:p>
            <a:r>
              <a:t>  The objective is fast feedback.</a:t>
            </a:r>
          </a:p>
          <a:p/>
          <a:p>
            <a:r>
              <a:t>  Finding a defect minutes after a commit is far cheaper than finding it after a production deployment.</a:t>
            </a:r>
          </a:p>
          <a:p/>
          <a:p>
            <a:r>
              <a:t>- What the diagram shows</a:t>
            </a:r>
          </a:p>
          <a:p/>
          <a:p>
            <a:r>
              <a:t>  A pull request going through build, unit tests, integration tests, a security scan and review, ending in merge or block.</a:t>
            </a:r>
          </a:p>
          <a:p/>
          <a:p>
            <a:r>
              <a:t>- Key point</a:t>
            </a:r>
          </a:p>
          <a:p/>
          <a:p>
            <a:r>
              <a:t>  Any failing gate blocks the merge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change to artifact</a:t>
            </a:r>
          </a:p>
          <a:p/>
          <a:p>
            <a:r>
              <a:t>  Part 1 got a reviewed change into main.</a:t>
            </a:r>
          </a:p>
          <a:p/>
          <a:p>
            <a:r>
              <a:t>  Part 2 turns it into an artifact we trust enough to deploy.</a:t>
            </a:r>
          </a:p>
          <a:p/>
          <a:p>
            <a:r>
              <a:t>- What comes next</a:t>
            </a:r>
          </a:p>
          <a:p/>
          <a:p>
            <a:r>
              <a:t>  CI and CD definitions, the pipeline stages, two tools, tests at each stage, and promotion of one immutable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classic problem</a:t>
            </a:r>
          </a:p>
          <a:p/>
          <a:p>
            <a:r>
              <a:t>  Continuous Integration solves a classic problem.</a:t>
            </a:r>
          </a:p>
          <a:p/>
          <a:p>
            <a:r>
              <a:t>  Developers work separately for weeks, then everyone tries to merge at once.</a:t>
            </a:r>
          </a:p>
          <a:p/>
          <a:p>
            <a:r>
              <a:t>  The result is integration chaos.</a:t>
            </a:r>
          </a:p>
          <a:p/>
          <a:p>
            <a:r>
              <a:t>- The CI habit</a:t>
            </a:r>
          </a:p>
          <a:p/>
          <a:p>
            <a:r>
              <a:t>  CI encourages a small change, integrated quickly, validated automatically, with fast feedback.</a:t>
            </a:r>
          </a:p>
          <a:p/>
          <a:p>
            <a:r>
              <a:t>- For Order Service</a:t>
            </a:r>
          </a:p>
          <a:p/>
          <a:p>
            <a:r>
              <a:t>  A git push starts CI, which runs mvn test and reports the build result.</a:t>
            </a:r>
          </a:p>
          <a:p/>
          <a:p>
            <a:r>
              <a:t>  A failed build should become visible quickly.</a:t>
            </a:r>
          </a:p>
          <a:p/>
          <a:p>
            <a:r>
              <a:t>- A practice, not a tool</a:t>
            </a:r>
          </a:p>
          <a:p/>
          <a:p>
            <a:r>
              <a:t>  CI does not mean we have Jenkins.</a:t>
            </a:r>
          </a:p>
          <a:p/>
          <a:p>
            <a:r>
              <a:t>  It means the team's practice and automation consistently validate integrated changes.</a:t>
            </a:r>
          </a:p>
          <a:p/>
          <a:p>
            <a:r>
              <a:t>- What the diagram shows</a:t>
            </a:r>
          </a:p>
          <a:p/>
          <a:p>
            <a:r>
              <a:t>  Several developers pushing to a shared repository, triggering a CI pipeline that validates and feeds results back.</a:t>
            </a:r>
          </a:p>
          <a:p/>
          <a:p>
            <a:r>
              <a:t>- Key point</a:t>
            </a:r>
          </a:p>
          <a:p/>
          <a:p>
            <a:r>
              <a:t>  Integrate often and let automation tell you quickly when something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Often confused</a:t>
            </a:r>
          </a:p>
          <a:p/>
          <a:p>
            <a:r>
              <a:t>  These three terms are often confused.</a:t>
            </a:r>
          </a:p>
          <a:p/>
          <a:p>
            <a:r>
              <a:t>- Continuous integration and delivery</a:t>
            </a:r>
          </a:p>
          <a:p/>
          <a:p>
            <a:r>
              <a:t>  Continuous integration automatically integrates and validates code.</a:t>
            </a:r>
          </a:p>
          <a:p/>
          <a:p>
            <a:r>
              <a:t>  Continuous delivery keeps the software ready to release.</a:t>
            </a:r>
          </a:p>
          <a:p/>
          <a:p>
            <a:r>
              <a:t>  Production may still need a manual approval, a change window or a business approval.</a:t>
            </a:r>
          </a:p>
          <a:p/>
          <a:p>
            <a:r>
              <a:t>- Continuous deployment</a:t>
            </a:r>
          </a:p>
          <a:p/>
          <a:p>
            <a:r>
              <a:t>  In continuous deployment, changes that pass the defined automated gates go to production automatically.</a:t>
            </a:r>
          </a:p>
          <a:p/>
          <a:p>
            <a:r>
              <a:t>- Three questions</a:t>
            </a:r>
          </a:p>
          <a:p/>
          <a:p>
            <a:r>
              <a:t>  CI asks: can we integrate safely?</a:t>
            </a:r>
          </a:p>
          <a:p/>
          <a:p>
            <a:r>
              <a:t>  Delivery asks: can we release safely?</a:t>
            </a:r>
          </a:p>
          <a:p/>
          <a:p>
            <a:r>
              <a:t>  Deployment asks: do validated changes reach production automatically?</a:t>
            </a:r>
          </a:p>
          <a:p/>
          <a:p>
            <a:r>
              <a:t>  Many enterprises practice continuous delivery without fully automatic production deployment.</a:t>
            </a:r>
          </a:p>
          <a:p/>
          <a:p>
            <a:r>
              <a:t>- What the diagram shows</a:t>
            </a:r>
          </a:p>
          <a:p/>
          <a:p>
            <a:r>
              <a:t>  Three layers, showing where a manual production approval exists and where release is fully automated.</a:t>
            </a:r>
          </a:p>
          <a:p/>
          <a:p>
            <a:r>
              <a:t>- Key point</a:t>
            </a:r>
          </a:p>
          <a:p/>
          <a:p>
            <a:r>
              <a:t>  Delivery keeps software releasable; deployment releases it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core pipeline</a:t>
            </a:r>
          </a:p>
          <a:p/>
          <a:p>
            <a:r>
              <a:t>  This is the core pipeline.</a:t>
            </a:r>
          </a:p>
          <a:p/>
          <a:p>
            <a:r>
              <a:t>  Checkout gets the exact source revision.</a:t>
            </a:r>
          </a:p>
          <a:p/>
          <a:p>
            <a:r>
              <a:t>  Compile builds the Java source.</a:t>
            </a:r>
          </a:p>
          <a:p/>
          <a:p>
            <a:r>
              <a:t>  Unit tests check isolated behavior, and integration tests check interactions with other components.</a:t>
            </a:r>
          </a:p>
          <a:p/>
          <a:p>
            <a:r>
              <a:t>- Scan and package</a:t>
            </a:r>
          </a:p>
          <a:p/>
          <a:p>
            <a:r>
              <a:t>  Scanning looks for quality and security problems.</a:t>
            </a:r>
          </a:p>
          <a:p/>
          <a:p>
            <a:r>
              <a:t>  Packaging creates the application artifact, order-service.jar.</a:t>
            </a:r>
          </a:p>
          <a:p/>
          <a:p>
            <a:r>
              <a:t>  The container build creates a deployable image, and the image scan checks its contents against security policy.</a:t>
            </a:r>
          </a:p>
          <a:p/>
          <a:p>
            <a:r>
              <a:t>- Registry, deploy, validate</a:t>
            </a:r>
          </a:p>
          <a:p/>
          <a:p>
            <a:r>
              <a:t>  The registry stores the versioned image.</a:t>
            </a:r>
          </a:p>
          <a:p/>
          <a:p>
            <a:r>
              <a:t>  Deploy releases it to the target environment.</a:t>
            </a:r>
          </a:p>
          <a:p/>
          <a:p>
            <a:r>
              <a:t>  Smoke and health tests confirm the service works, and then we observe it.</a:t>
            </a:r>
          </a:p>
          <a:p/>
          <a:p>
            <a:r>
              <a:t>- The most important idea</a:t>
            </a:r>
          </a:p>
          <a:p/>
          <a:p>
            <a:r>
              <a:t>  Every stage either increases confidence in the release, or prepares the exact artifact for deployment.</a:t>
            </a:r>
          </a:p>
          <a:p/>
          <a:p>
            <a:r>
              <a:t>- What the diagram shows</a:t>
            </a:r>
          </a:p>
          <a:p/>
          <a:p>
            <a:r>
              <a:t>  Commit, checkout, build, test, scan, package, image, registry, deploy and validate.</a:t>
            </a:r>
          </a:p>
          <a:p/>
          <a:p>
            <a:r>
              <a:t>- Key point</a:t>
            </a:r>
          </a:p>
          <a:p/>
          <a:p>
            <a:r>
              <a:t>  Each stage produces evidence and can stop the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Automation next to the code</a:t>
            </a:r>
          </a:p>
          <a:p/>
          <a:p>
            <a:r>
              <a:t>  GitHub Actions lets workflow automation live alongside the repository.</a:t>
            </a:r>
          </a:p>
          <a:p/>
          <a:p>
            <a:r>
              <a:t>  Workflow definitions live under .github/workflows.</a:t>
            </a:r>
          </a:p>
          <a:p/>
          <a:p>
            <a:r>
              <a:t>- Four concepts</a:t>
            </a:r>
          </a:p>
          <a:p/>
          <a:p>
            <a:r>
              <a:t>  The event is what starts the workflow, such as a push, a pull request or a manual trigger.</a:t>
            </a:r>
          </a:p>
          <a:p/>
          <a:p>
            <a:r>
              <a:t>  The workflow is the complete automation definition.</a:t>
            </a:r>
          </a:p>
          <a:p/>
          <a:p>
            <a:r>
              <a:t>  A job is a collection of steps.</a:t>
            </a:r>
          </a:p>
          <a:p/>
          <a:p>
            <a:r>
              <a:t>  The runner is the compute environment that executes the job.</a:t>
            </a:r>
          </a:p>
          <a:p/>
          <a:p>
            <a:r>
              <a:t>- The example</a:t>
            </a:r>
          </a:p>
          <a:p/>
          <a:p>
            <a:r>
              <a:t>  The example workflow runs on pull requests and on pushes to main.</a:t>
            </a:r>
          </a:p>
          <a:p/>
          <a:p>
            <a:r>
              <a:t>  It checks out the code, sets up Java and runs ./mvnw verify.</a:t>
            </a:r>
          </a:p>
          <a:p/>
          <a:p>
            <a:r>
              <a:t>- The key idea</a:t>
            </a:r>
          </a:p>
          <a:p/>
          <a:p>
            <a:r>
              <a:t>  A Git event triggers automatic validation.</a:t>
            </a:r>
          </a:p>
          <a:p/>
          <a:p>
            <a:r>
              <a:t>- What the diagram shows</a:t>
            </a:r>
          </a:p>
          <a:p/>
          <a:p>
            <a:r>
              <a:t>  A GitHub event triggering a workflow, whose jobs run on runners as ordered steps.</a:t>
            </a:r>
          </a:p>
          <a:p/>
          <a:p>
            <a:r>
              <a:t>- Key point</a:t>
            </a:r>
          </a:p>
          <a:p/>
          <a:p>
            <a:r>
              <a:t>  Event → workflow → job → runner → steps, all defined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Triggers</a:t>
            </a:r>
          </a:p>
          <a:p/>
          <a:p>
            <a:r>
              <a:t>  The workflow runs for pull requests into main and for pushes to main.</a:t>
            </a:r>
          </a:p>
          <a:p/>
          <a:p>
            <a:r>
              <a:t>- build-test</a:t>
            </a:r>
          </a:p>
          <a:p/>
          <a:p>
            <a:r>
              <a:t>  It checks out the code, sets up Java 21 with a Maven cache, and runs verify, which includes unit and integration tests.</a:t>
            </a:r>
          </a:p>
          <a:p/>
          <a:p>
            <a:r>
              <a:t>- image</a:t>
            </a:r>
          </a:p>
          <a:p/>
          <a:p>
            <a:r>
              <a:t>  Only after tests pass on main does the second job build the container and push it, tagged with the commit SHA.</a:t>
            </a:r>
          </a:p>
          <a:p/>
          <a:p>
            <a:r>
              <a:t>- Permissions and secrets</a:t>
            </a:r>
          </a:p>
          <a:p/>
          <a:p>
            <a:r>
              <a:t>  The job gets only the permissions it needs, and the registry login uses the built-in token, not a password in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Jenkins in the enterprise</a:t>
            </a:r>
          </a:p>
          <a:p/>
          <a:p>
            <a:r>
              <a:t>  Jenkins is widely used for enterprise automation.</a:t>
            </a:r>
          </a:p>
          <a:p/>
          <a:p>
            <a:r>
              <a:t>  Instead of configuring every build by hand in a UI, teams define pipelines as code in a Jenkinsfile.</a:t>
            </a:r>
          </a:p>
          <a:p/>
          <a:p>
            <a:r>
              <a:t>- The Jenkinsfile</a:t>
            </a:r>
          </a:p>
          <a:p/>
          <a:p>
            <a:r>
              <a:t>  The example Jenkinsfile has stages for build, test, scan, package and deploy.</a:t>
            </a:r>
          </a:p>
          <a:p/>
          <a:p>
            <a:r>
              <a:t>- Controller and agents</a:t>
            </a:r>
          </a:p>
          <a:p/>
          <a:p>
            <a:r>
              <a:t>  The Jenkins controller coordinates the work.</a:t>
            </a:r>
          </a:p>
          <a:p/>
          <a:p>
            <a:r>
              <a:t>  Agents, or executors, carry out the pipeline tasks, depending on how Jenkins is set up.</a:t>
            </a:r>
          </a:p>
          <a:p/>
          <a:p>
            <a:r>
              <a:t>- Why pipeline as code</a:t>
            </a:r>
          </a:p>
          <a:p/>
          <a:p>
            <a:r>
              <a:t>  It gives versioning, review, reproducibility, auditability and consistency.</a:t>
            </a:r>
          </a:p>
          <a:p/>
          <a:p>
            <a:r>
              <a:t>- What the diagram shows</a:t>
            </a:r>
          </a:p>
          <a:p/>
          <a:p>
            <a:r>
              <a:t>  GitHub sending a webhook to the Jenkins controller, which runs build, test, scan, package and deploy on agents.</a:t>
            </a:r>
          </a:p>
          <a:p/>
          <a:p>
            <a:r>
              <a:t>- Key point</a:t>
            </a:r>
          </a:p>
          <a:p/>
          <a:p>
            <a:r>
              <a:t>  The controller orchestrates; agents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Agent</a:t>
            </a:r>
          </a:p>
          <a:p/>
          <a:p>
            <a:r>
              <a:t>  The pipeline runs on an agent labelled with Maven and JDK 21.</a:t>
            </a:r>
          </a:p>
          <a:p/>
          <a:p>
            <a:r>
              <a:t>- Build and test</a:t>
            </a:r>
          </a:p>
          <a:p/>
          <a:p>
            <a:r>
              <a:t>  verify runs the tests, and the post block always publishes the JUnit reports.</a:t>
            </a:r>
          </a:p>
          <a:p/>
          <a:p>
            <a:r>
              <a:t>- Credentials</a:t>
            </a:r>
          </a:p>
          <a:p/>
          <a:p>
            <a:r>
              <a:t>  The registry token comes from Jenkins' credentials store and is masked in the console output.</a:t>
            </a:r>
          </a:p>
          <a:p/>
          <a:p>
            <a:r>
              <a:t>- Approval</a:t>
            </a:r>
          </a:p>
          <a:p/>
          <a:p>
            <a:r>
              <a:t>  The input step waits for a person before production, which is continuous delivery rather than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alternatives</a:t>
            </a:r>
          </a:p>
          <a:p/>
          <a:p>
            <a:r>
              <a:t>  GitHub and Jenkins are not necessarily competing choices.</a:t>
            </a:r>
          </a:p>
          <a:p/>
          <a:p>
            <a:r>
              <a:t>- Who does what</a:t>
            </a:r>
          </a:p>
          <a:p/>
          <a:p>
            <a:r>
              <a:t>  An enterprise may use GitHub for repository hosting, pull requests, code review and branch policies.</a:t>
            </a:r>
          </a:p>
          <a:p/>
          <a:p>
            <a:r>
              <a:t>  It may use Jenkins for build automation, testing, packaging and deployment workflows.</a:t>
            </a:r>
          </a:p>
          <a:p/>
          <a:p>
            <a:r>
              <a:t>- How they connect</a:t>
            </a:r>
          </a:p>
          <a:p/>
          <a:p>
            <a:r>
              <a:t>  A developer opens a pull request, and GitHub triggers Jenkins through a webhook.</a:t>
            </a:r>
          </a:p>
          <a:p/>
          <a:p>
            <a:r>
              <a:t>  Jenkins compiles, tests and scans.</a:t>
            </a:r>
          </a:p>
          <a:p/>
          <a:p>
            <a:r>
              <a:t>  Then it reports success or failure back to the pull request.</a:t>
            </a:r>
          </a:p>
          <a:p/>
          <a:p>
            <a:r>
              <a:t>- The result</a:t>
            </a:r>
          </a:p>
          <a:p/>
          <a:p>
            <a:r>
              <a:t>  Only successful changes may be eligible to merge.</a:t>
            </a:r>
          </a:p>
          <a:p/>
          <a:p>
            <a:r>
              <a:t>- What the diagram shows</a:t>
            </a:r>
          </a:p>
          <a:p/>
          <a:p>
            <a:r>
              <a:t>  A developer opening a pull request, a webhook triggering Jenkins, and the check status returning to the PR.</a:t>
            </a:r>
          </a:p>
          <a:p/>
          <a:p>
            <a:r>
              <a:t>- Key point</a:t>
            </a:r>
          </a:p>
          <a:p/>
          <a:p>
            <a:r>
              <a:t>  GitHub hosts collaboration; Jenkins runs the pipeline and reports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Use layers</a:t>
            </a:r>
          </a:p>
          <a:p/>
          <a:p>
            <a:r>
              <a:t>  A CI/CD pipeline should not depend on one giant end-to-end test suite.</a:t>
            </a:r>
          </a:p>
          <a:p/>
          <a:p>
            <a:r>
              <a:t>  Use different test layers.</a:t>
            </a:r>
          </a:p>
          <a:p/>
          <a:p>
            <a:r>
              <a:t>- Unit and integration</a:t>
            </a:r>
          </a:p>
          <a:p/>
          <a:p>
            <a:r>
              <a:t>  Unit tests are fast and isolated, for example the order total calculation or the order cancellation rule.</a:t>
            </a:r>
          </a:p>
          <a:p/>
          <a:p>
            <a:r>
              <a:t>  Integration tests check interaction with the database, messaging, the Spring context and external interfaces.</a:t>
            </a:r>
          </a:p>
          <a:p/>
          <a:p>
            <a:r>
              <a:t>- Contract, API and end-to-end</a:t>
            </a:r>
          </a:p>
          <a:p/>
          <a:p>
            <a:r>
              <a:t>  Contract tests check that service interfaces stay compatible, which is especially important for microservices.</a:t>
            </a:r>
          </a:p>
          <a:p/>
          <a:p>
            <a:r>
              <a:t>  API tests validate REST endpoints.</a:t>
            </a:r>
          </a:p>
          <a:p/>
          <a:p>
            <a:r>
              <a:t>  End-to-end tests validate key workflows, such as placing an order through payment, inventory and shipping.</a:t>
            </a:r>
          </a:p>
          <a:p/>
          <a:p>
            <a:r>
              <a:t>- Non-functional tests</a:t>
            </a:r>
          </a:p>
          <a:p/>
          <a:p>
            <a:r>
              <a:t>  Also consider performance, security and resilience testing.</a:t>
            </a:r>
          </a:p>
          <a:p/>
          <a:p>
            <a:r>
              <a:t>- What the diagram shows</a:t>
            </a:r>
          </a:p>
          <a:p/>
          <a:p>
            <a:r>
              <a:t>  Unit tests at the base, then integration, contract and API, with end-to-end at the top; performance, security and resilience alongside.</a:t>
            </a:r>
          </a:p>
          <a:p/>
          <a:p>
            <a:r>
              <a:t>- Key point</a:t>
            </a:r>
          </a:p>
          <a:p/>
          <a:p>
            <a:r>
              <a:t>  Many fast tests at the bottom, few slow ones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Right test, right stage</a:t>
            </a:r>
          </a:p>
          <a:p/>
          <a:p>
            <a:r>
              <a:t>  Not every test should run at the same stage.</a:t>
            </a:r>
          </a:p>
          <a:p/>
          <a:p>
            <a:r>
              <a:t>  The pipeline should give fast feedback early.</a:t>
            </a:r>
          </a:p>
          <a:p/>
          <a:p>
            <a:r>
              <a:t>- Stop early</a:t>
            </a:r>
          </a:p>
          <a:p/>
          <a:p>
            <a:r>
              <a:t>  A unit test failure should stop the pipeline before we spend resources building and deploying artifacts we do not need.</a:t>
            </a:r>
          </a:p>
          <a:p/>
          <a:p>
            <a:r>
              <a:t>- Early and later stages</a:t>
            </a:r>
          </a:p>
          <a:p/>
          <a:p>
            <a:r>
              <a:t>  Early stages run compilation, unit tests and static checks.</a:t>
            </a:r>
          </a:p>
          <a:p/>
          <a:p>
            <a:r>
              <a:t>  Later stages run integration, contract, API, end-to-end and performance tests, plus deployment validation.</a:t>
            </a:r>
          </a:p>
          <a:p/>
          <a:p>
            <a:r>
              <a:t>- The principle</a:t>
            </a:r>
          </a:p>
          <a:p/>
          <a:p>
            <a:r>
              <a:t>  Fail fast on cheap checks, and gain stronger confidence with later checks.</a:t>
            </a:r>
          </a:p>
          <a:p/>
          <a:p>
            <a:r>
              <a:t>  Pipeline design balances speed, coverage and confidence.</a:t>
            </a:r>
          </a:p>
          <a:p/>
          <a:p>
            <a:r>
              <a:t>- What the diagram shows</a:t>
            </a:r>
          </a:p>
          <a:p/>
          <a:p>
            <a:r>
              <a:t>  Each test type mapped to the commit, build, test, deploy and promotion stages.</a:t>
            </a:r>
          </a:p>
          <a:p/>
          <a:p>
            <a:r>
              <a:t>- Key point</a:t>
            </a:r>
          </a:p>
          <a:p/>
          <a:p>
            <a:r>
              <a:t>  Cheap tests run first; expensive ones run later, before promotion.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security test</a:t>
            </a:r>
          </a:p>
          <a:p/>
          <a:p>
            <a:r>
              <a:t>  A web slice test loads the controller and security configuration.</a:t>
            </a:r>
          </a:p>
          <a:p/>
          <a:p>
            <a:r>
              <a:t>  It checks that no token gives 401 and a token with the wrong scope gives 403.</a:t>
            </a:r>
          </a:p>
          <a:p/>
          <a:p>
            <a:r>
              <a:t>- The persistence test</a:t>
            </a:r>
          </a:p>
          <a:p/>
          <a:p>
            <a:r>
              <a:t>  @DataJpaTest with a Testcontainers Postgres 16 database runs the real Flyway migrations.</a:t>
            </a:r>
          </a:p>
          <a:p/>
          <a:p>
            <a:r>
              <a:t>  @ServiceConnection wires the connection details automatically.</a:t>
            </a:r>
          </a:p>
          <a:p/>
          <a:p>
            <a:r>
              <a:t>- In the pipeline</a:t>
            </a:r>
          </a:p>
          <a:p/>
          <a:p>
            <a:r>
              <a:t>  Both run in mvn verify.</a:t>
            </a:r>
          </a:p>
          <a:p/>
          <a:p>
            <a:r>
              <a:t>  The CI runner needs Docker for the container.</a:t>
            </a:r>
          </a:p>
          <a:p/>
          <a:p>
            <a:r>
              <a:t>- Official exercise</a:t>
            </a:r>
          </a:p>
          <a:p/>
          <a:p>
            <a:r>
              <a:t>  These are exactly the tests Exercise 3.3 asks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checkpoint.</a:t>
            </a:r>
          </a:p>
          <a:p/>
          <a:p>
            <a:r>
              <a:t>  Use the worksheet in labs/day-03/exercises.</a:t>
            </a:r>
          </a:p>
          <a:p/>
          <a:p>
            <a:r>
              <a:t>- Security and resilience</a:t>
            </a:r>
          </a:p>
          <a:p/>
          <a:p>
            <a:r>
              <a:t>  Tests prove 401 without a token, 403 with the wrong scope, and a 503 when the circuit is open.</a:t>
            </a:r>
          </a:p>
          <a:p/>
          <a:p>
            <a:r>
              <a:t>- Integration</a:t>
            </a:r>
          </a:p>
          <a:p/>
          <a:p>
            <a:r>
              <a:t>  AccountPersistenceTest uses Testcontainers with Postgres 16, so Docker must be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dangerous model</a:t>
            </a:r>
          </a:p>
          <a:p/>
          <a:p>
            <a:r>
              <a:t>  A dangerous model builds a separate DEV version, TEST version and PROD version.</a:t>
            </a:r>
          </a:p>
          <a:p/>
          <a:p>
            <a:r>
              <a:t>  Then production is not necessarily running the artifact you tested.</a:t>
            </a:r>
          </a:p>
          <a:p/>
          <a:p>
            <a:r>
              <a:t>- Build once, promote</a:t>
            </a:r>
          </a:p>
          <a:p/>
          <a:p>
            <a:r>
              <a:t>  Instead, build once to create one artifact, for example order-service:1.7.0.</a:t>
            </a:r>
          </a:p>
          <a:p/>
          <a:p>
            <a:r>
              <a:t>  Promote that same artifact from DEV to TEST to STAGE to PROD.</a:t>
            </a:r>
          </a:p>
          <a:p/>
          <a:p>
            <a:r>
              <a:t>- Differences come from outside</a:t>
            </a:r>
          </a:p>
          <a:p/>
          <a:p>
            <a:r>
              <a:t>  Environment differences should come from external configuration and secrets.</a:t>
            </a:r>
          </a:p>
          <a:p/>
          <a:p>
            <a:r>
              <a:t>  This connects to externalized configuration, profiles and environment variables from Module 3.</a:t>
            </a:r>
          </a:p>
          <a:p/>
          <a:p>
            <a:r>
              <a:t>  Later it maps to OpenShift ConfigMaps and Secrets.</a:t>
            </a:r>
          </a:p>
          <a:p/>
          <a:p>
            <a:r>
              <a:t>- The principle</a:t>
            </a:r>
          </a:p>
          <a:p/>
          <a:p>
            <a:r>
              <a:t>  What we tested is what we deploy.</a:t>
            </a:r>
          </a:p>
          <a:p/>
          <a:p>
            <a:r>
              <a:t>- What the diagram shows</a:t>
            </a:r>
          </a:p>
          <a:p/>
          <a:p>
            <a:r>
              <a:t>  Source built once into one immutable image, promoted through DEV, TEST, STAGE and PROD.</a:t>
            </a:r>
          </a:p>
          <a:p/>
          <a:p>
            <a:r>
              <a:t>- Key point</a:t>
            </a:r>
          </a:p>
          <a:p/>
          <a:p>
            <a:r>
              <a:t>  The artifact never changes between environments — only its configuration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Packaging the image</a:t>
            </a:r>
          </a:p>
          <a:p/>
          <a:p>
            <a:r>
              <a:t>  The CI pipeline produces the application.</a:t>
            </a:r>
          </a:p>
          <a:p/>
          <a:p>
            <a:r>
              <a:t>  Then a container build packages the application, its runtime requirements and image metadata into a deployable image.</a:t>
            </a:r>
          </a:p>
          <a:p/>
          <a:p>
            <a:r>
              <a:t>- Tags and the registry</a:t>
            </a:r>
          </a:p>
          <a:p/>
          <a:p>
            <a:r>
              <a:t>  The image gets an identifiable version tag, such as order-service:1.7.0 or the commit SHA.</a:t>
            </a:r>
          </a:p>
          <a:p/>
          <a:p>
            <a:r>
              <a:t>  The registry stores images in a controlled way.</a:t>
            </a:r>
          </a:p>
          <a:p/>
          <a:p>
            <a:r>
              <a:t>  Then OpenShift pulls the selected image.</a:t>
            </a:r>
          </a:p>
          <a:p/>
          <a:p>
            <a:r>
              <a:t>- Traceability</a:t>
            </a:r>
          </a:p>
          <a:p/>
          <a:p>
            <a:r>
              <a:t>  If production fails, we should be able to answer: which source commit, which pipeline, which image, which version and which deployment?</a:t>
            </a:r>
          </a:p>
          <a:p/>
          <a:p>
            <a:r>
              <a:t>- Avoid latest alone</a:t>
            </a:r>
          </a:p>
          <a:p/>
          <a:p>
            <a:r>
              <a:t>  Do not make production depend only on a changeable tag like latest.</a:t>
            </a:r>
          </a:p>
          <a:p/>
          <a:p>
            <a:r>
              <a:t>  It is not precise enough for release traceability.</a:t>
            </a:r>
          </a:p>
          <a:p/>
          <a:p>
            <a:r>
              <a:t>- What the diagram shows</a:t>
            </a:r>
          </a:p>
          <a:p/>
          <a:p>
            <a:r>
              <a:t>  Java source, Maven, the JAR, the container build, an image scan, the registry and OpenShift.</a:t>
            </a:r>
          </a:p>
          <a:p/>
          <a:p>
            <a:r>
              <a:t>- Key point</a:t>
            </a:r>
          </a:p>
          <a:p/>
          <a:p>
            <a:r>
              <a:t>  Only scanned, versioned images reach the registry and the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Build</a:t>
            </a:r>
          </a:p>
          <a:p/>
          <a:p>
            <a:r>
              <a:t>  CI builds one image tagged with the version and short commit SHA, and saves the digest the registry returns.</a:t>
            </a:r>
          </a:p>
          <a:p/>
          <a:p>
            <a:r>
              <a:t>- Promote</a:t>
            </a:r>
          </a:p>
          <a:p/>
          <a:p>
            <a:r>
              <a:t>  Each environment points its Deployment at the same image digest.</a:t>
            </a:r>
          </a:p>
          <a:p/>
          <a:p>
            <a:r>
              <a:t>  Nothing is rebuilt.</a:t>
            </a:r>
          </a:p>
          <a:p/>
          <a:p>
            <a:r>
              <a:t>- Why the digest</a:t>
            </a:r>
          </a:p>
          <a:p/>
          <a:p>
            <a:r>
              <a:t>  Tags are mutable pointers.</a:t>
            </a:r>
          </a:p>
          <a:p/>
          <a:p>
            <a:r>
              <a:t>  A sha256 digest identifies exactly the bytes that were tested.</a:t>
            </a:r>
          </a:p>
          <a:p/>
          <a:p>
            <a:r>
              <a:t>- In the labs</a:t>
            </a:r>
          </a:p>
          <a:p/>
          <a:p>
            <a:r>
              <a:t>  Lab 4 tags images 1.0.0 and rolls a version forward and back on OpenShift.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OUTLINE.md checkpoint.</a:t>
            </a:r>
          </a:p>
          <a:p/>
          <a:p>
            <a:r>
              <a:t>  The worksheet is the starter OWNERSHIP.md in Lab 4.</a:t>
            </a:r>
          </a:p>
          <a:p/>
          <a:p>
            <a:r>
              <a:t>- The gates</a:t>
            </a:r>
          </a:p>
          <a:p/>
          <a:p>
            <a:r>
              <a:t>  A CRITICAL vulnerability blocks promotion, the SBOM proves what shipped, and an unsigned image must not run.</a:t>
            </a:r>
          </a:p>
          <a:p/>
          <a:p>
            <a:r>
              <a:t>- Scope</a:t>
            </a:r>
          </a:p>
          <a:p/>
          <a:p>
            <a:r>
              <a:t>  Learners run and verify the pipeline.</a:t>
            </a:r>
          </a:p>
          <a:p/>
          <a:p>
            <a:r>
              <a:t>  Signing keys are a platform concern, and Jenkins is awareness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Even a well-tested release can fail under real traffic.</a:t>
            </a:r>
          </a:p>
          <a:p/>
          <a:p>
            <a:r>
              <a:t>  Release strategies limit the damage and make rollback fast.</a:t>
            </a:r>
          </a:p>
          <a:p/>
          <a:p>
            <a:r>
              <a:t>- What comes next</a:t>
            </a:r>
          </a:p>
          <a:p/>
          <a:p>
            <a:r>
              <a:t>  Blue/Green, canary, how to choose, and how OpenShift Routes split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Two versions</a:t>
            </a:r>
          </a:p>
          <a:p/>
          <a:p>
            <a:r>
              <a:t>  Blue/Green keeps two environments, or deployment versions.</a:t>
            </a:r>
          </a:p>
          <a:p/>
          <a:p>
            <a:r>
              <a:t>  Suppose Blue is version 1 and Green is version 2.</a:t>
            </a:r>
          </a:p>
          <a:p/>
          <a:p>
            <a:r>
              <a:t>  Production traffic currently goes to Blue.</a:t>
            </a:r>
          </a:p>
          <a:p/>
          <a:p>
            <a:r>
              <a:t>- Cutover</a:t>
            </a:r>
          </a:p>
          <a:p/>
          <a:p>
            <a:r>
              <a:t>  Deploy and validate Green.</a:t>
            </a:r>
          </a:p>
          <a:p/>
          <a:p>
            <a:r>
              <a:t>  When Green is ready, switch traffic to Green.</a:t>
            </a:r>
          </a:p>
          <a:p/>
          <a:p>
            <a:r>
              <a:t>  If serious problems appear and Blue is still suitable, switch traffic back to Blue.</a:t>
            </a:r>
          </a:p>
          <a:p/>
          <a:p>
            <a:r>
              <a:t>  So rollback can be fast.</a:t>
            </a:r>
          </a:p>
          <a:p/>
          <a:p>
            <a:r>
              <a:t>- Advantages</a:t>
            </a:r>
          </a:p>
          <a:p/>
          <a:p>
            <a:r>
              <a:t>  It gives a controlled cutover, fast rollback and validation before cutover.</a:t>
            </a:r>
          </a:p>
          <a:p/>
          <a:p>
            <a:r>
              <a:t>- Trade-offs</a:t>
            </a:r>
          </a:p>
          <a:p/>
          <a:p>
            <a:r>
              <a:t>  It needs extra capacity for a while.</a:t>
            </a:r>
          </a:p>
          <a:p/>
          <a:p>
            <a:r>
              <a:t>  Database and schema compatibility still matter, and stateful changes can complicate rollback.</a:t>
            </a:r>
          </a:p>
          <a:p/>
          <a:p>
            <a:r>
              <a:t>  Rolling back a deployment does not automatically undo incompatible database changes.</a:t>
            </a:r>
          </a:p>
          <a:p/>
          <a:p>
            <a:r>
              <a:t>- What the diagram shows</a:t>
            </a:r>
          </a:p>
          <a:p/>
          <a:p>
            <a:r>
              <a:t>  The router sending all traffic to Blue while Green is validated, then switching traffic to Green.</a:t>
            </a:r>
          </a:p>
          <a:p/>
          <a:p>
            <a:r>
              <a:t>- Key point</a:t>
            </a:r>
          </a:p>
          <a:p/>
          <a:p>
            <a:r>
              <a:t>  Cut over in one step — and switch back just as fast.</a:t>
            </a:r>
          </a:p>
          <a:p/>
          <a:p>
            <a:r>
              <a:t>- Database changes</a:t>
            </a:r>
          </a:p>
          <a:p/>
          <a:p>
            <a:r>
              <a:t>  Both versions share the database during the switch, so migrations must be backward compatible: add first, remove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Limited exposure first</a:t>
            </a:r>
          </a:p>
          <a:p/>
          <a:p>
            <a:r>
              <a:t>  Canary deployment sends a small amount of traffic to the new version first.</a:t>
            </a:r>
          </a:p>
          <a:p/>
          <a:p>
            <a:r>
              <a:t>  For example, 95 percent goes to version 1 and 5 percent to version 2.</a:t>
            </a:r>
          </a:p>
          <a:p/>
          <a:p>
            <a:r>
              <a:t>- Grow or roll back</a:t>
            </a:r>
          </a:p>
          <a:p/>
          <a:p>
            <a:r>
              <a:t>  Watch the new release.</a:t>
            </a:r>
          </a:p>
          <a:p/>
          <a:p>
            <a:r>
              <a:t>  If it is healthy, increase its share to 20 percent, then 50, then 100.</a:t>
            </a:r>
          </a:p>
          <a:p/>
          <a:p>
            <a:r>
              <a:t>  If it is unhealthy, drop it from 5 percent back to 0.</a:t>
            </a:r>
          </a:p>
          <a:p/>
          <a:p>
            <a:r>
              <a:t>- Blast radius</a:t>
            </a:r>
          </a:p>
          <a:p/>
          <a:p>
            <a:r>
              <a:t>  This limits the blast radius of a bad release, meaning how many users a defect can affect.</a:t>
            </a:r>
          </a:p>
          <a:p/>
          <a:p>
            <a:r>
              <a:t>- Depends on observability</a:t>
            </a:r>
          </a:p>
          <a:p/>
          <a:p>
            <a:r>
              <a:t>  Canary deployment depends heavily on Module 6.</a:t>
            </a:r>
          </a:p>
          <a:p/>
          <a:p>
            <a:r>
              <a:t>  Without metrics, logs, traces and health indicators, how would we know the canary is healthy?</a:t>
            </a:r>
          </a:p>
          <a:p/>
          <a:p>
            <a:r>
              <a:t>  Deployment strategy and observability must work together.</a:t>
            </a:r>
          </a:p>
          <a:p/>
          <a:p>
            <a:r>
              <a:t>- What the diagram shows</a:t>
            </a:r>
          </a:p>
          <a:p/>
          <a:p>
            <a:r>
              <a:t>  The router splitting traffic between v1 and v2 at 95/5, 80/20, 50/50 and finally 0/100.</a:t>
            </a:r>
          </a:p>
          <a:p/>
          <a:p>
            <a:r>
              <a:t>- Key point</a:t>
            </a:r>
          </a:p>
          <a:p/>
          <a:p>
            <a:r>
              <a:t>  Increase exposure only while the signals stay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simple distinction</a:t>
            </a:r>
          </a:p>
          <a:p/>
          <a:p>
            <a:r>
              <a:t>  Blue/Green asks: which environment receives production traffic?</a:t>
            </a:r>
          </a:p>
          <a:p/>
          <a:p>
            <a:r>
              <a:t>  Canary asks: what percentage of production traffic goes to the new version?</a:t>
            </a:r>
          </a:p>
          <a:p/>
          <a:p>
            <a:r>
              <a:t>- When to use each</a:t>
            </a:r>
          </a:p>
          <a:p/>
          <a:p>
            <a:r>
              <a:t>  Blue/Green is useful when you want a controlled switch between environments.</a:t>
            </a:r>
          </a:p>
          <a:p/>
          <a:p>
            <a:r>
              <a:t>  Canary is useful when you want gradual exposure.</a:t>
            </a:r>
          </a:p>
          <a:p/>
          <a:p>
            <a:r>
              <a:t>- What to consider</a:t>
            </a:r>
          </a:p>
          <a:p/>
          <a:p>
            <a:r>
              <a:t>  Neither solves every release problem.</a:t>
            </a:r>
          </a:p>
          <a:p/>
          <a:p>
            <a:r>
              <a:t>  Consider stateful workloads, database migrations, backward compatibility and session handling.</a:t>
            </a:r>
          </a:p>
          <a:p/>
          <a:p>
            <a:r>
              <a:t>  Also consider cost, traffic-routing capability, monitoring quality and release risk.</a:t>
            </a:r>
          </a:p>
          <a:p/>
          <a:p>
            <a:r>
              <a:t>- What the diagram shows</a:t>
            </a:r>
          </a:p>
          <a:p/>
          <a:p>
            <a:r>
              <a:t>  The two release models side by side: full cutover versus gradual traffic shifting.</a:t>
            </a:r>
          </a:p>
          <a:p/>
          <a:p>
            <a:r>
              <a:t>- Key point</a:t>
            </a:r>
          </a:p>
          <a:p/>
          <a:p>
            <a:r>
              <a:t>  Blue/Green changes where traffic goes; canary changes how much goes to the new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Blue/Green</a:t>
            </a:r>
          </a:p>
          <a:p/>
          <a:p>
            <a:r>
              <a:t>  Two Services, blue and green, sit behind one Route.</a:t>
            </a:r>
          </a:p>
          <a:p/>
          <a:p>
            <a:r>
              <a:t>  Changing the Route's target moves all traffic at once, and patching it back rolls back.</a:t>
            </a:r>
          </a:p>
          <a:p/>
          <a:p>
            <a:r>
              <a:t>- Canary</a:t>
            </a:r>
          </a:p>
          <a:p/>
          <a:p>
            <a:r>
              <a:t>  alternateBackends split traffic by weight.</a:t>
            </a:r>
          </a:p>
          <a:p/>
          <a:p>
            <a:r>
              <a:t>  Start v2 at 5% and increase while the metrics stay healthy.</a:t>
            </a:r>
          </a:p>
          <a:p/>
          <a:p>
            <a:r>
              <a:t>- Automation</a:t>
            </a:r>
          </a:p>
          <a:p/>
          <a:p>
            <a:r>
              <a:t>  Progressive delivery tools can adjust weights automatically based on error rate and latency.</a:t>
            </a:r>
          </a:p>
          <a:p/>
          <a:p>
            <a:r>
              <a:t>- In the labs</a:t>
            </a:r>
          </a:p>
          <a:p/>
          <a:p>
            <a:r>
              <a:t>  Lab 4 practises a rolling update and oc rollout undo; these strategies are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Risky logic</a:t>
            </a:r>
          </a:p>
          <a:p/>
          <a:p>
            <a:r>
              <a:t>  The fraud call and partner routing affect money movement, so expose them gradually with canary.</a:t>
            </a:r>
          </a:p>
          <a:p/>
          <a:p>
            <a:r>
              <a:t>- Low risk</a:t>
            </a:r>
          </a:p>
          <a:p/>
          <a:p>
            <a:r>
              <a:t>  A typo fix can use a normal rolling update with readiness checks.</a:t>
            </a:r>
          </a:p>
          <a:p/>
          <a:p>
            <a:r>
              <a:t>- Schema changes</a:t>
            </a:r>
          </a:p>
          <a:p/>
          <a:p>
            <a:r>
              <a:t>  Renaming a column breaks the old version.</a:t>
            </a:r>
          </a:p>
          <a:p/>
          <a:p>
            <a:r>
              <a:t>  Add the new column first, migrate, then remove the old one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A pipeline holds registry tokens and deployment rights.</a:t>
            </a:r>
          </a:p>
          <a:p/>
          <a:p>
            <a:r>
              <a:t>  If it's compromised, production is too.</a:t>
            </a:r>
          </a:p>
          <a:p/>
          <a:p>
            <a:r>
              <a:t>- What comes next</a:t>
            </a:r>
          </a:p>
          <a:p/>
          <a:p>
            <a:r>
              <a:t>  Identity basics, security scanning in the pipeline, a hardened workflow and the full picture.</a:t>
            </a:r>
          </a:p>
          <a:p/>
          <a:p>
            <a:r>
              <a:t>  Module 12 goes deeper.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Keep it foundational</a:t>
            </a:r>
          </a:p>
          <a:p/>
          <a:p>
            <a:r>
              <a:t>  Keep this slide foundational, because security could be a whole course.</a:t>
            </a:r>
          </a:p>
          <a:p/>
          <a:p>
            <a:r>
              <a:t>- Authentication and authorization</a:t>
            </a:r>
          </a:p>
          <a:p/>
          <a:p>
            <a:r>
              <a:t>  Authentication verifies identity: who is making this request?</a:t>
            </a:r>
          </a:p>
          <a:p/>
          <a:p>
            <a:r>
              <a:t>  Authorization decides permissions: can this identity cancel order 1001?</a:t>
            </a:r>
          </a:p>
          <a:p/>
          <a:p>
            <a:r>
              <a:t>  They are not the same.</a:t>
            </a:r>
          </a:p>
          <a:p/>
          <a:p>
            <a:r>
              <a:t>  Being authenticated does not mean being authorized for everything.</a:t>
            </a:r>
          </a:p>
          <a:p/>
          <a:p>
            <a:r>
              <a:t>- Tokens</a:t>
            </a:r>
          </a:p>
          <a:p/>
          <a:p>
            <a:r>
              <a:t>  Tokens can carry or reference identity and claims that services use.</a:t>
            </a:r>
          </a:p>
          <a:p/>
          <a:p>
            <a:r>
              <a:t>  Microservices must validate the right security context.</a:t>
            </a:r>
          </a:p>
          <a:p/>
          <a:p>
            <a:r>
              <a:t>  They must not trust arbitrary information that a client sends.</a:t>
            </a:r>
          </a:p>
          <a:p/>
          <a:p>
            <a:r>
              <a:t>- Least privilege</a:t>
            </a:r>
          </a:p>
          <a:p/>
          <a:p>
            <a:r>
              <a:t>  Give each service only the access it needs.</a:t>
            </a:r>
          </a:p>
          <a:p/>
          <a:p>
            <a:r>
              <a:t>  The Order Service should not automatically get admin access to every system.</a:t>
            </a:r>
          </a:p>
          <a:p/>
          <a:p>
            <a:r>
              <a:t>- Secrets</a:t>
            </a:r>
          </a:p>
          <a:p/>
          <a:p>
            <a:r>
              <a:t>  Protect passwords, API keys, tokens, certificates, private keys and database credentials.</a:t>
            </a:r>
          </a:p>
          <a:p/>
          <a:p>
            <a:r>
              <a:t>  Never commit secrets into Git.</a:t>
            </a:r>
          </a:p>
          <a:p/>
          <a:p>
            <a:r>
              <a:t>- What the diagram shows</a:t>
            </a:r>
          </a:p>
          <a:p/>
          <a:p>
            <a:r>
              <a:t>  A user or client authenticating, receiving a token, being authorized and reaching the microservice and resource.</a:t>
            </a:r>
          </a:p>
          <a:p/>
          <a:p>
            <a:r>
              <a:t>- Key point</a:t>
            </a:r>
          </a:p>
          <a:p/>
          <a:p>
            <a:r>
              <a:t>  Identity first, then permission — at every 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old way</a:t>
            </a:r>
          </a:p>
          <a:p/>
          <a:p>
            <a:r>
              <a:t>  Traditionally, teams built everything, and only near release did they do a security review.</a:t>
            </a:r>
          </a:p>
          <a:p/>
          <a:p>
            <a:r>
              <a:t>  The problem is that security issues are discovered late.</a:t>
            </a:r>
          </a:p>
          <a:p/>
          <a:p>
            <a:r>
              <a:t>- Security throughout</a:t>
            </a:r>
          </a:p>
          <a:p/>
          <a:p>
            <a:r>
              <a:t>  DevSecOps brings security feedback earlier and throughout delivery.</a:t>
            </a:r>
          </a:p>
          <a:p/>
          <a:p>
            <a:r>
              <a:t>  Secret scanning detects credentials committed by accident.</a:t>
            </a:r>
          </a:p>
          <a:p/>
          <a:p>
            <a:r>
              <a:t>  SAST, static application security testing, analyzes code for possible security issues.</a:t>
            </a:r>
          </a:p>
          <a:p/>
          <a:p>
            <a:r>
              <a:t>  Dependency scanning checks third-party libraries for known vulnerabilities and policy concerns.</a:t>
            </a:r>
          </a:p>
          <a:p/>
          <a:p>
            <a:r>
              <a:t>- Images and gates</a:t>
            </a:r>
          </a:p>
          <a:p/>
          <a:p>
            <a:r>
              <a:t>  Image scanning inspects container packages and layers for known vulnerabilities and configuration concerns.</a:t>
            </a:r>
          </a:p>
          <a:p/>
          <a:p>
            <a:r>
              <a:t>  Policy gates decide whether a release may move forward.</a:t>
            </a:r>
          </a:p>
          <a:p/>
          <a:p>
            <a:r>
              <a:t>  For example, a critical prohibited vulnerability stops the pipeline.</a:t>
            </a:r>
          </a:p>
          <a:p/>
          <a:p>
            <a:r>
              <a:t>- It doesn't end at deployment</a:t>
            </a:r>
          </a:p>
          <a:p/>
          <a:p>
            <a:r>
              <a:t>  Runtime monitoring continues after deployment.</a:t>
            </a:r>
          </a:p>
          <a:p/>
          <a:p>
            <a:r>
              <a:t>  Security becomes part of the normal engineering and delivery workflow.</a:t>
            </a:r>
          </a:p>
          <a:p/>
          <a:p>
            <a:r>
              <a:t>- What the diagram shows</a:t>
            </a:r>
          </a:p>
          <a:p/>
          <a:p>
            <a:r>
              <a:t>  Code, secret scan, SAST, dependency scan, build, image scan, policy gate and deploy.</a:t>
            </a:r>
          </a:p>
          <a:p/>
          <a:p>
            <a:r>
              <a:t>- Key point</a:t>
            </a:r>
          </a:p>
          <a:p/>
          <a:p>
            <a:r>
              <a:t>  Security checks run in the pipeline, not after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Secret scanning</a:t>
            </a:r>
          </a:p>
          <a:p/>
          <a:p>
            <a:r>
              <a:t>  Gitleaks checks the whole history for committed keys and passwords.</a:t>
            </a:r>
          </a:p>
          <a:p/>
          <a:p>
            <a:r>
              <a:t>- Image scanning</a:t>
            </a:r>
          </a:p>
          <a:p/>
          <a:p>
            <a:r>
              <a:t>  Trivy scans the built image.</a:t>
            </a:r>
          </a:p>
          <a:p/>
          <a:p>
            <a:r>
              <a:t>  With severity CRITICAL and exit code 1, any critical vulnerability fails the job.</a:t>
            </a:r>
          </a:p>
          <a:p/>
          <a:p>
            <a:r>
              <a:t>- SBOM</a:t>
            </a:r>
          </a:p>
          <a:p/>
          <a:p>
            <a:r>
              <a:t>  Syft writes a software bill of materials, so the team can answer what shipped when a new vulnerability is announced.</a:t>
            </a:r>
          </a:p>
          <a:p/>
          <a:p>
            <a:r>
              <a:t>- Supply chain</a:t>
            </a:r>
          </a:p>
          <a:p/>
          <a:p>
            <a:r>
              <a:t>  Pin third-party actions to a version or commit, and give jobs only the permissions they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Permissions and secrets</a:t>
            </a:r>
          </a:p>
          <a:p/>
          <a:p>
            <a:r>
              <a:t>  write-all gives the job far more rights than it needs, and the password is committed and echoed into logs.</a:t>
            </a:r>
          </a:p>
          <a:p/>
          <a:p>
            <a:r>
              <a:t>- Supply chain</a:t>
            </a:r>
          </a:p>
          <a:p/>
          <a:p>
            <a:r>
              <a:t>  An action on @main from an unknown author can change at any time.</a:t>
            </a:r>
          </a:p>
          <a:p/>
          <a:p>
            <a:r>
              <a:t>  Pin it to a reviewed commit.</a:t>
            </a:r>
          </a:p>
          <a:p/>
          <a:p>
            <a:r>
              <a:t>- Artifact</a:t>
            </a:r>
          </a:p>
          <a:p/>
          <a:p>
            <a:r>
              <a:t>  Building latest in the deploy job means production runs something no test saw.</a:t>
            </a:r>
          </a:p>
          <a:p/>
          <a:p>
            <a:r>
              <a:t>  Promote the scanned digest after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Change and review</a:t>
            </a:r>
          </a:p>
          <a:p/>
          <a:p>
            <a:r>
              <a:t>  Use this slide to tell the whole delivery story.</a:t>
            </a:r>
          </a:p>
          <a:p/>
          <a:p>
            <a:r>
              <a:t>  A developer builds an order cancellation feature on a branch and commits it.</a:t>
            </a:r>
          </a:p>
          <a:p/>
          <a:p>
            <a:r>
              <a:t>  GitHub governs the change through a push and a pull request.</a:t>
            </a:r>
          </a:p>
          <a:p/>
          <a:p>
            <a:r>
              <a:t>  The PR triggers compile, unit and integration tests, code quality and security checks.</a:t>
            </a:r>
          </a:p>
          <a:p/>
          <a:p>
            <a:r>
              <a:t>- Humans and automation</a:t>
            </a:r>
          </a:p>
          <a:p/>
          <a:p>
            <a:r>
              <a:t>  Automation catches many problems.</a:t>
            </a:r>
          </a:p>
          <a:p/>
          <a:p>
            <a:r>
              <a:t>  Reviewers also check design, maintainability, business correctness and architectural impact.</a:t>
            </a:r>
          </a:p>
          <a:p/>
          <a:p>
            <a:r>
              <a:t>  Only an acceptable change is merged.</a:t>
            </a:r>
          </a:p>
          <a:p/>
          <a:p>
            <a:r>
              <a:t>- Artifact and image</a:t>
            </a:r>
          </a:p>
          <a:p/>
          <a:p>
            <a:r>
              <a:t>  CI/CD builds the Spring Boot JAR with Maven, then a versioned container image.</a:t>
            </a:r>
          </a:p>
          <a:p/>
          <a:p>
            <a:r>
              <a:t>  The image is scanned, then stored in the registry, for example as order-service:1.7.0.</a:t>
            </a:r>
          </a:p>
          <a:p/>
          <a:p>
            <a:r>
              <a:t>  Now we can trace the Git commit to the pipeline, the artifact and the image.</a:t>
            </a:r>
          </a:p>
          <a:p/>
          <a:p>
            <a:r>
              <a:t>- Deploy and validate</a:t>
            </a:r>
          </a:p>
          <a:p/>
          <a:p>
            <a:r>
              <a:t>  Choose Blue/Green or Canary, depending on the release.</a:t>
            </a:r>
          </a:p>
          <a:p/>
          <a:p>
            <a:r>
              <a:t>  OpenShift runs the application.</a:t>
            </a:r>
          </a:p>
          <a:p/>
          <a:p>
            <a:r>
              <a:t>  Success is not just a container that started.</a:t>
            </a:r>
          </a:p>
          <a:p/>
          <a:p>
            <a:r>
              <a:t>  Is it ready, are requests succeeding, is latency acceptable, are errors rising, and are business operations working?</a:t>
            </a:r>
          </a:p>
          <a:p/>
          <a:p>
            <a:r>
              <a:t>- Close the loop</a:t>
            </a:r>
          </a:p>
          <a:p/>
          <a:p>
            <a:r>
              <a:t>  Observe with logs, metrics and traces from Module 6.</a:t>
            </a:r>
          </a:p>
          <a:p/>
          <a:p>
            <a:r>
              <a:t>  Production behavior feeds the next engineering cycle: deploy, observe, learn, improve and commit again.</a:t>
            </a:r>
          </a:p>
          <a:p/>
          <a:p>
            <a:r>
              <a:t>- Final message</a:t>
            </a:r>
          </a:p>
          <a:p/>
          <a:p>
            <a:r>
              <a:t>  DevOps makes microservice delivery a repeatable, measurable engineering process.</a:t>
            </a:r>
          </a:p>
          <a:p/>
          <a:p>
            <a:r>
              <a:t>  Git controls change, CI validates it, and tests and security checks create quality gates.</a:t>
            </a:r>
          </a:p>
          <a:p/>
          <a:p>
            <a:r>
              <a:t>  Immutable artifacts give traceability, safe release strategies reduce risk, and observability closes the feedback loop.</a:t>
            </a:r>
          </a:p>
          <a:p/>
          <a:p>
            <a:r>
              <a:t>- What the diagram shows</a:t>
            </a:r>
          </a:p>
          <a:p/>
          <a:p>
            <a:r>
              <a:t>  Git, pull requests, CI/CD with tests and security, image, registry, Blue/Green or canary, OpenShift and observability feeding back.</a:t>
            </a:r>
          </a:p>
          <a:p/>
          <a:p>
            <a:r>
              <a:t>- Key point</a:t>
            </a:r>
          </a:p>
          <a:p/>
          <a:p>
            <a:r>
              <a:t>  The whole module in one picture: a repeatable, measurable delivery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behind most delivery failures.</a:t>
            </a:r>
          </a:p>
          <a:p/>
          <a:p>
            <a:r>
              <a:t>- Culture and CI</a:t>
            </a:r>
          </a:p>
          <a:p/>
          <a:p>
            <a:r>
              <a:t>  DevOps isn't a team you hire or a tool you buy, and CI isn't a server — it's the habit of integrating small changes often.</a:t>
            </a:r>
          </a:p>
          <a:p/>
          <a:p>
            <a:r>
              <a:t>- Artifacts and security</a:t>
            </a:r>
          </a:p>
          <a:p/>
          <a:p>
            <a:r>
              <a:t>  Rebuilding for production ships untested bytes.</a:t>
            </a:r>
          </a:p>
          <a:p/>
          <a:p>
            <a:r>
              <a:t>  Security checks belong in every run, not a final review.</a:t>
            </a:r>
          </a:p>
          <a:p/>
          <a:p>
            <a:r>
              <a:t>- Anti-patterns</a:t>
            </a:r>
          </a:p>
          <a:p/>
          <a:p>
            <a:r>
              <a:t>  Long branches, manual deploys, latest tags, secrets in YAML, skipped tests and no rollback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DevOps</a:t>
            </a:r>
          </a:p>
          <a:p/>
          <a:p>
            <a:r>
              <a:t>  It improves delivery through collaboration, automation, feedback and shared responsibility.</a:t>
            </a:r>
          </a:p>
          <a:p/>
          <a:p>
            <a:r>
              <a:t>- 2. Short-lived branches</a:t>
            </a:r>
          </a:p>
          <a:p/>
          <a:p>
            <a:r>
              <a:t>  They reduce merge conflicts and speed up review.</a:t>
            </a:r>
          </a:p>
          <a:p/>
          <a:p>
            <a:r>
              <a:t>- 3. Pull request</a:t>
            </a:r>
          </a:p>
          <a:p/>
          <a:p>
            <a:r>
              <a:t>  It proposes a change for review, automated checks and a controlled merge.</a:t>
            </a:r>
          </a:p>
          <a:p/>
          <a:p>
            <a:r>
              <a:t>- 4. Jenkinsfile</a:t>
            </a:r>
          </a:p>
          <a:p/>
          <a:p>
            <a:r>
              <a:t>  A Jenkins pipeline defined as code.</a:t>
            </a:r>
          </a:p>
          <a:p/>
          <a:p>
            <a:r>
              <a:t>- 5. CI</a:t>
            </a:r>
          </a:p>
          <a:p/>
          <a:p>
            <a:r>
              <a:t>  That code builds, tests pass, quality checks succeed and the artifact can be created.</a:t>
            </a:r>
          </a:p>
          <a:p/>
          <a:p>
            <a:r>
              <a:t>- 6. Delivery vs. deployment</a:t>
            </a:r>
          </a:p>
          <a:p/>
          <a:p>
            <a:r>
              <a:t>  Delivery prepares releasable changes with an approval; deployment releases them to production automatically.</a:t>
            </a:r>
          </a:p>
          <a:p/>
          <a:p>
            <a:r>
              <a:t>- 7. Tests before merge</a:t>
            </a:r>
          </a:p>
          <a:p/>
          <a:p>
            <a:r>
              <a:t>  They catch defects early and protect shared branches.</a:t>
            </a:r>
          </a:p>
          <a:p/>
          <a:p>
            <a:r>
              <a:t>- 8. Static analysis</a:t>
            </a:r>
          </a:p>
          <a:p/>
          <a:p>
            <a:r>
              <a:t>  Quality, maintainability, security and dependency issues, without running the app.</a:t>
            </a:r>
          </a:p>
          <a:p/>
          <a:p>
            <a:r>
              <a:t>- 9. Blue/Green</a:t>
            </a:r>
          </a:p>
          <a:p/>
          <a:p>
            <a:r>
              <a:t>  The previous environment stays available, so traffic can switch back.</a:t>
            </a:r>
          </a:p>
          <a:p/>
          <a:p>
            <a:r>
              <a:t>- 10. Canary</a:t>
            </a:r>
          </a:p>
          <a:p/>
          <a:p>
            <a:r>
              <a:t>  Only a small share of traffic reaches the new version first.</a:t>
            </a:r>
          </a:p>
          <a:p/>
          <a:p>
            <a:r>
              <a:t>- Practical scenario</a:t>
            </a:r>
          </a:p>
          <a:p/>
          <a:p>
            <a:r>
              <a:t>  Transaction Service calls a new fraud API: short-lived branch, unit and contract tests plus scans in CI, canary release, and only least-privilege pipeline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connected Git, pull requests, CI/CD pipelines, testing, image promotion, release strategies and pipeline security into one delivery loop.</a:t>
            </a:r>
          </a:p>
          <a:p/>
          <a:p>
            <a:r>
              <a:t>- Next module</a:t>
            </a:r>
          </a:p>
          <a:p/>
          <a:p>
            <a:r>
              <a:t>  Module 8 is containerization and Red Hat OpenShift: images, registries, Deployments, Services, Routes, probes and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"What we tested is what we deploy."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DevOps and CI/CD for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From source-code change to a secure, tested production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DevOps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Git 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Continuous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Continuous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GitHub and Jenkins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Automated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Blue/Green and Canary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Authentication and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Git workflows, CI/CD, testing, GitHub/Jenkins, deployment strategies and security.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34811" cy="334811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34811" cy="3348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92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163" y="1252728"/>
            <a:ext cx="4941277" cy="334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5860"/>
            <a:ext cx="5349240" cy="2422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the DevOps lifecycle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Apply Git workflows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CI, continuous delivery and deployment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Design a CI/CD pipeline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Understand GitHub Actions and Jenkins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Automate software testing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Build and promote immutable artifacts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Explain Blue/Green and Canary deployment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Understand authentication and authorization</a:t>
            </a:r>
          </a:p>
          <a:p>
            <a:pPr>
              <a:spcBef>
                <a:spcPts val="0"/>
              </a:spcBef>
              <a:spcAft>
                <a:spcPts val="323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Integrate security checks into CI/CD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243584"/>
            <a:ext cx="5148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FOUR AREAS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81928" y="1764792"/>
            <a:ext cx="329184" cy="329184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1728216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Source control &amp; collaboration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167128"/>
            <a:ext cx="91622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Git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5588" y="2368296"/>
            <a:ext cx="1280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81036" y="2167128"/>
            <a:ext cx="91622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Branch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24697" y="2368296"/>
            <a:ext cx="1280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480145" y="2167128"/>
            <a:ext cx="91622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Commit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23806" y="2368296"/>
            <a:ext cx="1280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79254" y="2167128"/>
            <a:ext cx="91622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PR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22915" y="2368296"/>
            <a:ext cx="1280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678363" y="2167128"/>
            <a:ext cx="916228" cy="402336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Merge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770632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81928" y="2843784"/>
            <a:ext cx="329184" cy="329184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807208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CI/CD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3246120"/>
            <a:ext cx="73304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Build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42404" y="3447288"/>
            <a:ext cx="1280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97852" y="3246120"/>
            <a:ext cx="73304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58328" y="3447288"/>
            <a:ext cx="1280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13776" y="3246120"/>
            <a:ext cx="73304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Scan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74252" y="3447288"/>
            <a:ext cx="1280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29700" y="3246120"/>
            <a:ext cx="73304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Package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90175" y="3447288"/>
            <a:ext cx="128017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45624" y="3246120"/>
            <a:ext cx="73304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Publish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706100" y="3447288"/>
            <a:ext cx="1280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861548" y="3246120"/>
            <a:ext cx="733044" cy="402336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Deploy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849624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81928" y="3922776"/>
            <a:ext cx="329184" cy="329184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3886200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Release strategies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1928" y="4325112"/>
            <a:ext cx="2610612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Blue/Green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83980" y="4325112"/>
            <a:ext cx="2610612" cy="402336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Canary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4928616"/>
            <a:ext cx="5532120" cy="96926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281928" y="5001768"/>
            <a:ext cx="329184" cy="329184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2552" y="4965192"/>
            <a:ext cx="4892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Nirmala UI"/>
              </a:rPr>
              <a:t>Security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1928" y="5404104"/>
            <a:ext cx="1259586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Authentication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2954" y="5404104"/>
            <a:ext cx="1259586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Authorization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83980" y="5404104"/>
            <a:ext cx="1259586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Secrets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35006" y="5404104"/>
            <a:ext cx="1259586" cy="402336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Scanning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Make delivery repeatable, automated, testable, secure and observable.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Continuous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Merging small changes often, with an automated build and tests on every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Continuous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Every change stays releasable; the production release is a deliberate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Continuous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Every change that passes the pipeline goes to production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Pull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proposed change that is reviewed and checked before it's merged.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Quality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pipeline check, such as tests or a scan, that must pass before moving 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Build once, promote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Build one image, then move that exact artifact through every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Blue/green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Two identical environments; traffic switches from old to new all at once.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Canary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Sending a small share of traffic to the new version before everyone gets 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Delivery /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 / Continuous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Common Vulnerabilities and Exposures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JSON Web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Multi-Factor Authentication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 Authorization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OIDC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OpenID Connect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Pull Request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Representational State Transfer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Static Application Security Testing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SBOM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Software Bill of Materials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Secure Hash Algorithm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Single Sign-On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768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YAML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324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YAML Ain't Markup Language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6 TO 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Our services are resilient and observable — now deliver every change safely.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MODULES 1–6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Well-bounded Spring Boot services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REST and event contracts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Service-owned data and Sagas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Resilience patterns and failure tests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Logs, metrics, traces and SLOs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Automate how every change is reviewed, tested, secured and released.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7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DevOps culture and the delivery lifecycle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Git workflows and pull-request gates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CI, continuous delivery and pipelines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GitHub Actions, Jenkins and testing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Build once, promote the same image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Blue/Green and canary releases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3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Security in the pipeline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Modules 1–6 built good services; Module 7 makes delivering them repeatable, automated and safe.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SOURCE CONTROL AND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Everything we deliver starts as a reviewed change in Git.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Source control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CI/CD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Release strategies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Services deploy independently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Tests prove resilience and fallbacks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Observability shows how releases behave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many teams change many services every day without breaking each other?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DevOps means for microservices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DevOps and delivery lifecycles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Git as the source of truth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Team workflows and branching models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design a branching workflow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Pull requests and quality gates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DEVOPS MEANS FOR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Collaboration, automation, ownership, rapid feedback and reliable releases.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4693" y="1316736"/>
            <a:ext cx="7357373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45" y="1389888"/>
            <a:ext cx="7211069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WHAT DEVOPS IS NOT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Hand code over the wall to operations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Buy a tool and call it DevOps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Release once a quarter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You build it, you run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team that owns Order Service also owns its pipeline, alerts and releases.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WHY IT MATTERS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Dozens of services deploying independently need automation.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DevOps is culture, practices and automation — essential when many services deploy independently.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DEVOPS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Plan → Code → Build → Test → Release → Deploy → Operate → Monitor → Feedback.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00864"/>
            <a:ext cx="7415783" cy="37305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4016"/>
            <a:ext cx="7269480" cy="35842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48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Left loop — deliver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4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Plan, code, build and test turn an idea into a validated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61336"/>
            <a:ext cx="3520440" cy="11348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162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Right loop —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7096"/>
            <a:ext cx="3246120" cy="714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Release, deploy, operate and monitor keep it healthy in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82422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FEEDBACK THAT DRIVES PLANNING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17169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Error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0676" y="417169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61060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Incidents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0676" y="461060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User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5104384"/>
            <a:ext cx="3520440" cy="72948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5104384"/>
            <a:ext cx="3154680" cy="72948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 LOOP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not a one-way pipeline.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DevOps is a loop, not a one-way pipeline.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MICROSERVICES DELIVERY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Code change → Git → CI → container → registry → deployment →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509963"/>
            <a:ext cx="11210544" cy="19726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583115"/>
            <a:ext cx="11064240" cy="18263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68496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WHAT CI RUNS FOR ORDER SERVICE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4343400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Compile and unit test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654296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26864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Integration and contract tests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59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Security scans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276088"/>
            <a:ext cx="256032" cy="25603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48655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Build and tag the 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200" y="3968496"/>
            <a:ext cx="3627120" cy="18653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360" y="402335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After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360" y="4334256"/>
            <a:ext cx="3352800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Readiness, smoke tests and dashboards confirm the release is healthy.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3968496"/>
            <a:ext cx="3627120" cy="186537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3968496"/>
            <a:ext cx="3261360" cy="1865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PER SERVICE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Each service has its own pipeline and release cadence.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Order Service change follows the same automated path from commit to feedback.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GIT AS THE SOURCE OF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Source code, configuration, pipeline definitions, infrastructure and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6648" y="1316736"/>
            <a:ext cx="6873463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0" y="1389888"/>
            <a:ext cx="6727159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repository, whole recipe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58216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order-service/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├── src/main/java/…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├── src/test/java/…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├── Containerfile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├── .github/workflows/ci.yml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├── Jenkinsfile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└── deploy/openshift/*.yaml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333781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WHAT YOU GET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371271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68528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Review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402361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99618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Audit history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33451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30707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Rollback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64540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61797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Reproducible builds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5056886"/>
            <a:ext cx="3520440" cy="776985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5056886"/>
            <a:ext cx="3154680" cy="7769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NEVER IN GIT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passwords, tokens or keys.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Git holds the code, tests, pipeline and deployment definitions — the whole delivery recipe.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GIT WORKFLOW FOR A MICROSERVICE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Branch → commit → push → pull request → review → merge.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447430"/>
            <a:ext cx="11210544" cy="238833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520582"/>
            <a:ext cx="11064240" cy="22420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59072"/>
            <a:ext cx="3627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An example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88256"/>
            <a:ext cx="3627120" cy="124561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git switch -c feature/payment-limit-rule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git commit -m "feat: reject orders above limit"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git push -u origin feature/payment-limit-rule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# open a PR against 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4259072"/>
            <a:ext cx="3627120" cy="1574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360" y="4313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Branch 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360" y="4624832"/>
            <a:ext cx="3352800" cy="1154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feature/…, bugfix/…, hotfix/… — link each change to a work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4259072"/>
            <a:ext cx="3627120" cy="15748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0080" y="4259072"/>
            <a:ext cx="3261360" cy="157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Main is always releasable.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Branch, commit, push, open a PR, pass checks and review — then merge.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TRUNK-BASED DEVELOPMENT VS. FEATURE BRANCHING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Two common Git collaboration models and their trade-offs.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03897"/>
            <a:ext cx="7415783" cy="352452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7049"/>
            <a:ext cx="7269480" cy="33782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690C"/>
                </a:solidFill>
                <a:latin typeface="Nirmala UI"/>
              </a:rPr>
              <a:t>Feature branching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Isolated work, but long-lived branches drift and merges get painful.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Trunk-based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Small changes merged at least daily; feature flags hide unfinished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REAL LESSON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Integrate small batches often, whichever model you pick.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Choose a workflow that supports frequent, safe integration — not large unvalidated batches.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DESIGN A BRANCHING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Agree how the Order Service team moves changes to production.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1628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Six developers own Order Service. They release several times a week and must be able to ship an urgent fix within an hour.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Today some branches live for three weeks and merges break 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trunk-based or short-lived feature branches — and justify it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branch types and naming rules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what must pass before a PR can merge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4245864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4191000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Describe the path for an urgent production fix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Short-lived branches merged within 1–2 days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feature/, bugfix/, hotfix/ with a work-item link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Build, tests, scan and one approval to merge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Hotfix branch from main, same gates, fast review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Feature flags for unfinished 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good workflow keeps branches short, gates every merge and still allows a fast, safe hotfix.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PULL REQUESTS AND AUTOMATED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Reviews, tests, linting, security checks and merge controls.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6857" y="1316736"/>
            <a:ext cx="7247804" cy="23591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009" y="1389888"/>
            <a:ext cx="7101500" cy="2212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68496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BRANCH PROTECTION ON MAIN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434340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At least one approval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65429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26864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All required checks green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59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CRITICAL vulnerabilities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27608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48655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Branch up to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200" y="3968496"/>
            <a:ext cx="3627120" cy="18653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4360" y="402335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When a check fails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360" y="4334256"/>
            <a:ext cx="3352800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merge button stays disabled; the author fixes and pushes again.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3968496"/>
            <a:ext cx="3627120" cy="186537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3968496"/>
            <a:ext cx="3261360" cy="1865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FAST FEEDBACK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Keep PR checks under about ten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Pull requests gate quality before code reaches main — fast feedback is cheap feedback.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CI/CD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Turn every merge into a tested, versioned, deployable artifact.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Source control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CI/CD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Release strategies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DevOps is a feedback loop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Git holds the whole delivery recipe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Pull requests gate every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should happen automatically between a merge and a running release?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Continuous integration, delivery and deployment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Pipeline architecture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GitHub Actions and Jenkins — in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Automated testing across the pipeline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 3.3: security and resilience tests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Build once, promote — and Exercise 4.3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IS CONTINUOUS INTEGRATION?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Frequent integration with automated build and test feedback.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34329"/>
            <a:ext cx="7415783" cy="306366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7481"/>
            <a:ext cx="7269480" cy="29173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classic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Weeks of separate work, then an “integration phase” full of surprises.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72186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THE CI HABIT</a:t>
            </a:r>
          </a:p>
        </p:txBody>
      </p:sp>
      <p:sp>
        <p:nvSpPr>
          <p:cNvPr id="10" name="Oval 9"/>
          <p:cNvSpPr/>
          <p:nvPr/>
        </p:nvSpPr>
        <p:spPr>
          <a:xfrm>
            <a:off x="8183880" y="309676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6933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Merge small changes daily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34076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38023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push builds and tests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71856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69112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Fix a broken build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 PRACTICE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not just “we have Jenkins.”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CI is a practice of frequent, validated integration — not just “we have Jenkins.”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WHAT IS CONTINUOUS DELIVERY AND DEPLOYMENT?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CI vs. continuous delivery vs. continuous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34332"/>
            <a:ext cx="7415783" cy="366365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7484"/>
            <a:ext cx="7269480" cy="35173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Continuous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change is releasable; a person approves the production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Continuous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change that passes all gates goes to production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414528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THREE QUESTIONS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52018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49275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Can we release any time?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83108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80364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Who approves production?</a:t>
            </a:r>
          </a:p>
        </p:txBody>
      </p:sp>
      <p:sp>
        <p:nvSpPr>
          <p:cNvPr id="17" name="Oval 16"/>
          <p:cNvSpPr/>
          <p:nvPr/>
        </p:nvSpPr>
        <p:spPr>
          <a:xfrm>
            <a:off x="8183880" y="514197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11454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What evidence do we need?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Delivery keeps software releasable; deployment releases validated changes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CI/CD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Commit → build → test → scan → package → publish → deploy.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410702"/>
            <a:ext cx="11210544" cy="217121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83854"/>
            <a:ext cx="11064240" cy="20249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68496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EVIDENCE EACH RUN LEAVES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15968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Test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07336" y="4315968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Scan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7336" y="4754880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SBOM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Image digest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7336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Deploy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3968496"/>
            <a:ext cx="3627120" cy="18653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02335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Stop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334256"/>
            <a:ext cx="3352800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Failed tests, CRITICAL vulnerabilities or failed smoke checks end the 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3968496"/>
            <a:ext cx="3627120" cy="186537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0080" y="3968496"/>
            <a:ext cx="3261360" cy="1865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BACKBONE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Every other slide in this module plugs into this.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This pipeline is the backbone for the rest of Module 7.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GITHUB ACTIONS FOR MICROSERVICES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Workflow triggers, jobs, runners and build/test/package stages.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817209"/>
            <a:ext cx="11210544" cy="2065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90361"/>
            <a:ext cx="11064240" cy="19190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YAML file in .github/workflows, versioned with the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pull_request, push, tags or a manual workflow_dispatch.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Runners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GitHub-hosted or self-hosted inside the bank's network.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675632"/>
            <a:ext cx="23088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KEY IDEA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pipeline lives next to the code it builds.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Git event triggers automatic validation — defined right next to the code.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GITHUB ACTIONS WORKFLOW FOR ORDER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Build and test every PR; on main, build, push and tag the image with the commit.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7168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.github/workflows/ci.yml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7498079" cy="387705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name: order-service-ci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on: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pull_request: { branches: [ main ]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push: { branches: [ main ]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jobs: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build-test: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runs-on: ubuntu-latest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steps: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uses: actions/checkout@v4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uses: actions/setup-java@v4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with: { distribution: temurin, java-version: 21, cache: maven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run: ./mvnw -B verify      # unit + integration tests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image: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needs: build-test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if: github.ref == 'refs/heads/main'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runs-on: ubuntu-latest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permissions: { contents: read, packages: write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steps: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uses: actions/checkout@v4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uses: docker/login-action@v3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with: { registry: ghcr.io, username: "${{ github.actor }}",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      password: "${{ secrets.GITHUB_TOKEN }}"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run: docker build -t ghcr.io/example/order-service:${{ github.sha }} 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run: docker push ghcr.io/example/order-service:${{ github.sha 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98448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353312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Two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664208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PRs only build and test; main also publishes an 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519172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574036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Traceable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884932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commit SHA links the image back to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39896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794759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Least privilege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105656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job may read code and write packages — nothing more.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960620"/>
            <a:ext cx="347472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960620"/>
            <a:ext cx="310896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SECRETS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From the secrets store — never typed into YAML.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the pipeline in the repository: test every PR, and publish a traceable image only from main.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JENKINS PIPELINE FOR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Controller and agents, Jenkinsfile, stages, artifacts and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641849"/>
            <a:ext cx="11210544" cy="241606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715001"/>
            <a:ext cx="11064240" cy="22697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Schedules pipelines, stores configuration and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Run the build steps, often inside the bank's network.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Jenkinsfile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Pipeline as code, reviewed in the same PR as the 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675632"/>
            <a:ext cx="23088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IN THE LABS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Jenkins is awareness only — nothing to install.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Jenkinsfile keeps delivery logic versioned and reviewed with the application.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DECLARATIVE JENKINSFILE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Stages, test reports, stored credentials and a production approval.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7168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Jenkinsfile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7498079" cy="417423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pipeline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agent { label 'maven-jdk21'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environment { IMAGE = "registry.bank.local/orders/order-service:${GIT_COMMIT}"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stages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stage('Build &amp; test')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steps { sh './mvnw -B verify'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post { always { junit 'target/surefire-reports/*.xml' }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stage('Image')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when { branch 'main'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steps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withCredentials([string(credentialsId: 'registry-token', variable: 'TOKEN')])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sh 'echo "$TOKEN" | podman login registry.bank.local -u ci --password-stdin'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sh 'podman build -t "$IMAGE" . &amp;&amp; podman push "$IMAGE"'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stage('Promote to prod')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when { branch 'main'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steps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input message: 'Promote this image to production?'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sh './deploy.sh prod "$IMAGE"'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98448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353312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Test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664208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junit publishes results even when tests fail.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519172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574036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884932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withCredentials injects the token and masks it in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39896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794759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105656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input pauses for a human — continuous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960620"/>
            <a:ext cx="347472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960620"/>
            <a:ext cx="310896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SAME IMAGE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image built once is the one promoted.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Jenkinsfile expresses the same pipeline — with stored credentials and an explicit production approval.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GITHUB AND JENKINS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GitHub PR triggers a Jenkins pipeline, which reports status 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8080" y="1316736"/>
            <a:ext cx="10465359" cy="2880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32" y="1389888"/>
            <a:ext cx="10319055" cy="27340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Repository, pull requests, reviews and branch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Jenkins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Runs the pipeline on internal agents with internal credentials.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webhook starts the build; a commit status marks the PR green or 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489704"/>
            <a:ext cx="2674620" cy="134416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489704"/>
            <a:ext cx="2308860" cy="1344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RESULT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Reviewers see pipeline results right in the PR.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GitHub for collaboration, Jenkins for execution — they work together.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AUTOMATED 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Unit, integration, contract, API, end-to-end, performance and security.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377800"/>
            <a:ext cx="7415783" cy="437671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50952"/>
            <a:ext cx="7269480" cy="42304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EACH LAYER CATCHES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Unit: logic bugs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Integration: wiring bugs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Contract: compatibility bugs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Smoke: deployment bugs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Security: dangerous exposure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AVOID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one giant, slow, flaky end-to-end suite.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Don't rely on one giant end-to-end suite — layer your tests.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TESTING IN THE 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Map each test type to the right pipeline stage.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33515"/>
            <a:ext cx="7415783" cy="286528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06667"/>
            <a:ext cx="7269480" cy="27189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 every 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Unit, slice and contract tests —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After 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Integration with Testcontainers, image and security scans.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After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Smoke, API and performance checks before promotion.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PRINCIPLE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Fail early and cheaply; spend minutes, not hours.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Run cheap tests first and slower tests later — balance speed, coverage and confidence.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TESTS THE PIPELINE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security slice test and a real-database integration test — every build.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AccountSecurityTest.java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@WebMvcTest(AccountController.class)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@Import(SecurityConfig.class)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class AccountSecurityTest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@Autowired MockMvc mvc;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@MockitoBean AccountService accounts;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@Test void noTokenIs401() throws Exception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mvc.perform(get("/api/v1/accounts/ACC-1"))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.andExpect(status().isUnauthorized());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@Test void wrongScopeIs403() throws Exception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mvc.perform(get("/api/v1/accounts/ACC-1")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.with(jwt().authorities(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    new SimpleGrantedAuthority("SCOPE_transactions.read"))))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.andExpect(status().isForbidden());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AccountPersistenceTest.java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91083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@DataJpaTest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@Testcontainers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@AutoConfigureTestDatabase(replace = NONE)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class AccountPersistenceTest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@Container @ServiceConnection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static PostgreSQLContainer&lt;?&gt; db =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new PostgreSQLContainer&lt;&gt;("postgres:16");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@Autowired AccountRepository repo;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@Test void savesAndReadsAccount()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repo.save(Account.pending("CUST-0001"));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assertThat(repo.findAll()).hasSize(1);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Security slice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Proves 401 without a token and 403 with the wrong scope.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Testcontainers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real Postgres 16 — Flyway migrations run for real.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67072"/>
            <a:ext cx="3627120" cy="10668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21935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32832"/>
            <a:ext cx="3352800" cy="646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Runners need Docker; both tests gate the merge.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Automate the tests that protect security rules and real persistence — and let them block the merge.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3.3 — ADD SECURITY AND RESILIENCE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3 checkpoint C: unit tests plus one integration test.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6228" y="1298448"/>
            <a:ext cx="5308092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labs/day-03/exercises/exercise-3.3-security-resilience-tests.md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415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628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3 secured and hardened the banking Account and Transaction services. Now the pipeline must prove those rules on every build.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Scope: Account, Transaction and Risk Assessment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415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Unit-test 401 and 403 on a protected Account or Transaction endpoint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Unit-test circuit open → 503 fallback — no fake ACTIVE account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AccountPersistenceTest — Testcontainers Postgres 16; Docker must run for mvn test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46278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40791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Testcontainers is required for that integration test, not optional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415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short test list Lab 3 can tick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Security rules covered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3655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fallback rule covered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78612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real-database integration 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short test list that proves security and the fallback rule on every build.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BUILD ONCE, PROMOTE THE SAME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immutable artifact promoted through DEV → TEST → STAGE → PROD.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27805"/>
            <a:ext cx="7415783" cy="267670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00957"/>
            <a:ext cx="7269480" cy="25304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THE DANGEROUS MODEL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Rebuild per environment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Different dependencies each time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“Worked in test” means nothing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70662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6148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changes between environments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7238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Only ConfigMaps, Secrets and replica counts — never the image.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1300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300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PROMOTE BY DIGEST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sha256:… guarantees the exact same bytes.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What we tested is what we deploy — same artifact, different external configuration.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CONTAINER IMAGE AND REGISTRY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Source → build image → tag → scan → registry →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791692"/>
            <a:ext cx="11210544" cy="211637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64844"/>
            <a:ext cx="11064240" cy="197007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57200" y="47030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675632"/>
            <a:ext cx="23454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 traceable 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04816"/>
            <a:ext cx="2674620" cy="829055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registry.bank.local/orders/order-service:1.4.0-a13f92c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4675632"/>
            <a:ext cx="26746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3314700" y="5050536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0460" y="5023104"/>
            <a:ext cx="230886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latest alone — which build is this?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75632"/>
            <a:ext cx="26746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730496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Traceability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041392"/>
            <a:ext cx="24003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Tag → pipeline run → commit → pull request → work item.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675632"/>
            <a:ext cx="26746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675632"/>
            <a:ext cx="23088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8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goes deeper into images and registries.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Versioned, scanned images in a registry make every production release traceable.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PROMOTE THE SAME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Tag once in CI, then move the same digest from environment to environment.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CI — build and record the digest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471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VERSION=1.4.0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SHA=$(git rev-parse --short HEAD)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IMAGE=registry.bank.local/orders/order-service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podman build -t $IMAGE:$VERSION-$SHA .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podman push --digestfile digest.txt $IMAGE:$VERSION-$SHA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# digest.txt → sha256:9f2c…  (store with the run)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Promotion — no rebuild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4718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DIGEST=$(cat digest.txt)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# TEST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oc -n orders-test set image deployment/order-service \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order-service=$IMAGE@$DIGEST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oc -n orders-test rollout status deployment/order-service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# PROD — after approval, the very same digest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oc -n orders-prod set image deployment/order-service \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order-service=$IMAGE@$DIGEST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Version + SHA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Readable for humans, traceable to the commit.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Digest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tag can be moved; a digest cannot.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0342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55828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Config outside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86918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namespace has its own ConfigMap and Secret.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Build and tag once, then promote the exact digest — never rebuild for production.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4.3 — TRACE A PIPELINE STAGE OWNERSHIP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4 checkpoint C: who owns scan, SBOM, sign and promote.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17536" y="1298448"/>
            <a:ext cx="398678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labs/day-04/lab4/starter/pipeline/OWNERSHIP.md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4 walks a prepared pipeline for the Account and Transaction services: checkout, compile, test, scan, image, SBOM, sign, deploy, smoke and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Open OWNERSHIP.md and fill who owns scan, SBOM, sign and promote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CRITICAL CVE fails the gate; the SBOM is the ingredients list; unsigned images must not run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86435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80949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Participants execute and verify — they don't manage signing keys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46278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407916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GitOps is conceptual — don't install Jenkins or GitHub Actions runners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6321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completed ownership map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Each stage's failure meaning understood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Compare with the solution OWNERSHIP.md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Fill it before run-pipeline-locally.ps1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pipeline stage has an owner and a clear meaning when it fails.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RELEASE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Deploying is not the same as exposing every user to the change.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Source control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CI/CD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Release strategies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CI proves each change; CD keeps it releasable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Tests run at the right pipeline stage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image is promoted everywhere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release a new version without risking every customer at once?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Blue/Green deployment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Canary deployment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Choosing between them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Traffic switching on OpenShift — in code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choose a release strategy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BLUE/GREEN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Two production environments — traffic switched between Blue and Green.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88677"/>
            <a:ext cx="7415783" cy="31549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1829"/>
            <a:ext cx="7269480" cy="30086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ADVANTAGES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Instant cutover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Instant rollback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Test in production before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70662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TRADE-OFFS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0815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05409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Double capacity during release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6499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Schema must suit both versions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80390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80390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DATA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Use expand-and-contract migrations.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Blue/Green switches all traffic at once — and can switch it back quickly.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CANARY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Gradually shift a small percentage of traffic to the new version.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0604" y="1316736"/>
            <a:ext cx="10960310" cy="279806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56" y="1389888"/>
            <a:ext cx="10814006" cy="26517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407407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WATCH AT EACH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54879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Error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07336" y="4754879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p95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Failed 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7336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Saturation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4407407"/>
            <a:ext cx="3627120" cy="142646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4462271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Automatic 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60" y="4773168"/>
            <a:ext cx="335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If a signal crosses its threshold, return all traffic to v1.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4407407"/>
            <a:ext cx="3627120" cy="142646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4407407"/>
            <a:ext cx="3261360" cy="1426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NEEDS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good observability — Module 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Canary exposes a new release gradually — and depends on good observability.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BLUE/GREEN VS. CANARY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Risk, rollback, infrastructure cost, traffic control and use cases.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00258"/>
            <a:ext cx="7415783" cy="413180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3410"/>
            <a:ext cx="7269480" cy="39854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Choose Blue/Green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Fast, all-or-nothing releases with an instant rollback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65654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2051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Choose canary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31414"/>
            <a:ext cx="3246120" cy="718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Risky changes where real-traffic evidence should drive exposure.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832860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887723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Consider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98620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Infrastructure cost, data compatibility and how good your metrics 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5100066"/>
            <a:ext cx="3520440" cy="73380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100066"/>
            <a:ext cx="3154680" cy="7338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BOTH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need automated health checks.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Blue/Green changes where all traffic goes; Canary changes how much goes to the new release.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SWITCHING TRAFFIC WITH OPENSHIFT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same Route can cut over all traffic — or split it by weight.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Blue/Green — switch the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apiVersion: route.openshift.io/v1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kind: Route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metadata: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name: order-service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spec: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to: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kind: Service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name: order-service-green   # was -blue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tls: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termination: edge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# roll back: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# oc patch route order-service \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#   -p '{"spec":{"to":{"name":"order-service-blue"}}}'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Canary — weighted backends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948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apiVersion: route.openshift.io/v1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kind: Route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metadata: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name: order-service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spec: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to: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kind: Service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name: order-service-v1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weight: 95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alternateBackends: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- kind: Service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name: order-service-v2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weight: 5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tls: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termination: 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Blue/Green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Change one field; change it back to roll 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Canary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Raise v2's weight step by step: 5, 20, 50, 100.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751070"/>
            <a:ext cx="3627120" cy="108280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8059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Automate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116830"/>
            <a:ext cx="3352800" cy="662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Tools such as Argo Rollouts drive the steps from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Routes give both strategies: repoint the whole backend, or shift traffic by weight.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CHOOSE A RELEASE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Pick Blue/Green, canary or a rolling update for each release.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Four releases are planned this month: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9712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A  Payment Service: new fraud-check call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B  Order Service: fix a typo in an error message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C  Inventory Service: rename a DB column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D  Transfer API: new routing to a partner bank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a strategy for each release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signals that would stop the rollout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Describe the rollback — including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A: canary — watch failed payments and latency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B: rolling update — low risk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C: expand-and-contract first, then Blue/Green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D: canary to a small share, with approval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Rollback: repoint the Route; schema stays compatible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Match the release strategy to the risk — and plan the data rollback before the traffic rollback.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SECURITY IN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Whoever controls the pipeline can change production.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944825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6851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Source control</a:t>
            </a:r>
          </a:p>
        </p:txBody>
      </p:sp>
      <p:sp>
        <p:nvSpPr>
          <p:cNvPr id="6" name="Chevron 5"/>
          <p:cNvSpPr/>
          <p:nvPr/>
        </p:nvSpPr>
        <p:spPr>
          <a:xfrm>
            <a:off x="3224631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8601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CI/CD</a:t>
            </a:r>
          </a:p>
        </p:txBody>
      </p:sp>
      <p:sp>
        <p:nvSpPr>
          <p:cNvPr id="8" name="Chevron 7"/>
          <p:cNvSpPr/>
          <p:nvPr/>
        </p:nvSpPr>
        <p:spPr>
          <a:xfrm>
            <a:off x="5992063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032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Release strategies</a:t>
            </a:r>
          </a:p>
        </p:txBody>
      </p:sp>
      <p:sp>
        <p:nvSpPr>
          <p:cNvPr id="10" name="Chevron 9"/>
          <p:cNvSpPr/>
          <p:nvPr/>
        </p:nvSpPr>
        <p:spPr>
          <a:xfrm>
            <a:off x="8759494" y="1298448"/>
            <a:ext cx="2944825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3464" y="1298448"/>
            <a:ext cx="25626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Blue/Green cuts over and back fast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Canary grows exposure on healthy signals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Routes switch or split traffic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make sure only trusted, secure changes reach production?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Authentication and authorization basics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DevSecOps scanning and policy gates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Securing a workflow — in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find the pipeline security problems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complete delivery 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AUTHENTICATION AND SECURITY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Identity, authentication, authorization, tokens, secrets and least privilege.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603194"/>
            <a:ext cx="11210544" cy="23074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676346"/>
            <a:ext cx="11064240" cy="216113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For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SSO and MFA for Git, CI and cluster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For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Short-lived tokens with only the permissions each job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489704"/>
            <a:ext cx="26746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544568"/>
            <a:ext cx="24003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For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855464"/>
            <a:ext cx="24003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OAuth2 tokens or workload identity — not network trust.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700" y="4489704"/>
            <a:ext cx="2674620" cy="134416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2580" y="4489704"/>
            <a:ext cx="2308860" cy="1344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12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covers OAuth2, OIDC and JWT in depth.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Authentication proves who you are; authorization decides what you may 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DEVSECOPS IN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SAST, dependency scanning, secrets scanning, image scanning and policy gates.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01485" y="1316736"/>
            <a:ext cx="7358549" cy="23591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637" y="1389888"/>
            <a:ext cx="7212245" cy="2212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68496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TYPICAL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15968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Gitleaks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07336" y="4315968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SonarQube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Dependency-Check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7336" y="4754880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Trivy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Syft (SBOM)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7336" y="5193792"/>
            <a:ext cx="177698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Cosign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3968496"/>
            <a:ext cx="3627120" cy="18653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02335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Policy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334256"/>
            <a:ext cx="3352800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CRITICAL CVEs, an SBOM attached and a valid signature — or no deploy.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3968496"/>
            <a:ext cx="3627120" cy="186537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0080" y="3968496"/>
            <a:ext cx="3261360" cy="1865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SHIFT LEFT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leaked secret found in the PR is cheap to fix.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Security becomes part of the normal engineering and delivery workflow.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SECURITY SCANS IN A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Secrets, dependencies and the image are scanned — and CRITICAL findings stop the run.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7168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.github/workflows/security.yml (excerpt)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7498079" cy="412470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jobs: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scan: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runs-on: ubuntu-latest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permissions: { contents: read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steps: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- uses: actions/checkout@v4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with: { fetch-depth: 0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- name: Secret scan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uses: gitleaks/gitleaks-action@v2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- name: Dependency and image scan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uses: aquasecurity/trivy-action@0.28.0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with: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image-ref: registry.bank.local/orders/order-service:${{ github.sha }}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severity: CRITICAL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exit-code: '1'          # fail the job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- name: SBOM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run: syft registry.bank.local/orders/order-service:${{ github.sha }} \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 -o spdx-json &gt; sbom.spdx.json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98448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353312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Secret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664208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Blocks the PR if a key or password was committed.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519172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574036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884932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exit-code 1 fails the job on any CRITICAL finding.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39896"/>
            <a:ext cx="34747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794759"/>
            <a:ext cx="3200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SBOM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105656"/>
            <a:ext cx="32004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ingredients list you need when a new CVE 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960620"/>
            <a:ext cx="347472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960620"/>
            <a:ext cx="310896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PIN VERSIONS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Pin actions to a version or commit.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Scan secrets, dependencies and images in every run — and let CRITICAL findings block the release.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FIND THE PIPELINE SECURITY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Review a pipeline change before it merges.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teammate proposes this deploy job: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9618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deploy: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runs-on: ubuntu-latest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permissions: write-all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env: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DB_PASSWORD: SuperSecret123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steps: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- uses: some-user/deploy-action@main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- run: docker build -t order:latest .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- run: echo $DB_PASSWORD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- run: ./deploy.sh prod order:latest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at least five problems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Explain the risk of each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Rewrite the job safely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write-all → least-privilege permissions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 in YAML → secrets store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Unpinned third-party action → pin to a commit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latest, rebuilt → promote the scanned digest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Echoing a secret; no scan or approval gate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Treat pipeline code like production code: least privilege, no secrets, pinned dependencies and gates.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MICROSERVICES DEVOPS DELIVERY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Git → PR → CI/CD → tests and security → registry → deployment strategy → observability.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40856"/>
            <a:ext cx="7415783" cy="405060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4008"/>
            <a:ext cx="7269480" cy="39043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PART OF THE MODULE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Git and pull requests gate changes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CI tests and scans every build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signed image is promoted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Blue/Green or canary on OpenShift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Logs, metrics and traces feed 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What we tested is what we deploy.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DevOps turns microservice delivery into a repeatable, measurable feedback loop.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DEVOPS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make delivery slow, fragile or unsafe.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DevOps is a tool or a team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It's shared ownership, practices and 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CI means we have a build server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CI means integrating small changes daily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More tests always mean more safety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Fast, reliable layers beat one slow suite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Rebuild the image for production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Promote the exact tested digest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Security reviews happen before go-live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Security runs in every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Long-lived feature branches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Manual, undocumented deployments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Deploying latest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Secrets in pipeline YAML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Skipping tests to meet a deadline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rollback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Pipeline = evidence. Main = always releasable.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Good delivery is small changes, automated evidence and a rehearsed rollback — every time.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the purpose of DevOps?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 short-lived feature branches useful?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pull request for?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Jenkinsfile?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a CI pipeline validate?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Continuous delivery vs. continuous deployment?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run automated tests before merge?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static code analysis detect?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does Blue/Green support rollback?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does canary deployment reduce risk?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7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a reviewed commit to a safe, observable production release.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Run a Git workflow with pull-request quality gates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CI, continuous delivery and continuous deployment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Read a GitHub Actions workflow and a Jenkinsfile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Build once and promote the same image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Blue/Green or canary and gate on security scans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MODULE 8 — CONTAINERIZATION WITH OPENSHIFT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exactly is inside a container image?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does OpenShift run, expose and scale a service?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probes, config and rollouts work on the platform?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Lab 3 services — Lab 4 containerizes and deploys them.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8 looks inside the images this pipeline builds — and the platform that runs them.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