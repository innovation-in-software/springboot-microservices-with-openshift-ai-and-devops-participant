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3"/>
  </p:notesMasterIdLst>
  <p:sldIdLst>
    <p:sldId id="343" r:id="rId83"/>
    <p:sldId id="344" r:id="rId84"/>
    <p:sldId id="345" r:id="rId85"/>
    <p:sldId id="365" r:id="rId86"/>
    <p:sldId id="346" r:id="rId87"/>
    <p:sldId id="347" r:id="rId88"/>
    <p:sldId id="348" r:id="rId89"/>
    <p:sldId id="349" r:id="rId90"/>
    <p:sldId id="351" r:id="rId91"/>
    <p:sldId id="353" r:id="rId92"/>
    <p:sldId id="354" r:id="rId93"/>
    <p:sldId id="356" r:id="rId94"/>
    <p:sldId id="357" r:id="rId95"/>
    <p:sldId id="359" r:id="rId96"/>
    <p:sldId id="360" r:id="rId97"/>
    <p:sldId id="361" r:id="rId98"/>
    <p:sldId id="362" r:id="rId99"/>
    <p:sldId id="363" r:id="rId100"/>
    <p:sldId id="364" r:id="rId101"/>
    <p:sldId id="366" r:id="rId102"/>
    <p:sldId id="367" r:id="rId103"/>
    <p:sldId id="350" r:id="rId104"/>
    <p:sldId id="352" r:id="rId105"/>
    <p:sldId id="368" r:id="rId106"/>
    <p:sldId id="369" r:id="rId107"/>
    <p:sldId id="370" r:id="rId108"/>
    <p:sldId id="371" r:id="rId109"/>
    <p:sldId id="372" r:id="rId110"/>
    <p:sldId id="358" r:id="rId111"/>
    <p:sldId id="373" r:id="rId112"/>
    <p:sldId id="374" r:id="rId113"/>
    <p:sldId id="375" r:id="rId114"/>
    <p:sldId id="376" r:id="rId115"/>
    <p:sldId id="377" r:id="rId116"/>
    <p:sldId id="378" r:id="rId117"/>
    <p:sldId id="379" r:id="rId118"/>
    <p:sldId id="380" r:id="rId119"/>
    <p:sldId id="381" r:id="rId120"/>
    <p:sldId id="382" r:id="rId121"/>
    <p:sldId id="383" r:id="rId122"/>
    <p:sldId id="384" r:id="rId1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83" Type="http://schemas.openxmlformats.org/officeDocument/2006/relationships/notesMaster" Target="notesMasters/notesMaster1.xml"/><Relationship Id="rId184" Type="http://schemas.openxmlformats.org/officeDocument/2006/relationships/presProps" Target="presProps.xml"/><Relationship Id="rId185" Type="http://schemas.openxmlformats.org/officeDocument/2006/relationships/viewProps" Target="viewProps.xml"/><Relationship Id="rId186" Type="http://schemas.openxmlformats.org/officeDocument/2006/relationships/theme" Target="theme/theme1.xml"/><Relationship Id="rId1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198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Linking back to Module 1</a:t>
            </a:r>
          </a:p>
          <a:p>
            <a:endParaRPr/>
          </a:p>
          <a:p>
            <a:r>
              <a:t>  Module 1 ended with participants choosing Account Service as the first extraction.</a:t>
            </a:r>
          </a:p>
          <a:p>
            <a:endParaRPr/>
          </a:p>
          <a:p>
            <a:r>
              <a:t>  They also reasoned about boundaries and coupling.</a:t>
            </a:r>
          </a:p>
          <a:p>
            <a:endParaRPr/>
          </a:p>
          <a:p>
            <a:r>
              <a:t>  Module 2 answers the next question.</a:t>
            </a:r>
          </a:p>
          <a:p>
            <a:endParaRPr/>
          </a:p>
          <a:p>
            <a:r>
              <a:t>  Once a boundary is drawn, what does the service expose across it?</a:t>
            </a:r>
          </a:p>
          <a:p>
            <a:endParaRPr/>
          </a:p>
          <a:p>
            <a:r>
              <a:t>  Independent deployment only works when contracts are stable and backward-compatible.</a:t>
            </a:r>
          </a:p>
          <a:p>
            <a:endParaRPr/>
          </a:p>
          <a:p>
            <a:r>
              <a:t>  So API design is where the Module 1 benefits are either protected or lost.</a:t>
            </a:r>
          </a:p>
          <a:p>
            <a:endParaRPr/>
          </a:p>
          <a:p>
            <a:r>
              <a:t>  A badly designed API recreates a distributed monolith, meaning services that must still change and release together.</a:t>
            </a:r>
          </a:p>
          <a:p>
            <a:endParaRPr/>
          </a:p>
          <a:p>
            <a:r>
              <a:t>- What this module covers</a:t>
            </a:r>
          </a:p>
          <a:p>
            <a:endParaRPr/>
          </a:p>
          <a:p>
            <a:r>
              <a:t>  Participants learn to model resources and clean URIs.</a:t>
            </a:r>
          </a:p>
          <a:p>
            <a:endParaRPr/>
          </a:p>
          <a:p>
            <a:r>
              <a:t>  They use HTTP methods and status codes correctly.</a:t>
            </a:r>
          </a:p>
          <a:p>
            <a:endParaRPr/>
          </a:p>
          <a:p>
            <a:r>
              <a:t>  They design DTOs, or data transfer objects, so internal entities do not leak.</a:t>
            </a:r>
          </a:p>
          <a:p>
            <a:endParaRPr/>
          </a:p>
          <a:p>
            <a:r>
              <a:t>  They apply loose coupling, high cohesion, and bounded contexts.</a:t>
            </a:r>
          </a:p>
          <a:p>
            <a:endParaRPr/>
          </a:p>
          <a:p>
            <a:r>
              <a:t>  They compare REST with messaging.</a:t>
            </a:r>
          </a:p>
          <a:p>
            <a:endParaRPr/>
          </a:p>
          <a:p>
            <a:r>
              <a:t>  They design idempotent operations for safe retries.</a:t>
            </a:r>
          </a:p>
          <a:p>
            <a:endParaRPr/>
          </a:p>
          <a:p>
            <a:r>
              <a:t>  And they treat an OpenAPI document as the contract consumers rely on, including versioning.</a:t>
            </a:r>
          </a:p>
          <a:p>
            <a:endParaRPr/>
          </a:p>
          <a:p>
            <a:r>
              <a:t>  The emphasis throughout is practical design decisions, not theory.</a:t>
            </a:r>
          </a:p>
          <a:p>
            <a:endParaRPr/>
          </a:p>
          <a:p>
            <a:r>
              <a:t>- Why it matters for Lab 1</a:t>
            </a:r>
          </a:p>
          <a:p>
            <a:endParaRPr/>
          </a:p>
          <a:p>
            <a:r>
              <a:t>  Lab 1 builds a versioned Account Service API under /api/v1/accounts on port 8081, documented with OpenAPI and Swagger UI.</a:t>
            </a:r>
          </a:p>
          <a:p>
            <a:endParaRPr/>
          </a:p>
          <a:p>
            <a:r>
              <a:t>  It changes account status through actions such as freeze, activate, and close.</a:t>
            </a:r>
          </a:p>
          <a:p>
            <a:endParaRPr/>
          </a:p>
          <a:p>
            <a:r>
              <a:t>  It never uses HTTP DELETE, because closed accounts are kept.</a:t>
            </a:r>
          </a:p>
          <a:p>
            <a:endParaRPr/>
          </a:p>
          <a:p>
            <a:r>
              <a:t>  Every one of those choices is a Module 2 design decision.</a:t>
            </a:r>
          </a:p>
          <a:p>
            <a:endParaRPr/>
          </a:p>
          <a:p>
            <a:r>
              <a:t>  So participants should listen for the reasons, because they will apply them within hours.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Open banking regulations in several markets require banks to share account and payment data with authorised third parties.</a:t>
            </a:r>
          </a:p>
          <a:p>
            <a:endParaRPr/>
          </a:p>
          <a:p>
            <a:r>
              <a:t>  They must do it through documented APIs.</a:t>
            </a:r>
          </a:p>
          <a:p>
            <a:endParaRPr/>
          </a:p>
          <a:p>
            <a:r>
              <a:t>  Those APIs must stay stable across releases.</a:t>
            </a:r>
          </a:p>
          <a:p>
            <a:endParaRPr/>
          </a:p>
          <a:p>
            <a:r>
              <a:t>  That is why versioning, clear status codes, and published specifications are treated as contract commitments, not implementation details.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Set up the module with the capstone.</a:t>
            </a:r>
          </a:p>
          <a:p>
            <a:endParaRPr/>
          </a:p>
          <a:p>
            <a:r>
              <a:t>Transaction Service, built on Day 2, must call Account Service before recording a transaction.</a:t>
            </a:r>
          </a:p>
          <a:p>
            <a:endParaRPr/>
          </a:p>
          <a:p>
            <a:r>
              <a:t>It checks that the account exists and is ACTIVE.</a:t>
            </a:r>
          </a:p>
          <a:p>
            <a:endParaRPr/>
          </a:p>
          <a:p>
            <a:r>
              <a:t>Now suppose Account Service returns its JPA entity directly, renames a field, or reports every error as a generic server error.</a:t>
            </a:r>
          </a:p>
          <a:p>
            <a:endParaRPr/>
          </a:p>
          <a:p>
            <a:r>
              <a:t>Then Transaction Service breaks on the next Account release, and independent deployment is gone.</a:t>
            </a:r>
          </a:p>
          <a:p>
            <a:endParaRPr/>
          </a:p>
          <a:p>
            <a:r>
              <a:t>Module 2 gives participants the tools to prevent that.</a:t>
            </a:r>
          </a:p>
          <a:p>
            <a:endParaRPr/>
          </a:p>
          <a:p>
            <a:r>
              <a:t>They are a resource-oriented URI, a DTO, meaningful status codes, and an OpenAPI contract both teams can rely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From Business Requirements to Service Design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THE SEVEN-STEP PATH</a:t>
            </a:r>
          </a:p>
          <a:p>
            <a:endParaRPr/>
          </a:p>
          <a:p>
            <a:r>
              <a:t>  Walk the steps as a funnel.</a:t>
            </a:r>
          </a:p>
          <a:p>
            <a:endParaRPr/>
          </a:p>
          <a:p>
            <a:r>
              <a:t>  Steps one and two stay in business language.</a:t>
            </a:r>
          </a:p>
          <a:p>
            <a:endParaRPr/>
          </a:p>
          <a:p>
            <a:r>
              <a:t>  What is the bank trying to achieve?</a:t>
            </a:r>
          </a:p>
          <a:p>
            <a:endParaRPr/>
          </a:p>
          <a:p>
            <a:r>
              <a:t>  Which capabilities support it, such as opening accounts, moving money, and assessing risk?</a:t>
            </a:r>
          </a:p>
          <a:p>
            <a:endParaRPr/>
          </a:p>
          <a:p>
            <a:r>
              <a:t>  Step three draws bounded contexts.</a:t>
            </a:r>
          </a:p>
          <a:p>
            <a:endParaRPr/>
          </a:p>
          <a:p>
            <a:r>
              <a:t>  A bounded context is an area where one model and its words keep one meaning.</a:t>
            </a:r>
          </a:p>
          <a:p>
            <a:endParaRPr/>
          </a:p>
          <a:p>
            <a:r>
              <a:t>  Step four turns those contexts into service boundaries.</a:t>
            </a:r>
          </a:p>
          <a:p>
            <a:endParaRPr/>
          </a:p>
          <a:p>
            <a:r>
              <a:t>  Step five writes down responsibilities and API contracts.</a:t>
            </a:r>
          </a:p>
          <a:p>
            <a:endParaRPr/>
          </a:p>
          <a:p>
            <a:r>
              <a:t>  Only at step six do we choose REST, events, and database ownership.</a:t>
            </a:r>
          </a:p>
          <a:p>
            <a:endParaRPr/>
          </a:p>
          <a:p>
            <a:r>
              <a:t>  Step seven checks the design against real workflows and loops back.</a:t>
            </a:r>
          </a:p>
          <a:p>
            <a:endParaRPr/>
          </a:p>
          <a:p>
            <a:r>
              <a:t>  Stress that the path repeats.</a:t>
            </a:r>
          </a:p>
          <a:p>
            <a:endParaRPr/>
          </a:p>
          <a:p>
            <a:r>
              <a:t>  Teams return to earlier steps when validation exposes a gap.</a:t>
            </a:r>
          </a:p>
          <a:p>
            <a:endParaRPr/>
          </a:p>
          <a:p>
            <a:r>
              <a:t>- WHY START WITH BUSINESS REQUIREMENTS</a:t>
            </a:r>
          </a:p>
          <a:p>
            <a:endParaRPr/>
          </a:p>
          <a:p>
            <a:r>
              <a:t>  When teams start from the schema, they get services that mirror tables.</a:t>
            </a:r>
          </a:p>
          <a:p>
            <a:endParaRPr/>
          </a:p>
          <a:p>
            <a:r>
              <a:t>  Those services change together every sprint, because tables are not business capabilities.</a:t>
            </a:r>
          </a:p>
          <a:p>
            <a:endParaRPr/>
          </a:p>
          <a:p>
            <a:r>
              <a:t>  Requirements reveal the nouns the business actually uses, such as Customer, Account, Transaction, and Loan.</a:t>
            </a:r>
          </a:p>
          <a:p>
            <a:endParaRPr/>
          </a:p>
          <a:p>
            <a:r>
              <a:t>  Those nouns become resources and contexts.</a:t>
            </a:r>
          </a:p>
          <a:p>
            <a:endParaRPr/>
          </a:p>
          <a:p>
            <a:r>
              <a:t>  Test the design against a real workflow, such as opening an account and posting a first transaction.</a:t>
            </a:r>
          </a:p>
          <a:p>
            <a:endParaRPr/>
          </a:p>
          <a:p>
            <a:r>
              <a:t>  That catches missing responsibilities on a whiteboard, where fixing them is cheap.</a:t>
            </a:r>
          </a:p>
          <a:p>
            <a:endParaRPr/>
          </a:p>
          <a:p>
            <a:r>
              <a:t>  The same gaps are expensive if you find them later.</a:t>
            </a:r>
          </a:p>
          <a:p>
            <a:endParaRPr/>
          </a:p>
          <a:p>
            <a:r>
              <a:t>  By then three services are deployed and consumers depend on them.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Take a typical account-opening modernization.</a:t>
            </a:r>
          </a:p>
          <a:p>
            <a:endParaRPr/>
          </a:p>
          <a:p>
            <a:r>
              <a:t>  The team first maps what a branch banker and a mobile customer actually do.</a:t>
            </a:r>
          </a:p>
          <a:p>
            <a:endParaRPr/>
          </a:p>
          <a:p>
            <a:r>
              <a:t>  That covers identity checks, product selection, and initial funding, all before naming any service.</a:t>
            </a:r>
          </a:p>
          <a:p>
            <a:endParaRPr/>
          </a:p>
          <a:p>
            <a:r>
              <a:t>  Those capabilities then define the new service boundaries, not the legacy table layout.</a:t>
            </a:r>
          </a:p>
          <a:p>
            <a:endParaRPr/>
          </a:p>
          <a:p>
            <a:r>
              <a:t>- Amazon moved from a monolithic retail application to services owned by small teams.</a:t>
            </a:r>
          </a:p>
          <a:p>
            <a:endParaRPr/>
          </a:p>
          <a:p>
            <a:r>
              <a:t>  This move is well documented, and it followed the same logic.</a:t>
            </a:r>
          </a:p>
          <a:p>
            <a:endParaRPr/>
          </a:p>
          <a:p>
            <a:r>
              <a:t>  Each team owned a business function and its data behind an interface.</a:t>
            </a:r>
          </a:p>
          <a:p>
            <a:endParaRPr/>
          </a:p>
          <a:p>
            <a:r>
              <a:t>  So boundaries came from what the business did, not from how the original database was organized.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Start the capstone with a single requirement: flag risky banking transactions before money moves.</a:t>
            </a:r>
          </a:p>
          <a:p>
            <a:endParaRPr/>
          </a:p>
          <a:p>
            <a:r>
              <a:t>Steps one and two produce three capabilities.</a:t>
            </a:r>
          </a:p>
          <a:p>
            <a:endParaRPr/>
          </a:p>
          <a:p>
            <a:r>
              <a:t>They are maintain accounts, record transactions, and assess transaction risk.</a:t>
            </a:r>
          </a:p>
          <a:p>
            <a:endParaRPr/>
          </a:p>
          <a:p>
            <a:r>
              <a:t>Step three draws three bounded contexts.</a:t>
            </a:r>
          </a:p>
          <a:p>
            <a:endParaRPr/>
          </a:p>
          <a:p>
            <a:r>
              <a:t>Step four makes them Account Service, Transaction Service, and Risk Assessment Service.</a:t>
            </a:r>
          </a:p>
          <a:p>
            <a:endParaRPr/>
          </a:p>
          <a:p>
            <a:r>
              <a:t>Step five defines contracts, starting with Account Service on port 8081 under /api/v1/accounts.</a:t>
            </a:r>
          </a:p>
          <a:p>
            <a:endParaRPr/>
          </a:p>
          <a:p>
            <a:r>
              <a:t>Step six decides how the services talk.</a:t>
            </a:r>
          </a:p>
          <a:p>
            <a:endParaRPr/>
          </a:p>
          <a:p>
            <a:r>
              <a:t>Transaction Service calls Account Service synchronously, meaning it waits for the answer, to check the account is usable.</a:t>
            </a:r>
          </a:p>
          <a:p>
            <a:endParaRPr/>
          </a:p>
          <a:p>
            <a:r>
              <a:t>It also publishes events to Kafka for downstream work.</a:t>
            </a:r>
          </a:p>
          <a:p>
            <a:endParaRPr/>
          </a:p>
          <a:p>
            <a:r>
              <a:t>Step seven validates the design with a workflow.</a:t>
            </a:r>
          </a:p>
          <a:p>
            <a:endParaRPr/>
          </a:p>
          <a:p>
            <a:r>
              <a:t>A transaction against a FROZEN account must be rejected with a business error.</a:t>
            </a:r>
          </a:p>
          <a:p>
            <a:endParaRPr/>
          </a:p>
          <a:p>
            <a:r>
              <a:t>The design has to show which service decides that.</a:t>
            </a:r>
          </a:p>
          <a:p>
            <a:endParaRPr/>
          </a:p>
          <a:p>
            <a:endParaRPr/>
          </a:p>
          <a:p>
            <a:r>
              <a:t>TOPIC 2 OF 2: Domain-Driven Design as a Service Design Tool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CORE DDD CONCEPTS</a:t>
            </a:r>
          </a:p>
          <a:p>
            <a:endParaRPr/>
          </a:p>
          <a:p>
            <a:r>
              <a:t>  Translate each term into banking.</a:t>
            </a:r>
          </a:p>
          <a:p>
            <a:endParaRPr/>
          </a:p>
          <a:p>
            <a:r>
              <a:t>  The domain is retail banking.</a:t>
            </a:r>
          </a:p>
          <a:p>
            <a:endParaRPr/>
          </a:p>
          <a:p>
            <a:r>
              <a:t>  Subdomains are slices like accounts, payments, or fraud.</a:t>
            </a:r>
          </a:p>
          <a:p>
            <a:endParaRPr/>
          </a:p>
          <a:p>
            <a:r>
              <a:t>  Each one is labelled core, supporting, or generic.</a:t>
            </a:r>
          </a:p>
          <a:p>
            <a:endParaRPr/>
          </a:p>
          <a:p>
            <a:r>
              <a:t>  A bounded context is a boundary.</a:t>
            </a:r>
          </a:p>
          <a:p>
            <a:endParaRPr/>
          </a:p>
          <a:p>
            <a:r>
              <a:t>  Inside it, a word like account has exactly one meaning.</a:t>
            </a:r>
          </a:p>
          <a:p>
            <a:endParaRPr/>
          </a:p>
          <a:p>
            <a:r>
              <a:t>  Ubiquitous language means the code uses the business's own words.</a:t>
            </a:r>
          </a:p>
          <a:p>
            <a:endParaRPr/>
          </a:p>
          <a:p>
            <a:r>
              <a:t>  So PENDING, ACTIVE, FROZEN, and CLOSED in Account Service match what operations staff say.</a:t>
            </a:r>
          </a:p>
          <a:p>
            <a:endParaRPr/>
          </a:p>
          <a:p>
            <a:r>
              <a:t>  An aggregate is a group of data that must change together in one transaction, such as an account and its status.</a:t>
            </a:r>
          </a:p>
          <a:p>
            <a:endParaRPr/>
          </a:p>
          <a:p>
            <a:r>
              <a:t>  A domain event records a past business fact, like AccountOpened.</a:t>
            </a:r>
          </a:p>
          <a:p>
            <a:endParaRPr/>
          </a:p>
          <a:p>
            <a:r>
              <a:t>  Other services can react to it.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Eric Evans introduced Domain-Driven Design in his book of the same name.</a:t>
            </a:r>
          </a:p>
          <a:p>
            <a:endParaRPr/>
          </a:p>
          <a:p>
            <a:r>
              <a:t>  Its vocabulary is now standard when teams split systems into microservices.</a:t>
            </a:r>
          </a:p>
          <a:p>
            <a:endParaRPr/>
          </a:p>
          <a:p>
            <a:r>
              <a:t>  Many teams run Event Storming workshops, a technique created by Alberto Brandolini.</a:t>
            </a:r>
          </a:p>
          <a:p>
            <a:endParaRPr/>
          </a:p>
          <a:p>
            <a:r>
              <a:t>  In these workshops, business experts and engineers place domain events on a wall to discover contexts.</a:t>
            </a:r>
          </a:p>
          <a:p>
            <a:endParaRPr/>
          </a:p>
          <a:p>
            <a:r>
              <a:t>- In card processing, authorization and settlement are separate business facts.</a:t>
            </a:r>
          </a:p>
          <a:p>
            <a:endParaRPr/>
          </a:p>
          <a:p>
            <a:r>
              <a:t>  They have different timing and rules.</a:t>
            </a:r>
          </a:p>
          <a:p>
            <a:endParaRPr/>
          </a:p>
          <a:p>
            <a:r>
              <a:t>  Model them as distinct domain events.</a:t>
            </a:r>
          </a:p>
          <a:p>
            <a:endParaRPr/>
          </a:p>
          <a:p>
            <a:r>
              <a:t>  That keeps fraud screening independent from reconciliation.</a:t>
            </a:r>
          </a:p>
          <a:p>
            <a:endParaRPr/>
          </a:p>
          <a:p>
            <a:r>
              <a:t>  Fraud screening needs the authorization immediately, while reconciliation works later on settled records.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1 a developer names a boolean field isBlocked.</a:t>
            </a:r>
          </a:p>
          <a:p>
            <a:endParaRPr/>
          </a:p>
          <a:p>
            <a:r>
              <a:t>The operations team, however, talks about frozen accounts.</a:t>
            </a:r>
          </a:p>
          <a:p>
            <a:endParaRPr/>
          </a:p>
          <a:p>
            <a:r>
              <a:t>Support tickets become confusing.</a:t>
            </a:r>
          </a:p>
          <a:p>
            <a:endParaRPr/>
          </a:p>
          <a:p>
            <a:r>
              <a:t>Nobody can say whether blocked means FROZEN, CLOSED, or still PENDING.</a:t>
            </a:r>
          </a:p>
          <a:p>
            <a:endParaRPr/>
          </a:p>
          <a:p>
            <a:r>
              <a:t>The team fixes the problem with ubiquitous language, meaning the code uses the business's own words.</a:t>
            </a:r>
          </a:p>
          <a:p>
            <a:endParaRPr/>
          </a:p>
          <a:p>
            <a:r>
              <a:t>The status field uses exactly the terms PENDING, ACTIVE, FROZEN, and CLOSED.</a:t>
            </a:r>
          </a:p>
          <a:p>
            <a:endParaRPr/>
          </a:p>
          <a:p>
            <a:r>
              <a:t>The rules about moving between them live inside Account Service.</a:t>
            </a:r>
          </a:p>
          <a:p>
            <a:endParaRPr/>
          </a:p>
          <a:p>
            <a:r>
              <a:t>That service treats the account and its status as one aggregate.</a:t>
            </a:r>
          </a:p>
          <a:p>
            <a:endParaRPr/>
          </a:p>
          <a:p>
            <a:r>
              <a:t>The team also notes a future option.</a:t>
            </a:r>
          </a:p>
          <a:p>
            <a:endParaRPr/>
          </a:p>
          <a:p>
            <a:r>
              <a:t>A domain event, such as an account being frozen, could let other capstone services react without polling Account Service.</a:t>
            </a:r>
          </a:p>
          <a:p>
            <a:endParaRPr/>
          </a:p>
          <a:p>
            <a:r>
              <a:t>The vocabulary on this slide turns a naming argument into a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Domains, Subdomains, and Business Capabilities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DOMAIN HIERARCHY</a:t>
            </a:r>
          </a:p>
          <a:p>
            <a:endParaRPr/>
          </a:p>
          <a:p>
            <a:r>
              <a:t>  Read the arrow chain left to right as a narrowing funnel.</a:t>
            </a:r>
          </a:p>
          <a:p>
            <a:endParaRPr/>
          </a:p>
          <a:p>
            <a:r>
              <a:t>  The domain is the whole business area.</a:t>
            </a:r>
          </a:p>
          <a:p>
            <a:endParaRPr/>
          </a:p>
          <a:p>
            <a:r>
              <a:t>  Subdomains are its major slices.</a:t>
            </a:r>
          </a:p>
          <a:p>
            <a:endParaRPr/>
          </a:p>
          <a:p>
            <a:r>
              <a:t>  Capabilities are specific things the business does inside a slice.</a:t>
            </a:r>
          </a:p>
          <a:p>
            <a:endParaRPr/>
          </a:p>
          <a:p>
            <a:r>
              <a:t>  Only at the end do we reach a candidate service.</a:t>
            </a:r>
          </a:p>
          <a:p>
            <a:endParaRPr/>
          </a:p>
          <a:p>
            <a:r>
              <a:t>  The word candidate matters.</a:t>
            </a:r>
          </a:p>
          <a:p>
            <a:endParaRPr/>
          </a:p>
          <a:p>
            <a:r>
              <a:t>  A capability might become its own service.</a:t>
            </a:r>
          </a:p>
          <a:p>
            <a:endParaRPr/>
          </a:p>
          <a:p>
            <a:r>
              <a:t>  It might share a service with a closely related capability.</a:t>
            </a:r>
          </a:p>
          <a:p>
            <a:endParaRPr/>
          </a:p>
          <a:p>
            <a:r>
              <a:t>  Or it might stay in an existing system for now.</a:t>
            </a:r>
          </a:p>
          <a:p>
            <a:endParaRPr/>
          </a:p>
          <a:p>
            <a:r>
              <a:t>  Use the banking list to show that fraud and notifications are subdomains in their own right.</a:t>
            </a:r>
          </a:p>
          <a:p>
            <a:endParaRPr/>
          </a:p>
          <a:p>
            <a:r>
              <a:t>  They are not features buried inside accounts.</a:t>
            </a:r>
          </a:p>
          <a:p>
            <a:endParaRPr/>
          </a:p>
          <a:p>
            <a:r>
              <a:t>- THREE KINDS OF SUBDOMAIN</a:t>
            </a:r>
          </a:p>
          <a:p>
            <a:endParaRPr/>
          </a:p>
          <a:p>
            <a:r>
              <a:t>  Core subdomains are where the bank competes.</a:t>
            </a:r>
          </a:p>
          <a:p>
            <a:endParaRPr/>
          </a:p>
          <a:p>
            <a:r>
              <a:t>  So they justify in-house engineers and careful modelling.</a:t>
            </a:r>
          </a:p>
          <a:p>
            <a:endParaRPr/>
          </a:p>
          <a:p>
            <a:r>
              <a:t>  Transaction risk assessment is the capstone's clearest core candidate.</a:t>
            </a:r>
          </a:p>
          <a:p>
            <a:endParaRPr/>
          </a:p>
          <a:p>
            <a:r>
              <a:t>  Supporting subdomains are necessary but do not set the bank apart.</a:t>
            </a:r>
          </a:p>
          <a:p>
            <a:endParaRPr/>
          </a:p>
          <a:p>
            <a:r>
              <a:t>  Internal operational reporting is one example, so build them simply.</a:t>
            </a:r>
          </a:p>
          <a:p>
            <a:endParaRPr/>
          </a:p>
          <a:p>
            <a:r>
              <a:t>  Generic subdomains are solved problems like identity management or message brokering.</a:t>
            </a:r>
          </a:p>
          <a:p>
            <a:endParaRPr/>
          </a:p>
          <a:p>
            <a:r>
              <a:t>  So buy or reuse them.</a:t>
            </a:r>
          </a:p>
          <a:p>
            <a:endParaRPr/>
          </a:p>
          <a:p>
            <a:r>
              <a:t>  That is why the course uses Keycloak and Red Hat AMQ Streams.</a:t>
            </a:r>
          </a:p>
          <a:p>
            <a:endParaRPr/>
          </a:p>
          <a:p>
            <a:r>
              <a:t>  It does not write an identity server or a broker.</a:t>
            </a:r>
          </a:p>
          <a:p>
            <a:endParaRPr/>
          </a:p>
          <a:p>
            <a:r>
              <a:t>  The classification drives budget, staffing, and how much custom code is justified.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Most banks treat identity and access management as a generic subdomain.</a:t>
            </a:r>
          </a:p>
          <a:p>
            <a:endParaRPr/>
          </a:p>
          <a:p>
            <a:r>
              <a:t>  They deploy products such as Keycloak or a commercial identity provider instead of writing their own.</a:t>
            </a:r>
          </a:p>
          <a:p>
            <a:endParaRPr/>
          </a:p>
          <a:p>
            <a:r>
              <a:t>  Then they spend engineering effort on areas that set them apart, like fraud decisioning or the mobile payments experience.</a:t>
            </a:r>
          </a:p>
          <a:p>
            <a:endParaRPr/>
          </a:p>
          <a:p>
            <a:r>
              <a:t>- Card networks and payment rails are external infrastructure that a bank connects to.</a:t>
            </a:r>
          </a:p>
          <a:p>
            <a:endParaRPr/>
          </a:p>
          <a:p>
            <a:r>
              <a:t>  The bank's own logic for deciding whether to approve a transfer is core.</a:t>
            </a:r>
          </a:p>
          <a:p>
            <a:endParaRPr/>
          </a:p>
          <a:p>
            <a:r>
              <a:t>  That logic uses account history and risk signals.</a:t>
            </a:r>
          </a:p>
          <a:p>
            <a:endParaRPr/>
          </a:p>
          <a:p>
            <a:r>
              <a:t>  This is where in-house teams, experimentation, and model tuning pay off.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On day one of the capstone, a sponsor asks a question.</a:t>
            </a:r>
          </a:p>
          <a:p>
            <a:endParaRPr/>
          </a:p>
          <a:p>
            <a:r>
              <a:t>Why does the team plan to spend most of Day 5 on Risk Assessment Service, and so little effort on identity?</a:t>
            </a:r>
          </a:p>
          <a:p>
            <a:endParaRPr/>
          </a:p>
          <a:p>
            <a:r>
              <a:t>The architect walks the sponsor through this slide.</a:t>
            </a:r>
          </a:p>
          <a:p>
            <a:endParaRPr/>
          </a:p>
          <a:p>
            <a:r>
              <a:t>Risk assessment is core, because it is where the bank differentiates.</a:t>
            </a:r>
          </a:p>
          <a:p>
            <a:endParaRPr/>
          </a:p>
          <a:p>
            <a:r>
              <a:t>So it gets careful design and model serving on Red Hat OpenShift AI.</a:t>
            </a:r>
          </a:p>
          <a:p>
            <a:endParaRPr/>
          </a:p>
          <a:p>
            <a:r>
              <a:t>Account Service is supporting.</a:t>
            </a:r>
          </a:p>
          <a:p>
            <a:endParaRPr/>
          </a:p>
          <a:p>
            <a:r>
              <a:t>It must be correct and well tested.</a:t>
            </a:r>
          </a:p>
          <a:p>
            <a:endParaRPr/>
          </a:p>
          <a:p>
            <a:r>
              <a:t>But a clean Spring Boot service with Flyway and PostgreSQL is enough.</a:t>
            </a:r>
          </a:p>
          <a:p>
            <a:endParaRPr/>
          </a:p>
          <a:p>
            <a:r>
              <a:t>Identity and messaging are generic.</a:t>
            </a:r>
          </a:p>
          <a:p>
            <a:endParaRPr/>
          </a:p>
          <a:p>
            <a:r>
              <a:t>So the platform uses Keycloak and AMQ Streams instead of custom code.</a:t>
            </a:r>
          </a:p>
          <a:p>
            <a:endParaRPr/>
          </a:p>
          <a:p>
            <a:r>
              <a:t>The sponsor now sees that effort follows business value, not technical interest.</a:t>
            </a:r>
          </a:p>
          <a:p>
            <a:endParaRPr/>
          </a:p>
          <a:p>
            <a:endParaRPr/>
          </a:p>
          <a:p>
            <a:r>
              <a:t>TOPIC 2 OF 2: Understanding Bounded Contexts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WHAT A BOUNDED CONTEXT IS</a:t>
            </a:r>
          </a:p>
          <a:p>
            <a:endParaRPr/>
          </a:p>
          <a:p>
            <a:r>
              <a:t>  A bounded context is a fence around a model.</a:t>
            </a:r>
          </a:p>
          <a:p>
            <a:endParaRPr/>
          </a:p>
          <a:p>
            <a:r>
              <a:t>  Inside the fence, account means exactly one thing with one set of rules.</a:t>
            </a:r>
          </a:p>
          <a:p>
            <a:endParaRPr/>
          </a:p>
          <a:p>
            <a:r>
              <a:t>  It prevents a common trap: the enterprise Customer class with hundreds of fields.</a:t>
            </a:r>
          </a:p>
          <a:p>
            <a:endParaRPr/>
          </a:p>
          <a:p>
            <a:r>
              <a:t>  Every team must agree on that class before anything changes.</a:t>
            </a:r>
          </a:p>
          <a:p>
            <a:endParaRPr/>
          </a:p>
          <a:p>
            <a:r>
              <a:t>  Services usually map to one context each.</a:t>
            </a:r>
          </a:p>
          <a:p>
            <a:endParaRPr/>
          </a:p>
          <a:p>
            <a:r>
              <a:t>  That is why Lab 1 describes Account Service as a bounded context.</a:t>
            </a:r>
          </a:p>
          <a:p>
            <a:endParaRPr/>
          </a:p>
          <a:p>
            <a:r>
              <a:t>  It owns accounts and does not post transactions or score risk.</a:t>
            </a:r>
          </a:p>
          <a:p>
            <a:endParaRPr/>
          </a:p>
          <a:p>
            <a:r>
              <a:t>  Share identifiers across contexts, never the full internal model.</a:t>
            </a:r>
          </a:p>
          <a:p>
            <a:endParaRPr/>
          </a:p>
          <a:p>
            <a:r>
              <a:t>- BANKING EXAMPLE: 'CUSTOMER' MEANS DIFFERENT THINGS</a:t>
            </a:r>
          </a:p>
          <a:p>
            <a:endParaRPr/>
          </a:p>
          <a:p>
            <a:r>
              <a:t>  The same real person appears in several models.</a:t>
            </a:r>
          </a:p>
          <a:p>
            <a:endParaRPr/>
          </a:p>
          <a:p>
            <a:r>
              <a:t>  The capstone has no separate Customer Service.</a:t>
            </a:r>
          </a:p>
          <a:p>
            <a:endParaRPr/>
          </a:p>
          <a:p>
            <a:r>
              <a:t>  So Account Service carries a synthetic customerId such as CUST-0001 as a plain field.</a:t>
            </a:r>
          </a:p>
          <a:p>
            <a:endParaRPr/>
          </a:p>
          <a:p>
            <a:r>
              <a:t>  It does not own names, addresses, or contact details.</a:t>
            </a:r>
          </a:p>
          <a:p>
            <a:endParaRPr/>
          </a:p>
          <a:p>
            <a:r>
              <a:t>  The first two bullets both describe Account Service, so present them as one idea.</a:t>
            </a:r>
          </a:p>
          <a:p>
            <a:endParaRPr/>
          </a:p>
          <a:p>
            <a:r>
              <a:t>  A fraud context cares about device history and unusual behavior.</a:t>
            </a:r>
          </a:p>
          <a:p>
            <a:endParaRPr/>
          </a:p>
          <a:p>
            <a:r>
              <a:t>  Marketing cares about preferences and offer eligibility.</a:t>
            </a:r>
          </a:p>
          <a:p>
            <a:endParaRPr/>
          </a:p>
          <a:p>
            <a:r>
              <a:t>  Each context keeps only what it needs.</a:t>
            </a:r>
          </a:p>
          <a:p>
            <a:endParaRPr/>
          </a:p>
          <a:p>
            <a:r>
              <a:t>  That limits the spread of sensitive data.</a:t>
            </a:r>
          </a:p>
          <a:p>
            <a:endParaRPr/>
          </a:p>
          <a:p>
            <a:r>
              <a:t>  It also lets each team change its model independently.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In lending, a customer is a borrower with income, debt obligations, and a credit grade.</a:t>
            </a:r>
          </a:p>
          <a:p>
            <a:endParaRPr/>
          </a:p>
          <a:p>
            <a:r>
              <a:t>  In customer profile management, the same person is a name, an address, and an identity-verification record.</a:t>
            </a:r>
          </a:p>
          <a:p>
            <a:endParaRPr/>
          </a:p>
          <a:p>
            <a:r>
              <a:t>  Forcing both views into one shared record causes a problem.</a:t>
            </a:r>
          </a:p>
          <a:p>
            <a:endParaRPr/>
          </a:p>
          <a:p>
            <a:r>
              <a:t>  Every lending change would need sign-off from the profile team.</a:t>
            </a:r>
          </a:p>
          <a:p>
            <a:endParaRPr/>
          </a:p>
          <a:p>
            <a:r>
              <a:t>- Data-privacy obligations favor bounded contexts.</a:t>
            </a:r>
          </a:p>
          <a:p>
            <a:endParaRPr/>
          </a:p>
          <a:p>
            <a:r>
              <a:t>  Picture a marketing system that holds only preferences and consent flags, with no balances or fraud markers.</a:t>
            </a:r>
          </a:p>
          <a:p>
            <a:endParaRPr/>
          </a:p>
          <a:p>
            <a:r>
              <a:t>  It exposes less if it is breached.</a:t>
            </a:r>
          </a:p>
          <a:p>
            <a:endParaRPr/>
          </a:p>
          <a:p>
            <a:r>
              <a:t>  It is also simpler to audit, because it never held the sensitive data in the first place.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Transaction Service needs to know whether an account can accept a transaction.</a:t>
            </a:r>
          </a:p>
          <a:p>
            <a:endParaRPr/>
          </a:p>
          <a:p>
            <a:r>
              <a:t>A developer suggests packaging the Account entity class from Lab 1 into a shared jar and importing it.</a:t>
            </a:r>
          </a:p>
          <a:p>
            <a:endParaRPr/>
          </a:p>
          <a:p>
            <a:r>
              <a:t>That would pull in every account field and JPA annotation.</a:t>
            </a:r>
          </a:p>
          <a:p>
            <a:endParaRPr/>
          </a:p>
          <a:p>
            <a:r>
              <a:t>The team applies bounded contexts instead.</a:t>
            </a:r>
          </a:p>
          <a:p>
            <a:endParaRPr/>
          </a:p>
          <a:p>
            <a:r>
              <a:t>Transaction Service defines its own small view with just the account ID, status, and currency.</a:t>
            </a:r>
          </a:p>
          <a:p>
            <a:endParaRPr/>
          </a:p>
          <a:p>
            <a:r>
              <a:t>Lab 3 later refers to exactly such an AccountView.</a:t>
            </a:r>
          </a:p>
          <a:p>
            <a:endParaRPr/>
          </a:p>
          <a:p>
            <a:r>
              <a:t>Account Service stays the owner of the full model.</a:t>
            </a:r>
          </a:p>
          <a:p>
            <a:endParaRPr/>
          </a:p>
          <a:p>
            <a:r>
              <a:t>So it can add fields or refactor its entity without breaking Transaction Service.</a:t>
            </a:r>
          </a:p>
          <a:p>
            <a:endParaRPr/>
          </a:p>
          <a:p>
            <a:r>
              <a:t>Each service's language also stays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- 1. Bounded Context</a:t>
            </a:r>
          </a:p>
          <a:p>
            <a:endParaRPr/>
          </a:p>
          <a:p>
            <a:r>
              <a:t>  A bounded context is a boundary inside which a model has one precise meaning.</a:t>
            </a:r>
          </a:p>
          <a:p>
            <a:endParaRPr/>
          </a:p>
          <a:p>
            <a:r>
              <a:t>  Sales models Customer, Order, and Order Item.</a:t>
            </a:r>
          </a:p>
          <a:p>
            <a:endParaRPr/>
          </a:p>
          <a:p>
            <a:r>
              <a:t>  Inventory models Product, Stock, and Warehouse.</a:t>
            </a:r>
          </a:p>
          <a:p>
            <a:endParaRPr/>
          </a:p>
          <a:p>
            <a:r>
              <a:t>  Shipping models Shipment, Carrier, and Tracking.</a:t>
            </a:r>
          </a:p>
          <a:p>
            <a:endParaRPr/>
          </a:p>
          <a:p>
            <a:r>
              <a:t>  The same real-world thing, an order, is a sale in one context and a shipment in another.</a:t>
            </a:r>
          </a:p>
          <a:p>
            <a:endParaRPr/>
          </a:p>
          <a:p>
            <a:r>
              <a:t>  Neither context should import the other's classes.</a:t>
            </a:r>
          </a:p>
          <a:p>
            <a:endParaRPr/>
          </a:p>
          <a:p>
            <a:r>
              <a:t>  Each context also has its own database icon: Sales DB, Inventory DB, and Shipping DB.</a:t>
            </a:r>
          </a:p>
          <a:p>
            <a:endParaRPr/>
          </a:p>
          <a:p>
            <a:r>
              <a:t>  That is the data ownership rule drawn as a picture.</a:t>
            </a:r>
          </a:p>
          <a:p>
            <a:endParaRPr/>
          </a:p>
          <a:p>
            <a:r>
              <a:t>- Integration (ACL)</a:t>
            </a:r>
          </a:p>
          <a:p>
            <a:endParaRPr/>
          </a:p>
          <a:p>
            <a:r>
              <a:t>  Between the contexts sit dashed arrows and a document icon labelled Integration (ACL).</a:t>
            </a:r>
          </a:p>
          <a:p>
            <a:endParaRPr/>
          </a:p>
          <a:p>
            <a:r>
              <a:t>  ACL stands for anti-corruption layer.</a:t>
            </a:r>
          </a:p>
          <a:p>
            <a:endParaRPr/>
          </a:p>
          <a:p>
            <a:r>
              <a:t>  When Sales needs stock information, it does not use Inventory's Stock class.</a:t>
            </a:r>
          </a:p>
          <a:p>
            <a:endParaRPr/>
          </a:p>
          <a:p>
            <a:r>
              <a:t>  Instead, it translates Inventory's contract into its own terms at the edge.</a:t>
            </a:r>
          </a:p>
          <a:p>
            <a:endParaRPr/>
          </a:p>
          <a:p>
            <a:r>
              <a:t>  That translation keeps a change in one model from spreading into another.</a:t>
            </a:r>
          </a:p>
          <a:p>
            <a:endParaRPr/>
          </a:p>
          <a:p>
            <a:r>
              <a:t>  In Spring Boot, the ACL is often just a client class plus a mapper.</a:t>
            </a:r>
          </a:p>
          <a:p>
            <a:endParaRPr/>
          </a:p>
          <a:p>
            <a:r>
              <a:t>  The mapper converts the other service's response DTO into a local value object.</a:t>
            </a:r>
          </a:p>
          <a:p>
            <a:endParaRPr/>
          </a:p>
          <a:p>
            <a:r>
              <a:t>- 2. Service Boundaries</a:t>
            </a:r>
          </a:p>
          <a:p>
            <a:endParaRPr/>
          </a:p>
          <a:p>
            <a:r>
              <a:t>  The bottom half maps each context to a deployable service.</a:t>
            </a:r>
          </a:p>
          <a:p>
            <a:endParaRPr/>
          </a:p>
          <a:p>
            <a:r>
              <a:t>  Each box contains business logic, data access, and a domain model.</a:t>
            </a:r>
          </a:p>
          <a:p>
            <a:endParaRPr/>
          </a:p>
          <a:p>
            <a:r>
              <a:t>  All of that sits behind one REST API: /sales/*, /inventory/*, and /shipping/*.</a:t>
            </a:r>
          </a:p>
          <a:p>
            <a:endParaRPr/>
          </a:p>
          <a:p>
            <a:r>
              <a:t>  The client reaches Sales through an API.</a:t>
            </a:r>
          </a:p>
          <a:p>
            <a:endParaRPr/>
          </a:p>
          <a:p>
            <a:r>
              <a:t>  Services reach each other only through the API pills between the boxes.</a:t>
            </a:r>
          </a:p>
          <a:p>
            <a:endParaRPr/>
          </a:p>
          <a:p>
            <a:r>
              <a:t>  They never go through each other's data access layer.</a:t>
            </a:r>
          </a:p>
          <a:p>
            <a:endParaRPr/>
          </a:p>
          <a:p>
            <a:r>
              <a:t>  The subtitle states the rule plainly.</a:t>
            </a:r>
          </a:p>
          <a:p>
            <a:endParaRPr/>
          </a:p>
          <a:p>
            <a:r>
              <a:t>  Each service owns a bounded context and exposes its capabilities through well-defined APIs.</a:t>
            </a:r>
          </a:p>
          <a:p>
            <a:endParaRPr/>
          </a:p>
          <a:p>
            <a:r>
              <a:t>- Benefits strip</a:t>
            </a:r>
          </a:p>
          <a:p>
            <a:endParaRPr/>
          </a:p>
          <a:p>
            <a:r>
              <a:t>  The bottom row names five payoffs.</a:t>
            </a:r>
          </a:p>
          <a:p>
            <a:endParaRPr/>
          </a:p>
          <a:p>
            <a:r>
              <a:t>  Clear boundaries mean well-defined ownership and responsibilities.</a:t>
            </a:r>
          </a:p>
          <a:p>
            <a:endParaRPr/>
          </a:p>
          <a:p>
            <a:r>
              <a:t>  Loose coupling means services communicate through APIs.</a:t>
            </a:r>
          </a:p>
          <a:p>
            <a:endParaRPr/>
          </a:p>
          <a:p>
            <a:r>
              <a:t>  Independent scaling means each service scales on its own needs.</a:t>
            </a:r>
          </a:p>
          <a:p>
            <a:endParaRPr/>
          </a:p>
          <a:p>
            <a:r>
              <a:t>  Technology freedom means services can differ internally.</a:t>
            </a:r>
          </a:p>
          <a:p>
            <a:endParaRPr/>
          </a:p>
          <a:p>
            <a:r>
              <a:t>  Resilience means a failure in one service does not take down the others.</a:t>
            </a:r>
          </a:p>
          <a:p>
            <a:endParaRPr/>
          </a:p>
          <a:p>
            <a:r>
              <a:t>  Remind participants that resilience only holds if calls between boxes have timeouts and fallbacks.</a:t>
            </a:r>
          </a:p>
          <a:p>
            <a:endParaRPr/>
          </a:p>
          <a:p>
            <a:r>
              <a:t>  The integration slides covered those.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In a bank, customer means different things to different teams.</a:t>
            </a:r>
          </a:p>
          <a:p>
            <a:endParaRPr/>
          </a:p>
          <a:p>
            <a:r>
              <a:t>  To onboarding, it is a profile with contact details and KYC data.</a:t>
            </a:r>
          </a:p>
          <a:p>
            <a:endParaRPr/>
          </a:p>
          <a:p>
            <a:r>
              <a:t>  To lending, it is a borrower with income and debt ratio.</a:t>
            </a:r>
          </a:p>
          <a:p>
            <a:endParaRPr/>
          </a:p>
          <a:p>
            <a:r>
              <a:t>  To fraud, it is a behavior profile with device history.</a:t>
            </a:r>
          </a:p>
          <a:p>
            <a:endParaRPr/>
          </a:p>
          <a:p>
            <a:r>
              <a:t>  Forcing one shared Customer class across all three creates constant cross-team change requests.</a:t>
            </a:r>
          </a:p>
          <a:p>
            <a:endParaRPr/>
          </a:p>
          <a:p>
            <a:r>
              <a:t>- Banks that integrate a core banking platform often place a translation layer between it and newer digital services.</a:t>
            </a:r>
          </a:p>
          <a:p>
            <a:endParaRPr/>
          </a:p>
          <a:p>
            <a:r>
              <a:t>  Legacy codes and field names are then converted once at the edge.</a:t>
            </a:r>
          </a:p>
          <a:p>
            <a:endParaRPr/>
          </a:p>
          <a:p>
            <a:r>
              <a:t>  They do not leak into every new application.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Translate the diagram to the capstone.</a:t>
            </a:r>
          </a:p>
          <a:p>
            <a:endParaRPr/>
          </a:p>
          <a:p>
            <a:r>
              <a:t>The Account context owns accounts and their PENDING, ACTIVE, FROZEN, CLOSED lifecycle in its own database.</a:t>
            </a:r>
          </a:p>
          <a:p>
            <a:endParaRPr/>
          </a:p>
          <a:p>
            <a:r>
              <a:t>The Transaction context owns transactions and their RECEIVED to SUBMITTED status.</a:t>
            </a:r>
          </a:p>
          <a:p>
            <a:endParaRPr/>
          </a:p>
          <a:p>
            <a:r>
              <a:t>The Risk context owns assessments and dispositions.</a:t>
            </a:r>
          </a:p>
          <a:p>
            <a:endParaRPr/>
          </a:p>
          <a:p>
            <a:r>
              <a:t>Transaction Service's AccountClient is its small anti-corruption layer.</a:t>
            </a:r>
          </a:p>
          <a:p>
            <a:endParaRPr/>
          </a:p>
          <a:p>
            <a:r>
              <a:t>It maps Account Service's response to only what Transaction needs: the account ID and whether it is ACTIVE.</a:t>
            </a:r>
          </a:p>
          <a:p>
            <a:endParaRPr/>
          </a:p>
          <a:p>
            <a:r>
              <a:t>Exercise 1.2 asks participants to draw exactly this.</a:t>
            </a:r>
          </a:p>
          <a:p>
            <a:endParaRPr/>
          </a:p>
          <a:p>
            <a:r>
              <a:t>Account owns accounts only, not transactions and not risk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COMMON CONTEXT-MAPPING RELATIONSHIPS</a:t>
            </a:r>
          </a:p>
          <a:p>
            <a:endParaRPr/>
          </a:p>
          <a:p>
            <a:r>
              <a:t>  Partnership means two teams move together as equals and coordinate releases.</a:t>
            </a:r>
          </a:p>
          <a:p>
            <a:endParaRPr/>
          </a:p>
          <a:p>
            <a:r>
              <a:t>  Customer-supplier means the downstream team is a real customer of the upstream team.</a:t>
            </a:r>
          </a:p>
          <a:p>
            <a:endParaRPr/>
          </a:p>
          <a:p>
            <a:r>
              <a:t>  Its needs shape the upstream API.</a:t>
            </a:r>
          </a:p>
          <a:p>
            <a:endParaRPr/>
          </a:p>
          <a:p>
            <a:r>
              <a:t>  For example, Transaction Service asks Account Service for a field it needs.</a:t>
            </a:r>
          </a:p>
          <a:p>
            <a:endParaRPr/>
          </a:p>
          <a:p>
            <a:r>
              <a:t>  Conformist means the downstream team accepts the upstream model as it is.</a:t>
            </a:r>
          </a:p>
          <a:p>
            <a:endParaRPr/>
          </a:p>
          <a:p>
            <a:r>
              <a:t>  That is common with card networks or regulators.</a:t>
            </a:r>
          </a:p>
          <a:p>
            <a:endParaRPr/>
          </a:p>
          <a:p>
            <a:r>
              <a:t>  An anticorruption layer is translation code that stops a legacy or vendor model from leaking in.</a:t>
            </a:r>
          </a:p>
          <a:p>
            <a:endParaRPr/>
          </a:p>
          <a:p>
            <a:r>
              <a:t>  A shared kernel is a small shared model.</a:t>
            </a:r>
          </a:p>
          <a:p>
            <a:endParaRPr/>
          </a:p>
          <a:p>
            <a:r>
              <a:t>  The diagram marks it avoid, so teach it as a last resort.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Banks with mainframe core systems commonly place an anticorruption layer in front of them.</a:t>
            </a:r>
          </a:p>
          <a:p>
            <a:endParaRPr/>
          </a:p>
          <a:p>
            <a:r>
              <a:t>  A modern service exposes clean account JSON.</a:t>
            </a:r>
          </a:p>
          <a:p>
            <a:endParaRPr/>
          </a:p>
          <a:p>
            <a:r>
              <a:t>  Behind that, it translates to and from legacy record layouts.</a:t>
            </a:r>
          </a:p>
          <a:p>
            <a:endParaRPr/>
          </a:p>
          <a:p>
            <a:r>
              <a:t>  So no new service ever learns the legacy field names or codes.</a:t>
            </a:r>
          </a:p>
          <a:p>
            <a:endParaRPr/>
          </a:p>
          <a:p>
            <a:r>
              <a:t>- Payment teams often act as conformists toward external standards.</a:t>
            </a:r>
          </a:p>
          <a:p>
            <a:endParaRPr/>
          </a:p>
          <a:p>
            <a:r>
              <a:t>  Messages exchanged with card networks or ISO 20022 payment schemes must follow those published formats.</a:t>
            </a:r>
          </a:p>
          <a:p>
            <a:endParaRPr/>
          </a:p>
          <a:p>
            <a:r>
              <a:t>  So internal services translate at the edge instead of negotiating the model.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Transaction Service is downstream of Account Service in a customer-supplier relationship.</a:t>
            </a:r>
          </a:p>
          <a:p>
            <a:endParaRPr/>
          </a:p>
          <a:p>
            <a:r>
              <a:t>During Lab 2 planning, the transaction team asks for currency in the account response.</a:t>
            </a:r>
          </a:p>
          <a:p>
            <a:endParaRPr/>
          </a:p>
          <a:p>
            <a:r>
              <a:t>They need it to validate transactions.</a:t>
            </a:r>
          </a:p>
          <a:p>
            <a:endParaRPr/>
          </a:p>
          <a:p>
            <a:r>
              <a:t>The account team adds it as a backward-compatible field.</a:t>
            </a:r>
          </a:p>
          <a:p>
            <a:endParaRPr/>
          </a:p>
          <a:p>
            <a:r>
              <a:t>They do not let Transaction Service query account_db.</a:t>
            </a:r>
          </a:p>
          <a:p>
            <a:endParaRPr/>
          </a:p>
          <a:p>
            <a:r>
              <a:t>Later in the week, Risk Assessment Service needs transaction data in the shape its model on OpenShift AI expects.</a:t>
            </a:r>
          </a:p>
          <a:p>
            <a:endParaRPr/>
          </a:p>
          <a:p>
            <a:r>
              <a:t>The risk team does not let the model's feature format leak into Transaction Service.</a:t>
            </a:r>
          </a:p>
          <a:p>
            <a:endParaRPr/>
          </a:p>
          <a:p>
            <a:r>
              <a:t>Instead, it writes a small translation layer that maps transaction data into model inputs.</a:t>
            </a:r>
          </a:p>
          <a:p>
            <a:endParaRPr/>
          </a:p>
          <a:p>
            <a:r>
              <a:t>That is an anticorruption layer.</a:t>
            </a:r>
          </a:p>
          <a:p>
            <a:endParaRPr/>
          </a:p>
          <a:p>
            <a:r>
              <a:t>When the model's inputs change, only that mapper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Identifying Service Boundaries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BOUNDARY-DESIGN QUESTIONS</a:t>
            </a:r>
          </a:p>
          <a:p>
            <a:endParaRPr/>
          </a:p>
          <a:p>
            <a:r>
              <a:t>  Run these as a checklist on any proposed service.</a:t>
            </a:r>
          </a:p>
          <a:p>
            <a:endParaRPr/>
          </a:p>
          <a:p>
            <a:r>
              <a:t>  Capability and data come first.</a:t>
            </a:r>
          </a:p>
          <a:p>
            <a:endParaRPr/>
          </a:p>
          <a:p>
            <a:r>
              <a:t>  A service that cannot say what it owns is not really a service yet.</a:t>
            </a:r>
          </a:p>
          <a:p>
            <a:endParaRPr/>
          </a:p>
          <a:p>
            <a:r>
              <a:t>  Team ownership matters because a service without one owning team decays.</a:t>
            </a:r>
          </a:p>
          <a:p>
            <a:endParaRPr/>
          </a:p>
          <a:p>
            <a:r>
              <a:t>  APIs and events form its public face, and everything else stays private.</a:t>
            </a:r>
          </a:p>
          <a:p>
            <a:endParaRPr/>
          </a:p>
          <a:p>
            <a:r>
              <a:t>  Change rate and scaling expose hidden splits.</a:t>
            </a:r>
          </a:p>
          <a:p>
            <a:endParaRPr/>
          </a:p>
          <a:p>
            <a:r>
              <a:t>  Suppose one part changes weekly and another quarterly.</a:t>
            </a:r>
          </a:p>
          <a:p>
            <a:endParaRPr/>
          </a:p>
          <a:p>
            <a:r>
              <a:t>  Or one needs many replicas at month end and the other does not.</a:t>
            </a:r>
          </a:p>
          <a:p>
            <a:endParaRPr/>
          </a:p>
          <a:p>
            <a:r>
              <a:t>  Either case argues for separating them.</a:t>
            </a:r>
          </a:p>
          <a:p>
            <a:endParaRPr/>
          </a:p>
          <a:p>
            <a:r>
              <a:t>- WARNING SIGNS OF POOR BOUNDARIES</a:t>
            </a:r>
          </a:p>
          <a:p>
            <a:endParaRPr/>
          </a:p>
          <a:p>
            <a:r>
              <a:t>  Each sign is a symptom you can see in real delivery.</a:t>
            </a:r>
          </a:p>
          <a:p>
            <a:endParaRPr/>
          </a:p>
          <a:p>
            <a:r>
              <a:t>  If one feature routinely needs pull requests in three services, the boundary cuts through a capability.</a:t>
            </a:r>
          </a:p>
          <a:p>
            <a:endParaRPr/>
          </a:p>
          <a:p>
            <a:r>
              <a:t>  Shared tables mean ownership exists only on paper.</a:t>
            </a:r>
          </a:p>
          <a:p>
            <a:endParaRPr/>
          </a:p>
          <a:p>
            <a:r>
              <a:t>  Schema changes then need a committee.</a:t>
            </a:r>
          </a:p>
          <a:p>
            <a:endParaRPr/>
          </a:p>
          <a:p>
            <a:r>
              <a:t>  If two services must deploy together, you have a distributed monolith.</a:t>
            </a:r>
          </a:p>
          <a:p>
            <a:endParaRPr/>
          </a:p>
          <a:p>
            <a:r>
              <a:t>  That means separate services that still behave like one big application.</a:t>
            </a:r>
          </a:p>
          <a:p>
            <a:endParaRPr/>
          </a:p>
          <a:p>
            <a:r>
              <a:t>  Duplicated business rules drift apart and give customers inconsistent outcomes.</a:t>
            </a:r>
          </a:p>
          <a:p>
            <a:endParaRPr/>
          </a:p>
          <a:p>
            <a:r>
              <a:t>  An example is two services each deciding what makes an account usable.</a:t>
            </a:r>
          </a:p>
          <a:p>
            <a:endParaRPr/>
          </a:p>
          <a:p>
            <a:r>
              <a:t>  Ask learners to check their own release history and ticket trails for these patterns.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common smell in banking programs is a balance or overdraft rule built into two services.</a:t>
            </a:r>
          </a:p>
          <a:p>
            <a:endParaRPr/>
          </a:p>
          <a:p>
            <a:r>
              <a:t>  One is a payments service and the other is an account service.</a:t>
            </a:r>
          </a:p>
          <a:p>
            <a:endParaRPr/>
          </a:p>
          <a:p>
            <a:r>
              <a:t>  When the policy changes, only one gets updated.</a:t>
            </a:r>
          </a:p>
          <a:p>
            <a:endParaRPr/>
          </a:p>
          <a:p>
            <a:r>
              <a:t>  Customers then see a transfer approved in one channel but declined in another.</a:t>
            </a:r>
          </a:p>
          <a:p>
            <a:endParaRPr/>
          </a:p>
          <a:p>
            <a:r>
              <a:t>- Some teams must book a joint release window for two services every time either one changes.</a:t>
            </a:r>
          </a:p>
          <a:p>
            <a:endParaRPr/>
          </a:p>
          <a:p>
            <a:r>
              <a:t>  That shows deployment coupling.</a:t>
            </a:r>
          </a:p>
          <a:p>
            <a:endParaRPr/>
          </a:p>
          <a:p>
            <a:r>
              <a:t>  It often surfaces in change-advisory reviews.</a:t>
            </a:r>
          </a:p>
          <a:p>
            <a:endParaRPr/>
          </a:p>
          <a:p>
            <a:r>
              <a:t>  There, a supposedly independent service cannot be approved on its own.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Run the boundary questions on Account Service before Lab 1.</a:t>
            </a:r>
          </a:p>
          <a:p>
            <a:endParaRPr/>
          </a:p>
          <a:p>
            <a:r>
              <a:t>Capability: maintain accounts and their status lifecycle.</a:t>
            </a:r>
          </a:p>
          <a:p>
            <a:endParaRPr/>
          </a:p>
          <a:p>
            <a:r>
              <a:t>Data: the accounts table in account_db, managed by Flyway.</a:t>
            </a:r>
          </a:p>
          <a:p>
            <a:endParaRPr/>
          </a:p>
          <a:p>
            <a:r>
              <a:t>API: the /api/v1/accounts contract.</a:t>
            </a:r>
          </a:p>
          <a:p>
            <a:endParaRPr/>
          </a:p>
          <a:p>
            <a:r>
              <a:t>It covers create, read, nickname update, and the activate, freeze, and close actions.</a:t>
            </a:r>
          </a:p>
          <a:p>
            <a:endParaRPr/>
          </a:p>
          <a:p>
            <a:r>
              <a:t>Non-responsibilities: posting transactions and scoring risk.</a:t>
            </a:r>
          </a:p>
          <a:p>
            <a:endParaRPr/>
          </a:p>
          <a:p>
            <a:r>
              <a:t>Later, someone proposes a shortcut.</a:t>
            </a:r>
          </a:p>
          <a:p>
            <a:endParaRPr/>
          </a:p>
          <a:p>
            <a:r>
              <a:t>When a transaction looks risky, Transaction Service would set the account to FROZEN directly in account_db.</a:t>
            </a:r>
          </a:p>
          <a:p>
            <a:endParaRPr/>
          </a:p>
          <a:p>
            <a:r>
              <a:t>The warning signs flag it at once as a shared table plus a duplicated status rule.</a:t>
            </a:r>
          </a:p>
          <a:p>
            <a:endParaRPr/>
          </a:p>
          <a:p>
            <a:r>
              <a:t>The team rejects it.</a:t>
            </a:r>
          </a:p>
          <a:p>
            <a:endParaRPr/>
          </a:p>
          <a:p>
            <a:r>
              <a:t>The freeze goes through Account Service's own freeze endpoint, so status rules live in one place.</a:t>
            </a:r>
          </a:p>
          <a:p>
            <a:endParaRPr/>
          </a:p>
          <a:p>
            <a:endParaRPr/>
          </a:p>
          <a:p>
            <a:r>
              <a:t>TOPIC 2 OF 2: Service Granularity and the “Right-Sized” Service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THE GRANULARITY SPECTRUM</a:t>
            </a:r>
          </a:p>
          <a:p>
            <a:endParaRPr/>
          </a:p>
          <a:p>
            <a:r>
              <a:t>  Present it as a dial with failure at both ends.</a:t>
            </a:r>
          </a:p>
          <a:p>
            <a:endParaRPr/>
          </a:p>
          <a:p>
            <a:r>
              <a:t>  Too fine, and a single business request fans out into many network hops.</a:t>
            </a:r>
          </a:p>
          <a:p>
            <a:endParaRPr/>
          </a:p>
          <a:p>
            <a:r>
              <a:t>  Each hop adds latency, a failure mode, a pipeline, dashboards, and an on-call rotation.</a:t>
            </a:r>
          </a:p>
          <a:p>
            <a:endParaRPr/>
          </a:p>
          <a:p>
            <a:r>
              <a:t>  Too coarse, or split along the wrong lines, and you get separate processes that still share data.</a:t>
            </a:r>
          </a:p>
          <a:p>
            <a:endParaRPr/>
          </a:p>
          <a:p>
            <a:r>
              <a:t>  They must also release together.</a:t>
            </a:r>
          </a:p>
          <a:p>
            <a:endParaRPr/>
          </a:p>
          <a:p>
            <a:r>
              <a:t>  That is a distributed monolith: all the cost of distribution and none of the independence.</a:t>
            </a:r>
          </a:p>
          <a:p>
            <a:endParaRPr/>
          </a:p>
          <a:p>
            <a:r>
              <a:t>  Right-sized sits in the middle.</a:t>
            </a:r>
          </a:p>
          <a:p>
            <a:endParaRPr/>
          </a:p>
          <a:p>
            <a:r>
              <a:t>  It covers one business capability and is deployable on its own.</a:t>
            </a:r>
          </a:p>
          <a:p>
            <a:endParaRPr/>
          </a:p>
          <a:p>
            <a:r>
              <a:t>  It is also small enough for one team to understand completely.</a:t>
            </a:r>
          </a:p>
          <a:p>
            <a:endParaRPr/>
          </a:p>
          <a:p>
            <a:r>
              <a:t>- SIGNALS FOR RIGHT-SIZING</a:t>
            </a:r>
          </a:p>
          <a:p>
            <a:endParaRPr/>
          </a:p>
          <a:p>
            <a:r>
              <a:t>  These are practical tests, not metrics.</a:t>
            </a:r>
          </a:p>
          <a:p>
            <a:endParaRPr/>
          </a:p>
          <a:p>
            <a:r>
              <a:t>  First, can the owning team explain the service end to end?</a:t>
            </a:r>
          </a:p>
          <a:p>
            <a:endParaRPr/>
          </a:p>
          <a:p>
            <a:r>
              <a:t>  Can it ship a change without waiting for another team?</a:t>
            </a:r>
          </a:p>
          <a:p>
            <a:endParaRPr/>
          </a:p>
          <a:p>
            <a:r>
              <a:t>  If so, it passes.</a:t>
            </a:r>
          </a:p>
          <a:p>
            <a:endParaRPr/>
          </a:p>
          <a:p>
            <a:r>
              <a:t>  Second, can you state its responsibility in one sentence without stringing unrelated jobs together?</a:t>
            </a:r>
          </a:p>
          <a:p>
            <a:endParaRPr/>
          </a:p>
          <a:p>
            <a:r>
              <a:t>  If so, it passes.</a:t>
            </a:r>
          </a:p>
          <a:p>
            <a:endParaRPr/>
          </a:p>
          <a:p>
            <a:r>
              <a:t>  Third, do consumers only ever touch its API and events, never its tables or internal classes?</a:t>
            </a:r>
          </a:p>
          <a:p>
            <a:endParaRPr/>
          </a:p>
          <a:p>
            <a:r>
              <a:t>  If so, it passes.</a:t>
            </a:r>
          </a:p>
          <a:p>
            <a:endParaRPr/>
          </a:p>
          <a:p>
            <a:r>
              <a:t>  Remind the room there is no correct number of lines or endpoints.</a:t>
            </a:r>
          </a:p>
          <a:p>
            <a:endParaRPr/>
          </a:p>
          <a:p>
            <a:r>
              <a:t>  The tests are about ownership, cohesion, and clean interfaces.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Segment, the customer data company, publicly described consolidating many small per-destination microservices back into a single service.</a:t>
            </a:r>
          </a:p>
          <a:p>
            <a:endParaRPr/>
          </a:p>
          <a:p>
            <a:r>
              <a:t>  It did this after the operational overhead of running and changing them grew too high.</a:t>
            </a:r>
          </a:p>
          <a:p>
            <a:endParaRPr/>
          </a:p>
          <a:p>
            <a:r>
              <a:t>  It is a well-known example of a too fine-grained split being corrected.</a:t>
            </a:r>
          </a:p>
          <a:p>
            <a:endParaRPr/>
          </a:p>
          <a:p>
            <a:r>
              <a:t>- Amazon's two-pizza team idea is a useful sizing heuristic, meaning a rule of thumb.</a:t>
            </a:r>
          </a:p>
          <a:p>
            <a:endParaRPr/>
          </a:p>
          <a:p>
            <a:r>
              <a:t>  A service should be small enough for one small team to own it completely.</a:t>
            </a:r>
          </a:p>
          <a:p>
            <a:endParaRPr/>
          </a:p>
          <a:p>
            <a:r>
              <a:t>  That includes running it in production.</a:t>
            </a:r>
          </a:p>
          <a:p>
            <a:endParaRPr/>
          </a:p>
          <a:p>
            <a:r>
              <a:t>  The team should not need constant coordination with other teams.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During capstone design, one learner proposes splitting Account Service into three services.</a:t>
            </a:r>
          </a:p>
          <a:p>
            <a:endParaRPr/>
          </a:p>
          <a:p>
            <a:r>
              <a:t>They are AccountCreationService, AccountStatusService, and AccountNicknameService.</a:t>
            </a:r>
          </a:p>
          <a:p>
            <a:endParaRPr/>
          </a:p>
          <a:p>
            <a:r>
              <a:t>The group tests the idea against the signals.</a:t>
            </a:r>
          </a:p>
          <a:p>
            <a:endParaRPr/>
          </a:p>
          <a:p>
            <a:r>
              <a:t>All three would share the same account data and rules.</a:t>
            </a:r>
          </a:p>
          <a:p>
            <a:endParaRPr/>
          </a:p>
          <a:p>
            <a:r>
              <a:t>For example, a nickname cannot be updated on a CLOSED account.</a:t>
            </a:r>
          </a:p>
          <a:p>
            <a:endParaRPr/>
          </a:p>
          <a:p>
            <a:r>
              <a:t>So they would have to call each other or share a database.</a:t>
            </a:r>
          </a:p>
          <a:p>
            <a:endParaRPr/>
          </a:p>
          <a:p>
            <a:r>
              <a:t>That is too fine.</a:t>
            </a:r>
          </a:p>
          <a:p>
            <a:endParaRPr/>
          </a:p>
          <a:p>
            <a:r>
              <a:t>Another learner proposes merging Transaction Service and Risk Assessment Service into one TransactionRiskService.</a:t>
            </a:r>
          </a:p>
          <a:p>
            <a:endParaRPr/>
          </a:p>
          <a:p>
            <a:r>
              <a:t>That fails too.</a:t>
            </a:r>
          </a:p>
          <a:p>
            <a:endParaRPr/>
          </a:p>
          <a:p>
            <a:r>
              <a:t>The risk model changes on a different schedule and depends on OpenShift AI.</a:t>
            </a:r>
          </a:p>
          <a:p>
            <a:endParaRPr/>
          </a:p>
          <a:p>
            <a:r>
              <a:t>That is too coarse.</a:t>
            </a:r>
          </a:p>
          <a:p>
            <a:endParaRPr/>
          </a:p>
          <a:p>
            <a:r>
              <a:t>The group settles on the course's three services.</a:t>
            </a:r>
          </a:p>
          <a:p>
            <a:endParaRPr/>
          </a:p>
          <a:p>
            <a:r>
              <a:t>Each owns one capability and is deployable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Decomposing by Business Capability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CAPABILITY-BASED DECOMPOSITION</a:t>
            </a:r>
          </a:p>
          <a:p>
            <a:endParaRPr/>
          </a:p>
          <a:p>
            <a:r>
              <a:t>  A capability is what the business does, stated as a verb and a noun.</a:t>
            </a:r>
          </a:p>
          <a:p>
            <a:endParaRPr/>
          </a:p>
          <a:p>
            <a:r>
              <a:t>  It does not matter who does it or how.</a:t>
            </a:r>
          </a:p>
          <a:p>
            <a:endParaRPr/>
          </a:p>
          <a:p>
            <a:r>
              <a:t>  Banks have opened accounts, moved money, and lent money for a very long time.</a:t>
            </a:r>
          </a:p>
          <a:p>
            <a:endParaRPr/>
          </a:p>
          <a:p>
            <a:r>
              <a:t>  Meanwhile org charts, database vendors, and programming languages have all changed.</a:t>
            </a:r>
          </a:p>
          <a:p>
            <a:endParaRPr/>
          </a:p>
          <a:p>
            <a:r>
              <a:t>  So boundaries anchored to capabilities survive reorganizations and technology refreshes.</a:t>
            </a:r>
          </a:p>
          <a:p>
            <a:endParaRPr/>
          </a:p>
          <a:p>
            <a:r>
              <a:t>  The examples on the slide are candidate services, not a final answer.</a:t>
            </a:r>
          </a:p>
          <a:p>
            <a:endParaRPr/>
          </a:p>
          <a:p>
            <a:r>
              <a:t>  Some capabilities merge, and some split later.</a:t>
            </a:r>
          </a:p>
          <a:p>
            <a:endParaRPr/>
          </a:p>
          <a:p>
            <a:r>
              <a:t>  Encourage learners to write capabilities from the customer's point of view.</a:t>
            </a:r>
          </a:p>
          <a:p>
            <a:endParaRPr/>
          </a:p>
          <a:p>
            <a:r>
              <a:t>  They should do this before looking at any existing system.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The Banking Industry Architecture Network (BIAN) publishes a service landscape.</a:t>
            </a:r>
          </a:p>
          <a:p>
            <a:endParaRPr/>
          </a:p>
          <a:p>
            <a:r>
              <a:t>  It catalogues standard banking capabilities.</a:t>
            </a:r>
          </a:p>
          <a:p>
            <a:endParaRPr/>
          </a:p>
          <a:p>
            <a:r>
              <a:t>  Many banks use it as a reference when mapping services.</a:t>
            </a:r>
          </a:p>
          <a:p>
            <a:endParaRPr/>
          </a:p>
          <a:p>
            <a:r>
              <a:t>  The capability names do not depend on any vendor product or internal team structure.</a:t>
            </a:r>
          </a:p>
          <a:p>
            <a:endParaRPr/>
          </a:p>
          <a:p>
            <a:r>
              <a:t>- In card servicing, think of capabilities like issue card, authorize purchase, dispute transaction, and replace a lost card.</a:t>
            </a:r>
          </a:p>
          <a:p>
            <a:endParaRPr/>
          </a:p>
          <a:p>
            <a:r>
              <a:t>  They stay the same whether the bank runs them on a mainframe or on OpenShift.</a:t>
            </a:r>
          </a:p>
          <a:p>
            <a:endParaRPr/>
          </a:p>
          <a:p>
            <a:r>
              <a:t>  That stability makes them sound service boundaries during modernization.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Before writing code, the capstone team lists what the risk platform must do for the business.</a:t>
            </a:r>
          </a:p>
          <a:p>
            <a:endParaRPr/>
          </a:p>
          <a:p>
            <a:r>
              <a:t>It must maintain customer accounts and their status.</a:t>
            </a:r>
          </a:p>
          <a:p>
            <a:endParaRPr/>
          </a:p>
          <a:p>
            <a:r>
              <a:t>It must record banking transactions.</a:t>
            </a:r>
          </a:p>
          <a:p>
            <a:endParaRPr/>
          </a:p>
          <a:p>
            <a:r>
              <a:t>It must assess the risk of each transaction.</a:t>
            </a:r>
          </a:p>
          <a:p>
            <a:endParaRPr/>
          </a:p>
          <a:p>
            <a:r>
              <a:t>Each capability becomes a candidate service: Account Service, Transaction Service, and Risk Assessment Service.</a:t>
            </a:r>
          </a:p>
          <a:p>
            <a:endParaRPr/>
          </a:p>
          <a:p>
            <a:r>
              <a:t>Midway through the imaginary project, the bank moves its risk engineers into a new data science organization.</a:t>
            </a:r>
          </a:p>
          <a:p>
            <a:endParaRPr/>
          </a:p>
          <a:p>
            <a:r>
              <a:t>The service boundaries do not have to change at all.</a:t>
            </a:r>
          </a:p>
          <a:p>
            <a:endParaRPr/>
          </a:p>
          <a:p>
            <a:r>
              <a:t>They follow the capability, not the reporting line.</a:t>
            </a:r>
          </a:p>
          <a:p>
            <a:endParaRPr/>
          </a:p>
          <a:p>
            <a:r>
              <a:t>Only the owning-team label on Risk Assessment Service is updated.</a:t>
            </a:r>
          </a:p>
          <a:p>
            <a:endParaRPr/>
          </a:p>
          <a:p>
            <a:r>
              <a:t>That durability is the point of decomposing by capability.</a:t>
            </a:r>
          </a:p>
          <a:p>
            <a:endParaRPr/>
          </a:p>
          <a:p>
            <a:endParaRPr/>
          </a:p>
          <a:p>
            <a:r>
              <a:t>TOPIC 2 OF 3: Decomposing by Subdomain</a:t>
            </a:r>
          </a:p>
          <a:p>
            <a:r>
              <a:t>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SUBDOMAIN-BASED DECOMPOSITION</a:t>
            </a:r>
          </a:p>
          <a:p>
            <a:endParaRPr/>
          </a:p>
          <a:p>
            <a:r>
              <a:t>  Capability mapping answers what the pieces are.</a:t>
            </a:r>
          </a:p>
          <a:p>
            <a:endParaRPr/>
          </a:p>
          <a:p>
            <a:r>
              <a:t>  Subdomain classification answers how much each piece deserves.</a:t>
            </a:r>
          </a:p>
          <a:p>
            <a:endParaRPr/>
          </a:p>
          <a:p>
            <a:r>
              <a:t>  Core subdomains get the strongest engineers, the richest domain modelling, and custom code.</a:t>
            </a:r>
          </a:p>
          <a:p>
            <a:endParaRPr/>
          </a:p>
          <a:p>
            <a:r>
              <a:t>  Supporting subdomains get simple, maintainable implementations without gold plating, meaning no extra polish they do not need.</a:t>
            </a:r>
          </a:p>
          <a:p>
            <a:endParaRPr/>
          </a:p>
          <a:p>
            <a:r>
              <a:t>  Generic subdomains get products or shared platforms.</a:t>
            </a:r>
          </a:p>
          <a:p>
            <a:endParaRPr/>
          </a:p>
          <a:p>
            <a:r>
              <a:t>  Building them adds cost without advantage.</a:t>
            </a:r>
          </a:p>
          <a:p>
            <a:endParaRPr/>
          </a:p>
          <a:p>
            <a:r>
              <a:t>  The last bullet matters for boundaries.</a:t>
            </a:r>
          </a:p>
          <a:p>
            <a:endParaRPr/>
          </a:p>
          <a:p>
            <a:r>
              <a:t>  A large subdomain such as payments may need several services.</a:t>
            </a:r>
          </a:p>
          <a:p>
            <a:endParaRPr/>
          </a:p>
          <a:p>
            <a:r>
              <a:t>  But each must still have one clearly named owning team.</a:t>
            </a:r>
          </a:p>
          <a:p>
            <a:endParaRPr/>
          </a:p>
          <a:p>
            <a:r>
              <a:t>  Use both techniques together on the same map.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bank typically reuses a notification platform for generic capabilities like email and SMS delivery.</a:t>
            </a:r>
          </a:p>
          <a:p>
            <a:endParaRPr/>
          </a:p>
          <a:p>
            <a:r>
              <a:t>  It builds supporting capabilities, like branch appointment booking, simply.</a:t>
            </a:r>
          </a:p>
          <a:p>
            <a:endParaRPr/>
          </a:p>
          <a:p>
            <a:r>
              <a:t>  It concentrates custom engineering on core areas such as real-time fraud decisioning.</a:t>
            </a:r>
          </a:p>
          <a:p>
            <a:endParaRPr/>
          </a:p>
          <a:p>
            <a:r>
              <a:t>- Message brokering is a generic concern.</a:t>
            </a:r>
          </a:p>
          <a:p>
            <a:endParaRPr/>
          </a:p>
          <a:p>
            <a:r>
              <a:t>  That is why this course uses Red Hat AMQ Streams, a supported Kafka distribution, instead of building a broker.</a:t>
            </a:r>
          </a:p>
          <a:p>
            <a:endParaRPr/>
          </a:p>
          <a:p>
            <a:r>
              <a:t>  The business events that flow through it are different.</a:t>
            </a:r>
          </a:p>
          <a:p>
            <a:endParaRPr/>
          </a:p>
          <a:p>
            <a:r>
              <a:t>  They are designed in-house because they carry the bank's own domain.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Picture the capstone team planning the week with a fixed budget of engineering hours.</a:t>
            </a:r>
          </a:p>
          <a:p>
            <a:endParaRPr/>
          </a:p>
          <a:p>
            <a:r>
              <a:t>Risk Assessment Service is core.</a:t>
            </a:r>
          </a:p>
          <a:p>
            <a:endParaRPr/>
          </a:p>
          <a:p>
            <a:r>
              <a:t>The bank's differentiation lives in how well it spots risky transactions.</a:t>
            </a:r>
          </a:p>
          <a:p>
            <a:endParaRPr/>
          </a:p>
          <a:p>
            <a:r>
              <a:t>So it earns careful design and model serving on OpenShift AI.</a:t>
            </a:r>
          </a:p>
          <a:p>
            <a:endParaRPr/>
          </a:p>
          <a:p>
            <a:r>
              <a:t>Transaction Service is core or supporting, depending on the bank's strategy.</a:t>
            </a:r>
          </a:p>
          <a:p>
            <a:endParaRPr/>
          </a:p>
          <a:p>
            <a:r>
              <a:t>Account Service is supporting.</a:t>
            </a:r>
          </a:p>
          <a:p>
            <a:endParaRPr/>
          </a:p>
          <a:p>
            <a:r>
              <a:t>It must be correct, audited, and well tested.</a:t>
            </a:r>
          </a:p>
          <a:p>
            <a:endParaRPr/>
          </a:p>
          <a:p>
            <a:r>
              <a:t>But a clean Spring Boot service with Flyway and PostgreSQL is enough.</a:t>
            </a:r>
          </a:p>
          <a:p>
            <a:endParaRPr/>
          </a:p>
          <a:p>
            <a:r>
              <a:t>Identity through Keycloak, messaging through AMQ Streams, and the OpenShift platform are generic.</a:t>
            </a:r>
          </a:p>
          <a:p>
            <a:endParaRPr/>
          </a:p>
          <a:p>
            <a:r>
              <a:t>So nobody builds them.</a:t>
            </a:r>
          </a:p>
          <a:p>
            <a:endParaRPr/>
          </a:p>
          <a:p>
            <a:r>
              <a:t>A stakeholder may ask why the team is not writing its own token server.</a:t>
            </a:r>
          </a:p>
          <a:p>
            <a:endParaRPr/>
          </a:p>
          <a:p>
            <a:r>
              <a:t>This slide is the answer.</a:t>
            </a:r>
          </a:p>
          <a:p>
            <a:endParaRPr/>
          </a:p>
          <a:p>
            <a:endParaRPr/>
          </a:p>
          <a:p>
            <a:r>
              <a:t>TOPIC 3 OF 3: Decomposing an Existing Monolith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THE FOUR-STEP DECOMPOSITION PROCESS</a:t>
            </a:r>
          </a:p>
          <a:p>
            <a:endParaRPr/>
          </a:p>
          <a:p>
            <a:r>
              <a:t>  Step one is discovery.</a:t>
            </a:r>
          </a:p>
          <a:p>
            <a:endParaRPr/>
          </a:p>
          <a:p>
            <a:r>
              <a:t>  Look at package structure, which tables each module reads and writes, and call paths.</a:t>
            </a:r>
          </a:p>
          <a:p>
            <a:endParaRPr/>
          </a:p>
          <a:p>
            <a:r>
              <a:t>  Static analysis and database access logs help here.</a:t>
            </a:r>
          </a:p>
          <a:p>
            <a:endParaRPr/>
          </a:p>
          <a:p>
            <a:r>
              <a:t>  Step two looks for seams.</a:t>
            </a:r>
          </a:p>
          <a:p>
            <a:endParaRPr/>
          </a:p>
          <a:p>
            <a:r>
              <a:t>  A seam is a place where a capability already touches a mostly separate set of tables.</a:t>
            </a:r>
          </a:p>
          <a:p>
            <a:endParaRPr/>
          </a:p>
          <a:p>
            <a:r>
              <a:t>  Step three picks the first extraction carefully.</a:t>
            </a:r>
          </a:p>
          <a:p>
            <a:endParaRPr/>
          </a:p>
          <a:p>
            <a:r>
              <a:t>  It should be valuable enough to matter, low-risk enough to survive mistakes, and measurable afterwards.</a:t>
            </a:r>
          </a:p>
          <a:p>
            <a:endParaRPr/>
          </a:p>
          <a:p>
            <a:r>
              <a:t>  Step four proves it worked using real journeys.</a:t>
            </a:r>
          </a:p>
          <a:p>
            <a:endParaRPr/>
          </a:p>
          <a:p>
            <a:r>
              <a:t>  Nobody starts the next extraction before that.</a:t>
            </a:r>
          </a:p>
          <a:p>
            <a:endParaRPr/>
          </a:p>
          <a:p>
            <a:r>
              <a:t>  Each loop teaches the team something that makes the next one faster.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Netflix is a well-documented case.</a:t>
            </a:r>
          </a:p>
          <a:p>
            <a:endParaRPr/>
          </a:p>
          <a:p>
            <a:r>
              <a:t>  A serious database corruption problem disrupted its DVD shipping business.</a:t>
            </a:r>
          </a:p>
          <a:p>
            <a:endParaRPr/>
          </a:p>
          <a:p>
            <a:r>
              <a:t>  After that, it moved from a monolithic data-centre application to cloud-hosted services over several years.</a:t>
            </a:r>
          </a:p>
          <a:p>
            <a:endParaRPr/>
          </a:p>
          <a:p>
            <a:r>
              <a:t>  It migrated functionality piece by piece, not in one cutover.</a:t>
            </a:r>
          </a:p>
          <a:p>
            <a:endParaRPr/>
          </a:p>
          <a:p>
            <a:r>
              <a:t>- Banks modernizing statement generation often extract it early.</a:t>
            </a:r>
          </a:p>
          <a:p>
            <a:endParaRPr/>
          </a:p>
          <a:p>
            <a:r>
              <a:t>  It reads account and transaction data but rarely writes back.</a:t>
            </a:r>
          </a:p>
          <a:p>
            <a:endParaRPr/>
          </a:p>
          <a:p>
            <a:r>
              <a:t>  So it is a lower-risk seam.</a:t>
            </a:r>
          </a:p>
          <a:p>
            <a:endParaRPr/>
          </a:p>
          <a:p>
            <a:r>
              <a:t>  Success is also easy to verify.</a:t>
            </a:r>
          </a:p>
          <a:p>
            <a:endParaRPr/>
          </a:p>
          <a:p>
            <a:r>
              <a:t>  Compare the statements produced by the old and new paths.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Imagine the bank's current risk checks live inside a monolithic core application.</a:t>
            </a:r>
          </a:p>
          <a:p>
            <a:endParaRPr/>
          </a:p>
          <a:p>
            <a:r>
              <a:t>In step one, the team finds that the transaction-posting module calls a scoring routine directly.</a:t>
            </a:r>
          </a:p>
          <a:p>
            <a:endParaRPr/>
          </a:p>
          <a:p>
            <a:r>
              <a:t>Both work on the same tables.</a:t>
            </a:r>
          </a:p>
          <a:p>
            <a:endParaRPr/>
          </a:p>
          <a:p>
            <a:r>
              <a:t>In step two, they notice a seam.</a:t>
            </a:r>
          </a:p>
          <a:p>
            <a:endParaRPr/>
          </a:p>
          <a:p>
            <a:r>
              <a:t>Scoring reads transaction data but only writes back a score.</a:t>
            </a:r>
          </a:p>
          <a:p>
            <a:endParaRPr/>
          </a:p>
          <a:p>
            <a:r>
              <a:t>In step three, they extract that seam as Risk Assessment Service.</a:t>
            </a:r>
          </a:p>
          <a:p>
            <a:endParaRPr/>
          </a:p>
          <a:p>
            <a:r>
              <a:t>It is the highest-value and most self-contained piece.</a:t>
            </a:r>
          </a:p>
          <a:p>
            <a:endParaRPr/>
          </a:p>
          <a:p>
            <a:r>
              <a:t>In step four, they run it alongside the old routine on synthetic transactions.</a:t>
            </a:r>
          </a:p>
          <a:p>
            <a:endParaRPr/>
          </a:p>
          <a:p>
            <a:r>
              <a:t>They compare the scores before letting it influence any decision.</a:t>
            </a:r>
          </a:p>
          <a:p>
            <a:endParaRPr/>
          </a:p>
          <a:p>
            <a:r>
              <a:t>Only after that comparison holds up do they look for the next seam, perhaps account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The Strangler Fig Migration Pattern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FOUR-STAGE STRANGLER FIG MIGRATION</a:t>
            </a:r>
          </a:p>
          <a:p>
            <a:endParaRPr/>
          </a:p>
          <a:p>
            <a:r>
              <a:t>  Martin Fowler named the pattern after strangler fig vines.</a:t>
            </a:r>
          </a:p>
          <a:p>
            <a:endParaRPr/>
          </a:p>
          <a:p>
            <a:r>
              <a:t>  These vines grow around a host tree until they replace it.</a:t>
            </a:r>
          </a:p>
          <a:p>
            <a:endParaRPr/>
          </a:p>
          <a:p>
            <a:r>
              <a:t>  Stage one is the key enabler.</a:t>
            </a:r>
          </a:p>
          <a:p>
            <a:endParaRPr/>
          </a:p>
          <a:p>
            <a:r>
              <a:t>  Once every client calls a routing layer, you control where each request goes without changing any client.</a:t>
            </a:r>
          </a:p>
          <a:p>
            <a:endParaRPr/>
          </a:p>
          <a:p>
            <a:r>
              <a:t>  Stage two builds the replacement for one capability next to the old code.</a:t>
            </a:r>
          </a:p>
          <a:p>
            <a:endParaRPr/>
          </a:p>
          <a:p>
            <a:r>
              <a:t>  Stage three shifts traffic, often gradually.</a:t>
            </a:r>
          </a:p>
          <a:p>
            <a:endParaRPr/>
          </a:p>
          <a:p>
            <a:r>
              <a:t>  For example, internal users move first and then customers.</a:t>
            </a:r>
          </a:p>
          <a:p>
            <a:endParaRPr/>
          </a:p>
          <a:p>
            <a:r>
              <a:t>  Stage four is the one teams skip: deleting the old code path.</a:t>
            </a:r>
          </a:p>
          <a:p>
            <a:endParaRPr/>
          </a:p>
          <a:p>
            <a:r>
              <a:t>  That step is what actually removes cost and risk.</a:t>
            </a:r>
          </a:p>
          <a:p>
            <a:endParaRPr/>
          </a:p>
          <a:p>
            <a:r>
              <a:t>- WHY IT WORKS</a:t>
            </a:r>
          </a:p>
          <a:p>
            <a:endParaRPr/>
          </a:p>
          <a:p>
            <a:r>
              <a:t>  The monolith stays live, so customers never face a big-bang weekend cutover.</a:t>
            </a:r>
          </a:p>
          <a:p>
            <a:endParaRPr/>
          </a:p>
          <a:p>
            <a:r>
              <a:t>  If the new service misbehaves, the routing rule flips back.</a:t>
            </a:r>
          </a:p>
          <a:p>
            <a:endParaRPr/>
          </a:p>
          <a:p>
            <a:r>
              <a:t>  That makes each step reversible and gives change boards a clear rollback plan.</a:t>
            </a:r>
          </a:p>
          <a:p>
            <a:endParaRPr/>
          </a:p>
          <a:p>
            <a:r>
              <a:t>  Capabilities move one at a time.</a:t>
            </a:r>
          </a:p>
          <a:p>
            <a:endParaRPr/>
          </a:p>
          <a:p>
            <a:r>
              <a:t>  So testing, performance checks, and reconciliation are scoped to that one capability.</a:t>
            </a:r>
          </a:p>
          <a:p>
            <a:endParaRPr/>
          </a:p>
          <a:p>
            <a:r>
              <a:t>  Be honest about the trade-off.</a:t>
            </a:r>
          </a:p>
          <a:p>
            <a:endParaRPr/>
          </a:p>
          <a:p>
            <a:r>
              <a:t>  For a while the bank runs two paths and must keep their data in sync.</a:t>
            </a:r>
          </a:p>
          <a:p>
            <a:endParaRPr/>
          </a:p>
          <a:p>
            <a:r>
              <a:t>  That needs deliberate planning.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Core banking replacements are sometimes attempted as a single big-bang migration.</a:t>
            </a:r>
          </a:p>
          <a:p>
            <a:endParaRPr/>
          </a:p>
          <a:p>
            <a:r>
              <a:t>  These are widely regarded as among the riskiest projects a bank can undertake, because every customer moves at once.</a:t>
            </a:r>
          </a:p>
          <a:p>
            <a:endParaRPr/>
          </a:p>
          <a:p>
            <a:r>
              <a:t>  Incremental, capability-by-capability routing is favored precisely to avoid that all-or-nothing exposure.</a:t>
            </a:r>
          </a:p>
          <a:p>
            <a:endParaRPr/>
          </a:p>
          <a:p>
            <a:r>
              <a:t>- An API gateway or an OpenShift Route with path-based routing can front a legacy application.</a:t>
            </a:r>
          </a:p>
          <a:p>
            <a:endParaRPr/>
          </a:p>
          <a:p>
            <a:r>
              <a:t>  Requests to one path, such as account lookup, go to a new Spring Boot service.</a:t>
            </a:r>
          </a:p>
          <a:p>
            <a:endParaRPr/>
          </a:p>
          <a:p>
            <a:r>
              <a:t>  Every other path still reaches the monolith.</a:t>
            </a:r>
          </a:p>
          <a:p>
            <a:endParaRPr/>
          </a:p>
          <a:p>
            <a:r>
              <a:t>  More paths move over later through configuration.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Suppose account lookup and account creation still live inside the bank's monolith.</a:t>
            </a:r>
          </a:p>
          <a:p>
            <a:endParaRPr/>
          </a:p>
          <a:p>
            <a:r>
              <a:t>Stage one: the team places a gateway in front of it, so every client calls the gateway.</a:t>
            </a:r>
          </a:p>
          <a:p>
            <a:endParaRPr/>
          </a:p>
          <a:p>
            <a:r>
              <a:t>Stage two: they build Account Service, exactly as in Lab 1, exposing /api/v1/accounts.</a:t>
            </a:r>
          </a:p>
          <a:p>
            <a:endParaRPr/>
          </a:p>
          <a:p>
            <a:r>
              <a:t>Stage three: they route GET account requests from internal operations users to the new service.</a:t>
            </a:r>
          </a:p>
          <a:p>
            <a:endParaRPr/>
          </a:p>
          <a:p>
            <a:r>
              <a:t>They compare the responses with the monolith.</a:t>
            </a:r>
          </a:p>
          <a:p>
            <a:endParaRPr/>
          </a:p>
          <a:p>
            <a:r>
              <a:t>Then they move all read traffic, and later account creation.</a:t>
            </a:r>
          </a:p>
          <a:p>
            <a:endParaRPr/>
          </a:p>
          <a:p>
            <a:r>
              <a:t>If a mismatch appears, one routing change sends traffic back.</a:t>
            </a:r>
          </a:p>
          <a:p>
            <a:endParaRPr/>
          </a:p>
          <a:p>
            <a:r>
              <a:t>Transaction processing stays on the monolith until Transaction Service is ready.</a:t>
            </a:r>
          </a:p>
          <a:p>
            <a:endParaRPr/>
          </a:p>
          <a:p>
            <a:r>
              <a:t>Stage four: once nothing calls the old account code, the team deletes it.</a:t>
            </a:r>
          </a:p>
          <a:p>
            <a:endParaRPr/>
          </a:p>
          <a:p>
            <a:r>
              <a:t>They record that date in the plan.</a:t>
            </a:r>
          </a:p>
          <a:p>
            <a:endParaRPr/>
          </a:p>
          <a:p>
            <a:endParaRPr/>
          </a:p>
          <a:p>
            <a:r>
              <a:t>TOPIC 2 OF 2: Loose Coupling in Practice</a:t>
            </a:r>
          </a:p>
          <a:p>
            <a:r>
              <a:t>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TIGHTLY COUPLED VS. LOOSELY COUPLED</a:t>
            </a:r>
          </a:p>
          <a:p>
            <a:endParaRPr/>
          </a:p>
          <a:p>
            <a:r>
              <a:t>  The tight example is a service reaching past an API into another team's tables.</a:t>
            </a:r>
          </a:p>
          <a:p>
            <a:endParaRPr/>
          </a:p>
          <a:p>
            <a:r>
              <a:t>  The moment the owner renames a column, the reader breaks.</a:t>
            </a:r>
          </a:p>
          <a:p>
            <a:endParaRPr/>
          </a:p>
          <a:p>
            <a:r>
              <a:t>  Nobody knew the dependency existed.</a:t>
            </a:r>
          </a:p>
          <a:p>
            <a:endParaRPr/>
          </a:p>
          <a:p>
            <a:r>
              <a:t>  In the capstone, the same mistake would be Transaction Service querying account_db to check status.</a:t>
            </a:r>
          </a:p>
          <a:p>
            <a:endParaRPr/>
          </a:p>
          <a:p>
            <a:r>
              <a:t>  The loose version asks Account Service through GET /api/v1/accounts/{accountId}.</a:t>
            </a:r>
          </a:p>
          <a:p>
            <a:endParaRPr/>
          </a:p>
          <a:p>
            <a:r>
              <a:t>  Or it reacts to events the owner publishes.</a:t>
            </a:r>
          </a:p>
          <a:p>
            <a:endParaRPr/>
          </a:p>
          <a:p>
            <a:r>
              <a:t>  The owner can then refactor its schema freely, as long as the contract holds.</a:t>
            </a:r>
          </a:p>
          <a:p>
            <a:endParaRPr/>
          </a:p>
          <a:p>
            <a:r>
              <a:t>  Both examples on the slide illustrate this one principle.</a:t>
            </a:r>
          </a:p>
          <a:p>
            <a:endParaRPr/>
          </a:p>
          <a:p>
            <a:r>
              <a:t>- COMMON COUPLING RISKS TO AVOID</a:t>
            </a:r>
          </a:p>
          <a:p>
            <a:endParaRPr/>
          </a:p>
          <a:p>
            <a:r>
              <a:t>  Database coupling is the strongest form and gets its own slide shortly.</a:t>
            </a:r>
          </a:p>
          <a:p>
            <a:endParaRPr/>
          </a:p>
          <a:p>
            <a:r>
              <a:t>  Deployment coupling appears as release trains, where services must ship together.</a:t>
            </a:r>
          </a:p>
          <a:p>
            <a:endParaRPr/>
          </a:p>
          <a:p>
            <a:r>
              <a:t>  API contract coupling appears when a provider removes or renames a field and every consumer breaks.</a:t>
            </a:r>
          </a:p>
          <a:p>
            <a:endParaRPr/>
          </a:p>
          <a:p>
            <a:r>
              <a:t>  That is why backward-compatible changes and versioning matter.</a:t>
            </a:r>
          </a:p>
          <a:p>
            <a:endParaRPr/>
          </a:p>
          <a:p>
            <a:r>
              <a:t>  Temporal coupling means both services must be up at the same moment.</a:t>
            </a:r>
          </a:p>
          <a:p>
            <a:endParaRPr/>
          </a:p>
          <a:p>
            <a:r>
              <a:t>  If Account Service is down, a synchronous transaction request fails.</a:t>
            </a:r>
          </a:p>
          <a:p>
            <a:endParaRPr/>
          </a:p>
          <a:p>
            <a:r>
              <a:t>  Lab 3 handles that with a timeout, a circuit breaker, and a safe 503 response.</a:t>
            </a:r>
          </a:p>
          <a:p>
            <a:endParaRPr/>
          </a:p>
          <a:p>
            <a:r>
              <a:t>  Messaging reduces it where an immediate answer is not needed.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payments team that writes directly to account ledger tables to update balances creates hidden coupling.</a:t>
            </a:r>
          </a:p>
          <a:p>
            <a:endParaRPr/>
          </a:p>
          <a:p>
            <a:r>
              <a:t>  When the account team migrates the ledger schema, payments fail in production.</a:t>
            </a:r>
          </a:p>
          <a:p>
            <a:endParaRPr/>
          </a:p>
          <a:p>
            <a:r>
              <a:t>  Calling a funds-reservation API instead lets the account team own how balances change.</a:t>
            </a:r>
          </a:p>
          <a:p>
            <a:endParaRPr/>
          </a:p>
          <a:p>
            <a:r>
              <a:t>- Notifications are a classic place to remove temporal coupling.</a:t>
            </a:r>
          </a:p>
          <a:p>
            <a:endParaRPr/>
          </a:p>
          <a:p>
            <a:r>
              <a:t>  A transfer completes and publishes an event.</a:t>
            </a:r>
          </a:p>
          <a:p>
            <a:endParaRPr/>
          </a:p>
          <a:p>
            <a:r>
              <a:t>  The email or push message is sent afterwards.</a:t>
            </a:r>
          </a:p>
          <a:p>
            <a:endParaRPr/>
          </a:p>
          <a:p>
            <a:r>
              <a:t>  So an outage at the messaging vendor never blocks money movement.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On Day 2, under time pressure, a developer proposes giving Transaction Service a JDBC connection to account_db.</a:t>
            </a:r>
          </a:p>
          <a:p>
            <a:endParaRPr/>
          </a:p>
          <a:p>
            <a:r>
              <a:t>The goal is to check account status, because it seems faster than an HTTP call.</a:t>
            </a:r>
          </a:p>
          <a:p>
            <a:endParaRPr/>
          </a:p>
          <a:p>
            <a:r>
              <a:t>The team walks through the risks.</a:t>
            </a:r>
          </a:p>
          <a:p>
            <a:endParaRPr/>
          </a:p>
          <a:p>
            <a:r>
              <a:t>A later Flyway migration in Account Service could rename the status column.</a:t>
            </a:r>
          </a:p>
          <a:p>
            <a:endParaRPr/>
          </a:p>
          <a:p>
            <a:r>
              <a:t>That would silently break Transaction Service.</a:t>
            </a:r>
          </a:p>
          <a:p>
            <a:endParaRPr/>
          </a:p>
          <a:p>
            <a:r>
              <a:t>So the team uses the Account Service API.</a:t>
            </a:r>
          </a:p>
          <a:p>
            <a:endParaRPr/>
          </a:p>
          <a:p>
            <a:r>
              <a:t>That fixes database coupling but exposes temporal coupling.</a:t>
            </a:r>
          </a:p>
          <a:p>
            <a:endParaRPr/>
          </a:p>
          <a:p>
            <a:r>
              <a:t>If Account Service is down, transactions cannot be validated.</a:t>
            </a:r>
          </a:p>
          <a:p>
            <a:endParaRPr/>
          </a:p>
          <a:p>
            <a:r>
              <a:t>Lab 3 answers this with a timeout and a circuit breaker.</a:t>
            </a:r>
          </a:p>
          <a:p>
            <a:endParaRPr/>
          </a:p>
          <a:p>
            <a:r>
              <a:t>POST /api/v1/transactions returns 503 ACCOUNT_SERVICE_UNAVAILABLE and publishes no Kafka event.</a:t>
            </a:r>
          </a:p>
          <a:p>
            <a:endParaRPr/>
          </a:p>
          <a:p>
            <a:r>
              <a:t>It never invents an ACTIVE account.</a:t>
            </a:r>
          </a:p>
          <a:p>
            <a:endParaRPr/>
          </a:p>
          <a:p>
            <a:r>
              <a:t>Every coupling type becomes a visible, managed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High Cohesion in Practice</a:t>
            </a:r>
          </a:p>
          <a:p>
            <a:r>
              <a:t>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LOW COHESION VS. HIGH COHESION</a:t>
            </a:r>
          </a:p>
          <a:p>
            <a:endParaRPr/>
          </a:p>
          <a:p>
            <a:r>
              <a:t>  The BankingUtilityService is the service nobody wants to own.</a:t>
            </a:r>
          </a:p>
          <a:p>
            <a:endParaRPr/>
          </a:p>
          <a:p>
            <a:r>
              <a:t>  It has five unrelated jobs, five reasons to change, and five sets of stakeholders.</a:t>
            </a:r>
          </a:p>
          <a:p>
            <a:endParaRPr/>
          </a:p>
          <a:p>
            <a:r>
              <a:t>  They all compete for the same release window.</a:t>
            </a:r>
          </a:p>
          <a:p>
            <a:endParaRPr/>
          </a:p>
          <a:p>
            <a:r>
              <a:t>  A fraud-scoring tweak can break statement reports.</a:t>
            </a:r>
          </a:p>
          <a:p>
            <a:endParaRPr/>
          </a:p>
          <a:p>
            <a:r>
              <a:t>  The high-cohesion version gives each job its own home and a focused team.</a:t>
            </a:r>
          </a:p>
          <a:p>
            <a:endParaRPr/>
          </a:p>
          <a:p>
            <a:r>
              <a:t>  Cohesion is the partner of loose coupling.</a:t>
            </a:r>
          </a:p>
          <a:p>
            <a:endParaRPr/>
          </a:p>
          <a:p>
            <a:r>
              <a:t>  Coupling is about how services depend on each other.</a:t>
            </a:r>
          </a:p>
          <a:p>
            <a:endParaRPr/>
          </a:p>
          <a:p>
            <a:r>
              <a:t>  Cohesion is about whether everything inside one service belongs together.</a:t>
            </a:r>
          </a:p>
          <a:p>
            <a:endParaRPr/>
          </a:p>
          <a:p>
            <a:r>
              <a:t>  The capstone's Account Service is cohesive because it handles only account behavior.</a:t>
            </a:r>
          </a:p>
          <a:p>
            <a:endParaRPr/>
          </a:p>
          <a:p>
            <a:r>
              <a:t>- WHY IT MATTERS</a:t>
            </a:r>
          </a:p>
          <a:p>
            <a:endParaRPr/>
          </a:p>
          <a:p>
            <a:r>
              <a:t>  A new engineer can understand a cohesive service quickly.</a:t>
            </a:r>
          </a:p>
          <a:p>
            <a:endParaRPr/>
          </a:p>
          <a:p>
            <a:r>
              <a:t>  They can test it with a focused suite and know which team to page when it fails.</a:t>
            </a:r>
          </a:p>
          <a:p>
            <a:endParaRPr/>
          </a:p>
          <a:p>
            <a:r>
              <a:t>  Changes stay local because related rules live together.</a:t>
            </a:r>
          </a:p>
          <a:p>
            <a:endParaRPr/>
          </a:p>
          <a:p>
            <a:r>
              <a:t>  The teach guide offers a quick test.</a:t>
            </a:r>
          </a:p>
          <a:p>
            <a:endParaRPr/>
          </a:p>
          <a:p>
            <a:r>
              <a:t>  Would the same business team naturally own all these rules?</a:t>
            </a:r>
          </a:p>
          <a:p>
            <a:endParaRPr/>
          </a:p>
          <a:p>
            <a:r>
              <a:t>  If yes, they may belong together.</a:t>
            </a:r>
          </a:p>
          <a:p>
            <a:endParaRPr/>
          </a:p>
          <a:p>
            <a:r>
              <a:t>  If not, split them.</a:t>
            </a:r>
          </a:p>
          <a:p>
            <a:endParaRPr/>
          </a:p>
          <a:p>
            <a:r>
              <a:t>  Aligning to business capabilities makes that answer obvious far more often.</a:t>
            </a:r>
          </a:p>
          <a:p>
            <a:endParaRPr/>
          </a:p>
          <a:p>
            <a:r>
              <a:t>  Aligning to technical layers, such as a generic data service or utility service, does not.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common-services module in an enterprise system often grows to include address validation, PDF statement rendering, and fee calculation.</a:t>
            </a:r>
          </a:p>
          <a:p>
            <a:endParaRPr/>
          </a:p>
          <a:p>
            <a:r>
              <a:t>  Every fee change then requires regression testing of statements.</a:t>
            </a:r>
          </a:p>
          <a:p>
            <a:endParaRPr/>
          </a:p>
          <a:p>
            <a:r>
              <a:t>  That slows the fee changes the business needs quickly.</a:t>
            </a:r>
          </a:p>
          <a:p>
            <a:endParaRPr/>
          </a:p>
          <a:p>
            <a:r>
              <a:t>- Card rewards calculation and card authorization both involve cards.</a:t>
            </a:r>
          </a:p>
          <a:p>
            <a:endParaRPr/>
          </a:p>
          <a:p>
            <a:r>
              <a:t>  But they change for different reasons.</a:t>
            </a:r>
          </a:p>
          <a:p>
            <a:endParaRPr/>
          </a:p>
          <a:p>
            <a:r>
              <a:t>  Rewards change with marketing campaigns, while authorization changes with fraud and network rules.</a:t>
            </a:r>
          </a:p>
          <a:p>
            <a:endParaRPr/>
          </a:p>
          <a:p>
            <a:r>
              <a:t>  Separate cohesive services let a rewards promotion launch without touching the authorization path.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Halfway through Lab 1, a learner suggests adding two things to Account Service.</a:t>
            </a:r>
          </a:p>
          <a:p>
            <a:endParaRPr/>
          </a:p>
          <a:p>
            <a:r>
              <a:t>One is to send an email whenever an account is frozen.</a:t>
            </a:r>
          </a:p>
          <a:p>
            <a:endParaRPr/>
          </a:p>
          <a:p>
            <a:r>
              <a:t>The other is to generate a monthly account report.</a:t>
            </a:r>
          </a:p>
          <a:p>
            <a:endParaRPr/>
          </a:p>
          <a:p>
            <a:r>
              <a:t>The group applies the cohesion test.</a:t>
            </a:r>
          </a:p>
          <a:p>
            <a:endParaRPr/>
          </a:p>
          <a:p>
            <a:r>
              <a:t>Email delivery is a notification capability.</a:t>
            </a:r>
          </a:p>
          <a:p>
            <a:endParaRPr/>
          </a:p>
          <a:p>
            <a:r>
              <a:t>Reporting is its own capability, with different consumers and schedules.</a:t>
            </a:r>
          </a:p>
          <a:p>
            <a:endParaRPr/>
          </a:p>
          <a:p>
            <a:r>
              <a:t>The Lab 1 guide also says not to add Customer or Notification services.</a:t>
            </a:r>
          </a:p>
          <a:p>
            <a:endParaRPr/>
          </a:p>
          <a:p>
            <a:r>
              <a:t>So Account Service stays focused on creating, reading, and updating accounts.</a:t>
            </a:r>
          </a:p>
          <a:p>
            <a:endParaRPr/>
          </a:p>
          <a:p>
            <a:r>
              <a:t>It also handles the activate, freeze, and close actions.</a:t>
            </a:r>
          </a:p>
          <a:p>
            <a:endParaRPr/>
          </a:p>
          <a:p>
            <a:r>
              <a:t>The group notes one option for a fuller platform.</a:t>
            </a:r>
          </a:p>
          <a:p>
            <a:endParaRPr/>
          </a:p>
          <a:p>
            <a:r>
              <a:t>A notification service could react to account events later, without Account Service knowing it exists.</a:t>
            </a:r>
          </a:p>
          <a:p>
            <a:endParaRPr/>
          </a:p>
          <a:p>
            <a:endParaRPr/>
          </a:p>
          <a:p>
            <a:r>
              <a:t>TOPIC 2 OF 2: Avoiding Shared Business Logic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THE HIDDEN RISK OF SHARED LOGIC</a:t>
            </a:r>
          </a:p>
          <a:p>
            <a:endParaRPr/>
          </a:p>
          <a:p>
            <a:r>
              <a:t>  Shared business libraries look like good reuse.</a:t>
            </a:r>
          </a:p>
          <a:p>
            <a:endParaRPr/>
          </a:p>
          <a:p>
            <a:r>
              <a:t>  You write the eligibility check once and import it everywhere.</a:t>
            </a:r>
          </a:p>
          <a:p>
            <a:endParaRPr/>
          </a:p>
          <a:p>
            <a:r>
              <a:t>  The catch comes when the rule changes.</a:t>
            </a:r>
          </a:p>
          <a:p>
            <a:endParaRPr/>
          </a:p>
          <a:p>
            <a:r>
              <a:t>  Every service that imports the jar must upgrade, rebuild, and redeploy.</a:t>
            </a:r>
          </a:p>
          <a:p>
            <a:endParaRPr/>
          </a:p>
          <a:p>
            <a:r>
              <a:t>  Until they all do, services disagree about the rule.</a:t>
            </a:r>
          </a:p>
          <a:p>
            <a:endParaRPr/>
          </a:p>
          <a:p>
            <a:r>
              <a:t>  That is deployment coupling in disguise.</a:t>
            </a:r>
          </a:p>
          <a:p>
            <a:endParaRPr/>
          </a:p>
          <a:p>
            <a:r>
              <a:t>  The better answer is to keep the rule in the owning service.</a:t>
            </a:r>
          </a:p>
          <a:p>
            <a:endParaRPr/>
          </a:p>
          <a:p>
            <a:r>
              <a:t>  Others ask through its API or react to its events.</a:t>
            </a:r>
          </a:p>
          <a:p>
            <a:endParaRPr/>
          </a:p>
          <a:p>
            <a:r>
              <a:t>  In the capstone, only Account Service decides which status transitions are legal.</a:t>
            </a:r>
          </a:p>
          <a:p>
            <a:endParaRPr/>
          </a:p>
          <a:p>
            <a:r>
              <a:t>- WHAT CAN SAFELY BE SHARED</a:t>
            </a:r>
          </a:p>
          <a:p>
            <a:endParaRPr/>
          </a:p>
          <a:p>
            <a:r>
              <a:t>  The dividing line is whether the code encodes business policy.</a:t>
            </a:r>
          </a:p>
          <a:p>
            <a:endParaRPr/>
          </a:p>
          <a:p>
            <a:r>
              <a:t>  Some code changes for technical reasons and behaves the same for everyone.</a:t>
            </a:r>
          </a:p>
          <a:p>
            <a:endParaRPr/>
          </a:p>
          <a:p>
            <a:r>
              <a:t>  Examples are logging setup, OpenTelemetry tracing configuration, correlation-ID filters, and HTTP client wrappers with sensible timeouts.</a:t>
            </a:r>
          </a:p>
          <a:p>
            <a:endParaRPr/>
          </a:p>
          <a:p>
            <a:r>
              <a:t>  A shared library is reasonable for these.</a:t>
            </a:r>
          </a:p>
          <a:p>
            <a:endParaRPr/>
          </a:p>
          <a:p>
            <a:r>
              <a:t>  Other code changes for business reasons and belongs to one owner.</a:t>
            </a:r>
          </a:p>
          <a:p>
            <a:endParaRPr/>
          </a:p>
          <a:p>
            <a:r>
              <a:t>  Examples are validation rules, fee and pricing formulas, eligibility checks, and workflow decisions.</a:t>
            </a:r>
          </a:p>
          <a:p>
            <a:endParaRPr/>
          </a:p>
          <a:p>
            <a:r>
              <a:t>  Even technical libraries should stay small and versioned.</a:t>
            </a:r>
          </a:p>
          <a:p>
            <a:endParaRPr/>
          </a:p>
          <a:p>
            <a:r>
              <a:t>  Then each team can upgrade on its own schedule.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Picture an overdraft-eligibility library imported by mobile, branch, and payments services.</a:t>
            </a:r>
          </a:p>
          <a:p>
            <a:endParaRPr/>
          </a:p>
          <a:p>
            <a:r>
              <a:t>  When credit policy changes, some teams upgrade the same day and others weeks later.</a:t>
            </a:r>
          </a:p>
          <a:p>
            <a:endParaRPr/>
          </a:p>
          <a:p>
            <a:r>
              <a:t>  Until every service redeploys, the same customer is eligible in one channel and not in another.</a:t>
            </a:r>
          </a:p>
          <a:p>
            <a:endParaRPr/>
          </a:p>
          <a:p>
            <a:r>
              <a:t>- Many platform teams publish a shared Spring Boot starter.</a:t>
            </a:r>
          </a:p>
          <a:p>
            <a:endParaRPr/>
          </a:p>
          <a:p>
            <a:r>
              <a:t>  It preconfigures Micrometer metrics, structured logging, and tracing.</a:t>
            </a:r>
          </a:p>
          <a:p>
            <a:endParaRPr/>
          </a:p>
          <a:p>
            <a:r>
              <a:t>  That is safe sharing, because it carries no banking rules.</a:t>
            </a:r>
          </a:p>
          <a:p>
            <a:endParaRPr/>
          </a:p>
          <a:p>
            <a:r>
              <a:t>  Each service can also adopt a new version independently.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 Transaction Service developer wants to avoid calling Account Service.</a:t>
            </a:r>
          </a:p>
          <a:p>
            <a:endParaRPr/>
          </a:p>
          <a:p>
            <a:r>
              <a:t>So they copy Lab 1's status-transition rules into a shared jar, and both services import it.</a:t>
            </a:r>
          </a:p>
          <a:p>
            <a:endParaRPr/>
          </a:p>
          <a:p>
            <a:r>
              <a:t>The rules include which statuses may take part in money movement.</a:t>
            </a:r>
          </a:p>
          <a:p>
            <a:endParaRPr/>
          </a:p>
          <a:p>
            <a:r>
              <a:t>Weeks later the account team refines the rules and ships Account Service.</a:t>
            </a:r>
          </a:p>
          <a:p>
            <a:endParaRPr/>
          </a:p>
          <a:p>
            <a:r>
              <a:t>But Transaction Service still runs the old jar.</a:t>
            </a:r>
          </a:p>
          <a:p>
            <a:endParaRPr/>
          </a:p>
          <a:p>
            <a:r>
              <a:t>For a while, the two services disagree about whether an account is eligible.</a:t>
            </a:r>
          </a:p>
          <a:p>
            <a:endParaRPr/>
          </a:p>
          <a:p>
            <a:r>
              <a:t>The fix is to delete the shared rules.</a:t>
            </a:r>
          </a:p>
          <a:p>
            <a:endParaRPr/>
          </a:p>
          <a:p>
            <a:r>
              <a:t>Account Service stays the single owner of status logic.</a:t>
            </a:r>
          </a:p>
          <a:p>
            <a:endParaRPr/>
          </a:p>
          <a:p>
            <a:r>
              <a:t>Transaction Service asks it for the account's current status through the API.</a:t>
            </a:r>
          </a:p>
          <a:p>
            <a:endParaRPr/>
          </a:p>
          <a:p>
            <a:r>
              <a:t>The only shared library left adds correlation IDs and logging, which carries no business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SHARED DATABASES ARE DANGEROUS</a:t>
            </a:r>
          </a:p>
          <a:p>
            <a:endParaRPr/>
          </a:p>
          <a:p>
            <a:r>
              <a:t>  When services share tables, the schema becomes a public contract that nobody versions.</a:t>
            </a:r>
          </a:p>
          <a:p>
            <a:endParaRPr/>
          </a:p>
          <a:p>
            <a:r>
              <a:t>  Renaming a column for one service can break the others at runtime.</a:t>
            </a:r>
          </a:p>
          <a:p>
            <a:endParaRPr/>
          </a:p>
          <a:p>
            <a:r>
              <a:t>  This is often discovered in production.</a:t>
            </a:r>
          </a:p>
          <a:p>
            <a:endParaRPr/>
          </a:p>
          <a:p>
            <a:r>
              <a:t>  Scaling and tuning are shared too.</a:t>
            </a:r>
          </a:p>
          <a:p>
            <a:endParaRPr/>
          </a:p>
          <a:p>
            <a:r>
              <a:t>  One service's heavy report query can slow another's customer-facing reads.</a:t>
            </a:r>
          </a:p>
          <a:p>
            <a:endParaRPr/>
          </a:p>
          <a:p>
            <a:r>
              <a:t>  And no service can move to a different store alone.</a:t>
            </a:r>
          </a:p>
          <a:p>
            <a:endParaRPr/>
          </a:p>
          <a:p>
            <a:r>
              <a:t>  Ownership becomes impossible to enforce, because anyone with credentials can write any row.</a:t>
            </a:r>
          </a:p>
          <a:p>
            <a:endParaRPr/>
          </a:p>
          <a:p>
            <a:r>
              <a:t>  In a bank that is a serious problem for audit trails and data-integrity controls.</a:t>
            </a:r>
          </a:p>
          <a:p>
            <a:endParaRPr/>
          </a:p>
          <a:p>
            <a:r>
              <a:t>- THE ALTERNATIVE: DATABASE PER SERVICE</a:t>
            </a:r>
          </a:p>
          <a:p>
            <a:endParaRPr/>
          </a:p>
          <a:p>
            <a:r>
              <a:t>  Database per service means each service's tables are private.</a:t>
            </a:r>
          </a:p>
          <a:p>
            <a:endParaRPr/>
          </a:p>
          <a:p>
            <a:r>
              <a:t>  Only its own code can reach them.</a:t>
            </a:r>
          </a:p>
          <a:p>
            <a:endParaRPr/>
          </a:p>
          <a:p>
            <a:r>
              <a:t>  Other services get data through its API when they need an answer now.</a:t>
            </a:r>
          </a:p>
          <a:p>
            <a:endParaRPr/>
          </a:p>
          <a:p>
            <a:r>
              <a:t>  They use domain events when they can react later.</a:t>
            </a:r>
          </a:p>
          <a:p>
            <a:endParaRPr/>
          </a:p>
          <a:p>
            <a:r>
              <a:t>  In the capstone, only Account Service talks to account_db, and each other service gets its own database.</a:t>
            </a:r>
          </a:p>
          <a:p>
            <a:endParaRPr/>
          </a:p>
          <a:p>
            <a:r>
              <a:t>  It feels slower at first, because you build an endpoint instead of writing a join.</a:t>
            </a:r>
          </a:p>
          <a:p>
            <a:endParaRPr/>
          </a:p>
          <a:p>
            <a:r>
              <a:t>  Hold the line anyway.</a:t>
            </a:r>
          </a:p>
          <a:p>
            <a:endParaRPr/>
          </a:p>
          <a:p>
            <a:r>
              <a:t>  The payoff is independent Flyway schema changes, independent deployment, and clear accountability.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long-lived shared customer database that feeds many applications is a classic modernization obstacle.</a:t>
            </a:r>
          </a:p>
          <a:p>
            <a:endParaRPr/>
          </a:p>
          <a:p>
            <a:r>
              <a:t>  No column can be changed safely, because nobody knows every reader.</a:t>
            </a:r>
          </a:p>
          <a:p>
            <a:endParaRPr/>
          </a:p>
          <a:p>
            <a:r>
              <a:t>  So untangling data ownership often takes longer than rewriting the application code.</a:t>
            </a:r>
          </a:p>
          <a:p>
            <a:endParaRPr/>
          </a:p>
          <a:p>
            <a:r>
              <a:t>- Amazon has described moving away from direct database access between teams.</a:t>
            </a:r>
          </a:p>
          <a:p>
            <a:endParaRPr/>
          </a:p>
          <a:p>
            <a:r>
              <a:t>  Each service's data is reachable only through its interface.</a:t>
            </a:r>
          </a:p>
          <a:p>
            <a:endParaRPr/>
          </a:p>
          <a:p>
            <a:r>
              <a:t>  So one team's schema change or load spike does not break or slow other teams.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On Day 2, a learner runs all the services locally and notices that account_db is reachable from Transaction Service.</a:t>
            </a:r>
          </a:p>
          <a:p>
            <a:endParaRPr/>
          </a:p>
          <a:p>
            <a:r>
              <a:t>So they point Transaction Service straight at the accounts table to read status.</a:t>
            </a:r>
          </a:p>
          <a:p>
            <a:endParaRPr/>
          </a:p>
          <a:p>
            <a:r>
              <a:t>It works in the demo.</a:t>
            </a:r>
          </a:p>
          <a:p>
            <a:endParaRPr/>
          </a:p>
          <a:p>
            <a:r>
              <a:t>Then the account team ships a Flyway migration that restructures the status column.</a:t>
            </a:r>
          </a:p>
          <a:p>
            <a:endParaRPr/>
          </a:p>
          <a:p>
            <a:r>
              <a:t>Transaction creation starts failing with SQL errors no one on the transaction team understands.</a:t>
            </a:r>
          </a:p>
          <a:p>
            <a:endParaRPr/>
          </a:p>
          <a:p>
            <a:r>
              <a:t>The group replaces the query with a call to the Account Service API.</a:t>
            </a:r>
          </a:p>
          <a:p>
            <a:endParaRPr/>
          </a:p>
          <a:p>
            <a:r>
              <a:t>Later, Risk Assessment Service needs transaction history, and the same rule applies.</a:t>
            </a:r>
          </a:p>
          <a:p>
            <a:endParaRPr/>
          </a:p>
          <a:p>
            <a:r>
              <a:t>It uses Transaction Service's API or events, never its tables.</a:t>
            </a:r>
          </a:p>
          <a:p>
            <a:endParaRPr/>
          </a:p>
          <a:p>
            <a:r>
              <a:t>Databases may share a PostgreSQL server during development.</a:t>
            </a:r>
          </a:p>
          <a:p>
            <a:endParaRPr/>
          </a:p>
          <a:p>
            <a:r>
              <a:t>Even then, each service keeps its own database and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Service Ownership and Governance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OWNERSHIP RESPONSIBILITIES</a:t>
            </a:r>
          </a:p>
          <a:p>
            <a:endParaRPr/>
          </a:p>
          <a:p>
            <a:r>
              <a:t>  Ownership means one named team answers for everything about the service.</a:t>
            </a:r>
          </a:p>
          <a:p>
            <a:endParaRPr/>
          </a:p>
          <a:p>
            <a:r>
              <a:t>  That covers the code, the database, the pipeline, and the pager when it fails in the middle of the night.</a:t>
            </a:r>
          </a:p>
          <a:p>
            <a:endParaRPr/>
          </a:p>
          <a:p>
            <a:r>
              <a:t>  That team also publishes the contract, such as the OpenAPI document Lab 1 exposes through Swagger UI.</a:t>
            </a:r>
          </a:p>
          <a:p>
            <a:endParaRPr/>
          </a:p>
          <a:p>
            <a:r>
              <a:t>  It also publishes the service levels consumers can expect.</a:t>
            </a:r>
          </a:p>
          <a:p>
            <a:endParaRPr/>
          </a:p>
          <a:p>
            <a:r>
              <a:t>  The owner decides how the API evolves, including deprecation timelines.</a:t>
            </a:r>
          </a:p>
          <a:p>
            <a:endParaRPr/>
          </a:p>
          <a:p>
            <a:r>
              <a:t>  Shared ownership across several teams usually means no ownership.</a:t>
            </a:r>
          </a:p>
          <a:p>
            <a:endParaRPr/>
          </a:p>
          <a:p>
            <a:r>
              <a:t>  Incidents then stall while people work out whose problem it is.</a:t>
            </a:r>
          </a:p>
          <a:p>
            <a:endParaRPr/>
          </a:p>
          <a:p>
            <a:r>
              <a:t>- LIGHTWEIGHT GOVERNANCE</a:t>
            </a:r>
          </a:p>
          <a:p>
            <a:endParaRPr/>
          </a:p>
          <a:p>
            <a:r>
              <a:t>  Governance should standardize the few things that must be consistent across the bank.</a:t>
            </a:r>
          </a:p>
          <a:p>
            <a:endParaRPr/>
          </a:p>
          <a:p>
            <a:r>
              <a:t>  First, naming conventions for resources and events.</a:t>
            </a:r>
          </a:p>
          <a:p>
            <a:endParaRPr/>
          </a:p>
          <a:p>
            <a:r>
              <a:t>  Second, security, such as JWT validation against Keycloak.</a:t>
            </a:r>
          </a:p>
          <a:p>
            <a:endParaRPr/>
          </a:p>
          <a:p>
            <a:r>
              <a:t>  Third, versioning rules like the /api/v1 path segment.</a:t>
            </a:r>
          </a:p>
          <a:p>
            <a:endParaRPr/>
          </a:p>
          <a:p>
            <a:r>
              <a:t>  Fourth, observability basics such as Actuator health, Micrometer metrics, and correlation IDs.</a:t>
            </a:r>
          </a:p>
          <a:p>
            <a:endParaRPr/>
          </a:p>
          <a:p>
            <a:r>
              <a:t>  Everything else stays with the team, including internal design and library choices within approved limits.</a:t>
            </a:r>
          </a:p>
          <a:p>
            <a:endParaRPr/>
          </a:p>
          <a:p>
            <a:r>
              <a:t>  Good governance is automated where possible, through templates and pipeline checks.</a:t>
            </a:r>
          </a:p>
          <a:p>
            <a:endParaRPr/>
          </a:p>
          <a:p>
            <a:r>
              <a:t>  It should not be a review board that every change must queue for.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Amazon's practice is widely cited: the team that builds a service also operates it in production.</a:t>
            </a:r>
          </a:p>
          <a:p>
            <a:endParaRPr/>
          </a:p>
          <a:p>
            <a:r>
              <a:t>  That makes reliability a design concern for the developers.</a:t>
            </a:r>
          </a:p>
          <a:p>
            <a:endParaRPr/>
          </a:p>
          <a:p>
            <a:r>
              <a:t>  It is not a hand-off to a separate operations group.</a:t>
            </a:r>
          </a:p>
          <a:p>
            <a:endParaRPr/>
          </a:p>
          <a:p>
            <a:r>
              <a:t>- Many large enterprises publish API design guidelines.</a:t>
            </a:r>
          </a:p>
          <a:p>
            <a:endParaRPr/>
          </a:p>
          <a:p>
            <a:r>
              <a:t>  They lint OpenAPI specifications automatically in the pipeline.</a:t>
            </a:r>
          </a:p>
          <a:p>
            <a:endParaRPr/>
          </a:p>
          <a:p>
            <a:r>
              <a:t>  So naming, error formats, and security schemes are checked on every pull request.</a:t>
            </a:r>
          </a:p>
          <a:p>
            <a:endParaRPr/>
          </a:p>
          <a:p>
            <a:r>
              <a:t>  Teams do not wait for a periodic architecture review.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Assign the capstone as if it were a real program.</a:t>
            </a:r>
          </a:p>
          <a:p>
            <a:endParaRPr/>
          </a:p>
          <a:p>
            <a:r>
              <a:t>The Account Service team owns account_db, the OpenAPI contract, and the Actuator health endpoint.</a:t>
            </a:r>
          </a:p>
          <a:p>
            <a:endParaRPr/>
          </a:p>
          <a:p>
            <a:r>
              <a:t>It also owns the decision to add a field that the transaction team requests.</a:t>
            </a:r>
          </a:p>
          <a:p>
            <a:endParaRPr/>
          </a:p>
          <a:p>
            <a:r>
              <a:t>The Transaction Service and Risk Assessment Service teams own theirs in the same way.</a:t>
            </a:r>
          </a:p>
          <a:p>
            <a:endParaRPr/>
          </a:p>
          <a:p>
            <a:r>
              <a:t>Governance stays thin but firm across all three.</a:t>
            </a:r>
          </a:p>
          <a:p>
            <a:endParaRPr/>
          </a:p>
          <a:p>
            <a:r>
              <a:t>Every path starts with /api/v1 and every request carries an X-Correlation-Id header.</a:t>
            </a:r>
          </a:p>
          <a:p>
            <a:endParaRPr/>
          </a:p>
          <a:p>
            <a:r>
              <a:t>JWT scopes such as accounts.read and transactions.write control access.</a:t>
            </a:r>
          </a:p>
          <a:p>
            <a:endParaRPr/>
          </a:p>
          <a:p>
            <a:r>
              <a:t>Health endpoints are always exposed.</a:t>
            </a:r>
          </a:p>
          <a:p>
            <a:endParaRPr/>
          </a:p>
          <a:p>
            <a:r>
              <a:t>Suppose Transaction Service starts returning 503 because Account Service is down.</a:t>
            </a:r>
          </a:p>
          <a:p>
            <a:endParaRPr/>
          </a:p>
          <a:p>
            <a:r>
              <a:t>Nobody debates who responds.</a:t>
            </a:r>
          </a:p>
          <a:p>
            <a:endParaRPr/>
          </a:p>
          <a:p>
            <a:r>
              <a:t>The Account Service owners are paged, and the correlation ID links the logs across both services.</a:t>
            </a:r>
          </a:p>
          <a:p>
            <a:endParaRPr/>
          </a:p>
          <a:p>
            <a:endParaRPr/>
          </a:p>
          <a:p>
            <a:r>
              <a:t>TOPIC 2 OF 2: Stateless vs. Stateful Services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STATELESS SERVICES</a:t>
            </a:r>
          </a:p>
          <a:p>
            <a:endParaRPr/>
          </a:p>
          <a:p>
            <a:r>
              <a:t>  Stateless describes the service instance, not the business.</a:t>
            </a:r>
          </a:p>
          <a:p>
            <a:endParaRPr/>
          </a:p>
          <a:p>
            <a:r>
              <a:t>  An Account Service pod keeps no memory of earlier requests that it needs for correctness.</a:t>
            </a:r>
          </a:p>
          <a:p>
            <a:endParaRPr/>
          </a:p>
          <a:p>
            <a:r>
              <a:t>  So OpenShift can run several replicas and replace one during a rolling update.</a:t>
            </a:r>
          </a:p>
          <a:p>
            <a:endParaRPr/>
          </a:p>
          <a:p>
            <a:r>
              <a:t>  It can route the next call to any pod.</a:t>
            </a:r>
          </a:p>
          <a:p>
            <a:endParaRPr/>
          </a:p>
          <a:p>
            <a:r>
              <a:t>  A request gets what it needs from the request itself, such as the JWT and path parameters.</a:t>
            </a:r>
          </a:p>
          <a:p>
            <a:endParaRPr/>
          </a:p>
          <a:p>
            <a:r>
              <a:t>  Or it gets it from an external store such as PostgreSQL.</a:t>
            </a:r>
          </a:p>
          <a:p>
            <a:endParaRPr/>
          </a:p>
          <a:p>
            <a:r>
              <a:t>  That is why stateless pods scale horizontally, by adding more copies, and recover simply by restarting.</a:t>
            </a:r>
          </a:p>
          <a:p>
            <a:endParaRPr/>
          </a:p>
          <a:p>
            <a:r>
              <a:t>- STATEFUL COMPONENTS</a:t>
            </a:r>
          </a:p>
          <a:p>
            <a:endParaRPr/>
          </a:p>
          <a:p>
            <a:r>
              <a:t>  Almost every banking service is stateful in the business sense: accounts and transactions must persist.</a:t>
            </a:r>
          </a:p>
          <a:p>
            <a:endParaRPr/>
          </a:p>
          <a:p>
            <a:r>
              <a:t>  The design question is where that state lives.</a:t>
            </a:r>
          </a:p>
          <a:p>
            <a:endParaRPr/>
          </a:p>
          <a:p>
            <a:r>
              <a:t>  Put it in components built for durability.</a:t>
            </a:r>
          </a:p>
          <a:p>
            <a:endParaRPr/>
          </a:p>
          <a:p>
            <a:r>
              <a:t>  Use PostgreSQL for records and Kafka through AMQ Streams for event streams.</a:t>
            </a:r>
          </a:p>
          <a:p>
            <a:endParaRPr/>
          </a:p>
          <a:p>
            <a:r>
              <a:t>  Give those components backups, restore testing, replication, and monitoring.</a:t>
            </a:r>
          </a:p>
          <a:p>
            <a:endParaRPr/>
          </a:p>
          <a:p>
            <a:r>
              <a:t>  Redis appears in the source material as an example of an external cache.</a:t>
            </a:r>
          </a:p>
          <a:p>
            <a:endParaRPr/>
          </a:p>
          <a:p>
            <a:r>
              <a:t>  But it is lecture-only here, and the labs do not install it.</a:t>
            </a:r>
          </a:p>
          <a:p>
            <a:endParaRPr/>
          </a:p>
          <a:p>
            <a:r>
              <a:t>  The working rule: stateless application pods, stateful data platforms.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Kubernetes and OpenShift treat Deployments as interchangeable replicas that can be rescheduled at any time.</a:t>
            </a:r>
          </a:p>
          <a:p>
            <a:endParaRPr/>
          </a:p>
          <a:p>
            <a:r>
              <a:t>  Databases usually run as StatefulSets with persistent volumes, or as managed services.</a:t>
            </a:r>
          </a:p>
          <a:p>
            <a:endParaRPr/>
          </a:p>
          <a:p>
            <a:r>
              <a:t>  This mirrors the split between stateless applications and stateful data.</a:t>
            </a:r>
          </a:p>
          <a:p>
            <a:endParaRPr/>
          </a:p>
          <a:p>
            <a:r>
              <a:t>- Web banking sessions once lived in application-server memory with sticky load balancing.</a:t>
            </a:r>
          </a:p>
          <a:p>
            <a:endParaRPr/>
          </a:p>
          <a:p>
            <a:r>
              <a:t>  They are now commonly replaced by token-based authentication.</a:t>
            </a:r>
          </a:p>
          <a:p>
            <a:endParaRPr/>
          </a:p>
          <a:p>
            <a:r>
              <a:t>  So a customer is not logged out when the node serving them is patched or restarted.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Later in the week, the capstone services are deployed to OpenShift.</a:t>
            </a:r>
          </a:p>
          <a:p>
            <a:endParaRPr/>
          </a:p>
          <a:p>
            <a:r>
              <a:t>The team scales Account Service to more than one replica and starts a rolling update during a demo.</a:t>
            </a:r>
          </a:p>
          <a:p>
            <a:endParaRPr/>
          </a:p>
          <a:p>
            <a:r>
              <a:t>Requests keep succeeding.</a:t>
            </a:r>
          </a:p>
          <a:p>
            <a:endParaRPr/>
          </a:p>
          <a:p>
            <a:r>
              <a:t>Every pod reads accounts from PostgreSQL and validates the caller's token itself.</a:t>
            </a:r>
          </a:p>
          <a:p>
            <a:endParaRPr/>
          </a:p>
          <a:p>
            <a:r>
              <a:t>Then a learner admits adding a static map to cache the last account each user viewed.</a:t>
            </a:r>
          </a:p>
          <a:p>
            <a:endParaRPr/>
          </a:p>
          <a:p>
            <a:r>
              <a:t>That map differs on every pod and disappears on restart, so it has to go.</a:t>
            </a:r>
          </a:p>
          <a:p>
            <a:endParaRPr/>
          </a:p>
          <a:p>
            <a:r>
              <a:t>The team also lists what cannot simply be redeployed from an image.</a:t>
            </a:r>
          </a:p>
          <a:p>
            <a:endParaRPr/>
          </a:p>
          <a:p>
            <a:r>
              <a:t>That means the PostgreSQL databases and the Kafka cluster run by AMQ Streams.</a:t>
            </a:r>
          </a:p>
          <a:p>
            <a:endParaRPr/>
          </a:p>
          <a:p>
            <a:r>
              <a:t>Those get persistent storage, backups, and monitoring.</a:t>
            </a:r>
          </a:p>
          <a:p>
            <a:endParaRPr/>
          </a:p>
          <a:p>
            <a:r>
              <a:t>The three Spring Boot pods stay disposable.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Designing Stateless Microservices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DESIGNING FOR STATELESSNESS</a:t>
            </a:r>
          </a:p>
          <a:p>
            <a:endParaRPr/>
          </a:p>
          <a:p>
            <a:r>
              <a:t>  Walk the flow as four hops, with nothing remembered between requests.</a:t>
            </a:r>
          </a:p>
          <a:p>
            <a:endParaRPr/>
          </a:p>
          <a:p>
            <a:r>
              <a:t>  The token carries who the caller is and which scopes they hold.</a:t>
            </a:r>
          </a:p>
          <a:p>
            <a:endParaRPr/>
          </a:p>
          <a:p>
            <a:r>
              <a:t>  In this course it is a JWT from Keycloak or the client's identity provider.</a:t>
            </a:r>
          </a:p>
          <a:p>
            <a:endParaRPr/>
          </a:p>
          <a:p>
            <a:r>
              <a:t>  So the service validates the token on every call instead of looking up a session.</a:t>
            </a:r>
          </a:p>
          <a:p>
            <a:endParaRPr/>
          </a:p>
          <a:p>
            <a:r>
              <a:t>  Everything else comes from durable storage.</a:t>
            </a:r>
          </a:p>
          <a:p>
            <a:endParaRPr/>
          </a:p>
          <a:p>
            <a:r>
              <a:t>  Several instances may truly need shared transient data.</a:t>
            </a:r>
          </a:p>
          <a:p>
            <a:endParaRPr/>
          </a:p>
          <a:p>
            <a:r>
              <a:t>  If so, it goes in an external cache, not in each pod's memory.</a:t>
            </a:r>
          </a:p>
          <a:p>
            <a:endParaRPr/>
          </a:p>
          <a:p>
            <a:r>
              <a:t>  Lab 3 applies this when Transaction Service relays the caller's JWT to Account Service.</a:t>
            </a:r>
          </a:p>
          <a:p>
            <a:endParaRPr/>
          </a:p>
          <a:p>
            <a:r>
              <a:t>- COMMON MISTAKES</a:t>
            </a:r>
          </a:p>
          <a:p>
            <a:endParaRPr/>
          </a:p>
          <a:p>
            <a:r>
              <a:t>  Each mistake works perfectly on a laptop running one instance.</a:t>
            </a:r>
          </a:p>
          <a:p>
            <a:endParaRPr/>
          </a:p>
          <a:p>
            <a:r>
              <a:t>  That is why they slip through.</a:t>
            </a:r>
          </a:p>
          <a:p>
            <a:endParaRPr/>
          </a:p>
          <a:p>
            <a:r>
              <a:t>  In-memory sessions log users out when a pod restarts or a request lands on another replica.</a:t>
            </a:r>
          </a:p>
          <a:p>
            <a:endParaRPr/>
          </a:p>
          <a:p>
            <a:r>
              <a:t>  Workflow state held in fields or static maps, such as a half-finished transfer, vanishes on redeploy.</a:t>
            </a:r>
          </a:p>
          <a:p>
            <a:endParaRPr/>
          </a:p>
          <a:p>
            <a:r>
              <a:t>  It also differs between replicas.</a:t>
            </a:r>
          </a:p>
          <a:p>
            <a:endParaRPr/>
          </a:p>
          <a:p>
            <a:r>
              <a:t>  Assuming the same instance breaks as soon as OpenShift scales out or runs a rolling update.</a:t>
            </a:r>
          </a:p>
          <a:p>
            <a:endParaRPr/>
          </a:p>
          <a:p>
            <a:r>
              <a:t>  The fix is always the same.</a:t>
            </a:r>
          </a:p>
          <a:p>
            <a:endParaRPr/>
          </a:p>
          <a:p>
            <a:r>
              <a:t>  State lives in the request, the token, or an external store.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Teams moving Java web applications from a single application server into containers often hit session loss.</a:t>
            </a:r>
          </a:p>
          <a:p>
            <a:endParaRPr/>
          </a:p>
          <a:p>
            <a:r>
              <a:t>  Users are logged out during rolling deployments.</a:t>
            </a:r>
          </a:p>
          <a:p>
            <a:endParaRPr/>
          </a:p>
          <a:p>
            <a:r>
              <a:t>  This goes on until sessions are replaced with tokens or moved to an external session store.</a:t>
            </a:r>
          </a:p>
          <a:p>
            <a:endParaRPr/>
          </a:p>
          <a:p>
            <a:r>
              <a:t>- Multi-step loan applications typically save each step's progress in a database keyed by application ID.</a:t>
            </a:r>
          </a:p>
          <a:p>
            <a:endParaRPr/>
          </a:p>
          <a:p>
            <a:r>
              <a:t>  A customer can then start on a phone and finish on a laptop.</a:t>
            </a:r>
          </a:p>
          <a:p>
            <a:endParaRPr/>
          </a:p>
          <a:p>
            <a:r>
              <a:t>  They can reach any server instance without losing answers.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 learner wants to reduce calls to Account Service.</a:t>
            </a:r>
          </a:p>
          <a:p>
            <a:endParaRPr/>
          </a:p>
          <a:p>
            <a:r>
              <a:t>So they add an in-memory map to Transaction Service that remembers each account's status from the last lookup.</a:t>
            </a:r>
          </a:p>
          <a:p>
            <a:endParaRPr/>
          </a:p>
          <a:p>
            <a:r>
              <a:t>Two Transaction Service replicas are running.</a:t>
            </a:r>
          </a:p>
          <a:p>
            <a:endParaRPr/>
          </a:p>
          <a:p>
            <a:r>
              <a:t>A teller freezes an account through Account Service.</a:t>
            </a:r>
          </a:p>
          <a:p>
            <a:endParaRPr/>
          </a:p>
          <a:p>
            <a:r>
              <a:t>One pod has never cached that account and correctly rejects the next transaction.</a:t>
            </a:r>
          </a:p>
          <a:p>
            <a:endParaRPr/>
          </a:p>
          <a:p>
            <a:r>
              <a:t>The other still remembers ACTIVE and lets a transaction through.</a:t>
            </a:r>
          </a:p>
          <a:p>
            <a:endParaRPr/>
          </a:p>
          <a:p>
            <a:r>
              <a:t>The same customer gets different answers depending on which pod the router chose.</a:t>
            </a:r>
          </a:p>
          <a:p>
            <a:endParaRPr/>
          </a:p>
          <a:p>
            <a:r>
              <a:t>The team removes the map.</a:t>
            </a:r>
          </a:p>
          <a:p>
            <a:endParaRPr/>
          </a:p>
          <a:p>
            <a:r>
              <a:t>Transaction Service asks Account Service each time, protected by Lab 3's timeout and circuit breaker.</a:t>
            </a:r>
          </a:p>
          <a:p>
            <a:endParaRPr/>
          </a:p>
          <a:p>
            <a:r>
              <a:t>If caching is ever needed, it will be an external cache with an explicit staleness limit.</a:t>
            </a:r>
          </a:p>
          <a:p>
            <a:endParaRPr/>
          </a:p>
          <a:p>
            <a:endParaRPr/>
          </a:p>
          <a:p>
            <a:r>
              <a:t>TOPIC 2 OF 2: Managing State in Distributed Applications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GOOD VS. RISKY STATEFUL DESIGN</a:t>
            </a:r>
          </a:p>
          <a:p>
            <a:endParaRPr/>
          </a:p>
          <a:p>
            <a:r>
              <a:t>  The good arrow is deliberately boring.</a:t>
            </a:r>
          </a:p>
          <a:p>
            <a:endParaRPr/>
          </a:p>
          <a:p>
            <a:r>
              <a:t>  The pod writes to PostgreSQL.</a:t>
            </a:r>
          </a:p>
          <a:p>
            <a:endParaRPr/>
          </a:p>
          <a:p>
            <a:r>
              <a:t>  When OpenShift restarts the pod, the new one reads the same rows.</a:t>
            </a:r>
          </a:p>
          <a:p>
            <a:endParaRPr/>
          </a:p>
          <a:p>
            <a:r>
              <a:t>  The risky version keeps pending transactions in a Java collection inside the pod.</a:t>
            </a:r>
          </a:p>
          <a:p>
            <a:endParaRPr/>
          </a:p>
          <a:p>
            <a:r>
              <a:t>  A crash, an out-of-memory kill, or a routine rolling deployment silently erases customer money movements.</a:t>
            </a:r>
          </a:p>
          <a:p>
            <a:endParaRPr/>
          </a:p>
          <a:p>
            <a:r>
              <a:t>  With several replicas, each pod also holds a different partial list.</a:t>
            </a:r>
          </a:p>
          <a:p>
            <a:endParaRPr/>
          </a:p>
          <a:p>
            <a:r>
              <a:t>  In banking this is not a performance bug.</a:t>
            </a:r>
          </a:p>
          <a:p>
            <a:endParaRPr/>
          </a:p>
          <a:p>
            <a:r>
              <a:t>  It is a data-loss incident with audit and customer consequences.</a:t>
            </a:r>
          </a:p>
          <a:p>
            <a:endParaRPr/>
          </a:p>
          <a:p>
            <a:r>
              <a:t>- OPERATIONAL REQUIREMENTS FOR STATE</a:t>
            </a:r>
          </a:p>
          <a:p>
            <a:endParaRPr/>
          </a:p>
          <a:p>
            <a:r>
              <a:t>  Moving state out of pods concentrates responsibility in the data layer.</a:t>
            </a:r>
          </a:p>
          <a:p>
            <a:endParaRPr/>
          </a:p>
          <a:p>
            <a:r>
              <a:t>  PostgreSQL needs backups and, just as important, tested restores.</a:t>
            </a:r>
          </a:p>
          <a:p>
            <a:endParaRPr/>
          </a:p>
          <a:p>
            <a:r>
              <a:t>  Kafka needs persistent storage and replication so events survive a broker failure.</a:t>
            </a:r>
          </a:p>
          <a:p>
            <a:endParaRPr/>
          </a:p>
          <a:p>
            <a:r>
              <a:t>  Monitoring must cover both the stateful platforms and the three Spring Boot services.</a:t>
            </a:r>
          </a:p>
          <a:p>
            <a:endParaRPr/>
          </a:p>
          <a:p>
            <a:r>
              <a:t>  Use Actuator health and Micrometer metrics for that.</a:t>
            </a:r>
          </a:p>
          <a:p>
            <a:endParaRPr/>
          </a:p>
          <a:p>
            <a:r>
              <a:t>  Caches need caution.</a:t>
            </a:r>
          </a:p>
          <a:p>
            <a:endParaRPr/>
          </a:p>
          <a:p>
            <a:r>
              <a:t>  A cached account status can still say ACTIVE after the account was frozen.</a:t>
            </a:r>
          </a:p>
          <a:p>
            <a:endParaRPr/>
          </a:p>
          <a:p>
            <a:r>
              <a:t>  Decide explicitly how stale a value may be.</a:t>
            </a:r>
          </a:p>
          <a:p>
            <a:endParaRPr/>
          </a:p>
          <a:p>
            <a:r>
              <a:t>  Never treat a cache as the source of truth.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Card authorization systems are designed to record each authorization decision durably.</a:t>
            </a:r>
          </a:p>
          <a:p>
            <a:endParaRPr/>
          </a:p>
          <a:p>
            <a:r>
              <a:t>  Suppose that record lived only in memory and was lost in a failure.</a:t>
            </a:r>
          </a:p>
          <a:p>
            <a:endParaRPr/>
          </a:p>
          <a:p>
            <a:r>
              <a:t>  Then the bank could not match the hold on a customer's funds to the later settlement.</a:t>
            </a:r>
          </a:p>
          <a:p>
            <a:endParaRPr/>
          </a:p>
          <a:p>
            <a:r>
              <a:t>- Auditors and regulators in banking expect evidence that backups can actually be restored.</a:t>
            </a:r>
          </a:p>
          <a:p>
            <a:endParaRPr/>
          </a:p>
          <a:p>
            <a:r>
              <a:t>  That is why institutions commonly run restore tests.</a:t>
            </a:r>
          </a:p>
          <a:p>
            <a:endParaRPr/>
          </a:p>
          <a:p>
            <a:r>
              <a:t>  They do not only check that backup jobs completed successfully.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Picture an OpenShift deployment later in the week.</a:t>
            </a:r>
          </a:p>
          <a:p>
            <a:endParaRPr/>
          </a:p>
          <a:p>
            <a:r>
              <a:t>Suppose Transaction Service accepts a transaction and holds it in memory while it waits for a risk score before saving it.</a:t>
            </a:r>
          </a:p>
          <a:p>
            <a:endParaRPr/>
          </a:p>
          <a:p>
            <a:r>
              <a:t>A rolling update restarts the pod at that moment.</a:t>
            </a:r>
          </a:p>
          <a:p>
            <a:endParaRPr/>
          </a:p>
          <a:p>
            <a:r>
              <a:t>The customer was told the transaction was accepted, yet no record exists anywhere.</a:t>
            </a:r>
          </a:p>
          <a:p>
            <a:endParaRPr/>
          </a:p>
          <a:p>
            <a:r>
              <a:t>The team redesigns it.</a:t>
            </a:r>
          </a:p>
          <a:p>
            <a:endParaRPr/>
          </a:p>
          <a:p>
            <a:r>
              <a:t>Transaction Service first saves the transaction in its own PostgreSQL database with a pending status.</a:t>
            </a:r>
          </a:p>
          <a:p>
            <a:endParaRPr/>
          </a:p>
          <a:p>
            <a:r>
              <a:t>Then it publishes an event to Kafka, and scoring happens afterwards.</a:t>
            </a:r>
          </a:p>
          <a:p>
            <a:endParaRPr/>
          </a:p>
          <a:p>
            <a:r>
              <a:t>A restart is now harmless, because the record and the event are both durable.</a:t>
            </a:r>
          </a:p>
          <a:p>
            <a:endParaRPr/>
          </a:p>
          <a:p>
            <a:r>
              <a:t>The team also adds monitoring for the database and for Kafka consumer lag.</a:t>
            </a:r>
          </a:p>
          <a:p>
            <a:endParaRPr/>
          </a:p>
          <a:p>
            <a:r>
              <a:t>That way a stalled scoring pipeline is noticed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Synchronous vs. Asynchronous Communication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SYNCHRONOUS REQUEST-RESPONSE</a:t>
            </a:r>
          </a:p>
          <a:p>
            <a:endParaRPr/>
          </a:p>
          <a:p>
            <a:r>
              <a:t>  The caller sends a request and waits until the other service answers.</a:t>
            </a:r>
          </a:p>
          <a:p>
            <a:endParaRPr/>
          </a:p>
          <a:p>
            <a:r>
              <a:t>  This waiting is called blocking.</a:t>
            </a:r>
          </a:p>
          <a:p>
            <a:endParaRPr/>
          </a:p>
          <a:p>
            <a:r>
              <a:t>  That is why it feels natural.</a:t>
            </a:r>
          </a:p>
          <a:p>
            <a:endParaRPr/>
          </a:p>
          <a:p>
            <a:r>
              <a:t>  It reads like a method call.</a:t>
            </a:r>
          </a:p>
          <a:p>
            <a:endParaRPr/>
          </a:p>
          <a:p>
            <a:r>
              <a:t>  You can test it with a single HTTP request.</a:t>
            </a:r>
          </a:p>
          <a:p>
            <a:endParaRPr/>
          </a:p>
          <a:p>
            <a:r>
              <a:t>  It also gives a clear yes or no right away.</a:t>
            </a:r>
          </a:p>
          <a:p>
            <a:endParaRPr/>
          </a:p>
          <a:p>
            <a:r>
              <a:t>  The cost is a runtime dependency.</a:t>
            </a:r>
          </a:p>
          <a:p>
            <a:endParaRPr/>
          </a:p>
          <a:p>
            <a:r>
              <a:t>  The caller only succeeds if the other service is up and fast at that moment.</a:t>
            </a:r>
          </a:p>
          <a:p>
            <a:endParaRPr/>
          </a:p>
          <a:p>
            <a:r>
              <a:t>  If Account Service takes five seconds, Transaction Service takes at least five seconds.</a:t>
            </a:r>
          </a:p>
          <a:p>
            <a:endParaRPr/>
          </a:p>
          <a:p>
            <a:r>
              <a:t>  If Account Service is down, the failure travels back to the customer.</a:t>
            </a:r>
          </a:p>
          <a:p>
            <a:endParaRPr/>
          </a:p>
          <a:p>
            <a:r>
              <a:t>  Only timeouts and fallbacks can stop it.</a:t>
            </a:r>
          </a:p>
          <a:p>
            <a:endParaRPr/>
          </a:p>
          <a:p>
            <a:r>
              <a:t>- ASYNCHRONOUS MESSAGING</a:t>
            </a:r>
          </a:p>
          <a:p>
            <a:endParaRPr/>
          </a:p>
          <a:p>
            <a:r>
              <a:t>  The producer writes an event to a broker such as Kafka and moves on.</a:t>
            </a:r>
          </a:p>
          <a:p>
            <a:endParaRPr/>
          </a:p>
          <a:p>
            <a:r>
              <a:t>  It does not wait for anyone to process it.</a:t>
            </a:r>
          </a:p>
          <a:p>
            <a:endParaRPr/>
          </a:p>
          <a:p>
            <a:r>
              <a:t>  Any number of consumers can subscribe later.</a:t>
            </a:r>
          </a:p>
          <a:p>
            <a:endParaRPr/>
          </a:p>
          <a:p>
            <a:r>
              <a:t>  A consumer that is down simply catches up when it restarts.</a:t>
            </a:r>
          </a:p>
          <a:p>
            <a:endParaRPr/>
          </a:p>
          <a:p>
            <a:r>
              <a:t>  That gives you loose coupling, fan-out, and background processing.</a:t>
            </a:r>
          </a:p>
          <a:p>
            <a:endParaRPr/>
          </a:p>
          <a:p>
            <a:r>
              <a:t>  Fan-out means one event reaches many consumers.</a:t>
            </a:r>
          </a:p>
          <a:p>
            <a:endParaRPr/>
          </a:p>
          <a:p>
            <a:r>
              <a:t>  The price is eventual consistency.</a:t>
            </a:r>
          </a:p>
          <a:p>
            <a:endParaRPr/>
          </a:p>
          <a:p>
            <a:r>
              <a:t>  For a short time, different services disagree about the state.</a:t>
            </a:r>
          </a:p>
          <a:p>
            <a:endParaRPr/>
          </a:p>
          <a:p>
            <a:r>
              <a:t>  Brokers also deliver at least once.</a:t>
            </a:r>
          </a:p>
          <a:p>
            <a:endParaRPr/>
          </a:p>
          <a:p>
            <a:r>
              <a:t>  So a consumer may see the same event twice, and it must handle that safely.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Card authorisation at a point-of-sale terminal has to be synchronous.</a:t>
            </a:r>
          </a:p>
          <a:p>
            <a:endParaRPr/>
          </a:p>
          <a:p>
            <a:r>
              <a:t>  The merchant cannot hand over the goods until the issuer answers.</a:t>
            </a:r>
          </a:p>
          <a:p>
            <a:endParaRPr/>
          </a:p>
          <a:p>
            <a:r>
              <a:t>  The answer, approve or decline, must arrive within the terminal's timeout window.</a:t>
            </a:r>
          </a:p>
          <a:p>
            <a:endParaRPr/>
          </a:p>
          <a:p>
            <a:r>
              <a:t>- After a deposit posts, a bank usually publishes an event.</a:t>
            </a:r>
          </a:p>
          <a:p>
            <a:endParaRPr/>
          </a:p>
          <a:p>
            <a:r>
              <a:t>  Downstream systems consume it on their own schedule.</a:t>
            </a:r>
          </a:p>
          <a:p>
            <a:endParaRPr/>
          </a:p>
          <a:p>
            <a:r>
              <a:t>  Examples are statement generation, customer alerts, and analytics.</a:t>
            </a:r>
          </a:p>
          <a:p>
            <a:endParaRPr/>
          </a:p>
          <a:p>
            <a:r>
              <a:t>  None of them need to hold up the deposit confirmation.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Transaction Service receives POST /api/v1/transactions.</a:t>
            </a:r>
          </a:p>
          <a:p>
            <a:endParaRPr/>
          </a:p>
          <a:p>
            <a:r>
              <a:t>Before it saves anything, it calls Account Service on port 8081 and waits.</a:t>
            </a:r>
          </a:p>
          <a:p>
            <a:endParaRPr/>
          </a:p>
          <a:p>
            <a:r>
              <a:t>This call is synchronous.</a:t>
            </a:r>
          </a:p>
          <a:p>
            <a:endParaRPr/>
          </a:p>
          <a:p>
            <a:r>
              <a:t>The service cannot accept a transaction against a FROZEN or CLOSED account, so the immediate answer matters.</a:t>
            </a:r>
          </a:p>
          <a:p>
            <a:endParaRPr/>
          </a:p>
          <a:p>
            <a:r>
              <a:t>Once the row is stored as RECEIVED, it publishes TransactionSubmitted to the transactions.submitted topic.</a:t>
            </a:r>
          </a:p>
          <a:p>
            <a:endParaRPr/>
          </a:p>
          <a:p>
            <a:r>
              <a:t>It then returns 201 without waiting.</a:t>
            </a:r>
          </a:p>
          <a:p>
            <a:endParaRPr/>
          </a:p>
          <a:p>
            <a:r>
              <a:t>On Day 5, Risk Assessment Service consumes that event in its own consumer group.</a:t>
            </a:r>
          </a:p>
          <a:p>
            <a:endParaRPr/>
          </a:p>
          <a:p>
            <a:r>
              <a:t>It scores the event later.</a:t>
            </a:r>
          </a:p>
          <a:p>
            <a:endParaRPr/>
          </a:p>
          <a:p>
            <a:r>
              <a:t>One request uses both styles, each where it fits.</a:t>
            </a:r>
          </a:p>
          <a:p>
            <a:endParaRPr/>
          </a:p>
          <a:p>
            <a:endParaRPr/>
          </a:p>
          <a:p>
            <a:r>
              <a:t>TOPIC 2 OF 2: Choosing a Service Communication Strategy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DECISION FACTORS</a:t>
            </a:r>
          </a:p>
          <a:p>
            <a:endParaRPr/>
          </a:p>
          <a:p>
            <a:r>
              <a:t>  Walk the four questions in order.</a:t>
            </a:r>
          </a:p>
          <a:p>
            <a:endParaRPr/>
          </a:p>
          <a:p>
            <a:r>
              <a:t>  First, can the caller continue without the answer?</a:t>
            </a:r>
          </a:p>
          <a:p>
            <a:endParaRPr/>
          </a:p>
          <a:p>
            <a:r>
              <a:t>  If not, use a synchronous call.</a:t>
            </a:r>
          </a:p>
          <a:p>
            <a:endParaRPr/>
          </a:p>
          <a:p>
            <a:r>
              <a:t>  An account status check before accepting money movement is an example.</a:t>
            </a:r>
          </a:p>
          <a:p>
            <a:endParaRPr/>
          </a:p>
          <a:p>
            <a:r>
              <a:t>  Second, do several teams need to know something happened?</a:t>
            </a:r>
          </a:p>
          <a:p>
            <a:endParaRPr/>
          </a:p>
          <a:p>
            <a:r>
              <a:t>  If so, messaging saves the producer from calling each one.</a:t>
            </a:r>
          </a:p>
          <a:p>
            <a:endParaRPr/>
          </a:p>
          <a:p>
            <a:r>
              <a:t>  Third, would a few seconds of disagreement between services break a business rule?</a:t>
            </a:r>
          </a:p>
          <a:p>
            <a:endParaRPr/>
          </a:p>
          <a:p>
            <a:r>
              <a:t>  If so, be careful with async.</a:t>
            </a:r>
          </a:p>
          <a:p>
            <a:endParaRPr/>
          </a:p>
          <a:p>
            <a:r>
              <a:t>  Fourth, must the producer keep accepting work while downstream systems are down or being deployed?</a:t>
            </a:r>
          </a:p>
          <a:p>
            <a:endParaRPr/>
          </a:p>
          <a:p>
            <a:r>
              <a:t>  Then decoupling through a broker becomes the deciding factor.</a:t>
            </a:r>
          </a:p>
          <a:p>
            <a:endParaRPr/>
          </a:p>
          <a:p>
            <a:r>
              <a:t>  Answer the questions for each interaction, not once for the whole system.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balance inquiry in a mobile app needs an immediate answer.</a:t>
            </a:r>
          </a:p>
          <a:p>
            <a:endParaRPr/>
          </a:p>
          <a:p>
            <a:r>
              <a:t>  It also has one consumer.</a:t>
            </a:r>
          </a:p>
          <a:p>
            <a:endParaRPr/>
          </a:p>
          <a:p>
            <a:r>
              <a:t>  So a synchronous REST call is the obvious choice.</a:t>
            </a:r>
          </a:p>
          <a:p>
            <a:endParaRPr/>
          </a:p>
          <a:p>
            <a:r>
              <a:t>  A large-transaction alert may need to reach fraud, compliance reporting, and customer notification.</a:t>
            </a:r>
          </a:p>
          <a:p>
            <a:endParaRPr/>
          </a:p>
          <a:p>
            <a:r>
              <a:t>  That suggests an event.</a:t>
            </a:r>
          </a:p>
          <a:p>
            <a:endParaRPr/>
          </a:p>
          <a:p>
            <a:r>
              <a:t>- Loan application intake often confirms receipt synchronously.</a:t>
            </a:r>
          </a:p>
          <a:p>
            <a:endParaRPr/>
          </a:p>
          <a:p>
            <a:r>
              <a:t>  It then runs credit checks and document verification asynchronously.</a:t>
            </a:r>
          </a:p>
          <a:p>
            <a:endParaRPr/>
          </a:p>
          <a:p>
            <a:r>
              <a:t>  The reason is that underwriting can take much longer than a user will wait on a screen.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Put the capstone through the four questions.</a:t>
            </a:r>
          </a:p>
          <a:p>
            <a:endParaRPr/>
          </a:p>
          <a:p>
            <a:r>
              <a:t>Does Transaction Service need to know right now whether account ACC-123 is ACTIVE?</a:t>
            </a:r>
          </a:p>
          <a:p>
            <a:endParaRPr/>
          </a:p>
          <a:p>
            <a:r>
              <a:t>Yes, so it makes a REST call.</a:t>
            </a:r>
          </a:p>
          <a:p>
            <a:endParaRPr/>
          </a:p>
          <a:p>
            <a:r>
              <a:t>How many services care that a transaction was submitted?</a:t>
            </a:r>
          </a:p>
          <a:p>
            <a:endParaRPr/>
          </a:p>
          <a:p>
            <a:r>
              <a:t>Today, Transaction Service's own consumer updates the status.</a:t>
            </a:r>
          </a:p>
          <a:p>
            <a:endParaRPr/>
          </a:p>
          <a:p>
            <a:r>
              <a:t>On Day 5, Risk Assessment Service also reacts.</a:t>
            </a:r>
          </a:p>
          <a:p>
            <a:endParaRPr/>
          </a:p>
          <a:p>
            <a:r>
              <a:t>That is fan-out, and it points to Kafka.</a:t>
            </a:r>
          </a:p>
          <a:p>
            <a:endParaRPr/>
          </a:p>
          <a:p>
            <a:r>
              <a:t>Can risk scoring be eventually consistent?</a:t>
            </a:r>
          </a:p>
          <a:p>
            <a:endParaRPr/>
          </a:p>
          <a:p>
            <a:r>
              <a:t>Yes.</a:t>
            </a:r>
          </a:p>
          <a:p>
            <a:endParaRPr/>
          </a:p>
          <a:p>
            <a:r>
              <a:t>The customer gets RECEIVED right away, and a HOLD disposition can follow.</a:t>
            </a:r>
          </a:p>
          <a:p>
            <a:endParaRPr/>
          </a:p>
          <a:p>
            <a:r>
              <a:t>Should Transaction Service keep accepting requests while Risk Assessment is being redeployed?</a:t>
            </a:r>
          </a:p>
          <a:p>
            <a:endParaRPr/>
          </a:p>
          <a:p>
            <a:r>
              <a:t>Yes.</a:t>
            </a:r>
          </a:p>
          <a:p>
            <a:endParaRPr/>
          </a:p>
          <a:p>
            <a:r>
              <a:t>So the event path is the right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API-Based Integration</a:t>
            </a:r>
          </a:p>
          <a:p>
            <a:r>
              <a:t>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API COMMUNICATION WORKS</a:t>
            </a:r>
          </a:p>
          <a:p>
            <a:endParaRPr/>
          </a:p>
          <a:p>
            <a:r>
              <a:t>  Transaction Service needs to know whether an account exists and is active.</a:t>
            </a:r>
          </a:p>
          <a:p>
            <a:endParaRPr/>
          </a:p>
          <a:p>
            <a:r>
              <a:t>  So it sends a GET and waits for the JSON reply.</a:t>
            </a:r>
          </a:p>
          <a:p>
            <a:endParaRPr/>
          </a:p>
          <a:p>
            <a:r>
              <a:t>  This is the most familiar integration style.</a:t>
            </a:r>
          </a:p>
          <a:p>
            <a:endParaRPr/>
          </a:p>
          <a:p>
            <a:r>
              <a:t>  Every language has an HTTP client.</a:t>
            </a:r>
          </a:p>
          <a:p>
            <a:endParaRPr/>
          </a:p>
          <a:p>
            <a:r>
              <a:t>  You can test it with curl or Swagger UI.</a:t>
            </a:r>
          </a:p>
          <a:p>
            <a:endParaRPr/>
          </a:p>
          <a:p>
            <a:r>
              <a:t>  HTTP status codes already say found, not found, or forbidden.</a:t>
            </a:r>
          </a:p>
          <a:p>
            <a:endParaRPr/>
          </a:p>
          <a:p>
            <a:r>
              <a:t>  In Spring Boot 3, this is usually a RestClient or WebClient call.</a:t>
            </a:r>
          </a:p>
          <a:p>
            <a:endParaRPr/>
          </a:p>
          <a:p>
            <a:r>
              <a:t>  The lab uses RestClient with a base URL from configuration.</a:t>
            </a:r>
          </a:p>
          <a:p>
            <a:endParaRPr/>
          </a:p>
          <a:p>
            <a:r>
              <a:t>  The account path sits under /api/v1/accounts.</a:t>
            </a:r>
          </a:p>
          <a:p>
            <a:endParaRPr/>
          </a:p>
          <a:p>
            <a:r>
              <a:t>- REQUIRED SAFEGUARDS</a:t>
            </a:r>
          </a:p>
          <a:p>
            <a:endParaRPr/>
          </a:p>
          <a:p>
            <a:r>
              <a:t>  Each bullet answers a specific failure.</a:t>
            </a:r>
          </a:p>
          <a:p>
            <a:endParaRPr/>
          </a:p>
          <a:p>
            <a:r>
              <a:t>  A timeout stops a slow dependency from tying up your threads.</a:t>
            </a:r>
          </a:p>
          <a:p>
            <a:endParaRPr/>
          </a:p>
          <a:p>
            <a:r>
              <a:t>  Retries are safe on GET.</a:t>
            </a:r>
          </a:p>
          <a:p>
            <a:endParaRPr/>
          </a:p>
          <a:p>
            <a:r>
              <a:t>  But retrying a POST that moves money can duplicate it.</a:t>
            </a:r>
          </a:p>
          <a:p>
            <a:endParaRPr/>
          </a:p>
          <a:p>
            <a:r>
              <a:t>  To prevent that, the POST needs an idempotency key, a unique ID that marks repeats.</a:t>
            </a:r>
          </a:p>
          <a:p>
            <a:endParaRPr/>
          </a:p>
          <a:p>
            <a:r>
              <a:t>  A circuit breaker stops hammering a service that is clearly down.</a:t>
            </a:r>
          </a:p>
          <a:p>
            <a:endParaRPr/>
          </a:p>
          <a:p>
            <a:r>
              <a:t>  It fails fast instead.</a:t>
            </a:r>
          </a:p>
          <a:p>
            <a:endParaRPr/>
          </a:p>
          <a:p>
            <a:r>
              <a:t>  A correlation ID lets you follow one request across both services' logs.</a:t>
            </a:r>
          </a:p>
          <a:p>
            <a:endParaRPr/>
          </a:p>
          <a:p>
            <a:r>
              <a:t>  Authentication and authorization apply to service-to-service calls too, not just to users.</a:t>
            </a:r>
          </a:p>
          <a:p>
            <a:endParaRPr/>
          </a:p>
          <a:p>
            <a:r>
              <a:t>  Finally, every extra synchronous hop multiplies the ways a request can fail.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Netflix open-sourced Hystrix, a latency and fault-tolerance library built around circuit breakers.</a:t>
            </a:r>
          </a:p>
          <a:p>
            <a:endParaRPr/>
          </a:p>
          <a:p>
            <a:r>
              <a:t>  It did so after dealing with dependency failures in its service landscape.</a:t>
            </a:r>
          </a:p>
          <a:p>
            <a:endParaRPr/>
          </a:p>
          <a:p>
            <a:r>
              <a:t>  Hystrix is now in maintenance mode.</a:t>
            </a:r>
          </a:p>
          <a:p>
            <a:endParaRPr/>
          </a:p>
          <a:p>
            <a:r>
              <a:t>  Resilience4j is a commonly used successor in the Java ecosystem.</a:t>
            </a:r>
          </a:p>
          <a:p>
            <a:endParaRPr/>
          </a:p>
          <a:p>
            <a:r>
              <a:t>- Suppose a payment API retries a timed-out POST without an idempotency key.</a:t>
            </a:r>
          </a:p>
          <a:p>
            <a:endParaRPr/>
          </a:p>
          <a:p>
            <a:r>
              <a:t>  It risks charging a customer twice.</a:t>
            </a:r>
          </a:p>
          <a:p>
            <a:endParaRPr/>
          </a:p>
          <a:p>
            <a:r>
              <a:t>  That is why many payment providers accept an Idempotency-Key header.</a:t>
            </a:r>
          </a:p>
          <a:p>
            <a:endParaRPr/>
          </a:p>
          <a:p>
            <a:r>
              <a:t>  On a repeat, they return the original result.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2 builds exactly this call.</a:t>
            </a:r>
          </a:p>
          <a:p>
            <a:endParaRPr/>
          </a:p>
          <a:p>
            <a:r>
              <a:t>Transaction Service's AccountClient calls Account Service.</a:t>
            </a:r>
          </a:p>
          <a:p>
            <a:endParaRPr/>
          </a:p>
          <a:p>
            <a:r>
              <a:t>It already has a 2 second connect timeout and a 3 second read timeout configured.</a:t>
            </a:r>
          </a:p>
          <a:p>
            <a:endParaRPr/>
          </a:p>
          <a:p>
            <a:r>
              <a:t>It carries X-Correlation-Id, so both services log the same ID.</a:t>
            </a:r>
          </a:p>
          <a:p>
            <a:endParaRPr/>
          </a:p>
          <a:p>
            <a:r>
              <a:t>On Day 3, Lab 3 wraps that call in a Resilience4j circuit breaker.</a:t>
            </a:r>
          </a:p>
          <a:p>
            <a:endParaRPr/>
          </a:p>
          <a:p>
            <a:r>
              <a:t>It also adds JWT security.</a:t>
            </a:r>
          </a:p>
          <a:p>
            <a:endParaRPr/>
          </a:p>
          <a:p>
            <a:r>
              <a:t>When Account Service is stopped, Transaction Service returns 503 ACCOUNT_SERVICE_UNAVAILABLE.</a:t>
            </a:r>
          </a:p>
          <a:p>
            <a:endParaRPr/>
          </a:p>
          <a:p>
            <a:r>
              <a:t>It does not publish an event.</a:t>
            </a:r>
          </a:p>
          <a:p>
            <a:endParaRPr/>
          </a:p>
          <a:p>
            <a:r>
              <a:t>It never approves money movement just because the check could not run.</a:t>
            </a:r>
          </a:p>
          <a:p>
            <a:endParaRPr/>
          </a:p>
          <a:p>
            <a:endParaRPr/>
          </a:p>
          <a:p>
            <a:r>
              <a:t>TOPIC 2 OF 2: Messaging-Based Integration</a:t>
            </a:r>
          </a:p>
          <a:p>
            <a:r>
              <a:t>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MESSAGING COMMUNICATION WORKS</a:t>
            </a:r>
          </a:p>
          <a:p>
            <a:endParaRPr/>
          </a:p>
          <a:p>
            <a:r>
              <a:t>  The producer hands a message to a broker, such as Kafka on Red Hat AMQ Streams.</a:t>
            </a:r>
          </a:p>
          <a:p>
            <a:endParaRPr/>
          </a:p>
          <a:p>
            <a:r>
              <a:t>  Then its job is done.</a:t>
            </a:r>
          </a:p>
          <a:p>
            <a:endParaRPr/>
          </a:p>
          <a:p>
            <a:r>
              <a:t>  It does not call the notification service or the reporting service.</a:t>
            </a:r>
          </a:p>
          <a:p>
            <a:endParaRPr/>
          </a:p>
          <a:p>
            <a:r>
              <a:t>  Each of those subscribes on its own.</a:t>
            </a:r>
          </a:p>
          <a:p>
            <a:endParaRPr/>
          </a:p>
          <a:p>
            <a:r>
              <a:t>  Past-tense names matter.</a:t>
            </a:r>
          </a:p>
          <a:p>
            <a:endParaRPr/>
          </a:p>
          <a:p>
            <a:r>
              <a:t>  An event records a business fact that already happened, such as AccountOpened.</a:t>
            </a:r>
          </a:p>
          <a:p>
            <a:endParaRPr/>
          </a:p>
          <a:p>
            <a:r>
              <a:t>  It is not a request for someone to do something.</a:t>
            </a:r>
          </a:p>
          <a:p>
            <a:endParaRPr/>
          </a:p>
          <a:p>
            <a:r>
              <a:t>  Consumers decide what that fact means to them.</a:t>
            </a:r>
          </a:p>
          <a:p>
            <a:endParaRPr/>
          </a:p>
          <a:p>
            <a:r>
              <a:t>  The producer does not even know they exist.</a:t>
            </a:r>
          </a:p>
          <a:p>
            <a:endParaRPr/>
          </a:p>
          <a:p>
            <a:r>
              <a:t>  So adding a new consumer needs no change to the producer.</a:t>
            </a:r>
          </a:p>
          <a:p>
            <a:endParaRPr/>
          </a:p>
          <a:p>
            <a:r>
              <a:t>- CONSUMER DESIGN REQUIREMENTS</a:t>
            </a:r>
          </a:p>
          <a:p>
            <a:endParaRPr/>
          </a:p>
          <a:p>
            <a:r>
              <a:t>  Brokers usually guarantee at least once delivery.</a:t>
            </a:r>
          </a:p>
          <a:p>
            <a:endParaRPr/>
          </a:p>
          <a:p>
            <a:r>
              <a:t>  So the same event can arrive twice after a retry or a rebalance.</a:t>
            </a:r>
          </a:p>
          <a:p>
            <a:endParaRPr/>
          </a:p>
          <a:p>
            <a:r>
              <a:t>  An idempotent consumer is one that handles repeats safely.</a:t>
            </a:r>
          </a:p>
          <a:p>
            <a:endParaRPr/>
          </a:p>
          <a:p>
            <a:r>
              <a:t>  It records the event IDs it has processed and skips repeats.</a:t>
            </a:r>
          </a:p>
          <a:p>
            <a:endParaRPr/>
          </a:p>
          <a:p>
            <a:r>
              <a:t>  Some messages fail every time, perhaps because the payload is malformed.</a:t>
            </a:r>
          </a:p>
          <a:p>
            <a:endParaRPr/>
          </a:p>
          <a:p>
            <a:r>
              <a:t>  Move those to a dead-letter topic, a side topic for failed messages.</a:t>
            </a:r>
          </a:p>
          <a:p>
            <a:endParaRPr/>
          </a:p>
          <a:p>
            <a:r>
              <a:t>  That way they do not block everything behind them.</a:t>
            </a:r>
          </a:p>
          <a:p>
            <a:endParaRPr/>
          </a:p>
          <a:p>
            <a:r>
              <a:t>  Finally, messaging hides problems.</a:t>
            </a:r>
          </a:p>
          <a:p>
            <a:endParaRPr/>
          </a:p>
          <a:p>
            <a:r>
              <a:t>  If a consumer stops, nothing errors on the producer side.</a:t>
            </a:r>
          </a:p>
          <a:p>
            <a:endParaRPr/>
          </a:p>
          <a:p>
            <a:r>
              <a:t>  Watching consumer lag and broker health is how you find out.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Picture a new checking account being opened.</a:t>
            </a:r>
          </a:p>
          <a:p>
            <a:endParaRPr/>
          </a:p>
          <a:p>
            <a:r>
              <a:t>  One AccountOpened event can trigger a welcome email and a first-statement schedule.</a:t>
            </a:r>
          </a:p>
          <a:p>
            <a:endParaRPr/>
          </a:p>
          <a:p>
            <a:r>
              <a:t>  It can also add an entry in the customer analytics platform.</a:t>
            </a:r>
          </a:p>
          <a:p>
            <a:endParaRPr/>
          </a:p>
          <a:p>
            <a:r>
              <a:t>  Each team owns its own consumer.</a:t>
            </a:r>
          </a:p>
          <a:p>
            <a:endParaRPr/>
          </a:p>
          <a:p>
            <a:r>
              <a:t>- Card fraud platforms commonly consume a stream of authorisation events.</a:t>
            </a:r>
          </a:p>
          <a:p>
            <a:endParaRPr/>
          </a:p>
          <a:p>
            <a:r>
              <a:t>  They use them to update behavioral profiles.</a:t>
            </a:r>
          </a:p>
          <a:p>
            <a:endParaRPr/>
          </a:p>
          <a:p>
            <a:r>
              <a:t>  If that consumer falls behind, authorisations still succeed.</a:t>
            </a:r>
          </a:p>
          <a:p>
            <a:endParaRPr/>
          </a:p>
          <a:p>
            <a:r>
              <a:t>  But the profiles go stale.</a:t>
            </a:r>
          </a:p>
          <a:p>
            <a:endParaRPr/>
          </a:p>
          <a:p>
            <a:r>
              <a:t>  That is why consumer lag is a monitored metric.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2, Transaction Service publishes TransactionSubmitted inside an envelope.</a:t>
            </a:r>
          </a:p>
          <a:p>
            <a:endParaRPr/>
          </a:p>
          <a:p>
            <a:r>
              <a:t>The envelope holds eventType, eventVersion, eventId, correlationId, occurredAt, and payload.</a:t>
            </a:r>
          </a:p>
          <a:p>
            <a:endParaRPr/>
          </a:p>
          <a:p>
            <a:r>
              <a:t>Its consumer ignores an eventId it has already processed.</a:t>
            </a:r>
          </a:p>
          <a:p>
            <a:endParaRPr/>
          </a:p>
          <a:p>
            <a:r>
              <a:t>A deliberately bad message lands on transactions.submitted.DLT.</a:t>
            </a:r>
          </a:p>
          <a:p>
            <a:endParaRPr/>
          </a:p>
          <a:p>
            <a:r>
              <a:t>Participants inspect it with the Kafka console consumer.</a:t>
            </a:r>
          </a:p>
          <a:p>
            <a:endParaRPr/>
          </a:p>
          <a:p>
            <a:r>
              <a:t>On Day 5, Risk Assessment Service subscribes with its own consumer group, risk-assessment-service.</a:t>
            </a:r>
          </a:p>
          <a:p>
            <a:endParaRPr/>
          </a:p>
          <a:p>
            <a:r>
              <a:t>So it receives its own copy of every event.</a:t>
            </a:r>
          </a:p>
          <a:p>
            <a:endParaRPr/>
          </a:p>
          <a:p>
            <a:r>
              <a:t>Transaction Service code does not change at all to gain that new consumer.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Hybrid Integration Models</a:t>
            </a:r>
          </a:p>
          <a:p>
            <a:r>
              <a:t>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COMMON HYBRID PATTERNS</a:t>
            </a:r>
          </a:p>
          <a:p>
            <a:endParaRPr/>
          </a:p>
          <a:p>
            <a:r>
              <a:t>  Each pattern pairs a style with the part of the workflow it suits.</a:t>
            </a:r>
          </a:p>
          <a:p>
            <a:endParaRPr/>
          </a:p>
          <a:p>
            <a:r>
              <a:t>  Sync request plus async event: answer the user, then tell everyone else.</a:t>
            </a:r>
          </a:p>
          <a:p>
            <a:endParaRPr/>
          </a:p>
          <a:p>
            <a:r>
              <a:t>  Async command plus sync query: accept a job, then let the client check its status through GET.</a:t>
            </a:r>
          </a:p>
          <a:p>
            <a:endParaRPr/>
          </a:p>
          <a:p>
            <a:r>
              <a:t>  Event notification plus sync lookup: keep events small, carrying just an ID.</a:t>
            </a:r>
          </a:p>
          <a:p>
            <a:endParaRPr/>
          </a:p>
          <a:p>
            <a:r>
              <a:t>  Interested consumers then fetch full details from the owner's API.</a:t>
            </a:r>
          </a:p>
          <a:p>
            <a:endParaRPr/>
          </a:p>
          <a:p>
            <a:r>
              <a:t>  Async processing plus callback or poll: use this for work that takes minutes.</a:t>
            </a:r>
          </a:p>
          <a:p>
            <a:endParaRPr/>
          </a:p>
          <a:p>
            <a:r>
              <a:t>  Return an acknowledgment such as 202 Accepted, and deliver the result later.</a:t>
            </a:r>
          </a:p>
          <a:p>
            <a:endParaRPr/>
          </a:p>
          <a:p>
            <a:r>
              <a:t>- DESIGN GUIDELINES</a:t>
            </a:r>
          </a:p>
          <a:p>
            <a:endParaRPr/>
          </a:p>
          <a:p>
            <a:r>
              <a:t>  The first two bullets restate the choice rule.</a:t>
            </a:r>
          </a:p>
          <a:p>
            <a:endParaRPr/>
          </a:p>
          <a:p>
            <a:r>
              <a:t>  Keep user-facing interactions short and synchronous.</a:t>
            </a:r>
          </a:p>
          <a:p>
            <a:endParaRPr/>
          </a:p>
          <a:p>
            <a:r>
              <a:t>  Push anything slow, fan-out, or decoupled onto messaging.</a:t>
            </a:r>
          </a:p>
          <a:p>
            <a:endParaRPr/>
          </a:p>
          <a:p>
            <a:r>
              <a:t>  The third bullet is the one teams forget.</a:t>
            </a:r>
          </a:p>
          <a:p>
            <a:endParaRPr/>
          </a:p>
          <a:p>
            <a:r>
              <a:t>  A correlation ID must travel from the HTTP header into the event envelope.</a:t>
            </a:r>
          </a:p>
          <a:p>
            <a:endParaRPr/>
          </a:p>
          <a:p>
            <a:r>
              <a:t>  From there it goes on into the consumer's logs.</a:t>
            </a:r>
          </a:p>
          <a:p>
            <a:endParaRPr/>
          </a:p>
          <a:p>
            <a:r>
              <a:t>  Otherwise the trail stops at the broker.</a:t>
            </a:r>
          </a:p>
          <a:p>
            <a:endParaRPr/>
          </a:p>
          <a:p>
            <a:r>
              <a:t>  Then nobody can tie a delayed risk decision back to the original customer request.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Wire transfer submission in online banking usually confirms right away that the request was received.</a:t>
            </a:r>
          </a:p>
          <a:p>
            <a:endParaRPr/>
          </a:p>
          <a:p>
            <a:r>
              <a:t>  It then runs sanctions screening and release asynchronously.</a:t>
            </a:r>
          </a:p>
          <a:p>
            <a:endParaRPr/>
          </a:p>
          <a:p>
            <a:r>
              <a:t>  The customer checks status on a transfers page.</a:t>
            </a:r>
          </a:p>
          <a:p>
            <a:endParaRPr/>
          </a:p>
          <a:p>
            <a:r>
              <a:t>  That is an async command with a sync query.</a:t>
            </a:r>
          </a:p>
          <a:p>
            <a:endParaRPr/>
          </a:p>
          <a:p>
            <a:r>
              <a:t>- Many webhook-based payment platforms send a small event saying a payment changed.</a:t>
            </a:r>
          </a:p>
          <a:p>
            <a:endParaRPr/>
          </a:p>
          <a:p>
            <a:r>
              <a:t>  They expect the merchant to call back to the API for the authoritative details.</a:t>
            </a:r>
          </a:p>
          <a:p>
            <a:endParaRPr/>
          </a:p>
          <a:p>
            <a:r>
              <a:t>  That is event notification plus sync lookup.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The capstone is already a hybrid.</a:t>
            </a:r>
          </a:p>
          <a:p>
            <a:endParaRPr/>
          </a:p>
          <a:p>
            <a:r>
              <a:t>A client posts a transaction.</a:t>
            </a:r>
          </a:p>
          <a:p>
            <a:endParaRPr/>
          </a:p>
          <a:p>
            <a:r>
              <a:t>Transaction Service validates the account synchronously and saves it as RECEIVED.</a:t>
            </a:r>
          </a:p>
          <a:p>
            <a:endParaRPr/>
          </a:p>
          <a:p>
            <a:r>
              <a:t>It returns 201 and publishes TransactionSubmitted.</a:t>
            </a:r>
          </a:p>
          <a:p>
            <a:endParaRPr/>
          </a:p>
          <a:p>
            <a:r>
              <a:t>That is sync request plus async event.</a:t>
            </a:r>
          </a:p>
          <a:p>
            <a:endParaRPr/>
          </a:p>
          <a:p>
            <a:r>
              <a:t>Moments later, the client calls GET /api/v1/transactions/{id} and sees SUBMITTED.</a:t>
            </a:r>
          </a:p>
          <a:p>
            <a:endParaRPr/>
          </a:p>
          <a:p>
            <a:r>
              <a:t>On Day 5, an operations user queries GET /api/v1/assessments/{transactionId} on Risk Assessment Service.</a:t>
            </a:r>
          </a:p>
          <a:p>
            <a:endParaRPr/>
          </a:p>
          <a:p>
            <a:r>
              <a:t>That shows the async risk result.</a:t>
            </a:r>
          </a:p>
          <a:p>
            <a:endParaRPr/>
          </a:p>
          <a:p>
            <a:r>
              <a:t>The X-Correlation-Id sent at the start appears in the logs of all three services.</a:t>
            </a:r>
          </a:p>
          <a:p>
            <a:endParaRPr/>
          </a:p>
          <a:p>
            <a:endParaRPr/>
          </a:p>
          <a:p>
            <a:r>
              <a:t>TOPIC 2 OF 2: Service Dependencies and Dependency Graphs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DEPENDENCY GRAPHS MATTER</a:t>
            </a:r>
          </a:p>
          <a:p>
            <a:endParaRPr/>
          </a:p>
          <a:p>
            <a:r>
              <a:t>  Picture a service with arrows to eight others.</a:t>
            </a:r>
          </a:p>
          <a:p>
            <a:endParaRPr/>
          </a:p>
          <a:p>
            <a:r>
              <a:t>  It is fragile, because any of those eight can slow it or break it.</a:t>
            </a:r>
          </a:p>
          <a:p>
            <a:endParaRPr/>
          </a:p>
          <a:p>
            <a:r>
              <a:t>  Now picture a service that everything points to, such as an identity or customer lookup.</a:t>
            </a:r>
          </a:p>
          <a:p>
            <a:endParaRPr/>
          </a:p>
          <a:p>
            <a:r>
              <a:t>  It is a single point of failure, and its outage takes down many journeys.</a:t>
            </a:r>
          </a:p>
          <a:p>
            <a:endParaRPr/>
          </a:p>
          <a:p>
            <a:r>
              <a:t>  Before you change or redeploy a service, the graph answers two questions.</a:t>
            </a:r>
          </a:p>
          <a:p>
            <a:endParaRPr/>
          </a:p>
          <a:p>
            <a:r>
              <a:t>  Who calls me?</a:t>
            </a:r>
          </a:p>
          <a:p>
            <a:endParaRPr/>
          </a:p>
          <a:p>
            <a:r>
              <a:t>  What breaks if I am slow?</a:t>
            </a:r>
          </a:p>
          <a:p>
            <a:endParaRPr/>
          </a:p>
          <a:p>
            <a:r>
              <a:t>  That is the blast radius, meaning how far the damage spreads.</a:t>
            </a:r>
          </a:p>
          <a:p>
            <a:endParaRPr/>
          </a:p>
          <a:p>
            <a:r>
              <a:t>  In practice, these graphs come from architecture diagrams.</a:t>
            </a:r>
          </a:p>
          <a:p>
            <a:endParaRPr/>
          </a:p>
          <a:p>
            <a:r>
              <a:t>  In production, they come from distributed traces through OpenTelemetry.</a:t>
            </a:r>
          </a:p>
          <a:p>
            <a:endParaRPr/>
          </a:p>
          <a:p>
            <a:r>
              <a:t>  Traces show real call paths rather than intended ones.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Distributed tracing tools built on OpenTelemetry can generate service maps from live traffic.</a:t>
            </a:r>
          </a:p>
          <a:p>
            <a:endParaRPr/>
          </a:p>
          <a:p>
            <a:r>
              <a:t>  Teams often discover a call they did not know existed.</a:t>
            </a:r>
          </a:p>
          <a:p>
            <a:endParaRPr/>
          </a:p>
          <a:p>
            <a:r>
              <a:t>  One example is a reporting job calling a customer-facing API at month end.</a:t>
            </a:r>
          </a:p>
          <a:p>
            <a:endParaRPr/>
          </a:p>
          <a:p>
            <a:r>
              <a:t>- In many banks, a central customer or entitlements lookup sits behind most digital journeys.</a:t>
            </a:r>
          </a:p>
          <a:p>
            <a:endParaRPr/>
          </a:p>
          <a:p>
            <a:r>
              <a:t>  Mapping dependencies makes clear why that one service needs stricter availability targets.</a:t>
            </a:r>
          </a:p>
          <a:p>
            <a:endParaRPr/>
          </a:p>
          <a:p>
            <a:r>
              <a:t>  It also needs more capacity planning than a statement archive.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Draw the capstone graph on the whiteboard.</a:t>
            </a:r>
          </a:p>
          <a:p>
            <a:endParaRPr/>
          </a:p>
          <a:p>
            <a:r>
              <a:t>Transaction Service has a synchronous edge to Account Service and an async edge to Kafka.</a:t>
            </a:r>
          </a:p>
          <a:p>
            <a:endParaRPr/>
          </a:p>
          <a:p>
            <a:r>
              <a:t>Risk Assessment Service has an async edge from Kafka.</a:t>
            </a:r>
          </a:p>
          <a:p>
            <a:endParaRPr/>
          </a:p>
          <a:p>
            <a:r>
              <a:t>It also has a synchronous edge to the OpenShift AI model endpoint.</a:t>
            </a:r>
          </a:p>
          <a:p>
            <a:endParaRPr/>
          </a:p>
          <a:p>
            <a:r>
              <a:t>Now ask what happens if Account Service is down.</a:t>
            </a:r>
          </a:p>
          <a:p>
            <a:endParaRPr/>
          </a:p>
          <a:p>
            <a:r>
              <a:t>New transactions get 503, but existing risk assessments still work.</a:t>
            </a:r>
          </a:p>
          <a:p>
            <a:endParaRPr/>
          </a:p>
          <a:p>
            <a:r>
              <a:t>What if the model endpoint is slow?</a:t>
            </a:r>
          </a:p>
          <a:p>
            <a:endParaRPr/>
          </a:p>
          <a:p>
            <a:r>
              <a:t>Risk Assessment uses its safe fallback, and transaction intake is unaffected.</a:t>
            </a:r>
          </a:p>
          <a:p>
            <a:endParaRPr/>
          </a:p>
          <a:p>
            <a:r>
              <a:t>The graph shows that the synchronous edges are where outages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Preventing Excessive Service Chaining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CHAINING IS RISKY</a:t>
            </a:r>
          </a:p>
          <a:p>
            <a:endParaRPr/>
          </a:p>
          <a:p>
            <a:r>
              <a:t>  Latency adds up along a chain, and availability multiplies.</a:t>
            </a:r>
          </a:p>
          <a:p>
            <a:endParaRPr/>
          </a:p>
          <a:p>
            <a:r>
              <a:t>  Say each of four services is sometimes slow.</a:t>
            </a:r>
          </a:p>
          <a:p>
            <a:endParaRPr/>
          </a:p>
          <a:p>
            <a:r>
              <a:t>  The chance that at least one is slow on a given request is higher than for any single one.</a:t>
            </a:r>
          </a:p>
          <a:p>
            <a:endParaRPr/>
          </a:p>
          <a:p>
            <a:r>
              <a:t>  It gets worse.</a:t>
            </a:r>
          </a:p>
          <a:p>
            <a:endParaRPr/>
          </a:p>
          <a:p>
            <a:r>
              <a:t>  While D is slow, C holds a thread waiting on it.</a:t>
            </a:r>
          </a:p>
          <a:p>
            <a:endParaRPr/>
          </a:p>
          <a:p>
            <a:r>
              <a:t>  B holds a thread waiting on C, and A holds one waiting on B. So a single slow service can use up thread pools all the way up.</a:t>
            </a:r>
          </a:p>
          <a:p>
            <a:endParaRPr/>
          </a:p>
          <a:p>
            <a:r>
              <a:t>  That is a cascading failure.</a:t>
            </a:r>
          </a:p>
          <a:p>
            <a:endParaRPr/>
          </a:p>
          <a:p>
            <a:r>
              <a:t>  It often starts with a dependency nobody considered critical.</a:t>
            </a:r>
          </a:p>
          <a:p>
            <a:endParaRPr/>
          </a:p>
          <a:p>
            <a:r>
              <a:t>- WAYS TO REDUCE CHAINING</a:t>
            </a:r>
          </a:p>
          <a:p>
            <a:endParaRPr/>
          </a:p>
          <a:p>
            <a:r>
              <a:t>  There are three tools.</a:t>
            </a:r>
          </a:p>
          <a:p>
            <a:endParaRPr/>
          </a:p>
          <a:p>
            <a:r>
              <a:t>  First, flatten the chain.</a:t>
            </a:r>
          </a:p>
          <a:p>
            <a:endParaRPr/>
          </a:p>
          <a:p>
            <a:r>
              <a:t>  Instead of A calling B which calls C, a composition layer or BFF calls B and C in parallel.</a:t>
            </a:r>
          </a:p>
          <a:p>
            <a:endParaRPr/>
          </a:p>
          <a:p>
            <a:r>
              <a:t>  Depth becomes breadth.</a:t>
            </a:r>
          </a:p>
          <a:p>
            <a:endParaRPr/>
          </a:p>
          <a:p>
            <a:r>
              <a:t>  Second, break the chain with events.</a:t>
            </a:r>
          </a:p>
          <a:p>
            <a:endParaRPr/>
          </a:p>
          <a:p>
            <a:r>
              <a:t>  Do this when the downstream step does not need to finish before you respond, such as notifications or audit.</a:t>
            </a:r>
          </a:p>
          <a:p>
            <a:endParaRPr/>
          </a:p>
          <a:p>
            <a:r>
              <a:t>  Third, some synchronous hops must stay.</a:t>
            </a:r>
          </a:p>
          <a:p>
            <a:endParaRPr/>
          </a:p>
          <a:p>
            <a:r>
              <a:t>  Give each one a tight timeout and a circuit breaker.</a:t>
            </a:r>
          </a:p>
          <a:p>
            <a:endParaRPr/>
          </a:p>
          <a:p>
            <a:r>
              <a:t>  Then it fails fast and predictably instead of hanging.</a:t>
            </a:r>
          </a:p>
          <a:p>
            <a:endParaRPr/>
          </a:p>
          <a:p>
            <a:r>
              <a:t>  Aggressive here means a timeout sized to the caller's own deadline, not a default.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Picture a mobile account overview that calls a profile service.</a:t>
            </a:r>
          </a:p>
          <a:p>
            <a:endParaRPr/>
          </a:p>
          <a:p>
            <a:r>
              <a:t>  That service calls accounts, which calls a card service, which calls rewards.</a:t>
            </a:r>
          </a:p>
          <a:p>
            <a:endParaRPr/>
          </a:p>
          <a:p>
            <a:r>
              <a:t>  The whole overview becomes slow whenever rewards is slow.</a:t>
            </a:r>
          </a:p>
          <a:p>
            <a:endParaRPr/>
          </a:p>
          <a:p>
            <a:r>
              <a:t>  Many teams move rewards to a separately loaded panel or an async-updated read model.</a:t>
            </a:r>
          </a:p>
          <a:p>
            <a:endParaRPr/>
          </a:p>
          <a:p>
            <a:r>
              <a:t>- Retail banking transfer flows often confirm the transfer after validating funds.</a:t>
            </a:r>
          </a:p>
          <a:p>
            <a:endParaRPr/>
          </a:p>
          <a:p>
            <a:r>
              <a:t>  They then emit events for notifications and audit.</a:t>
            </a:r>
          </a:p>
          <a:p>
            <a:endParaRPr/>
          </a:p>
          <a:p>
            <a:r>
              <a:t>  They do not wait for the email service to respond before telling the customer it worked.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Imagine a well-meaning change.</a:t>
            </a:r>
          </a:p>
          <a:p>
            <a:endParaRPr/>
          </a:p>
          <a:p>
            <a:r>
              <a:t>Account Service starts calling a new Customer Profile Service to check KYC status on every GET.</a:t>
            </a:r>
          </a:p>
          <a:p>
            <a:endParaRPr/>
          </a:p>
          <a:p>
            <a:r>
              <a:t>That service in turn calls a sanctions list service.</a:t>
            </a:r>
          </a:p>
          <a:p>
            <a:endParaRPr/>
          </a:p>
          <a:p>
            <a:r>
              <a:t>Now Transaction Service's account check is three hops deep.</a:t>
            </a:r>
          </a:p>
          <a:p>
            <a:endParaRPr/>
          </a:p>
          <a:p>
            <a:r>
              <a:t>Its 3 second read timeout starts firing whenever sanctions lookups slow down.</a:t>
            </a:r>
          </a:p>
          <a:p>
            <a:endParaRPr/>
          </a:p>
          <a:p>
            <a:r>
              <a:t>The fix in design review is to keep Account Service's check local.</a:t>
            </a:r>
          </a:p>
          <a:p>
            <a:endParaRPr/>
          </a:p>
          <a:p>
            <a:r>
              <a:t>The profile team publishes a KYC status event, and Account Service stores it.</a:t>
            </a:r>
          </a:p>
          <a:p>
            <a:endParaRPr/>
          </a:p>
          <a:p>
            <a:r>
              <a:t>That way the chain stays one hop.</a:t>
            </a:r>
          </a:p>
          <a:p>
            <a:endParaRPr/>
          </a:p>
          <a:p>
            <a:endParaRPr/>
          </a:p>
          <a:p>
            <a:r>
              <a:t>TOPIC 2 OF 3: API Composition Pattern</a:t>
            </a:r>
          </a:p>
          <a:p>
            <a:r>
              <a:t>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API COMPOSITION WORKS</a:t>
            </a:r>
          </a:p>
          <a:p>
            <a:endParaRPr/>
          </a:p>
          <a:p>
            <a:r>
              <a:t>  A composer receives one request.</a:t>
            </a:r>
          </a:p>
          <a:p>
            <a:endParaRPr/>
          </a:p>
          <a:p>
            <a:r>
              <a:t>  It fires calls at the same time to, say, accounts, recent transactions, and risk flags.</a:t>
            </a:r>
          </a:p>
          <a:p>
            <a:endParaRPr/>
          </a:p>
          <a:p>
            <a:r>
              <a:t>  It waits for all of them or for a deadline.</a:t>
            </a:r>
          </a:p>
          <a:p>
            <a:endParaRPr/>
          </a:p>
          <a:p>
            <a:r>
              <a:t>  Then it stitches together a single response.</a:t>
            </a:r>
          </a:p>
          <a:p>
            <a:endParaRPr/>
          </a:p>
          <a:p>
            <a:r>
              <a:t>  The calls run in parallel, so total latency is closer to the slowest call than to the sum.</a:t>
            </a:r>
          </a:p>
          <a:p>
            <a:endParaRPr/>
          </a:p>
          <a:p>
            <a:r>
              <a:t>  The client stays simple.</a:t>
            </a:r>
          </a:p>
          <a:p>
            <a:endParaRPr/>
          </a:p>
          <a:p>
            <a:r>
              <a:t>  It does not need to know which service owns which field.</a:t>
            </a:r>
          </a:p>
          <a:p>
            <a:endParaRPr/>
          </a:p>
          <a:p>
            <a:r>
              <a:t>  Composition works best for reads.</a:t>
            </a:r>
          </a:p>
          <a:p>
            <a:endParaRPr/>
          </a:p>
          <a:p>
            <a:r>
              <a:t>  For writes that span services, it does not give you a transaction.</a:t>
            </a:r>
          </a:p>
          <a:p>
            <a:endParaRPr/>
          </a:p>
          <a:p>
            <a:r>
              <a:t>  Sagas, a series of local steps with undo actions, are the tool for that.</a:t>
            </a:r>
          </a:p>
          <a:p>
            <a:endParaRPr/>
          </a:p>
          <a:p>
            <a:r>
              <a:t>  The composer also needs a plan for a partial result when one call fails.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Think of a banking home screen that shows balances, recent card activity, and a pending loan application.</a:t>
            </a:r>
          </a:p>
          <a:p>
            <a:endParaRPr/>
          </a:p>
          <a:p>
            <a:r>
              <a:t>  It is commonly served by a composition endpoint.</a:t>
            </a:r>
          </a:p>
          <a:p>
            <a:endParaRPr/>
          </a:p>
          <a:p>
            <a:r>
              <a:t>  That endpoint queries account, card, and lending services in parallel.</a:t>
            </a:r>
          </a:p>
          <a:p>
            <a:endParaRPr/>
          </a:p>
          <a:p>
            <a:r>
              <a:t>- A customer 360 view for a branch teller or contact center is a classic composition case.</a:t>
            </a:r>
          </a:p>
          <a:p>
            <a:endParaRPr/>
          </a:p>
          <a:p>
            <a:r>
              <a:t>  It has one screen and many owning systems.</a:t>
            </a:r>
          </a:p>
          <a:p>
            <a:endParaRPr/>
          </a:p>
          <a:p>
            <a:r>
              <a:t>  The data is mostly read.</a:t>
            </a:r>
          </a:p>
          <a:p>
            <a:endParaRPr/>
          </a:p>
          <a:p>
            <a:r>
              <a:t>  The screen must show partial information if one backend is unavailable.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An operations analyst wants one screen for a flagged transaction.</a:t>
            </a:r>
          </a:p>
          <a:p>
            <a:endParaRPr/>
          </a:p>
          <a:p>
            <a:r>
              <a:t>It shows account status from Account Service and transaction details from Transaction Service.</a:t>
            </a:r>
          </a:p>
          <a:p>
            <a:endParaRPr/>
          </a:p>
          <a:p>
            <a:r>
              <a:t>It also shows the risk disposition from Risk Assessment Service.</a:t>
            </a:r>
          </a:p>
          <a:p>
            <a:endParaRPr/>
          </a:p>
          <a:p>
            <a:r>
              <a:t>The UI could call three services with three tokens and three error formats.</a:t>
            </a:r>
          </a:p>
          <a:p>
            <a:endParaRPr/>
          </a:p>
          <a:p>
            <a:r>
              <a:t>Instead, a small composer calls all three in parallel, each with its own timeout.</a:t>
            </a:r>
          </a:p>
          <a:p>
            <a:endParaRPr/>
          </a:p>
          <a:p>
            <a:r>
              <a:t>Suppose Risk Assessment is slow.</a:t>
            </a:r>
          </a:p>
          <a:p>
            <a:endParaRPr/>
          </a:p>
          <a:p>
            <a:r>
              <a:t>The composer returns the account and transaction data with the risk section marked unavailable.</a:t>
            </a:r>
          </a:p>
          <a:p>
            <a:endParaRPr/>
          </a:p>
          <a:p>
            <a:r>
              <a:t>It does not fail the whole page.</a:t>
            </a:r>
          </a:p>
          <a:p>
            <a:endParaRPr/>
          </a:p>
          <a:p>
            <a:endParaRPr/>
          </a:p>
          <a:p>
            <a:r>
              <a:t>TOPIC 3 OF 3: Backend-for-Frontend Pattern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USE A BFF</a:t>
            </a:r>
          </a:p>
          <a:p>
            <a:endParaRPr/>
          </a:p>
          <a:p>
            <a:r>
              <a:t>  A web dashboard might want a full transaction history table.</a:t>
            </a:r>
          </a:p>
          <a:p>
            <a:endParaRPr/>
          </a:p>
          <a:p>
            <a:r>
              <a:t>  A phone widget needs just three fields over a slow network.</a:t>
            </a:r>
          </a:p>
          <a:p>
            <a:endParaRPr/>
          </a:p>
          <a:p>
            <a:r>
              <a:t>  One generic API has two bad options.</a:t>
            </a:r>
          </a:p>
          <a:p>
            <a:endParaRPr/>
          </a:p>
          <a:p>
            <a:r>
              <a:t>  It sends the phone too much, which is over-fetching.</a:t>
            </a:r>
          </a:p>
          <a:p>
            <a:endParaRPr/>
          </a:p>
          <a:p>
            <a:r>
              <a:t>  Or it makes the phone call several times, which is under-fetching.</a:t>
            </a:r>
          </a:p>
          <a:p>
            <a:endParaRPr/>
          </a:p>
          <a:p>
            <a:r>
              <a:t>  A BFF owned by the mobile team builds exactly the payload the app needs.</a:t>
            </a:r>
          </a:p>
          <a:p>
            <a:endParaRPr/>
          </a:p>
          <a:p>
            <a:r>
              <a:t>  It also keeps things like screen-specific formatting or app version quirks out of Account Service.</a:t>
            </a:r>
          </a:p>
          <a:p>
            <a:endParaRPr/>
          </a:p>
          <a:p>
            <a:r>
              <a:t>  Account Service should stay focused on accounts.</a:t>
            </a:r>
          </a:p>
          <a:p>
            <a:endParaRPr/>
          </a:p>
          <a:p>
            <a:r>
              <a:t>  The usual risk is a BFF that grows business rules.</a:t>
            </a:r>
          </a:p>
          <a:p>
            <a:endParaRPr/>
          </a:p>
          <a:p>
            <a:r>
              <a:t>  So keep domain logic in the domain services.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The Backend for Frontends name is widely linked to SoundCloud.</a:t>
            </a:r>
          </a:p>
          <a:p>
            <a:endParaRPr/>
          </a:p>
          <a:p>
            <a:r>
              <a:t>  Engineers there described giving client teams their own API layer.</a:t>
            </a:r>
          </a:p>
          <a:p>
            <a:endParaRPr/>
          </a:p>
          <a:p>
            <a:r>
              <a:t>  Sam Newman has also written about the pattern in detail.</a:t>
            </a:r>
          </a:p>
          <a:p>
            <a:endParaRPr/>
          </a:p>
          <a:p>
            <a:r>
              <a:t>- Banks commonly expose different APIs to their own mobile apps and to third-party aggregators or open-banking partners.</a:t>
            </a:r>
          </a:p>
          <a:p>
            <a:endParaRPr/>
          </a:p>
          <a:p>
            <a:r>
              <a:t>  Partners need a stable, standards-shaped contract.</a:t>
            </a:r>
          </a:p>
          <a:p>
            <a:endParaRPr/>
          </a:p>
          <a:p>
            <a:r>
              <a:t>  The app, by contrast, changes with every release.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Suppose the capstone gets two front ends.</a:t>
            </a:r>
          </a:p>
          <a:p>
            <a:endParaRPr/>
          </a:p>
          <a:p>
            <a:r>
              <a:t>One is an internal operations console for reviewing HOLD dispositions.</a:t>
            </a:r>
          </a:p>
          <a:p>
            <a:endParaRPr/>
          </a:p>
          <a:p>
            <a:r>
              <a:t>The other is a lightweight mobile alert for customers.</a:t>
            </a:r>
          </a:p>
          <a:p>
            <a:endParaRPr/>
          </a:p>
          <a:p>
            <a:r>
              <a:t>The console BFF combines transaction details with the full risk explanation for a reviewer.</a:t>
            </a:r>
          </a:p>
          <a:p>
            <a:endParaRPr/>
          </a:p>
          <a:p>
            <a:r>
              <a:t>The mobile BFF returns only amount, merchant, and a short status message.</a:t>
            </a:r>
          </a:p>
          <a:p>
            <a:endParaRPr/>
          </a:p>
          <a:p>
            <a:r>
              <a:t>It never exposes model scores.</a:t>
            </a:r>
          </a:p>
          <a:p>
            <a:endParaRPr/>
          </a:p>
          <a:p>
            <a:r>
              <a:t>Account, Transaction, and Risk Assessment Services each keep one clean contract.</a:t>
            </a:r>
          </a:p>
          <a:p>
            <a:endParaRPr/>
          </a:p>
          <a:p>
            <a:r>
              <a:t>Each front-end team changes its own BFF without asking the core teams for new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3: API Gateway Pattern</a:t>
            </a:r>
          </a:p>
          <a:p>
            <a:r>
              <a:t>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WHAT AN API GATEWAY PROVIDES</a:t>
            </a:r>
          </a:p>
          <a:p>
            <a:endParaRPr/>
          </a:p>
          <a:p>
            <a:r>
              <a:t>  External clients should not need to know that accounts live in one service and transactions in another.</a:t>
            </a:r>
          </a:p>
          <a:p>
            <a:endParaRPr/>
          </a:p>
          <a:p>
            <a:r>
              <a:t>  They should not have to call a dozen hostnames.</a:t>
            </a:r>
          </a:p>
          <a:p>
            <a:endParaRPr/>
          </a:p>
          <a:p>
            <a:r>
              <a:t>  The gateway presents one address.</a:t>
            </a:r>
          </a:p>
          <a:p>
            <a:endParaRPr/>
          </a:p>
          <a:p>
            <a:r>
              <a:t>  It routes each request by path or header to the right backend.</a:t>
            </a:r>
          </a:p>
          <a:p>
            <a:endParaRPr/>
          </a:p>
          <a:p>
            <a:r>
              <a:t>  Every request passes through it.</a:t>
            </a:r>
          </a:p>
          <a:p>
            <a:endParaRPr/>
          </a:p>
          <a:p>
            <a:r>
              <a:t>  So it is the natural place to validate tokens and enforce rate limits.</a:t>
            </a:r>
          </a:p>
          <a:p>
            <a:endParaRPr/>
          </a:p>
          <a:p>
            <a:r>
              <a:t>  It can also terminate TLS, log requests, and apply policies such as maximum payload size.</a:t>
            </a:r>
          </a:p>
          <a:p>
            <a:endParaRPr/>
          </a:p>
          <a:p>
            <a:r>
              <a:t>  Services still enforce authorization on their own data.</a:t>
            </a:r>
          </a:p>
          <a:p>
            <a:endParaRPr/>
          </a:p>
          <a:p>
            <a:r>
              <a:t>  But they no longer each rebuild throttling and edge security in slightly different ways.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Netflix open-sourced Zuul, its edge gateway.</a:t>
            </a:r>
          </a:p>
          <a:p>
            <a:endParaRPr/>
          </a:p>
          <a:p>
            <a:r>
              <a:t>  Zuul handled routing and filtering for traffic entering Netflix's microservices.</a:t>
            </a:r>
          </a:p>
          <a:p>
            <a:endParaRPr/>
          </a:p>
          <a:p>
            <a:r>
              <a:t>  Today, Spring Cloud Gateway is a common choice in the Spring ecosystem.</a:t>
            </a:r>
          </a:p>
          <a:p>
            <a:endParaRPr/>
          </a:p>
          <a:p>
            <a:r>
              <a:t>- Banks that publish open-banking or partner APIs usually put them behind an API management gateway.</a:t>
            </a:r>
          </a:p>
          <a:p>
            <a:endParaRPr/>
          </a:p>
          <a:p>
            <a:r>
              <a:t>  The gateway issues credentials, enforces per-partner rate limits, and records usage.</a:t>
            </a:r>
          </a:p>
          <a:p>
            <a:endParaRPr/>
          </a:p>
          <a:p>
            <a:r>
              <a:t>  The banks do not expose internal services directly.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labs, clients call Account Service on 8081 and Transaction Service on 8082 directly, with no gateway.</a:t>
            </a:r>
          </a:p>
          <a:p>
            <a:endParaRPr/>
          </a:p>
          <a:p>
            <a:r>
              <a:t>On OpenShift, each service gets its own Route.</a:t>
            </a:r>
          </a:p>
          <a:p>
            <a:endParaRPr/>
          </a:p>
          <a:p>
            <a:r>
              <a:t>A production version of the risk platform would put a gateway in front.</a:t>
            </a:r>
          </a:p>
          <a:p>
            <a:endParaRPr/>
          </a:p>
          <a:p>
            <a:r>
              <a:t>Requests to /api/v1/accounts go to Account Service.</a:t>
            </a:r>
          </a:p>
          <a:p>
            <a:endParaRPr/>
          </a:p>
          <a:p>
            <a:r>
              <a:t>Requests to /api/v1/transactions go to Transaction Service.</a:t>
            </a:r>
          </a:p>
          <a:p>
            <a:endParaRPr/>
          </a:p>
          <a:p>
            <a:r>
              <a:t>Requests to /api/v1/assessments go to Risk Assessment Service.</a:t>
            </a:r>
          </a:p>
          <a:p>
            <a:endParaRPr/>
          </a:p>
          <a:p>
            <a:r>
              <a:t>The gateway validates the JWT from Keycloak and throttles a misbehaving partner.</a:t>
            </a:r>
          </a:p>
          <a:p>
            <a:endParaRPr/>
          </a:p>
          <a:p>
            <a:r>
              <a:t>Each service still checks roles, such as who may review a HOLD.</a:t>
            </a:r>
          </a:p>
          <a:p>
            <a:endParaRPr/>
          </a:p>
          <a:p>
            <a:endParaRPr/>
          </a:p>
          <a:p>
            <a:r>
              <a:t>TOPIC 2 OF 3: Service Discovery Concepts</a:t>
            </a:r>
          </a:p>
          <a:p>
            <a:r>
              <a:t>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SERVICE DISCOVERY MATTERS</a:t>
            </a:r>
          </a:p>
          <a:p>
            <a:endParaRPr/>
          </a:p>
          <a:p>
            <a:r>
              <a:t>  On OpenShift, a pod gets a new IP every time it is rescheduled.</a:t>
            </a:r>
          </a:p>
          <a:p>
            <a:endParaRPr/>
          </a:p>
          <a:p>
            <a:r>
              <a:t>  Scaling also adds and removes pods all day.</a:t>
            </a:r>
          </a:p>
          <a:p>
            <a:endParaRPr/>
          </a:p>
          <a:p>
            <a:r>
              <a:t>  So a hard-coded address breaks the first time a pod restarts.</a:t>
            </a:r>
          </a:p>
          <a:p>
            <a:endParaRPr/>
          </a:p>
          <a:p>
            <a:r>
              <a:t>  Discovery separates the logical name from the physical instances.</a:t>
            </a:r>
          </a:p>
          <a:p>
            <a:endParaRPr/>
          </a:p>
          <a:p>
            <a:r>
              <a:t>  Older Spring stacks used a registry such as Eureka, where each instance registered itself.</a:t>
            </a:r>
          </a:p>
          <a:p>
            <a:endParaRPr/>
          </a:p>
          <a:p>
            <a:r>
              <a:t>  Kubernetes and OpenShift work differently.</a:t>
            </a:r>
          </a:p>
          <a:p>
            <a:endParaRPr/>
          </a:p>
          <a:p>
            <a:r>
              <a:t>  A Service object gives a stable DNS name and load-balances across ready pods.</a:t>
            </a:r>
          </a:p>
          <a:p>
            <a:endParaRPr/>
          </a:p>
          <a:p>
            <a:r>
              <a:t>  Readiness probes, which check whether a pod can take traffic, decide which pods receive it.</a:t>
            </a:r>
          </a:p>
          <a:p>
            <a:endParaRPr/>
          </a:p>
          <a:p>
            <a:r>
              <a:t>  That is platform-native discovery, and it is what this course uses.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Netflix built and open-sourced Eureka as a service registry for its AWS-hosted services.</a:t>
            </a:r>
          </a:p>
          <a:p>
            <a:endParaRPr/>
          </a:p>
          <a:p>
            <a:r>
              <a:t>  Eureka became a common part of Spring Cloud Netflix setups.</a:t>
            </a:r>
          </a:p>
          <a:p>
            <a:endParaRPr/>
          </a:p>
          <a:p>
            <a:r>
              <a:t>  That was before platform-native discovery was widespread.</a:t>
            </a:r>
          </a:p>
          <a:p>
            <a:endParaRPr/>
          </a:p>
          <a:p>
            <a:r>
              <a:t>- In Kubernetes and OpenShift, take a Service named account-service in the same project.</a:t>
            </a:r>
          </a:p>
          <a:p>
            <a:endParaRPr/>
          </a:p>
          <a:p>
            <a:r>
              <a:t>  It is reachable at that name through cluster DNS.</a:t>
            </a:r>
          </a:p>
          <a:p>
            <a:endParaRPr/>
          </a:p>
          <a:p>
            <a:r>
              <a:t>  So a Spring Boot application can use it as a base URL with no registry library.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Locally in Lab 2, Transaction Service reaches Account Service at http://localhost:8081 through the md287.account-service.base-url property.</a:t>
            </a:r>
          </a:p>
          <a:p>
            <a:endParaRPr/>
          </a:p>
          <a:p>
            <a:r>
              <a:t>On OpenShift in Lab 4, the same property points at the account-service Service name instead.</a:t>
            </a:r>
          </a:p>
          <a:p>
            <a:endParaRPr/>
          </a:p>
          <a:p>
            <a:r>
              <a:t>Say Account Service scales to three pods, or one pod is replaced during a rollout.</a:t>
            </a:r>
          </a:p>
          <a:p>
            <a:endParaRPr/>
          </a:p>
          <a:p>
            <a:r>
              <a:t>Transaction Service's configuration does not change.</a:t>
            </a:r>
          </a:p>
          <a:p>
            <a:endParaRPr/>
          </a:p>
          <a:p>
            <a:r>
              <a:t>Only pods that pass the Actuator readiness check receive calls.</a:t>
            </a:r>
          </a:p>
          <a:p>
            <a:endParaRPr/>
          </a:p>
          <a:p>
            <a:r>
              <a:t>The change from localhost to a service name is configuration, not code.</a:t>
            </a:r>
          </a:p>
          <a:p>
            <a:endParaRPr/>
          </a:p>
          <a:p>
            <a:r>
              <a:t>That is the point.</a:t>
            </a:r>
          </a:p>
          <a:p>
            <a:endParaRPr/>
          </a:p>
          <a:p>
            <a:endParaRPr/>
          </a:p>
          <a:p>
            <a:r>
              <a:t>TOPIC 3 OF 3: Centralized vs. Decentralized Orchestration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CENTRALIZED COORDINATION</a:t>
            </a:r>
          </a:p>
          <a:p>
            <a:endParaRPr/>
          </a:p>
          <a:p>
            <a:r>
              <a:t>  One component owns the workflow definition.</a:t>
            </a:r>
          </a:p>
          <a:p>
            <a:endParaRPr/>
          </a:p>
          <a:p>
            <a:r>
              <a:t>  For example: do step one, then step two, and if step three fails, undo step one.</a:t>
            </a:r>
          </a:p>
          <a:p>
            <a:endParaRPr/>
          </a:p>
          <a:p>
            <a:r>
              <a:t>  The logic lives in one place.</a:t>
            </a:r>
          </a:p>
          <a:p>
            <a:endParaRPr/>
          </a:p>
          <a:p>
            <a:r>
              <a:t>  So you can read it, draw it, and ask the coordinator where a given case is.</a:t>
            </a:r>
          </a:p>
          <a:p>
            <a:endParaRPr/>
          </a:p>
          <a:p>
            <a:r>
              <a:t>  Auditors and support teams like that.</a:t>
            </a:r>
          </a:p>
          <a:p>
            <a:endParaRPr/>
          </a:p>
          <a:p>
            <a:r>
              <a:t>  There are costs.</a:t>
            </a:r>
          </a:p>
          <a:p>
            <a:endParaRPr/>
          </a:p>
          <a:p>
            <a:r>
              <a:t>  The coordinator must be highly available.</a:t>
            </a:r>
          </a:p>
          <a:p>
            <a:endParaRPr/>
          </a:p>
          <a:p>
            <a:r>
              <a:t>  Also, every API change in a participating service touches it.</a:t>
            </a:r>
          </a:p>
          <a:p>
            <a:endParaRPr/>
          </a:p>
          <a:p>
            <a:r>
              <a:t>  So it can become a coupling hotspot.</a:t>
            </a:r>
          </a:p>
          <a:p>
            <a:endParaRPr/>
          </a:p>
          <a:p>
            <a:r>
              <a:t>- DECENTRALIZED COORDINATION</a:t>
            </a:r>
          </a:p>
          <a:p>
            <a:endParaRPr/>
          </a:p>
          <a:p>
            <a:r>
              <a:t>  No one is in charge.</a:t>
            </a:r>
          </a:p>
          <a:p>
            <a:endParaRPr/>
          </a:p>
          <a:p>
            <a:r>
              <a:t>  Service A publishes an event, and B and C react.</a:t>
            </a:r>
          </a:p>
          <a:p>
            <a:endParaRPr/>
          </a:p>
          <a:p>
            <a:r>
              <a:t>  Then C's event triggers D. Each service owns its own decision.</a:t>
            </a:r>
          </a:p>
          <a:p>
            <a:endParaRPr/>
          </a:p>
          <a:p>
            <a:r>
              <a:t>  So teams move independently, and no single coordinator outage stops everything.</a:t>
            </a:r>
          </a:p>
          <a:p>
            <a:endParaRPr/>
          </a:p>
          <a:p>
            <a:r>
              <a:t>  But the overall flow exists only as the sum of subscriptions.</a:t>
            </a:r>
          </a:p>
          <a:p>
            <a:endParaRPr/>
          </a:p>
          <a:p>
            <a:r>
              <a:t>  Suppose you need to explain why a case stalled.</a:t>
            </a:r>
          </a:p>
          <a:p>
            <a:endParaRPr/>
          </a:p>
          <a:p>
            <a:r>
              <a:t>  You need correlation IDs, distributed tracing, and good logs across every service.</a:t>
            </a:r>
          </a:p>
          <a:p>
            <a:endParaRPr/>
          </a:p>
          <a:p>
            <a:r>
              <a:t>  No single place holds the whole story.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Mortgage origination is often centrally coordinated.</a:t>
            </a:r>
          </a:p>
          <a:p>
            <a:endParaRPr/>
          </a:p>
          <a:p>
            <a:r>
              <a:t>  Regulators and loan officers need to see exactly which step a file is in.</a:t>
            </a:r>
          </a:p>
          <a:p>
            <a:endParaRPr/>
          </a:p>
          <a:p>
            <a:r>
              <a:t>  They also need to see which conditions remain open.</a:t>
            </a:r>
          </a:p>
          <a:p>
            <a:endParaRPr/>
          </a:p>
          <a:p>
            <a:r>
              <a:t>- Card transaction post-processing is often decentralized.</a:t>
            </a:r>
          </a:p>
          <a:p>
            <a:endParaRPr/>
          </a:p>
          <a:p>
            <a:r>
              <a:t>  Examples are rewards points, spending insights, and fraud profile updates.</a:t>
            </a:r>
          </a:p>
          <a:p>
            <a:endParaRPr/>
          </a:p>
          <a:p>
            <a:r>
              <a:t>  Each system subscribes to posted transactions.</a:t>
            </a:r>
          </a:p>
          <a:p>
            <a:endParaRPr/>
          </a:p>
          <a:p>
            <a:r>
              <a:t>  It acts on its own, without a central coordinator.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Look at the capstone.</a:t>
            </a:r>
          </a:p>
          <a:p>
            <a:endParaRPr/>
          </a:p>
          <a:p>
            <a:r>
              <a:t>Nobody coordinates Transaction Service and Risk Assessment Service.</a:t>
            </a:r>
          </a:p>
          <a:p>
            <a:endParaRPr/>
          </a:p>
          <a:p>
            <a:r>
              <a:t>Transaction Service publishes TransactionSubmitted.</a:t>
            </a:r>
          </a:p>
          <a:p>
            <a:endParaRPr/>
          </a:p>
          <a:p>
            <a:r>
              <a:t>Risk Assessment decides on its own to score it.</a:t>
            </a:r>
          </a:p>
          <a:p>
            <a:endParaRPr/>
          </a:p>
          <a:p>
            <a:r>
              <a:t>That is decentralized.</a:t>
            </a:r>
          </a:p>
          <a:p>
            <a:endParaRPr/>
          </a:p>
          <a:p>
            <a:r>
              <a:t>Now suppose the bank adds a new rule for HOLD dispositions.</a:t>
            </a:r>
          </a:p>
          <a:p>
            <a:endParaRPr/>
          </a:p>
          <a:p>
            <a:r>
              <a:t>A HOLD must block settlement and trigger a customer call.</a:t>
            </a:r>
          </a:p>
          <a:p>
            <a:endParaRPr/>
          </a:p>
          <a:p>
            <a:r>
              <a:t>Funds are released only after human review.</a:t>
            </a:r>
          </a:p>
          <a:p>
            <a:endParaRPr/>
          </a:p>
          <a:p>
            <a:r>
              <a:t>A team might introduce a coordinator for that path.</a:t>
            </a:r>
          </a:p>
          <a:p>
            <a:endParaRPr/>
          </a:p>
          <a:p>
            <a:r>
              <a:t>The reason is that support staff will need to see where each held transaction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ORCHESTRATION</a:t>
            </a:r>
          </a:p>
          <a:p>
            <a:endParaRPr/>
          </a:p>
          <a:p>
            <a:r>
              <a:t>  A saga is a series of local transactions with undo steps.</a:t>
            </a:r>
          </a:p>
          <a:p>
            <a:endParaRPr/>
          </a:p>
          <a:p>
            <a:r>
              <a:t>  A saga orchestrator holds the process logic and calls each participant in order.</a:t>
            </a:r>
          </a:p>
          <a:p>
            <a:endParaRPr/>
          </a:p>
          <a:p>
            <a:r>
              <a:t>  Each participant commits its own local transaction.</a:t>
            </a:r>
          </a:p>
          <a:p>
            <a:endParaRPr/>
          </a:p>
          <a:p>
            <a:r>
              <a:t>  If a later step fails, the orchestrator issues compensating actions, such as releasing a funds hold.</a:t>
            </a:r>
          </a:p>
          <a:p>
            <a:endParaRPr/>
          </a:p>
          <a:p>
            <a:r>
              <a:t>  These are needed because there is no distributed database transaction across services.</a:t>
            </a:r>
          </a:p>
          <a:p>
            <a:endParaRPr/>
          </a:p>
          <a:p>
            <a:r>
              <a:t>  The diagram lists the pros: central visibility, predictable flow, and easier error handling and audit.</a:t>
            </a:r>
          </a:p>
          <a:p>
            <a:endParaRPr/>
          </a:p>
          <a:p>
            <a:r>
              <a:t>  It lists the cons: a potential bottleneck and coupling to the orchestrator.</a:t>
            </a:r>
          </a:p>
          <a:p>
            <a:endParaRPr/>
          </a:p>
          <a:p>
            <a:r>
              <a:t>  The panel names Account, Transaction, and Risk Assessment as an example.</a:t>
            </a:r>
          </a:p>
          <a:p>
            <a:endParaRPr/>
          </a:p>
          <a:p>
            <a:r>
              <a:t>  Be precise here.</a:t>
            </a:r>
          </a:p>
          <a:p>
            <a:endParaRPr/>
          </a:p>
          <a:p>
            <a:r>
              <a:t>  The labs themselves connect those services through events, not an orchestrator.</a:t>
            </a:r>
          </a:p>
          <a:p>
            <a:endParaRPr/>
          </a:p>
          <a:p>
            <a:r>
              <a:t>- CHOREOGRAPHY</a:t>
            </a:r>
          </a:p>
          <a:p>
            <a:endParaRPr/>
          </a:p>
          <a:p>
            <a:r>
              <a:t>  Each service publishes events when something happens.</a:t>
            </a:r>
          </a:p>
          <a:p>
            <a:endParaRPr/>
          </a:p>
          <a:p>
            <a:r>
              <a:t>  It subscribes to the events it cares about.</a:t>
            </a:r>
          </a:p>
          <a:p>
            <a:endParaRPr/>
          </a:p>
          <a:p>
            <a:r>
              <a:t>  There is no conductor.</a:t>
            </a:r>
          </a:p>
          <a:p>
            <a:endParaRPr/>
          </a:p>
          <a:p>
            <a:r>
              <a:t>  So services change independently, and there is no central bottleneck.</a:t>
            </a:r>
          </a:p>
          <a:p>
            <a:endParaRPr/>
          </a:p>
          <a:p>
            <a:r>
              <a:t>  The diagram lists the cons.</a:t>
            </a:r>
          </a:p>
          <a:p>
            <a:endParaRPr/>
          </a:p>
          <a:p>
            <a:r>
              <a:t>  The overall flow is harder to visualize.</a:t>
            </a:r>
          </a:p>
          <a:p>
            <a:endParaRPr/>
          </a:p>
          <a:p>
            <a:r>
              <a:t>  You get eventual consistency.</a:t>
            </a:r>
          </a:p>
          <a:p>
            <a:endParaRPr/>
          </a:p>
          <a:p>
            <a:r>
              <a:t>  Debugging is more complex.</a:t>
            </a:r>
          </a:p>
          <a:p>
            <a:endParaRPr/>
          </a:p>
          <a:p>
            <a:r>
              <a:t>  That is why the correlation IDs and dead-letter handling from Lab 2 are not optional extras in a choreographed system.</a:t>
            </a:r>
          </a:p>
          <a:p>
            <a:endParaRPr/>
          </a:p>
          <a:p>
            <a:r>
              <a:t>  They are how you rebuild a flow that nobody drew in one place.</a:t>
            </a:r>
          </a:p>
          <a:p>
            <a:endParaRPr/>
          </a:p>
          <a:p>
            <a:r>
              <a:t>- Which one should you use?</a:t>
            </a:r>
          </a:p>
          <a:p>
            <a:endParaRPr/>
          </a:p>
          <a:p>
            <a:r>
              <a:t>  The bottom band gives a decision guide.</a:t>
            </a:r>
          </a:p>
          <a:p>
            <a:endParaRPr/>
          </a:p>
          <a:p>
            <a:r>
              <a:t>  Choose orchestration when the process is complex and step-driven.</a:t>
            </a:r>
          </a:p>
          <a:p>
            <a:endParaRPr/>
          </a:p>
          <a:p>
            <a:r>
              <a:t>  Also choose it when you need central visibility, guaranteed ordering, or compensation.</a:t>
            </a:r>
          </a:p>
          <a:p>
            <a:endParaRPr/>
          </a:p>
          <a:p>
            <a:r>
              <a:t>  It fits too when compliance and auditing are critical.</a:t>
            </a:r>
          </a:p>
          <a:p>
            <a:endParaRPr/>
          </a:p>
          <a:p>
            <a:r>
              <a:t>  Choose choreography when the domain is event-driven and needs high scalability and independence.</a:t>
            </a:r>
          </a:p>
          <a:p>
            <a:endParaRPr/>
          </a:p>
          <a:p>
            <a:r>
              <a:t>  It also suits a dynamic flow that can accept eventual consistency.</a:t>
            </a:r>
          </a:p>
          <a:p>
            <a:endParaRPr/>
          </a:p>
          <a:p>
            <a:r>
              <a:t>  The middle Hybrid Approach is the realistic answer for banks.</a:t>
            </a:r>
          </a:p>
          <a:p>
            <a:endParaRPr/>
          </a:p>
          <a:p>
            <a:r>
              <a:t>  Orchestrate the critical money path, and choreograph notifications and updates.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Uber built and open-sourced the Cadence workflow engine.</a:t>
            </a:r>
          </a:p>
          <a:p>
            <a:endParaRPr/>
          </a:p>
          <a:p>
            <a:r>
              <a:t>  Netflix open-sourced Conductor.</a:t>
            </a:r>
          </a:p>
          <a:p>
            <a:endParaRPr/>
          </a:p>
          <a:p>
            <a:r>
              <a:t>  Both are used to orchestrate long-running, multi-step workflows.</a:t>
            </a:r>
          </a:p>
          <a:p>
            <a:endParaRPr/>
          </a:p>
          <a:p>
            <a:r>
              <a:t>  They suit cases where a central record of each step is valuable.</a:t>
            </a:r>
          </a:p>
          <a:p>
            <a:endParaRPr/>
          </a:p>
          <a:p>
            <a:r>
              <a:t>- A loan approval can be orchestrated.</a:t>
            </a:r>
          </a:p>
          <a:p>
            <a:endParaRPr/>
          </a:p>
          <a:p>
            <a:r>
              <a:t>  A coordinator calls credit check, then underwriting, then document generation.</a:t>
            </a:r>
          </a:p>
          <a:p>
            <a:endParaRPr/>
          </a:p>
          <a:p>
            <a:r>
              <a:t>  It can also be choreographed.</a:t>
            </a:r>
          </a:p>
          <a:p>
            <a:endParaRPr/>
          </a:p>
          <a:p>
            <a:r>
              <a:t>  LoanApplicationSubmitted triggers credit, CreditCheckCompleted triggers underwriting, and so on.</a:t>
            </a:r>
          </a:p>
          <a:p>
            <a:endParaRPr/>
          </a:p>
          <a:p>
            <a:r>
              <a:t>  The subtitle's example contrasts exactly these two designs.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The capstone as built is choreography.</a:t>
            </a:r>
          </a:p>
          <a:p>
            <a:endParaRPr/>
          </a:p>
          <a:p>
            <a:r>
              <a:t>Transaction Service publishes TransactionSubmitted.</a:t>
            </a:r>
          </a:p>
          <a:p>
            <a:endParaRPr/>
          </a:p>
          <a:p>
            <a:r>
              <a:t>Risk Assessment Service consumes it on its own.</a:t>
            </a:r>
          </a:p>
          <a:p>
            <a:endParaRPr/>
          </a:p>
          <a:p>
            <a:r>
              <a:t>It calls the model with a timeout and a safe fallback, then stores its decision.</a:t>
            </a:r>
          </a:p>
          <a:p>
            <a:endParaRPr/>
          </a:p>
          <a:p>
            <a:r>
              <a:t>Now picture a new requirement.</a:t>
            </a:r>
          </a:p>
          <a:p>
            <a:endParaRPr/>
          </a:p>
          <a:p>
            <a:r>
              <a:t>A HOLD must freeze the account in Account Service and open a review case.</a:t>
            </a:r>
          </a:p>
          <a:p>
            <a:endParaRPr/>
          </a:p>
          <a:p>
            <a:r>
              <a:t>If the reviewer clears it, the account is reactivated and the transaction is released.</a:t>
            </a:r>
          </a:p>
          <a:p>
            <a:endParaRPr/>
          </a:p>
          <a:p>
            <a:r>
              <a:t>That path has ordering and compensation.</a:t>
            </a:r>
          </a:p>
          <a:p>
            <a:endParaRPr/>
          </a:p>
          <a:p>
            <a:r>
              <a:t>So a team might orchestrate it while leaving notifications choreographed.</a:t>
            </a:r>
          </a:p>
          <a:p>
            <a:endParaRPr/>
          </a:p>
          <a:p>
            <a:r>
              <a:t>That is the hybrid box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Designing for Independent Deployment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WHAT INDEPENDENT DEPLOYMENT REQUIRES</a:t>
            </a:r>
          </a:p>
          <a:p>
            <a:endParaRPr/>
          </a:p>
          <a:p>
            <a:r>
              <a:t>  Suppose releasing Account Service means releasing Transaction Service the same night.</a:t>
            </a:r>
          </a:p>
          <a:p>
            <a:endParaRPr/>
          </a:p>
          <a:p>
            <a:r>
              <a:t>  Then you have a distributed monolith, meaning services that must ship together.</a:t>
            </a:r>
          </a:p>
          <a:p>
            <a:endParaRPr/>
          </a:p>
          <a:p>
            <a:r>
              <a:t>  Each bullet removes one cause.</a:t>
            </a:r>
          </a:p>
          <a:p>
            <a:endParaRPr/>
          </a:p>
          <a:p>
            <a:r>
              <a:t>  Stable contracts mean consumers do not break when you ship.</a:t>
            </a:r>
          </a:p>
          <a:p>
            <a:endParaRPr/>
          </a:p>
          <a:p>
            <a:r>
              <a:t>  No shared database means a schema migration in one service cannot break another's queries.</a:t>
            </a:r>
          </a:p>
          <a:p>
            <a:endParaRPr/>
          </a:p>
          <a:p>
            <a:r>
              <a:t>  Backward-compatible changes by default let old and new versions run side by side during a rolling deployment.</a:t>
            </a:r>
          </a:p>
          <a:p>
            <a:endParaRPr/>
          </a:p>
          <a:p>
            <a:r>
              <a:t>  A per-service pipeline means a service can be built, tested, and promoted on its own schedule.</a:t>
            </a:r>
          </a:p>
          <a:p>
            <a:endParaRPr/>
          </a:p>
          <a:p>
            <a:r>
              <a:t>  You will see this with OpenShift Pipelines later in the course.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common anti-pattern in bank modernization is several new services reading the same legacy customer tables.</a:t>
            </a:r>
          </a:p>
          <a:p>
            <a:endParaRPr/>
          </a:p>
          <a:p>
            <a:r>
              <a:t>  A column rename then forces a coordinated release across teams.</a:t>
            </a:r>
          </a:p>
          <a:p>
            <a:endParaRPr/>
          </a:p>
          <a:p>
            <a:r>
              <a:t>  That is exactly the coupling microservices were meant to remove.</a:t>
            </a:r>
          </a:p>
          <a:p>
            <a:endParaRPr/>
          </a:p>
          <a:p>
            <a:r>
              <a:t>- Amazon has publicly described organizing around small teams that own services behind APIs.</a:t>
            </a:r>
          </a:p>
          <a:p>
            <a:endParaRPr/>
          </a:p>
          <a:p>
            <a:r>
              <a:t>  Teams do not reach directly into other teams' data stores.</a:t>
            </a:r>
          </a:p>
          <a:p>
            <a:endParaRPr/>
          </a:p>
          <a:p>
            <a:r>
              <a:t>  So each team can release without coordinating with the others.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each service has its own PostgreSQL database with its own Flyway migrations.</a:t>
            </a:r>
          </a:p>
          <a:p>
            <a:endParaRPr/>
          </a:p>
          <a:p>
            <a:r>
              <a:t>Account, Transaction, and Risk Assessment each keep their own tables.</a:t>
            </a:r>
          </a:p>
          <a:p>
            <a:endParaRPr/>
          </a:p>
          <a:p>
            <a:r>
              <a:t>Suppose the Account team adds a nickname column and ships on Tuesday.</a:t>
            </a:r>
          </a:p>
          <a:p>
            <a:endParaRPr/>
          </a:p>
          <a:p>
            <a:r>
              <a:t>Transaction Service keeps working.</a:t>
            </a:r>
          </a:p>
          <a:p>
            <a:endParaRPr/>
          </a:p>
          <a:p>
            <a:r>
              <a:t>It reads account status through the API response.</a:t>
            </a:r>
          </a:p>
          <a:p>
            <a:endParaRPr/>
          </a:p>
          <a:p>
            <a:r>
              <a:t>An extra field in the JSON does not break its DTO.</a:t>
            </a:r>
          </a:p>
          <a:p>
            <a:endParaRPr/>
          </a:p>
          <a:p>
            <a:r>
              <a:t>On OpenShift, a rolling update briefly runs old and new Account pods together.</a:t>
            </a:r>
          </a:p>
          <a:p>
            <a:endParaRPr/>
          </a:p>
          <a:p>
            <a:r>
              <a:t>That is safe only because the change was additive.</a:t>
            </a:r>
          </a:p>
          <a:p>
            <a:endParaRPr/>
          </a:p>
          <a:p>
            <a:endParaRPr/>
          </a:p>
          <a:p>
            <a:r>
              <a:t>TOPIC 2 OF 2: Versioning Services Without Breaking Consumers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EVOLVING SERVICE CONTRACTS SAFELY</a:t>
            </a:r>
          </a:p>
          <a:p>
            <a:endParaRPr/>
          </a:p>
          <a:p>
            <a:r>
              <a:t>  Some changes are compatible.</a:t>
            </a:r>
          </a:p>
          <a:p>
            <a:endParaRPr/>
          </a:p>
          <a:p>
            <a:r>
              <a:t>  Adding an optional response field or a new endpoint is fine, as long as consumers ignore unknown fields.</a:t>
            </a:r>
          </a:p>
          <a:p>
            <a:endParaRPr/>
          </a:p>
          <a:p>
            <a:r>
              <a:t>  Other changes are breaking.</a:t>
            </a:r>
          </a:p>
          <a:p>
            <a:endParaRPr/>
          </a:p>
          <a:p>
            <a:r>
              <a:t>  These include removing a field, renaming it, or changing its meaning.</a:t>
            </a:r>
          </a:p>
          <a:p>
            <a:endParaRPr/>
          </a:p>
          <a:p>
            <a:r>
              <a:t>  Making a request field required or changing status code behavior also breaks clients.</a:t>
            </a:r>
          </a:p>
          <a:p>
            <a:endParaRPr/>
          </a:p>
          <a:p>
            <a:r>
              <a:t>  The module notes give an example.</a:t>
            </a:r>
          </a:p>
          <a:p>
            <a:endParaRPr/>
          </a:p>
          <a:p>
            <a:r>
              <a:t>  Splitting name into firstName and lastName breaks every client that reads name.</a:t>
            </a:r>
          </a:p>
          <a:p>
            <a:endParaRPr/>
          </a:p>
          <a:p>
            <a:r>
              <a:t>  Breaking changes get a new version, for instance a /v2 path.</a:t>
            </a:r>
          </a:p>
          <a:p>
            <a:endParaRPr/>
          </a:p>
          <a:p>
            <a:r>
              <a:t>  The team announces what changes, why, the replacement, and the end date.</a:t>
            </a:r>
          </a:p>
          <a:p>
            <a:endParaRPr/>
          </a:p>
          <a:p>
            <a:r>
              <a:t>  Event schemas need the same care.</a:t>
            </a:r>
          </a:p>
          <a:p>
            <a:endParaRPr/>
          </a:p>
          <a:p>
            <a:r>
              <a:t>  That is why Lab 2's envelope carries eventVersion.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Stripe versions its API by date.</a:t>
            </a:r>
          </a:p>
          <a:p>
            <a:endParaRPr/>
          </a:p>
          <a:p>
            <a:r>
              <a:t>  It pins each account to the version it integrated against.</a:t>
            </a:r>
          </a:p>
          <a:p>
            <a:endParaRPr/>
          </a:p>
          <a:p>
            <a:r>
              <a:t>  So new versions can change behavior without breaking existing merchants.</a:t>
            </a:r>
          </a:p>
          <a:p>
            <a:endParaRPr/>
          </a:p>
          <a:p>
            <a:r>
              <a:t>  Merchants stay unaffected until they choose to upgrade.</a:t>
            </a:r>
          </a:p>
          <a:p>
            <a:endParaRPr/>
          </a:p>
          <a:p>
            <a:r>
              <a:t>- Banks moving a partner API from v1 to v2 usually publish a deprecation notice with a sunset date.</a:t>
            </a:r>
          </a:p>
          <a:p>
            <a:endParaRPr/>
          </a:p>
          <a:p>
            <a:r>
              <a:t>  They run both versions in parallel.</a:t>
            </a:r>
          </a:p>
          <a:p>
            <a:endParaRPr/>
          </a:p>
          <a:p>
            <a:r>
              <a:t>  That is because partner release cycles are outside the bank's control.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Account Service's path already includes /api/v1.</a:t>
            </a:r>
          </a:p>
          <a:p>
            <a:endParaRPr/>
          </a:p>
          <a:p>
            <a:r>
              <a:t>Say the Risk team asks for the account opening date to help scoring.</a:t>
            </a:r>
          </a:p>
          <a:p>
            <a:endParaRPr/>
          </a:p>
          <a:p>
            <a:r>
              <a:t>Adding openedAt to the response is additive.</a:t>
            </a:r>
          </a:p>
          <a:p>
            <a:endParaRPr/>
          </a:p>
          <a:p>
            <a:r>
              <a:t>So it ships under v1 with no coordination.</a:t>
            </a:r>
          </a:p>
          <a:p>
            <a:endParaRPr/>
          </a:p>
          <a:p>
            <a:r>
              <a:t>Now say someone proposes renaming status to lifecycleState.</a:t>
            </a:r>
          </a:p>
          <a:p>
            <a:endParaRPr/>
          </a:p>
          <a:p>
            <a:r>
              <a:t>Transaction Service checks that status equals ACTIVE.</a:t>
            </a:r>
          </a:p>
          <a:p>
            <a:endParaRPr/>
          </a:p>
          <a:p>
            <a:r>
              <a:t>So that rename would silently reject every transaction.</a:t>
            </a:r>
          </a:p>
          <a:p>
            <a:endParaRPr/>
          </a:p>
          <a:p>
            <a:r>
              <a:t>The design review answer has two options.</a:t>
            </a:r>
          </a:p>
          <a:p>
            <a:endParaRPr/>
          </a:p>
          <a:p>
            <a:r>
              <a:t>Add the new field alongside the old one.</a:t>
            </a:r>
          </a:p>
          <a:p>
            <a:endParaRPr/>
          </a:p>
          <a:p>
            <a:r>
              <a:t>Or introduce v2 and keep v1 running until Transaction Service migrates.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DESIGN REVIEW CHECKLIST</a:t>
            </a:r>
          </a:p>
          <a:p>
            <a:endParaRPr/>
          </a:p>
          <a:p>
            <a:r>
              <a:t>  The five slide questions are the minimum bar.</a:t>
            </a:r>
          </a:p>
          <a:p>
            <a:endParaRPr/>
          </a:p>
          <a:p>
            <a:r>
              <a:t>  Does the service own one clear business capability, or is it a catch-all?</a:t>
            </a:r>
          </a:p>
          <a:p>
            <a:endParaRPr/>
          </a:p>
          <a:p>
            <a:r>
              <a:t>  Is data ownership explicit, with no other service reading its tables?</a:t>
            </a:r>
          </a:p>
          <a:p>
            <a:endParaRPr/>
          </a:p>
          <a:p>
            <a:r>
              <a:t>  Are both its REST APIs and the events it publishes documented?</a:t>
            </a:r>
          </a:p>
          <a:p>
            <a:endParaRPr/>
          </a:p>
          <a:p>
            <a:r>
              <a:t>  Events are contracts too.</a:t>
            </a:r>
          </a:p>
          <a:p>
            <a:endParaRPr/>
          </a:p>
          <a:p>
            <a:r>
              <a:t>  Can it deploy without coordinating with anyone?</a:t>
            </a:r>
          </a:p>
          <a:p>
            <a:endParaRPr/>
          </a:p>
          <a:p>
            <a:r>
              <a:t>  And has someone walked a real business workflow through the design end to end?</a:t>
            </a:r>
          </a:p>
          <a:p>
            <a:endParaRPr/>
          </a:p>
          <a:p>
            <a:r>
              <a:t>  That last one catches most boundary mistakes.</a:t>
            </a:r>
          </a:p>
          <a:p>
            <a:endParaRPr/>
          </a:p>
          <a:p>
            <a:r>
              <a:t>  A workflow that crosses the same boundary back and forth shows the split is in the wrong place.</a:t>
            </a:r>
          </a:p>
          <a:p>
            <a:endParaRPr/>
          </a:p>
          <a:p>
            <a:r>
              <a:t>- Design Readiness Scorecard</a:t>
            </a:r>
          </a:p>
          <a:p>
            <a:endParaRPr/>
          </a:p>
          <a:p>
            <a:r>
              <a:t>  The right-hand column turns the ten categories into a score out of 50.</a:t>
            </a:r>
          </a:p>
          <a:p>
            <a:endParaRPr/>
          </a:p>
          <a:p>
            <a:r>
              <a:t>  A score of 45 to 50 is Excellent, and 35 to 44 is Good.</a:t>
            </a:r>
          </a:p>
          <a:p>
            <a:endParaRPr/>
          </a:p>
          <a:p>
            <a:r>
              <a:t>  A score of 25 to 34 is Needs Improvement, and under 25 is At Risk.</a:t>
            </a:r>
          </a:p>
          <a:p>
            <a:endParaRPr/>
          </a:p>
          <a:p>
            <a:r>
              <a:t>  Use it as a conversation tool, not a gate.</a:t>
            </a:r>
          </a:p>
          <a:p>
            <a:endParaRPr/>
          </a:p>
          <a:p>
            <a:r>
              <a:t>  A low Resilience score on a service in the money path matters more.</a:t>
            </a:r>
          </a:p>
          <a:p>
            <a:endParaRPr/>
          </a:p>
          <a:p>
            <a:r>
              <a:t>  It outweighs a low Documentation score on an internal report job.</a:t>
            </a:r>
          </a:p>
          <a:p>
            <a:endParaRPr/>
          </a:p>
          <a:p>
            <a:r>
              <a:t>  The categories after the first four preview later days of this course.</a:t>
            </a:r>
          </a:p>
          <a:p>
            <a:endParaRPr/>
          </a:p>
          <a:p>
            <a:r>
              <a:t>  They include Resilience, Security, Observability, and Operations.</a:t>
            </a:r>
          </a:p>
          <a:p>
            <a:endParaRPr/>
          </a:p>
          <a:p>
            <a:r>
              <a:t>- Key Questions and Red Flags</a:t>
            </a:r>
          </a:p>
          <a:p>
            <a:endParaRPr/>
          </a:p>
          <a:p>
            <a:r>
              <a:t>  The Key Questions box gives review prompts.</a:t>
            </a:r>
          </a:p>
          <a:p>
            <a:endParaRPr/>
          </a:p>
          <a:p>
            <a:r>
              <a:t>  Can it be developed, tested, and deployed independently?</a:t>
            </a:r>
          </a:p>
          <a:p>
            <a:endParaRPr/>
          </a:p>
          <a:p>
            <a:r>
              <a:t>  What happens if a dependency is slow or down?</a:t>
            </a:r>
          </a:p>
          <a:p>
            <a:endParaRPr/>
          </a:p>
          <a:p>
            <a:r>
              <a:t>  Will a change break consumers?</a:t>
            </a:r>
          </a:p>
          <a:p>
            <a:endParaRPr/>
          </a:p>
          <a:p>
            <a:r>
              <a:t>  Do we own our data?</a:t>
            </a:r>
          </a:p>
          <a:p>
            <a:endParaRPr/>
          </a:p>
          <a:p>
            <a:r>
              <a:t>  Is it observable, secure, and resilient?</a:t>
            </a:r>
          </a:p>
          <a:p>
            <a:endParaRPr/>
          </a:p>
          <a:p>
            <a:r>
              <a:t>  Is the team equipped to run it?</a:t>
            </a:r>
          </a:p>
          <a:p>
            <a:endParaRPr/>
          </a:p>
          <a:p>
            <a:r>
              <a:t>  The Red Flags box lists what should stop a review.</a:t>
            </a:r>
          </a:p>
          <a:p>
            <a:endParaRPr/>
          </a:p>
          <a:p>
            <a:r>
              <a:t>  The flags are a shared database or tables, chatty communication, and unversioned APIs or events.</a:t>
            </a:r>
          </a:p>
          <a:p>
            <a:endParaRPr/>
          </a:p>
          <a:p>
            <a:r>
              <a:t>  They also include missing monitoring, no clear owner, and manual deployments.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Many enterprise architecture review boards require a short design document before a new service gets production infrastructure.</a:t>
            </a:r>
          </a:p>
          <a:p>
            <a:endParaRPr/>
          </a:p>
          <a:p>
            <a:r>
              <a:t>  It covers data ownership, interfaces, failure behavior, and operational ownership.</a:t>
            </a:r>
          </a:p>
          <a:p>
            <a:endParaRPr/>
          </a:p>
          <a:p>
            <a:r>
              <a:t>  That mirrors this checklist.</a:t>
            </a:r>
          </a:p>
          <a:p>
            <a:endParaRPr/>
          </a:p>
          <a:p>
            <a:r>
              <a:t>- A frequent finding in bank design reviews is a new service that plans to read another team's database for convenience.</a:t>
            </a:r>
          </a:p>
          <a:p>
            <a:endParaRPr/>
          </a:p>
          <a:p>
            <a:r>
              <a:t>  Catch that red flag before code exists.</a:t>
            </a:r>
          </a:p>
          <a:p>
            <a:endParaRPr/>
          </a:p>
          <a:p>
            <a:r>
              <a:t>  That is far cheaper than untangling it after two releases.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Run Account Service through the checklist before Lab 1.</a:t>
            </a:r>
          </a:p>
          <a:p>
            <a:endParaRPr/>
          </a:p>
          <a:p>
            <a:r>
              <a:t>Capability: account lifecycle only.</a:t>
            </a:r>
          </a:p>
          <a:p>
            <a:endParaRPr/>
          </a:p>
          <a:p>
            <a:r>
              <a:t>Data: its own PostgreSQL schema, managed by Flyway.</a:t>
            </a:r>
          </a:p>
          <a:p>
            <a:endParaRPr/>
          </a:p>
          <a:p>
            <a:r>
              <a:t>Contracts: POST, GET, PATCH, and the activate, freeze, and close actions.</a:t>
            </a:r>
          </a:p>
          <a:p>
            <a:endParaRPr/>
          </a:p>
          <a:p>
            <a:r>
              <a:t>They are documented in OpenAPI with 400, 404, and 409 cases.</a:t>
            </a:r>
          </a:p>
          <a:p>
            <a:endParaRPr/>
          </a:p>
          <a:p>
            <a:r>
              <a:t>Communication: consumers call it synchronously, and it publishes no events yet.</a:t>
            </a:r>
          </a:p>
          <a:p>
            <a:endParaRPr/>
          </a:p>
          <a:p>
            <a:r>
              <a:t>Resilience and security: honestly low today.</a:t>
            </a:r>
          </a:p>
          <a:p>
            <a:endParaRPr/>
          </a:p>
          <a:p>
            <a:r>
              <a:t>Lab 3 addresses them with JWT and callers' circuit breakers.</a:t>
            </a:r>
          </a:p>
          <a:p>
            <a:endParaRPr/>
          </a:p>
          <a:p>
            <a:r>
              <a:t>Operations: containerized and deployed in Lab 4.</a:t>
            </a:r>
          </a:p>
          <a:p>
            <a:endParaRPr/>
          </a:p>
          <a:p>
            <a:r>
              <a:t>The low scores are not failures.</a:t>
            </a:r>
          </a:p>
          <a:p>
            <a:endParaRPr/>
          </a:p>
          <a:p>
            <a:r>
              <a:t>They are the course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REST Architectural Principles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REST PRINCIPLES</a:t>
            </a:r>
          </a:p>
          <a:p>
            <a:endParaRPr/>
          </a:p>
          <a:p>
            <a:r>
              <a:t>  Resource-oriented means the API is organized around things the business manages, such as accounts and transactions.</a:t>
            </a:r>
          </a:p>
          <a:p>
            <a:endParaRPr/>
          </a:p>
          <a:p>
            <a:r>
              <a:t>  It is not organized around procedures.</a:t>
            </a:r>
          </a:p>
          <a:p>
            <a:endParaRPr/>
          </a:p>
          <a:p>
            <a:r>
              <a:t>  Stateless means the server keeps no memory of the conversation.</a:t>
            </a:r>
          </a:p>
          <a:p>
            <a:endParaRPr/>
          </a:p>
          <a:p>
            <a:r>
              <a:t>  So every request carries its own token and identifiers.</a:t>
            </a:r>
          </a:p>
          <a:p>
            <a:endParaRPr/>
          </a:p>
          <a:p>
            <a:r>
              <a:t>  That lets any of three OpenShift pods serve it.</a:t>
            </a:r>
          </a:p>
          <a:p>
            <a:endParaRPr/>
          </a:p>
          <a:p>
            <a:r>
              <a:t>  HTTP-native means using methods, status codes, and headers as designed.</a:t>
            </a:r>
          </a:p>
          <a:p>
            <a:endParaRPr/>
          </a:p>
          <a:p>
            <a:r>
              <a:t>  It does not mean tunneling everything through POST with an action field.</a:t>
            </a:r>
          </a:p>
          <a:p>
            <a:endParaRPr/>
          </a:p>
          <a:p>
            <a:r>
              <a:t>  Cache-aware means safe GET responses can carry caching headers where the data allows.</a:t>
            </a:r>
          </a:p>
          <a:p>
            <a:endParaRPr/>
          </a:p>
          <a:p>
            <a:r>
              <a:t>  That suits reference data more than live balances.</a:t>
            </a:r>
          </a:p>
          <a:p>
            <a:endParaRPr/>
          </a:p>
          <a:p>
            <a:r>
              <a:t>- GOOD VS. POOR REST DESIGN</a:t>
            </a:r>
          </a:p>
          <a:p>
            <a:endParaRPr/>
          </a:p>
          <a:p>
            <a:r>
              <a:t>  Compare the columns.</a:t>
            </a:r>
          </a:p>
          <a:p>
            <a:endParaRPr/>
          </a:p>
          <a:p>
            <a:r>
              <a:t>  The poor endpoints bake the action into the path.</a:t>
            </a:r>
          </a:p>
          <a:p>
            <a:endParaRPr/>
          </a:p>
          <a:p>
            <a:r>
              <a:t>  So every new operation needs a new URL.</a:t>
            </a:r>
          </a:p>
          <a:p>
            <a:endParaRPr/>
          </a:p>
          <a:p>
            <a:r>
              <a:t>  Every team also invents its own verb, like get, fetch, or retrieve.</a:t>
            </a:r>
          </a:p>
          <a:p>
            <a:endParaRPr/>
          </a:p>
          <a:p>
            <a:r>
              <a:t>  The good endpoints use a small, predictable set of nouns.</a:t>
            </a:r>
          </a:p>
          <a:p>
            <a:endParaRPr/>
          </a:p>
          <a:p>
            <a:r>
              <a:t>  GET, POST, PUT, PATCH, and DELETE provide the verbs.</a:t>
            </a:r>
          </a:p>
          <a:p>
            <a:endParaRPr/>
          </a:p>
          <a:p>
            <a:r>
              <a:t>  A client who knows GET /customers/101 can guess GET /accounts/5001.</a:t>
            </a:r>
          </a:p>
          <a:p>
            <a:endParaRPr/>
          </a:p>
          <a:p>
            <a:r>
              <a:t>  Nesting such as /accounts/5001/transactions expresses a real relationship: the transactions that belong to that account.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The GitHub REST API is a well-known resource-oriented design.</a:t>
            </a:r>
          </a:p>
          <a:p>
            <a:endParaRPr/>
          </a:p>
          <a:p>
            <a:r>
              <a:t>  A repository's issues sit in paths nested under the owner and repository.</a:t>
            </a:r>
          </a:p>
          <a:p>
            <a:endParaRPr/>
          </a:p>
          <a:p>
            <a:r>
              <a:t>  HTTP methods tell apart reading, creating, and updating those issues.</a:t>
            </a:r>
          </a:p>
          <a:p>
            <a:endParaRPr/>
          </a:p>
          <a:p>
            <a:r>
              <a:t>- Older bank integration layers often exposed RPC-style operations over SOAP, such as getAccountBalance or doFundsTransfer.</a:t>
            </a:r>
          </a:p>
          <a:p>
            <a:endParaRPr/>
          </a:p>
          <a:p>
            <a:r>
              <a:t>  Teams modernizing them to REST often remap those operations onto account and transfer resources.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1 applies these rules to Account Service.</a:t>
            </a:r>
          </a:p>
          <a:p>
            <a:endParaRPr/>
          </a:p>
          <a:p>
            <a:r>
              <a:t>POST /api/v1/accounts creates an account.</a:t>
            </a:r>
          </a:p>
          <a:p>
            <a:endParaRPr/>
          </a:p>
          <a:p>
            <a:r>
              <a:t>GET /api/v1/accounts/{accountId} reads one.</a:t>
            </a:r>
          </a:p>
          <a:p>
            <a:endParaRPr/>
          </a:p>
          <a:p>
            <a:r>
              <a:t>PATCH updates allowed fields, such as a nickname.</a:t>
            </a:r>
          </a:p>
          <a:p>
            <a:endParaRPr/>
          </a:p>
          <a:p>
            <a:r>
              <a:t>Status changes use POST /api/v1/accounts/{accountId}/activate, freeze, and close.</a:t>
            </a:r>
          </a:p>
          <a:p>
            <a:endParaRPr/>
          </a:p>
          <a:p>
            <a:r>
              <a:t>There is deliberately no DELETE, because banking audit needs the closed record.</a:t>
            </a:r>
          </a:p>
          <a:p>
            <a:endParaRPr/>
          </a:p>
          <a:p>
            <a:r>
              <a:t>A participant may ask whether activate is a verb in the URL.</a:t>
            </a:r>
          </a:p>
          <a:p>
            <a:endParaRPr/>
          </a:p>
          <a:p>
            <a:r>
              <a:t>It is.</a:t>
            </a:r>
          </a:p>
          <a:p>
            <a:endParaRPr/>
          </a:p>
          <a:p>
            <a:r>
              <a:t>The lab calls it out as a business action.</a:t>
            </a:r>
          </a:p>
          <a:p>
            <a:endParaRPr/>
          </a:p>
          <a:p>
            <a:r>
              <a:t>It is a deliberate, documented exception rather than a general habit.</a:t>
            </a:r>
          </a:p>
          <a:p>
            <a:endParaRPr/>
          </a:p>
          <a:p>
            <a:endParaRPr/>
          </a:p>
          <a:p>
            <a:r>
              <a:t>TOPIC 2 OF 2: Resources, Representations, and Identifiers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THREE CORE REST CONCEPTS</a:t>
            </a:r>
          </a:p>
          <a:p>
            <a:endParaRPr/>
          </a:p>
          <a:p>
            <a:r>
              <a:t>  Separate three things people blur together.</a:t>
            </a:r>
          </a:p>
          <a:p>
            <a:endParaRPr/>
          </a:p>
          <a:p>
            <a:r>
              <a:t>  The resource is the account itself, a business concept.</a:t>
            </a:r>
          </a:p>
          <a:p>
            <a:endParaRPr/>
          </a:p>
          <a:p>
            <a:r>
              <a:t>  A representation is one rendering of it at a moment in time.</a:t>
            </a:r>
          </a:p>
          <a:p>
            <a:endParaRPr/>
          </a:p>
          <a:p>
            <a:r>
              <a:t>  In this course that is usually JSON.</a:t>
            </a:r>
          </a:p>
          <a:p>
            <a:endParaRPr/>
          </a:p>
          <a:p>
            <a:r>
              <a:t>  But the same resource could be served as CSV for an export.</a:t>
            </a:r>
          </a:p>
          <a:p>
            <a:endParaRPr/>
          </a:p>
          <a:p>
            <a:r>
              <a:t>  Content negotiation means the client says what it accepts through the Accept header.</a:t>
            </a:r>
          </a:p>
          <a:p>
            <a:endParaRPr/>
          </a:p>
          <a:p>
            <a:r>
              <a:t>  The server then picks a matching format.</a:t>
            </a:r>
          </a:p>
          <a:p>
            <a:endParaRPr/>
          </a:p>
          <a:p>
            <a:r>
              <a:t>  The identifier is the URI.</a:t>
            </a:r>
          </a:p>
          <a:p>
            <a:endParaRPr/>
          </a:p>
          <a:p>
            <a:r>
              <a:t>  It should stay stable for as long as the resource exists.</a:t>
            </a:r>
          </a:p>
          <a:p>
            <a:endParaRPr/>
          </a:p>
          <a:p>
            <a:r>
              <a:t>  Other systems store it, log it, and link to it.</a:t>
            </a:r>
          </a:p>
          <a:p>
            <a:endParaRPr/>
          </a:p>
          <a:p>
            <a:r>
              <a:t>- GOOD VS. BAD IDENTIFIERS</a:t>
            </a:r>
          </a:p>
          <a:p>
            <a:endParaRPr/>
          </a:p>
          <a:p>
            <a:r>
              <a:t>  Good identifiers put the collection name in the path, then the ID.</a:t>
            </a:r>
          </a:p>
          <a:p>
            <a:endParaRPr/>
          </a:p>
          <a:p>
            <a:r>
              <a:t>  They use nesting only for real relationships, such as a customer's orders.</a:t>
            </a:r>
          </a:p>
          <a:p>
            <a:endParaRPr/>
          </a:p>
          <a:p>
            <a:r>
              <a:t>  The avoid list shows three different mistakes.</a:t>
            </a:r>
          </a:p>
          <a:p>
            <a:endParaRPr/>
          </a:p>
          <a:p>
            <a:r>
              <a:t>  /getOrderById/123 puts a verb in the path.</a:t>
            </a:r>
          </a:p>
          <a:p>
            <a:endParaRPr/>
          </a:p>
          <a:p>
            <a:r>
              <a:t>  /order?id=123 uses a singular collection name and hides identity in a query string.</a:t>
            </a:r>
          </a:p>
          <a:p>
            <a:endParaRPr/>
          </a:p>
          <a:p>
            <a:r>
              <a:t>  Keep query strings for filtering, sorting, and paging.</a:t>
            </a:r>
          </a:p>
          <a:p>
            <a:endParaRPr/>
          </a:p>
          <a:p>
            <a:r>
              <a:t>  /createUser and /updateProductInfo describe operations, not things.</a:t>
            </a:r>
          </a:p>
          <a:p>
            <a:endParaRPr/>
          </a:p>
          <a:p>
            <a:r>
              <a:t>  A resource with a stable URI can be bookmarked, logged, cached, and referenced by other services.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statement download endpoint can return the same monthly statement resource in different formats.</a:t>
            </a:r>
          </a:p>
          <a:p>
            <a:endParaRPr/>
          </a:p>
          <a:p>
            <a:r>
              <a:t>  It can send JSON for the mobile app and PDF or CSV for a customer download.</a:t>
            </a:r>
          </a:p>
          <a:p>
            <a:endParaRPr/>
          </a:p>
          <a:p>
            <a:r>
              <a:t>  The Accept header selects the format.</a:t>
            </a:r>
          </a:p>
          <a:p>
            <a:endParaRPr/>
          </a:p>
          <a:p>
            <a:r>
              <a:t>  There is no need for separate getStatementPdf and getStatementCsv paths.</a:t>
            </a:r>
          </a:p>
          <a:p>
            <a:endParaRPr/>
          </a:p>
          <a:p>
            <a:r>
              <a:t>- Payment references in banking are long-lived.</a:t>
            </a:r>
          </a:p>
          <a:p>
            <a:endParaRPr/>
          </a:p>
          <a:p>
            <a:r>
              <a:t>  A dispute raised weeks later still needs to find the original transaction by its identifier.</a:t>
            </a:r>
          </a:p>
          <a:p>
            <a:endParaRPr/>
          </a:p>
          <a:p>
            <a:r>
              <a:t>  That is why identifier URIs must not change when an API is refactored.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the resource is a transaction.</a:t>
            </a:r>
          </a:p>
          <a:p>
            <a:endParaRPr/>
          </a:p>
          <a:p>
            <a:r>
              <a:t>Its representation is the JSON body that Transaction Service returns.</a:t>
            </a:r>
          </a:p>
          <a:p>
            <a:endParaRPr/>
          </a:p>
          <a:p>
            <a:r>
              <a:t>Its identifier is /api/v1/transactions/TXN-A1B2C3D4.</a:t>
            </a:r>
          </a:p>
          <a:p>
            <a:endParaRPr/>
          </a:p>
          <a:p>
            <a:r>
              <a:t>On Day 5, Risk Assessment Service keys its assessment by that same transaction ID at /api/v1/assessments/{transactionId}.</a:t>
            </a:r>
          </a:p>
          <a:p>
            <a:endParaRPr/>
          </a:p>
          <a:p>
            <a:r>
              <a:t>Suppose Transaction Service had exposed /getTransaction?id=...</a:t>
            </a:r>
          </a:p>
          <a:p>
            <a:endParaRPr/>
          </a:p>
          <a:p>
            <a:r>
              <a:t>and later renamed it.</a:t>
            </a:r>
          </a:p>
          <a:p>
            <a:endParaRPr/>
          </a:p>
          <a:p>
            <a:r>
              <a:t>Every stored reference in the risk audit table would break.</a:t>
            </a:r>
          </a:p>
          <a:p>
            <a:endParaRPr/>
          </a:p>
          <a:p>
            <a:r>
              <a:t>So would every operations bookmark.</a:t>
            </a:r>
          </a:p>
          <a:p>
            <a:endParaRPr/>
          </a:p>
          <a:p>
            <a:r>
              <a:t>Stable identifiers are what let three separately owned services refer to the same business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Client-server and stateless (cards 1 and 2)</a:t>
            </a:r>
          </a:p>
          <a:p>
            <a:endParaRPr/>
          </a:p>
          <a:p>
            <a:r>
              <a:t>  Client-server means the consumer and the provider are separate.</a:t>
            </a:r>
          </a:p>
          <a:p>
            <a:endParaRPr/>
          </a:p>
          <a:p>
            <a:r>
              <a:t>  They meet only at the interface.</a:t>
            </a:r>
          </a:p>
          <a:p>
            <a:endParaRPr/>
          </a:p>
          <a:p>
            <a:r>
              <a:t>  So a mobile banking release does not force an Account Service release.</a:t>
            </a:r>
          </a:p>
          <a:p>
            <a:endParaRPr/>
          </a:p>
          <a:p>
            <a:r>
              <a:t>  Stateless means the server keeps no conversational memory between calls.</a:t>
            </a:r>
          </a:p>
          <a:p>
            <a:endParaRPr/>
          </a:p>
          <a:p>
            <a:r>
              <a:t>  Each request carries its identity token, parameters, and body.</a:t>
            </a:r>
          </a:p>
          <a:p>
            <a:endParaRPr/>
          </a:p>
          <a:p>
            <a:r>
              <a:t>  That is what lets OpenShift run several replicas and route any request to any pod.</a:t>
            </a:r>
          </a:p>
          <a:p>
            <a:endParaRPr/>
          </a:p>
          <a:p>
            <a:r>
              <a:t>  It is also why Lab 3 has Transaction Service relay the caller's JWT on every call.</a:t>
            </a:r>
          </a:p>
          <a:p>
            <a:endParaRPr/>
          </a:p>
          <a:p>
            <a:r>
              <a:t>  It does not rely on a session.</a:t>
            </a:r>
          </a:p>
          <a:p>
            <a:endParaRPr/>
          </a:p>
          <a:p>
            <a:r>
              <a:t>- Uniform interface (card 3)</a:t>
            </a:r>
          </a:p>
          <a:p>
            <a:endParaRPr/>
          </a:p>
          <a:p>
            <a:r>
              <a:t>  This constraint makes REST APIs feel familiar from one to the next.</a:t>
            </a:r>
          </a:p>
          <a:p>
            <a:endParaRPr/>
          </a:p>
          <a:p>
            <a:r>
              <a:t>  Resources are identified by URIs.</a:t>
            </a:r>
          </a:p>
          <a:p>
            <a:endParaRPr/>
          </a:p>
          <a:p>
            <a:r>
              <a:t>  Clients change them by sending representations, usually JSON.</a:t>
            </a:r>
          </a:p>
          <a:p>
            <a:endParaRPr/>
          </a:p>
          <a:p>
            <a:r>
              <a:t>  Messages describe themselves through methods, media types, headers, and status codes.</a:t>
            </a:r>
          </a:p>
          <a:p>
            <a:endParaRPr/>
          </a:p>
          <a:p>
            <a:r>
              <a:t>  HATEOAS means responses can include links to the next valid actions.</a:t>
            </a:r>
          </a:p>
          <a:p>
            <a:endParaRPr/>
          </a:p>
          <a:p>
            <a:r>
              <a:t>  Many enterprise APIs implement the first three thoroughly and hypermedia only partially.</a:t>
            </a:r>
          </a:p>
          <a:p>
            <a:endParaRPr/>
          </a:p>
          <a:p>
            <a:r>
              <a:t>  So present HATEOAS as the most advanced part of the interface.</a:t>
            </a:r>
          </a:p>
          <a:p>
            <a:endParaRPr/>
          </a:p>
          <a:p>
            <a:r>
              <a:t>  It is not a checkbox every banking API must tick.</a:t>
            </a:r>
          </a:p>
          <a:p>
            <a:endParaRPr/>
          </a:p>
          <a:p>
            <a:r>
              <a:t>- Cacheable and layered system (cards 4 and 5)</a:t>
            </a:r>
          </a:p>
          <a:p>
            <a:endParaRPr/>
          </a:p>
          <a:p>
            <a:r>
              <a:t>  Cacheable means responses say whether, and for how long, they can be reused.</a:t>
            </a:r>
          </a:p>
          <a:p>
            <a:endParaRPr/>
          </a:p>
          <a:p>
            <a:r>
              <a:t>  They do this through headers such as Cache-Control and ETag.</a:t>
            </a:r>
          </a:p>
          <a:p>
            <a:endParaRPr/>
          </a:p>
          <a:p>
            <a:r>
              <a:t>  Reference data like branch lists caches well.</a:t>
            </a:r>
          </a:p>
          <a:p>
            <a:endParaRPr/>
          </a:p>
          <a:p>
            <a:r>
              <a:t>  Account status and balances generally should not be cached by intermediaries.</a:t>
            </a:r>
          </a:p>
          <a:p>
            <a:endParaRPr/>
          </a:p>
          <a:p>
            <a:r>
              <a:t>  Layered system means a client cannot tell how it reaches the service.</a:t>
            </a:r>
          </a:p>
          <a:p>
            <a:endParaRPr/>
          </a:p>
          <a:p>
            <a:r>
              <a:t>  It might talk to the service directly, or through an API gateway, OpenShift router, or proxy.</a:t>
            </a:r>
          </a:p>
          <a:p>
            <a:endParaRPr/>
          </a:p>
          <a:p>
            <a:r>
              <a:t>  That is why gateways can add authentication, rate limiting, and TLS termination without clients changing.</a:t>
            </a:r>
          </a:p>
          <a:p>
            <a:endParaRPr/>
          </a:p>
          <a:p>
            <a:r>
              <a:t>- Code on demand (card 6)</a:t>
            </a:r>
          </a:p>
          <a:p>
            <a:endParaRPr/>
          </a:p>
          <a:p>
            <a:r>
              <a:t>  Code on demand lets a server send executable code to the client.</a:t>
            </a:r>
          </a:p>
          <a:p>
            <a:endParaRPr/>
          </a:p>
          <a:p>
            <a:r>
              <a:t>  The familiar case is a browser downloading and running JavaScript.</a:t>
            </a:r>
          </a:p>
          <a:p>
            <a:endParaRPr/>
          </a:p>
          <a:p>
            <a:r>
              <a:t>  It is the only optional REST constraint.</a:t>
            </a:r>
          </a:p>
          <a:p>
            <a:endParaRPr/>
          </a:p>
          <a:p>
            <a:r>
              <a:t>  Service-to-service APIs like the ones in this course do not use it.</a:t>
            </a:r>
          </a:p>
          <a:p>
            <a:endParaRPr/>
          </a:p>
          <a:p>
            <a:r>
              <a:t>  Mention it so the list matches what learners find in references, then move on.</a:t>
            </a:r>
          </a:p>
          <a:p>
            <a:endParaRPr/>
          </a:p>
          <a:p>
            <a:r>
              <a:t>  Time spent here is better used on the practical cards.</a:t>
            </a:r>
          </a:p>
          <a:p>
            <a:endParaRPr/>
          </a:p>
          <a:p>
            <a:r>
              <a:t>- Resource-based and HTTP methods (cards 7 and 8)</a:t>
            </a:r>
          </a:p>
          <a:p>
            <a:endParaRPr/>
          </a:p>
          <a:p>
            <a:r>
              <a:t>  Cards 7 and 8 are not among the formal REST constraints.</a:t>
            </a:r>
          </a:p>
          <a:p>
            <a:endParaRPr/>
          </a:p>
          <a:p>
            <a:r>
              <a:t>  But they are the habits that make APIs usable.</a:t>
            </a:r>
          </a:p>
          <a:p>
            <a:endParaRPr/>
          </a:p>
          <a:p>
            <a:r>
              <a:t>  URIs name resources with nouns, so /accounts/{id} rather than /getAccount.</a:t>
            </a:r>
          </a:p>
          <a:p>
            <a:endParaRPr/>
          </a:p>
          <a:p>
            <a:r>
              <a:t>  The method carries the intent.</a:t>
            </a:r>
          </a:p>
          <a:p>
            <a:endParaRPr/>
          </a:p>
          <a:p>
            <a:r>
              <a:t>  GET reads, POST creates, PUT replaces, PATCH partially updates, and DELETE removes.</a:t>
            </a:r>
          </a:p>
          <a:p>
            <a:endParaRPr/>
          </a:p>
          <a:p>
            <a:r>
              <a:t>  Lab 1 follows this with POST to create, GET to read, and PATCH for the nickname.</a:t>
            </a:r>
          </a:p>
          <a:p>
            <a:endParaRPr/>
          </a:p>
          <a:p>
            <a:r>
              <a:t>  It deliberately has no DELETE.</a:t>
            </a:r>
          </a:p>
          <a:p>
            <a:endParaRPr/>
          </a:p>
          <a:p>
            <a:r>
              <a:t>  Closed accounts are kept for audit, and closing is a business action instead.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Stripe's payments API is often cited for consistent resource-oriented design.</a:t>
            </a:r>
          </a:p>
          <a:p>
            <a:endParaRPr/>
          </a:p>
          <a:p>
            <a:r>
              <a:t>  It uses noun-based paths such as customers and charges, standard HTTP methods, and meaningful status codes.</a:t>
            </a:r>
          </a:p>
          <a:p>
            <a:endParaRPr/>
          </a:p>
          <a:p>
            <a:r>
              <a:t>  It also has an Idempotency-Key header, so a retried POST does not create a duplicate charge.</a:t>
            </a:r>
          </a:p>
          <a:p>
            <a:endParaRPr/>
          </a:p>
          <a:p>
            <a:r>
              <a:t>- Open banking APIs, such as those defined by the UK Open Banking standard, expose accounts, balances, and transactions as REST resources.</a:t>
            </a:r>
          </a:p>
          <a:p>
            <a:endParaRPr/>
          </a:p>
          <a:p>
            <a:r>
              <a:t>  They work over HTTPS with token-based authorization.</a:t>
            </a:r>
          </a:p>
          <a:p>
            <a:endParaRPr/>
          </a:p>
          <a:p>
            <a:r>
              <a:t>  That lets many third-party apps integrate without sharing sessions or scraping screens.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 legacy team shows the capstone group its proposed account endpoints: /getAccountStatus, /doFreeze, and /updateAccountNickname.</a:t>
            </a:r>
          </a:p>
          <a:p>
            <a:endParaRPr/>
          </a:p>
          <a:p>
            <a:r>
              <a:t>They rely on a server-side session that remembers the current account.</a:t>
            </a:r>
          </a:p>
          <a:p>
            <a:endParaRPr/>
          </a:p>
          <a:p>
            <a:r>
              <a:t>The group redesigns them against the cards.</a:t>
            </a:r>
          </a:p>
          <a:p>
            <a:endParaRPr/>
          </a:p>
          <a:p>
            <a:r>
              <a:t>The resource becomes GET /api/v1/accounts/{accountId}.</a:t>
            </a:r>
          </a:p>
          <a:p>
            <a:endParaRPr/>
          </a:p>
          <a:p>
            <a:r>
              <a:t>A nickname change becomes PATCH on the same URI.</a:t>
            </a:r>
          </a:p>
          <a:p>
            <a:endParaRPr/>
          </a:p>
          <a:p>
            <a:r>
              <a:t>Freezing becomes POST /api/v1/accounts/{accountId}/freeze, a business action on a noun-based path.</a:t>
            </a:r>
          </a:p>
          <a:p>
            <a:endParaRPr/>
          </a:p>
          <a:p>
            <a:r>
              <a:t>The session disappears.</a:t>
            </a:r>
          </a:p>
          <a:p>
            <a:endParaRPr/>
          </a:p>
          <a:p>
            <a:r>
              <a:t>Every call carries a JWT, so any of the running Account Service pods can answer.</a:t>
            </a:r>
          </a:p>
          <a:p>
            <a:endParaRPr/>
          </a:p>
          <a:p>
            <a:r>
              <a:t>The gateway in front is told not to cache account status.</a:t>
            </a:r>
          </a:p>
          <a:p>
            <a:endParaRPr/>
          </a:p>
          <a:p>
            <a:r>
              <a:t>The result matches the Lab 1 contract and scales cleanly on OpenShift.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Resource modeling and characteristics (panels 1 and 2)</a:t>
            </a:r>
          </a:p>
          <a:p>
            <a:endParaRPr/>
          </a:p>
          <a:p>
            <a:r>
              <a:t>  Resource modeling starts from business nouns, not table names.</a:t>
            </a:r>
          </a:p>
          <a:p>
            <a:endParaRPr/>
          </a:p>
          <a:p>
            <a:r>
              <a:t>  Think account, transaction, and risk assessment, not something like tbl_acct.</a:t>
            </a:r>
          </a:p>
          <a:p>
            <a:endParaRPr/>
          </a:p>
          <a:p>
            <a:r>
              <a:t>  Each resource must be identifiable with a stable ID.</a:t>
            </a:r>
          </a:p>
          <a:p>
            <a:endParaRPr/>
          </a:p>
          <a:p>
            <a:r>
              <a:t>  It must be addressable at a URI and representable, usually as JSON.</a:t>
            </a:r>
          </a:p>
          <a:p>
            <a:endParaRPr/>
          </a:p>
          <a:p>
            <a:r>
              <a:t>  The word stateful in panel 2 means the resource itself has state the server holds, such as an account's status.</a:t>
            </a:r>
          </a:p>
          <a:p>
            <a:endParaRPr/>
          </a:p>
          <a:p>
            <a:r>
              <a:t>  Separate that clearly from session state.</a:t>
            </a:r>
          </a:p>
          <a:p>
            <a:endParaRPr/>
          </a:p>
          <a:p>
            <a:r>
              <a:t>  A resource can have state while the service remains stateless between requests.</a:t>
            </a:r>
          </a:p>
          <a:p>
            <a:endParaRPr/>
          </a:p>
          <a:p>
            <a:r>
              <a:t>- URI design principles (panel 3)</a:t>
            </a:r>
          </a:p>
          <a:p>
            <a:endParaRPr/>
          </a:p>
          <a:p>
            <a:r>
              <a:t>  Use nouns, so the HTTP method carries the verb.</a:t>
            </a:r>
          </a:p>
          <a:p>
            <a:endParaRPr/>
          </a:p>
          <a:p>
            <a:r>
              <a:t>  Show hierarchy only where the relationship is real.</a:t>
            </a:r>
          </a:p>
          <a:p>
            <a:endParaRPr/>
          </a:p>
          <a:p>
            <a:r>
              <a:t>  Keep paths lowercase, because URI paths are case-sensitive.</a:t>
            </a:r>
          </a:p>
          <a:p>
            <a:endParaRPr/>
          </a:p>
          <a:p>
            <a:r>
              <a:t>  Use hyphens for multi-word names such as risk-assessments.</a:t>
            </a:r>
          </a:p>
          <a:p>
            <a:endParaRPr/>
          </a:p>
          <a:p>
            <a:r>
              <a:t>  The panel says to use numbers for IDs.</a:t>
            </a:r>
          </a:p>
          <a:p>
            <a:endParaRPr/>
          </a:p>
          <a:p>
            <a:r>
              <a:t>  The broader point is simple, stable identifiers.</a:t>
            </a:r>
          </a:p>
          <a:p>
            <a:endParaRPr/>
          </a:p>
          <a:p>
            <a:r>
              <a:t>  Lab 1 generates IDs of ACC- plus eight hex characters.</a:t>
            </a:r>
          </a:p>
          <a:p>
            <a:endParaRPr/>
          </a:p>
          <a:p>
            <a:r>
              <a:t>  That meets the intent without exposing database sequence numbers.</a:t>
            </a:r>
          </a:p>
          <a:p>
            <a:endParaRPr/>
          </a:p>
          <a:p>
            <a:r>
              <a:t>  Consistency across services matters more than any single rule.</a:t>
            </a:r>
          </a:p>
          <a:p>
            <a:endParaRPr/>
          </a:p>
          <a:p>
            <a:r>
              <a:t>- URI structure (panel 4)</a:t>
            </a:r>
          </a:p>
          <a:p>
            <a:endParaRPr/>
          </a:p>
          <a:p>
            <a:r>
              <a:t>  Break the sample URI into parts.</a:t>
            </a:r>
          </a:p>
          <a:p>
            <a:endParaRPr/>
          </a:p>
          <a:p>
            <a:r>
              <a:t>  The scheme is HTTPS, which is mandatory for banking traffic.</a:t>
            </a:r>
          </a:p>
          <a:p>
            <a:endParaRPr/>
          </a:p>
          <a:p>
            <a:r>
              <a:t>  The domain identifies the API host.</a:t>
            </a:r>
          </a:p>
          <a:p>
            <a:endParaRPr/>
          </a:p>
          <a:p>
            <a:r>
              <a:t>  On OpenShift, that is often a Route hostname.</a:t>
            </a:r>
          </a:p>
          <a:p>
            <a:endParaRPr/>
          </a:p>
          <a:p>
            <a:r>
              <a:t>  The resource path identifies what is being addressed.</a:t>
            </a:r>
          </a:p>
          <a:p>
            <a:endParaRPr/>
          </a:p>
          <a:p>
            <a:r>
              <a:t>  In Lab 1 it starts with /api/v1/accounts, which adds a version segment.</a:t>
            </a:r>
          </a:p>
          <a:p>
            <a:endParaRPr/>
          </a:p>
          <a:p>
            <a:r>
              <a:t>  The query string after the question mark carries optional filters, sorting, and paging.</a:t>
            </a:r>
          </a:p>
          <a:p>
            <a:endParaRPr/>
          </a:p>
          <a:p>
            <a:r>
              <a:t>  Rule of thumb: identity goes in the path, and optional narrowing goes in the query.</a:t>
            </a:r>
          </a:p>
          <a:p>
            <a:endParaRPr/>
          </a:p>
          <a:p>
            <a:r>
              <a:t>- Examples and relationship representation (panels 5 and 6)</a:t>
            </a:r>
          </a:p>
          <a:p>
            <a:endParaRPr/>
          </a:p>
          <a:p>
            <a:r>
              <a:t>  The examples progress step by step.</a:t>
            </a:r>
          </a:p>
          <a:p>
            <a:endParaRPr/>
          </a:p>
          <a:p>
            <a:r>
              <a:t>  They go from a collection, to an item, to a child collection, a child item, and a grandchild collection.</a:t>
            </a:r>
          </a:p>
          <a:p>
            <a:endParaRPr/>
          </a:p>
          <a:p>
            <a:r>
              <a:t>  Translate them into banking as you go: /accounts, /accounts/{accountId}, /accounts/{accountId}/transactions.</a:t>
            </a:r>
          </a:p>
          <a:p>
            <a:endParaRPr/>
          </a:p>
          <a:p>
            <a:r>
              <a:t>  Panel 6 shows relationships in paths.</a:t>
            </a:r>
          </a:p>
          <a:p>
            <a:endParaRPr/>
          </a:p>
          <a:p>
            <a:r>
              <a:t>  One-to-one is a singular sub-resource, and one-to-many is a child collection.</a:t>
            </a:r>
          </a:p>
          <a:p>
            <a:endParaRPr/>
          </a:p>
          <a:p>
            <a:r>
              <a:t>  Many-to-many is exposed from one side, and nesting is for true containment.</a:t>
            </a:r>
          </a:p>
          <a:p>
            <a:endParaRPr/>
          </a:p>
          <a:p>
            <a:r>
              <a:t>  Warn against nesting deeper than about two levels.</a:t>
            </a:r>
          </a:p>
          <a:p>
            <a:endParaRPr/>
          </a:p>
          <a:p>
            <a:r>
              <a:t>  Deep URIs become brittle when relationships change.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GitHub's REST API is a widely used public example of hierarchical resource URIs.</a:t>
            </a:r>
          </a:p>
          <a:p>
            <a:endParaRPr/>
          </a:p>
          <a:p>
            <a:r>
              <a:t>  Repositories sit under their owners.</a:t>
            </a:r>
          </a:p>
          <a:p>
            <a:endParaRPr/>
          </a:p>
          <a:p>
            <a:r>
              <a:t>  Issues and pull requests sit under repositories.</a:t>
            </a:r>
          </a:p>
          <a:p>
            <a:endParaRPr/>
          </a:p>
          <a:p>
            <a:r>
              <a:t>  Query parameters handle state filters and pagination.</a:t>
            </a:r>
          </a:p>
          <a:p>
            <a:endParaRPr/>
          </a:p>
          <a:p>
            <a:r>
              <a:t>- Bank APIs that expose transaction history typically nest a transactions collection under an account.</a:t>
            </a:r>
          </a:p>
          <a:p>
            <a:endParaRPr/>
          </a:p>
          <a:p>
            <a:r>
              <a:t>  Some accept an account filter instead.</a:t>
            </a:r>
          </a:p>
          <a:p>
            <a:endParaRPr/>
          </a:p>
          <a:p>
            <a:r>
              <a:t>  They use query parameters for date ranges and paging.</a:t>
            </a:r>
          </a:p>
          <a:p>
            <a:endParaRPr/>
          </a:p>
          <a:p>
            <a:r>
              <a:t>  A statement view needs filtered, paged results, not every transaction ever posted.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While designing Transaction Service for Lab 2, a learner proposes /api/v1/accounts/{accountId}/transactions/{transactionId}/risk-assessment/score/details.</a:t>
            </a:r>
          </a:p>
          <a:p>
            <a:endParaRPr/>
          </a:p>
          <a:p>
            <a:r>
              <a:t>The group reviews it against the diagram.</a:t>
            </a:r>
          </a:p>
          <a:p>
            <a:endParaRPr/>
          </a:p>
          <a:p>
            <a:r>
              <a:t>The path is five levels deep.</a:t>
            </a:r>
          </a:p>
          <a:p>
            <a:endParaRPr/>
          </a:p>
          <a:p>
            <a:r>
              <a:t>It also implies that Account Service owns transactions and risk scores.</a:t>
            </a:r>
          </a:p>
          <a:p>
            <a:endParaRPr/>
          </a:p>
          <a:p>
            <a:r>
              <a:t>That contradicts the bounded contexts drawn earlier.</a:t>
            </a:r>
          </a:p>
          <a:p>
            <a:endParaRPr/>
          </a:p>
          <a:p>
            <a:r>
              <a:t>The group settles on top-level resources owned by each service.</a:t>
            </a:r>
          </a:p>
          <a:p>
            <a:endParaRPr/>
          </a:p>
          <a:p>
            <a:r>
              <a:t>POST /api/v1/transactions creates a transaction.</a:t>
            </a:r>
          </a:p>
          <a:p>
            <a:endParaRPr/>
          </a:p>
          <a:p>
            <a:r>
              <a:t>GET /api/v1/transactions/{transactionId} reads one.</a:t>
            </a:r>
          </a:p>
          <a:p>
            <a:endParaRPr/>
          </a:p>
          <a:p>
            <a:r>
              <a:t>An optional accountId query parameter filters by account.</a:t>
            </a:r>
          </a:p>
          <a:p>
            <a:endParaRPr/>
          </a:p>
          <a:p>
            <a:r>
              <a:t>Risk data stays with Risk Assessment Service under its own path.</a:t>
            </a:r>
          </a:p>
          <a:p>
            <a:endParaRPr/>
          </a:p>
          <a:p>
            <a:r>
              <a:t>The URIs are shorter, lowercase, and match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SIX URL DESIGN PRINCIPLES</a:t>
            </a:r>
          </a:p>
          <a:p>
            <a:endParaRPr/>
          </a:p>
          <a:p>
            <a:r>
              <a:t>  One, nouns not verbs: the method is the verb.</a:t>
            </a:r>
          </a:p>
          <a:p>
            <a:endParaRPr/>
          </a:p>
          <a:p>
            <a:r>
              <a:t>  Two, collections: the collection path is plural, /users.</a:t>
            </a:r>
          </a:p>
          <a:p>
            <a:endParaRPr/>
          </a:p>
          <a:p>
            <a:r>
              <a:t>  One item is that collection plus an ID, /users/42.</a:t>
            </a:r>
          </a:p>
          <a:p>
            <a:endParaRPr/>
          </a:p>
          <a:p>
            <a:r>
              <a:t>  Read singular for items as one resource, not as a singular path word.</a:t>
            </a:r>
          </a:p>
          <a:p>
            <a:endParaRPr/>
          </a:p>
          <a:p>
            <a:r>
              <a:t>  Three, hierarchy: nest to show a real relationship, such as /users/42/orders, but stop at two or three levels.</a:t>
            </a:r>
          </a:p>
          <a:p>
            <a:endParaRPr/>
          </a:p>
          <a:p>
            <a:r>
              <a:t>  Four, identifiers go in the path.</a:t>
            </a:r>
          </a:p>
          <a:p>
            <a:endParaRPr/>
          </a:p>
          <a:p>
            <a:r>
              <a:t>  Five, use lowercase with hyphens, applied the same way across all services.</a:t>
            </a:r>
          </a:p>
          <a:p>
            <a:endParaRPr/>
          </a:p>
          <a:p>
            <a:r>
              <a:t>  Six, no implementation leaks, such as .json extensions, table names, or framework names.</a:t>
            </a:r>
          </a:p>
          <a:p>
            <a:endParaRPr/>
          </a:p>
          <a:p>
            <a:r>
              <a:t>- GOOD VS. BAD URL EXAMPLES</a:t>
            </a:r>
          </a:p>
          <a:p>
            <a:endParaRPr/>
          </a:p>
          <a:p>
            <a:r>
              <a:t>  Both pairs show the same operation written two ways.</a:t>
            </a:r>
          </a:p>
          <a:p>
            <a:endParaRPr/>
          </a:p>
          <a:p>
            <a:r>
              <a:t>  GET /users/42/orders reads a user's orders through the hierarchy.</a:t>
            </a:r>
          </a:p>
          <a:p>
            <a:endParaRPr/>
          </a:p>
          <a:p>
            <a:r>
              <a:t>  GET /getOrdersForUser/42 invents a one-off verb path.</a:t>
            </a:r>
          </a:p>
          <a:p>
            <a:endParaRPr/>
          </a:p>
          <a:p>
            <a:r>
              <a:t>  PATCH /orders/123 partially updates the order.</a:t>
            </a:r>
          </a:p>
          <a:p>
            <a:endParaRPr/>
          </a:p>
          <a:p>
            <a:r>
              <a:t>  The body says which field changes, such as status.</a:t>
            </a:r>
          </a:p>
          <a:p>
            <a:endParaRPr/>
          </a:p>
          <a:p>
            <a:r>
              <a:t>  PATCH /updateOrderStatus/123 repeats the action in the path.</a:t>
            </a:r>
          </a:p>
          <a:p>
            <a:endParaRPr/>
          </a:p>
          <a:p>
            <a:r>
              <a:t>  It also implies a separate endpoint for every field.</a:t>
            </a:r>
          </a:p>
          <a:p>
            <a:endParaRPr/>
          </a:p>
          <a:p>
            <a:r>
              <a:t>  The full table in the image extends this to GET, POST, PUT, and DELETE on /users.</a:t>
            </a:r>
          </a:p>
          <a:p>
            <a:endParaRPr/>
          </a:p>
          <a:p>
            <a:r>
              <a:t>- Complex Query Use Cases</a:t>
            </a:r>
          </a:p>
          <a:p>
            <a:endParaRPr/>
          </a:p>
          <a:p>
            <a:r>
              <a:t>  The lower right panel answers where filtering goes.</a:t>
            </a:r>
          </a:p>
          <a:p>
            <a:endParaRPr/>
          </a:p>
          <a:p>
            <a:r>
              <a:t>  Query parameters narrow or shape a collection.</a:t>
            </a:r>
          </a:p>
          <a:p>
            <a:endParaRPr/>
          </a:p>
          <a:p>
            <a:r>
              <a:t>  Examples are category filtering, sort=price,asc, and page and size for pagination.</a:t>
            </a:r>
          </a:p>
          <a:p>
            <a:endParaRPr/>
          </a:p>
          <a:p>
            <a:r>
              <a:t>  Others are fields for field selection, and search.</a:t>
            </a:r>
          </a:p>
          <a:p>
            <a:endParaRPr/>
          </a:p>
          <a:p>
            <a:r>
              <a:t>  The callout says not to use query parameters for resource relationships or identifiers.</a:t>
            </a:r>
          </a:p>
          <a:p>
            <a:endParaRPr/>
          </a:p>
          <a:p>
            <a:r>
              <a:t>  So the pattern is /accounts/{id}/transactions?status=HOLD&amp;page=0, with identity and relationship in the path.</a:t>
            </a:r>
          </a:p>
          <a:p>
            <a:endParaRPr/>
          </a:p>
          <a:p>
            <a:r>
              <a:t>  Filtering goes in the query.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Kubernetes and OpenShift APIs follow a strongly resource-oriented path structure.</a:t>
            </a:r>
          </a:p>
          <a:p>
            <a:endParaRPr/>
          </a:p>
          <a:p>
            <a:r>
              <a:t>  Collections of pods or deployments are nested under a namespace, with standard verbs applied to them.</a:t>
            </a:r>
          </a:p>
          <a:p>
            <a:endParaRPr/>
          </a:p>
          <a:p>
            <a:r>
              <a:t>  Participants will see this in oc commands later in the course.</a:t>
            </a:r>
          </a:p>
          <a:p>
            <a:endParaRPr/>
          </a:p>
          <a:p>
            <a:r>
              <a:t>- A bank transaction search screen maps naturally to a collection query.</a:t>
            </a:r>
          </a:p>
          <a:p>
            <a:endParaRPr/>
          </a:p>
          <a:p>
            <a:r>
              <a:t>  An example is an account's transactions filtered by date range and status, with page and size parameters.</a:t>
            </a:r>
          </a:p>
          <a:p>
            <a:endParaRPr/>
          </a:p>
          <a:p>
            <a:r>
              <a:t>  There is no need for a separate searchTransactionsByDate endpoint.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Apply the six principles to the capstone APIs.</a:t>
            </a:r>
          </a:p>
          <a:p>
            <a:endParaRPr/>
          </a:p>
          <a:p>
            <a:r>
              <a:t>Account Service uses /api/v1/accounts and /api/v1/accounts/{accountId}.</a:t>
            </a:r>
          </a:p>
          <a:p>
            <a:endParaRPr/>
          </a:p>
          <a:p>
            <a:r>
              <a:t>Transaction Service uses /api/v1/transactions and /api/v1/transactions/{id}.</a:t>
            </a:r>
          </a:p>
          <a:p>
            <a:endParaRPr/>
          </a:p>
          <a:p>
            <a:r>
              <a:t>Risk Assessment Service uses /api/v1/assessments/{transactionId}.</a:t>
            </a:r>
          </a:p>
          <a:p>
            <a:endParaRPr/>
          </a:p>
          <a:p>
            <a:r>
              <a:t>It filters with a query parameter, disposition=HOLD, exactly as the Complex Query panel recommends.</a:t>
            </a:r>
          </a:p>
          <a:p>
            <a:endParaRPr/>
          </a:p>
          <a:p>
            <a:r>
              <a:t>Then ask whether an operations reviewer's decision should be POST /api/v1/assessments/{id}/review.</a:t>
            </a:r>
          </a:p>
          <a:p>
            <a:endParaRPr/>
          </a:p>
          <a:p>
            <a:r>
              <a:t>It is a sub-resource that represents a review record.</a:t>
            </a:r>
          </a:p>
          <a:p>
            <a:endParaRPr/>
          </a:p>
          <a:p>
            <a:r>
              <a:t>That keeps identity in the path and the action as a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HTTP METHOD SEMANTICS</a:t>
            </a:r>
          </a:p>
          <a:p>
            <a:endParaRPr/>
          </a:p>
          <a:p>
            <a:r>
              <a:t>  Walk the table as a set of promises.</a:t>
            </a:r>
          </a:p>
          <a:p>
            <a:endParaRPr/>
          </a:p>
          <a:p>
            <a:r>
              <a:t>  GET retrieves data and never changes state.</a:t>
            </a:r>
          </a:p>
          <a:p>
            <a:endParaRPr/>
          </a:p>
          <a:p>
            <a:r>
              <a:t>  So it can be cached and retried freely.</a:t>
            </a:r>
          </a:p>
          <a:p>
            <a:endParaRPr/>
          </a:p>
          <a:p>
            <a:r>
              <a:t>  POST creates something.</a:t>
            </a:r>
          </a:p>
          <a:p>
            <a:endParaRPr/>
          </a:p>
          <a:p>
            <a:r>
              <a:t>  It is neither safe nor idempotent, so a blind retry can create a duplicate.</a:t>
            </a:r>
          </a:p>
          <a:p>
            <a:endParaRPr/>
          </a:p>
          <a:p>
            <a:r>
              <a:t>  Idempotent means repeating a call leaves the same end state.</a:t>
            </a:r>
          </a:p>
          <a:p>
            <a:endParaRPr/>
          </a:p>
          <a:p>
            <a:r>
              <a:t>  PUT replaces the whole resource.</a:t>
            </a:r>
          </a:p>
          <a:p>
            <a:endParaRPr/>
          </a:p>
          <a:p>
            <a:r>
              <a:t>  Sending the same representation twice leaves the same end state.</a:t>
            </a:r>
          </a:p>
          <a:p>
            <a:endParaRPr/>
          </a:p>
          <a:p>
            <a:r>
              <a:t>  PATCH changes only part of a resource.</a:t>
            </a:r>
          </a:p>
          <a:p>
            <a:endParaRPr/>
          </a:p>
          <a:p>
            <a:r>
              <a:t>  It is not idempotent by default.</a:t>
            </a:r>
          </a:p>
          <a:p>
            <a:endParaRPr/>
          </a:p>
          <a:p>
            <a:r>
              <a:t>  DELETE removes a resource.</a:t>
            </a:r>
          </a:p>
          <a:p>
            <a:endParaRPr/>
          </a:p>
          <a:p>
            <a:r>
              <a:t>  It is idempotent because the resource is still gone after a second call.</a:t>
            </a:r>
          </a:p>
          <a:p>
            <a:endParaRPr/>
          </a:p>
          <a:p>
            <a:r>
              <a:t>  HEAD and OPTIONS return only metadata.</a:t>
            </a:r>
          </a:p>
          <a:p>
            <a:endParaRPr/>
          </a:p>
          <a:p>
            <a:r>
              <a:t>  Lab 1 uses POST to create (201), GET to read (200) and PATCH to change the nickname (200).</a:t>
            </a:r>
          </a:p>
          <a:p>
            <a:endParaRPr/>
          </a:p>
          <a:p>
            <a:r>
              <a:t>- KEY TAKEAWAYS</a:t>
            </a:r>
          </a:p>
          <a:p>
            <a:endParaRPr/>
          </a:p>
          <a:p>
            <a:r>
              <a:t>  First, use the most specific method for your intent.</a:t>
            </a:r>
          </a:p>
          <a:p>
            <a:endParaRPr/>
          </a:p>
          <a:p>
            <a:r>
              <a:t>  A POST that only reads data hides that the call is harmless.</a:t>
            </a:r>
          </a:p>
          <a:p>
            <a:endParaRPr/>
          </a:p>
          <a:p>
            <a:r>
              <a:t>  A GET that changes data is dangerous.</a:t>
            </a:r>
          </a:p>
          <a:p>
            <a:endParaRPr/>
          </a:p>
          <a:p>
            <a:r>
              <a:t>  Second, safe methods must never change state.</a:t>
            </a:r>
          </a:p>
          <a:p>
            <a:endParaRPr/>
          </a:p>
          <a:p>
            <a:r>
              <a:t>  Browsers prefetch links, crawlers follow them and caches replay them.</a:t>
            </a:r>
          </a:p>
          <a:p>
            <a:endParaRPr/>
          </a:p>
          <a:p>
            <a:r>
              <a:t>  So a GET that triggers a transfer or flips a flag will fire by accident sooner or later.</a:t>
            </a:r>
          </a:p>
          <a:p>
            <a:endParaRPr/>
          </a:p>
          <a:p>
            <a:r>
              <a:t>  Third, idempotent methods can be retried.</a:t>
            </a:r>
          </a:p>
          <a:p>
            <a:endParaRPr/>
          </a:p>
          <a:p>
            <a:r>
              <a:t>  That matters when a gateway or a Resilience4j retry repeats a call after a timeout.</a:t>
            </a:r>
          </a:p>
          <a:p>
            <a:endParaRPr/>
          </a:p>
          <a:p>
            <a:r>
              <a:t>  Fourth, all of this infrastructure trusts the method name.</a:t>
            </a:r>
          </a:p>
          <a:p>
            <a:endParaRPr/>
          </a:p>
          <a:p>
            <a:r>
              <a:t>  If you lie about semantics, you break systems you do not control.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Card authorisation over unreliable networks: a point-of-sale terminal can lose its connection mid-request.</a:t>
            </a:r>
          </a:p>
          <a:p>
            <a:endParaRPr/>
          </a:p>
          <a:p>
            <a:r>
              <a:t>  The acquiring system then must know whether resending is safe.</a:t>
            </a:r>
          </a:p>
          <a:p>
            <a:endParaRPr/>
          </a:p>
          <a:p>
            <a:r>
              <a:t>  A balance or status inquiry can be resent freely.</a:t>
            </a:r>
          </a:p>
          <a:p>
            <a:endParaRPr/>
          </a:p>
          <a:p>
            <a:r>
              <a:t>  A charge request cannot be resent blindly without a deduplication mechanism, a way to catch repeats.</a:t>
            </a:r>
          </a:p>
          <a:p>
            <a:endParaRPr/>
          </a:p>
          <a:p>
            <a:r>
              <a:t>  That is why payment APIs pair POST with idempotency keys.</a:t>
            </a:r>
          </a:p>
          <a:p>
            <a:endParaRPr/>
          </a:p>
          <a:p>
            <a:r>
              <a:t>- Record retention in retail banking: banks generally keep closed accounts for audit and regulatory record-keeping.</a:t>
            </a:r>
          </a:p>
          <a:p>
            <a:endParaRPr/>
          </a:p>
          <a:p>
            <a:r>
              <a:t>  They do not erase them.</a:t>
            </a:r>
          </a:p>
          <a:p>
            <a:endParaRPr/>
          </a:p>
          <a:p>
            <a:r>
              <a:t>  That is why the Lab 1 Account Service offers POST /api/v1/accounts/{accountId}/close.</a:t>
            </a:r>
          </a:p>
          <a:p>
            <a:endParaRPr/>
          </a:p>
          <a:p>
            <a:r>
              <a:t>  It keeps the row with status CLOSED, even though DELETE appears in this generic table.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a mobile banking screen calls the Account Service on port 8081 with GET /api/v1/accounts/{accountId}.</a:t>
            </a:r>
          </a:p>
          <a:p>
            <a:endParaRPr/>
          </a:p>
          <a:p>
            <a:r>
              <a:t>The phone switches from Wi-Fi to cellular, and the client library retries.</a:t>
            </a:r>
          </a:p>
          <a:p>
            <a:endParaRPr/>
          </a:p>
          <a:p>
            <a:r>
              <a:t>Nothing bad happens, because GET is safe.</a:t>
            </a:r>
          </a:p>
          <a:p>
            <a:endParaRPr/>
          </a:p>
          <a:p>
            <a:r>
              <a:t>The customer then renames the account.</a:t>
            </a:r>
          </a:p>
          <a:p>
            <a:endParaRPr/>
          </a:p>
          <a:p>
            <a:r>
              <a:t>The app sends PATCH with only the nickname and gets 200.</a:t>
            </a:r>
          </a:p>
          <a:p>
            <a:endParaRPr/>
          </a:p>
          <a:p>
            <a:r>
              <a:t>Later a teller freezes the account after a risk review.</a:t>
            </a:r>
          </a:p>
          <a:p>
            <a:endParaRPr/>
          </a:p>
          <a:p>
            <a:r>
              <a:t>That is POST /api/v1/accounts/{accountId}/freeze.</a:t>
            </a:r>
          </a:p>
          <a:p>
            <a:endParaRPr/>
          </a:p>
          <a:p>
            <a:r>
              <a:t>It is a business action with its own rules, not a PATCH of the status field.</a:t>
            </a:r>
          </a:p>
          <a:p>
            <a:endParaRPr/>
          </a:p>
          <a:p>
            <a:r>
              <a:t>Ask the room which of the three calls an API gateway could safely retry on its own.</a:t>
            </a:r>
          </a:p>
          <a:p>
            <a:endParaRPr/>
          </a:p>
          <a:p>
            <a:r>
              <a:t>Then ask which one needs more 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SAFE OPERATIONS</a:t>
            </a:r>
          </a:p>
          <a:p>
            <a:endParaRPr/>
          </a:p>
          <a:p>
            <a:r>
              <a:t>  Safe means the client is not asking the server to change anything.</a:t>
            </a:r>
          </a:p>
          <a:p>
            <a:endParaRPr/>
          </a:p>
          <a:p>
            <a:r>
              <a:t>  The server may still write an access log or increment a metric.</a:t>
            </a:r>
          </a:p>
          <a:p>
            <a:endParaRPr/>
          </a:p>
          <a:p>
            <a:r>
              <a:t>  That is fine.</a:t>
            </a:r>
          </a:p>
          <a:p>
            <a:endParaRPr/>
          </a:p>
          <a:p>
            <a:r>
              <a:t>  What matters is that the caller requested no state change.</a:t>
            </a:r>
          </a:p>
          <a:p>
            <a:endParaRPr/>
          </a:p>
          <a:p>
            <a:r>
              <a:t>  Because nothing changes, sending the request ten times has the same effect as once.</a:t>
            </a:r>
          </a:p>
          <a:p>
            <a:endParaRPr/>
          </a:p>
          <a:p>
            <a:r>
              <a:t>  That is why every safe method is automatically idempotent.</a:t>
            </a:r>
          </a:p>
          <a:p>
            <a:endParaRPr/>
          </a:p>
          <a:p>
            <a:r>
              <a:t>  It is also what lets browsers, HTTP caches and CDNs store GET and HEAD responses.</a:t>
            </a:r>
          </a:p>
          <a:p>
            <a:endParaRPr/>
          </a:p>
          <a:p>
            <a:r>
              <a:t>  It lets clients prefetch them too.</a:t>
            </a:r>
          </a:p>
          <a:p>
            <a:endParaRPr/>
          </a:p>
          <a:p>
            <a:r>
              <a:t>  You mostly see OPTIONS as the browser's CORS preflight, a check before a cross-origin call.</a:t>
            </a:r>
          </a:p>
          <a:p>
            <a:endParaRPr/>
          </a:p>
          <a:p>
            <a:r>
              <a:t>  Treat safe as a promise to every intermediary in the path.</a:t>
            </a:r>
          </a:p>
          <a:p>
            <a:endParaRPr/>
          </a:p>
          <a:p>
            <a:r>
              <a:t>- IDEMPOTENT OPERATIONS</a:t>
            </a:r>
          </a:p>
          <a:p>
            <a:endParaRPr/>
          </a:p>
          <a:p>
            <a:r>
              <a:t>  Idempotent means repeating the request leaves the server in the same end state.</a:t>
            </a:r>
          </a:p>
          <a:p>
            <a:endParaRPr/>
          </a:p>
          <a:p>
            <a:r>
              <a:t>  It does not mean the response is identical.</a:t>
            </a:r>
          </a:p>
          <a:p>
            <a:endParaRPr/>
          </a:p>
          <a:p>
            <a:r>
              <a:t>  Setting a nickname with PUT twice gives the same nickname.</a:t>
            </a:r>
          </a:p>
          <a:p>
            <a:endParaRPr/>
          </a:p>
          <a:p>
            <a:r>
              <a:t>  Deleting twice leaves nothing.</a:t>
            </a:r>
          </a:p>
          <a:p>
            <a:endParaRPr/>
          </a:p>
          <a:p>
            <a:r>
              <a:t>  This matters because a timeout does not tell the client whether the server processed the request.</a:t>
            </a:r>
          </a:p>
          <a:p>
            <a:endParaRPr/>
          </a:p>
          <a:p>
            <a:r>
              <a:t>  So the only safe move is to retry an operation designed to tolerate repeats.</a:t>
            </a:r>
          </a:p>
          <a:p>
            <a:endParaRPr/>
          </a:p>
          <a:p>
            <a:r>
              <a:t>  POST is neither safe nor idempotent by default.</a:t>
            </a:r>
          </a:p>
          <a:p>
            <a:endParaRPr/>
          </a:p>
          <a:p>
            <a:r>
              <a:t>  But idempotency is a design property you can add.</a:t>
            </a:r>
          </a:p>
          <a:p>
            <a:endParaRPr/>
          </a:p>
          <a:p>
            <a:r>
              <a:t>  Lab 1 does exactly that.</a:t>
            </a:r>
          </a:p>
          <a:p>
            <a:endParaRPr/>
          </a:p>
          <a:p>
            <a:r>
              <a:t>  Activating an already ACTIVE account returns 200 with no change.</a:t>
            </a:r>
          </a:p>
          <a:p>
            <a:endParaRPr/>
          </a:p>
          <a:p>
            <a:r>
              <a:t>  Closing an already CLOSED account also returns 200.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Refreshing a balance in online banking: pulling to refresh sends a GET for the account summary.</a:t>
            </a:r>
          </a:p>
          <a:p>
            <a:endParaRPr/>
          </a:p>
          <a:p>
            <a:r>
              <a:t>  The customer can repeat it as often as they like.</a:t>
            </a:r>
          </a:p>
          <a:p>
            <a:endParaRPr/>
          </a:p>
          <a:p>
            <a:r>
              <a:t>  The app can briefly cache the result too.</a:t>
            </a:r>
          </a:p>
          <a:p>
            <a:endParaRPr/>
          </a:p>
          <a:p>
            <a:r>
              <a:t>  Reading a balance never moves money.</a:t>
            </a:r>
          </a:p>
          <a:p>
            <a:endParaRPr/>
          </a:p>
          <a:p>
            <a:r>
              <a:t>- Alert thresholds: a request that sets the low-balance alert to 500 dollars is idempotent.</a:t>
            </a:r>
          </a:p>
          <a:p>
            <a:endParaRPr/>
          </a:p>
          <a:p>
            <a:r>
              <a:t>  A duplicated retry still leaves 500.</a:t>
            </a:r>
          </a:p>
          <a:p>
            <a:endParaRPr/>
          </a:p>
          <a:p>
            <a:r>
              <a:t>  A request that says increase the threshold by 100 is not idempotent.</a:t>
            </a:r>
          </a:p>
          <a:p>
            <a:endParaRPr/>
          </a:p>
          <a:p>
            <a:r>
              <a:t>  Each retry raises it again.</a:t>
            </a:r>
          </a:p>
          <a:p>
            <a:endParaRPr/>
          </a:p>
          <a:p>
            <a:r>
              <a:t>  Design APIs around absolute values rather than increments, and retries become safe.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2 the Transaction Service calls the Account Service with a GET.</a:t>
            </a:r>
          </a:p>
          <a:p>
            <a:endParaRPr/>
          </a:p>
          <a:p>
            <a:r>
              <a:t>The call confirms an account is ACTIVE before a transaction is accepted.</a:t>
            </a:r>
          </a:p>
          <a:p>
            <a:endParaRPr/>
          </a:p>
          <a:p>
            <a:r>
              <a:t>That call is safe.</a:t>
            </a:r>
          </a:p>
          <a:p>
            <a:endParaRPr/>
          </a:p>
          <a:p>
            <a:r>
              <a:t>So Lab 3 can wrap it in a timeout and circuit breaker without worrying about side effects.</a:t>
            </a:r>
          </a:p>
          <a:p>
            <a:endParaRPr/>
          </a:p>
          <a:p>
            <a:r>
              <a:t>Now picture a teller whose screen is slow and who clicks Activate twice.</a:t>
            </a:r>
          </a:p>
          <a:p>
            <a:endParaRPr/>
          </a:p>
          <a:p>
            <a:r>
              <a:t>Lab 1 designed activate so the second call returns 200.</a:t>
            </a:r>
          </a:p>
          <a:p>
            <a:endParaRPr/>
          </a:p>
          <a:p>
            <a:r>
              <a:t>The account simply stays ACTIVE.</a:t>
            </a:r>
          </a:p>
          <a:p>
            <a:endParaRPr/>
          </a:p>
          <a:p>
            <a:r>
              <a:t>Contrast that with POST /api/v1/transactions: without extra design, a repeated create could record a second transaction.</a:t>
            </a:r>
          </a:p>
          <a:p>
            <a:endParaRPr/>
          </a:p>
          <a:p>
            <a:r>
              <a:t>That second row would be for the same customer intent.</a:t>
            </a:r>
          </a:p>
          <a:p>
            <a:endParaRPr/>
          </a:p>
          <a:p>
            <a:r>
              <a:t>The Idempotency slide shows how to close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Non-Idempotent (Without Idempotency Key)</a:t>
            </a:r>
          </a:p>
          <a:p>
            <a:endParaRPr/>
          </a:p>
          <a:p>
            <a:r>
              <a:t>  The three red requests are not three purchases.</a:t>
            </a:r>
          </a:p>
          <a:p>
            <a:endParaRPr/>
          </a:p>
          <a:p>
            <a:r>
              <a:t>  They are one customer intent sent three times.</a:t>
            </a:r>
          </a:p>
          <a:p>
            <a:endParaRPr/>
          </a:p>
          <a:p>
            <a:r>
              <a:t>  That could be a double tap, a client timeout and retry, or a gateway resending after a dropped connection.</a:t>
            </a:r>
          </a:p>
          <a:p>
            <a:endParaRPr/>
          </a:p>
          <a:p>
            <a:r>
              <a:t>  The Payment Service cannot tell them apart.</a:t>
            </a:r>
          </a:p>
          <a:p>
            <a:endParaRPr/>
          </a:p>
          <a:p>
            <a:r>
              <a:t>  So it faithfully creates three charges, and the database holds three payment rows.</a:t>
            </a:r>
          </a:p>
          <a:p>
            <a:endParaRPr/>
          </a:p>
          <a:p>
            <a:r>
              <a:t>  In banking this is real customer harm.</a:t>
            </a:r>
          </a:p>
          <a:p>
            <a:endParaRPr/>
          </a:p>
          <a:p>
            <a:r>
              <a:t>  Money leaves the account more than once, and the customer calls support.</a:t>
            </a:r>
          </a:p>
          <a:p>
            <a:endParaRPr/>
          </a:p>
          <a:p>
            <a:r>
              <a:t>  Reversing charges costs time and trust.</a:t>
            </a:r>
          </a:p>
          <a:p>
            <a:endParaRPr/>
          </a:p>
          <a:p>
            <a:r>
              <a:t>  The point for developers: the bug is not in any single line of code.</a:t>
            </a:r>
          </a:p>
          <a:p>
            <a:endParaRPr/>
          </a:p>
          <a:p>
            <a:r>
              <a:t>  It comes from treating each HTTP attempt as a new business request.</a:t>
            </a:r>
          </a:p>
          <a:p>
            <a:endParaRPr/>
          </a:p>
          <a:p>
            <a:r>
              <a:t>- Idempotent (With Idempotency Key)</a:t>
            </a:r>
          </a:p>
          <a:p>
            <a:endParaRPr/>
          </a:p>
          <a:p>
            <a:r>
              <a:t>  In the green half the client generates one key, abc123, for the business intent.</a:t>
            </a:r>
          </a:p>
          <a:p>
            <a:endParaRPr/>
          </a:p>
          <a:p>
            <a:r>
              <a:t>  It sends that key on every attempt.</a:t>
            </a:r>
          </a:p>
          <a:p>
            <a:endParaRPr/>
          </a:p>
          <a:p>
            <a:r>
              <a:t>  The Payment Service now has a stable identity for the request.</a:t>
            </a:r>
          </a:p>
          <a:p>
            <a:endParaRPr/>
          </a:p>
          <a:p>
            <a:r>
              <a:t>  The first call is processed normally.</a:t>
            </a:r>
          </a:p>
          <a:p>
            <a:endParaRPr/>
          </a:p>
          <a:p>
            <a:r>
              <a:t>  The second and third are recognized as duplicates.</a:t>
            </a:r>
          </a:p>
          <a:p>
            <a:endParaRPr/>
          </a:p>
          <a:p>
            <a:r>
              <a:t>  The service answers them with the stored result instead of processing them again.</a:t>
            </a:r>
          </a:p>
          <a:p>
            <a:endParaRPr/>
          </a:p>
          <a:p>
            <a:r>
              <a:t>  The client cannot tell whether its first attempt succeeded.</a:t>
            </a:r>
          </a:p>
          <a:p>
            <a:endParaRPr/>
          </a:p>
          <a:p>
            <a:r>
              <a:t>  Now it does not need to know, because retrying is always safe.</a:t>
            </a:r>
          </a:p>
          <a:p>
            <a:endParaRPr/>
          </a:p>
          <a:p>
            <a:r>
              <a:t>  Stress that the key must be created once per intent, for example when the customer confirms the transfer.</a:t>
            </a:r>
          </a:p>
          <a:p>
            <a:endParaRPr/>
          </a:p>
          <a:p>
            <a:r>
              <a:t>  It is not created once per HTTP attempt.</a:t>
            </a:r>
          </a:p>
          <a:p>
            <a:endParaRPr/>
          </a:p>
          <a:p>
            <a:r>
              <a:t>- Idempotency Key Store</a:t>
            </a:r>
          </a:p>
          <a:p>
            <a:endParaRPr/>
          </a:p>
          <a:p>
            <a:r>
              <a:t>  The pale green box is where the guarantee actually lives.</a:t>
            </a:r>
          </a:p>
          <a:p>
            <a:endParaRPr/>
          </a:p>
          <a:p>
            <a:r>
              <a:t>  It maps each key to the response that was returned, here abc123 to Payment ID 1001.</a:t>
            </a:r>
          </a:p>
          <a:p>
            <a:endParaRPr/>
          </a:p>
          <a:p>
            <a:r>
              <a:t>  In production it must be durable and shared by every replica.</a:t>
            </a:r>
          </a:p>
          <a:p>
            <a:endParaRPr/>
          </a:p>
          <a:p>
            <a:r>
              <a:t>  On OpenShift the retry may land on a different pod.</a:t>
            </a:r>
          </a:p>
          <a:p>
            <a:endParaRPr/>
          </a:p>
          <a:p>
            <a:r>
              <a:t>  An in-memory map works for a classroom sketch but not for real payments.</a:t>
            </a:r>
          </a:p>
          <a:p>
            <a:endParaRPr/>
          </a:p>
          <a:p>
            <a:r>
              <a:t>  Insert the key atomically, for example with a unique constraint.</a:t>
            </a:r>
          </a:p>
          <a:p>
            <a:endParaRPr/>
          </a:p>
          <a:p>
            <a:r>
              <a:t>  Atomically means in one indivisible step, so two simultaneous duplicates cannot both win.</a:t>
            </a:r>
          </a:p>
          <a:p>
            <a:endParaRPr/>
          </a:p>
          <a:p>
            <a:r>
              <a:t>  Many teams also record an in-progress state.</a:t>
            </a:r>
          </a:p>
          <a:p>
            <a:endParaRPr/>
          </a:p>
          <a:p>
            <a:r>
              <a:t>  They reject a reused key that arrives with a different request body.</a:t>
            </a:r>
          </a:p>
          <a:p>
            <a:endParaRPr/>
          </a:p>
          <a:p>
            <a:r>
              <a:t>- Result banners</a:t>
            </a:r>
          </a:p>
          <a:p>
            <a:endParaRPr/>
          </a:p>
          <a:p>
            <a:r>
              <a:t>  The two outlined banners state the business outcome.</a:t>
            </a:r>
          </a:p>
          <a:p>
            <a:endParaRPr/>
          </a:p>
          <a:p>
            <a:r>
              <a:t>  They are the part executives and auditors care about.</a:t>
            </a:r>
          </a:p>
          <a:p>
            <a:endParaRPr/>
          </a:p>
          <a:p>
            <a:r>
              <a:t>  The red banner, multiple charges for the same request, is a customer-impacting defect.</a:t>
            </a:r>
          </a:p>
          <a:p>
            <a:endParaRPr/>
          </a:p>
          <a:p>
            <a:r>
              <a:t>  The green banner, only one charge with the same response for retries, is what regulators and customers expect.</a:t>
            </a:r>
          </a:p>
          <a:p>
            <a:endParaRPr/>
          </a:p>
          <a:p>
            <a:r>
              <a:t>  They expect it from any money movement.</a:t>
            </a:r>
          </a:p>
          <a:p>
            <a:endParaRPr/>
          </a:p>
          <a:p>
            <a:r>
              <a:t>  Use the banners to frame idempotency as a correctness requirement, not an HTTP curiosity.</a:t>
            </a:r>
          </a:p>
          <a:p>
            <a:endParaRPr/>
          </a:p>
          <a:p>
            <a:r>
              <a:t>  It applies to payments, transfers and account opening.</a:t>
            </a:r>
          </a:p>
          <a:p>
            <a:endParaRPr/>
          </a:p>
          <a:p>
            <a:r>
              <a:t>  It applies to any other operation that must happen exactly once from the customer's point of view.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Stripe's public payments API accepts an Idempotency-Key header on POST requests.</a:t>
            </a:r>
          </a:p>
          <a:p>
            <a:endParaRPr/>
          </a:p>
          <a:p>
            <a:r>
              <a:t>  When the same key is sent again, it returns the saved result.</a:t>
            </a:r>
          </a:p>
          <a:p>
            <a:endParaRPr/>
          </a:p>
          <a:p>
            <a:r>
              <a:t>  So a client that times out while creating a charge can retry.</a:t>
            </a:r>
          </a:p>
          <a:p>
            <a:endParaRPr/>
          </a:p>
          <a:p>
            <a:r>
              <a:t>  It will not charge the card twice.</a:t>
            </a:r>
          </a:p>
          <a:p>
            <a:endParaRPr/>
          </a:p>
          <a:p>
            <a:r>
              <a:t>- Mobile transfers: a customer on a weak signal taps Transfer, sees a spinner, and taps again.</a:t>
            </a:r>
          </a:p>
          <a:p>
            <a:endParaRPr/>
          </a:p>
          <a:p>
            <a:r>
              <a:t>  Suppose the app generated one key when the transfer was confirmed and reuses it on both requests.</a:t>
            </a:r>
          </a:p>
          <a:p>
            <a:endParaRPr/>
          </a:p>
          <a:p>
            <a:r>
              <a:t>  Then the bank moves the money once, and both taps show the same confirmation.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a teller submits a transaction to the Transaction Service.</a:t>
            </a:r>
          </a:p>
          <a:p>
            <a:endParaRPr/>
          </a:p>
          <a:p>
            <a:r>
              <a:t>The service validates the account with the Account Service.</a:t>
            </a:r>
          </a:p>
          <a:p>
            <a:endParaRPr/>
          </a:p>
          <a:p>
            <a:r>
              <a:t>It saves the row and publishes TransactionSubmitted to Kafka.</a:t>
            </a:r>
          </a:p>
          <a:p>
            <a:endParaRPr/>
          </a:p>
          <a:p>
            <a:r>
              <a:t>Suppose the response is lost on the way back and the client retries.</a:t>
            </a:r>
          </a:p>
          <a:p>
            <a:endParaRPr/>
          </a:p>
          <a:p>
            <a:r>
              <a:t>Without a key, a second transaction is recorded.</a:t>
            </a:r>
          </a:p>
          <a:p>
            <a:endParaRPr/>
          </a:p>
          <a:p>
            <a:r>
              <a:t>The Risk Assessment Service then scores two transactions that are really one.</a:t>
            </a:r>
          </a:p>
          <a:p>
            <a:endParaRPr/>
          </a:p>
          <a:p>
            <a:r>
              <a:t>Lab 2 already applies the same principle on the messaging side.</a:t>
            </a:r>
          </a:p>
          <a:p>
            <a:endParaRPr/>
          </a:p>
          <a:p>
            <a:r>
              <a:t>The consumer keeps a processed_events table keyed by event_id.</a:t>
            </a:r>
          </a:p>
          <a:p>
            <a:endParaRPr/>
          </a:p>
          <a:p>
            <a:r>
              <a:t>So a replayed event is a no-op, meaning it does nothing.</a:t>
            </a:r>
          </a:p>
          <a:p>
            <a:endParaRPr/>
          </a:p>
          <a:p>
            <a:r>
              <a:t>Ask participants how they would bring the same protection to the REST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HTTP Status Codes for Microservices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STATUS CODE CATEGORIES</a:t>
            </a:r>
          </a:p>
          <a:p>
            <a:endParaRPr/>
          </a:p>
          <a:p>
            <a:r>
              <a:t>  The first digit tells the client who has to act.</a:t>
            </a:r>
          </a:p>
          <a:p>
            <a:endParaRPr/>
          </a:p>
          <a:p>
            <a:r>
              <a:t>  2xx means it worked.</a:t>
            </a:r>
          </a:p>
          <a:p>
            <a:endParaRPr/>
          </a:p>
          <a:p>
            <a:r>
              <a:t>  Use 200 for reads and updates.</a:t>
            </a:r>
          </a:p>
          <a:p>
            <a:endParaRPr/>
          </a:p>
          <a:p>
            <a:r>
              <a:t>  Use 201 Created for a new resource, along with a Location header.</a:t>
            </a:r>
          </a:p>
          <a:p>
            <a:endParaRPr/>
          </a:p>
          <a:p>
            <a:r>
              <a:t>  Use 204 when there is nothing to return.</a:t>
            </a:r>
          </a:p>
          <a:p>
            <a:endParaRPr/>
          </a:p>
          <a:p>
            <a:r>
              <a:t>  4xx means the caller must change something.</a:t>
            </a:r>
          </a:p>
          <a:p>
            <a:endParaRPr/>
          </a:p>
          <a:p>
            <a:r>
              <a:t>  In the labs that is 400 VALIDATION_FAILED for bad input and 401 for a missing token.</a:t>
            </a:r>
          </a:p>
          <a:p>
            <a:endParaRPr/>
          </a:p>
          <a:p>
            <a:r>
              <a:t>  It is also 404 ACCOUNT_NOT_FOUND, and 409 INVALID_ACCOUNT_STATE for freezing a PENDING account.</a:t>
            </a:r>
          </a:p>
          <a:p>
            <a:endParaRPr/>
          </a:p>
          <a:p>
            <a:r>
              <a:t>  Add 403 verbally.</a:t>
            </a:r>
          </a:p>
          <a:p>
            <a:endParaRPr/>
          </a:p>
          <a:p>
            <a:r>
              <a:t>  Lab 3 returns it when a teller token lacks transaction scopes.</a:t>
            </a:r>
          </a:p>
          <a:p>
            <a:endParaRPr/>
          </a:p>
          <a:p>
            <a:r>
              <a:t>  5xx means the server or a dependency failed.</a:t>
            </a:r>
          </a:p>
          <a:p>
            <a:endParaRPr/>
          </a:p>
          <a:p>
            <a:r>
              <a:t>  A later retry might succeed.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Returning 200 for everything forces every client to parse the body to learn whether it failed.</a:t>
            </a:r>
          </a:p>
          <a:p>
            <a:endParaRPr/>
          </a:p>
          <a:p>
            <a:r>
              <a:t>  It breaks retry logic.</a:t>
            </a:r>
          </a:p>
          <a:p>
            <a:endParaRPr/>
          </a:p>
          <a:p>
            <a:r>
              <a:t>  It also hides errors from monitoring that counts responses by status.</a:t>
            </a:r>
          </a:p>
          <a:p>
            <a:endParaRPr/>
          </a:p>
          <a:p>
            <a:r>
              <a:t>  A consistent error body means a consumer writes one error handler.</a:t>
            </a:r>
          </a:p>
          <a:p>
            <a:endParaRPr/>
          </a:p>
          <a:p>
            <a:r>
              <a:t>  That handler works for Account Service and Transaction Service alike.</a:t>
            </a:r>
          </a:p>
          <a:p>
            <a:endParaRPr/>
          </a:p>
          <a:p>
            <a:r>
              <a:t>  In Lab 1 that shape comes from a single GlobalExceptionHandler.</a:t>
            </a:r>
          </a:p>
          <a:p>
            <a:endParaRPr/>
          </a:p>
          <a:p>
            <a:r>
              <a:t>  Stack traces leak class names, SQL fragments and library versions.</a:t>
            </a:r>
          </a:p>
          <a:p>
            <a:endParaRPr/>
          </a:p>
          <a:p>
            <a:r>
              <a:t>  Those help attackers and mean nothing to customers.</a:t>
            </a:r>
          </a:p>
          <a:p>
            <a:endParaRPr/>
          </a:p>
          <a:p>
            <a:r>
              <a:t>  Put a correlation ID, a request tracking value, in the error body.</a:t>
            </a:r>
          </a:p>
          <a:p>
            <a:endParaRPr/>
          </a:p>
          <a:p>
            <a:r>
              <a:t>  It lets a support engineer jump straight from a customer's complaint to the exact log lines across services.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transfer rejected by a business rule, such as insufficient funds, is not a server crash.</a:t>
            </a:r>
          </a:p>
          <a:p>
            <a:endParaRPr/>
          </a:p>
          <a:p>
            <a:r>
              <a:t>  Returning 500 would trigger alerts and invite automatic retries.</a:t>
            </a:r>
          </a:p>
          <a:p>
            <a:endParaRPr/>
          </a:p>
          <a:p>
            <a:r>
              <a:t>  It could even page on-call engineers.</a:t>
            </a:r>
          </a:p>
          <a:p>
            <a:endParaRPr/>
          </a:p>
          <a:p>
            <a:r>
              <a:t>  A 4xx response with a clear code lets the mobile app show a helpful message instead.</a:t>
            </a:r>
          </a:p>
          <a:p>
            <a:endParaRPr/>
          </a:p>
          <a:p>
            <a:r>
              <a:t>- Operations monitoring: Spring Boot's Micrometer metric http.server.requests is tagged with the response status.</a:t>
            </a:r>
          </a:p>
          <a:p>
            <a:endParaRPr/>
          </a:p>
          <a:p>
            <a:r>
              <a:t>  Dashboards commonly chart 4xx and 5xx rates per endpoint.</a:t>
            </a:r>
          </a:p>
          <a:p>
            <a:endParaRPr/>
          </a:p>
          <a:p>
            <a:r>
              <a:t>  Picture an API that wraps failures in 200.</a:t>
            </a:r>
          </a:p>
          <a:p>
            <a:endParaRPr/>
          </a:p>
          <a:p>
            <a:r>
              <a:t>  On those dashboards, an outage looks like a healthy service.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Walk the Lab 1 Account Service through its status codes.</a:t>
            </a:r>
          </a:p>
          <a:p>
            <a:endParaRPr/>
          </a:p>
          <a:p>
            <a:r>
              <a:t>Creating an account returns 201 with status PENDING.</a:t>
            </a:r>
          </a:p>
          <a:p>
            <a:endParaRPr/>
          </a:p>
          <a:p>
            <a:r>
              <a:t>Freezing it while still PENDING returns 409.</a:t>
            </a:r>
          </a:p>
          <a:p>
            <a:endParaRPr/>
          </a:p>
          <a:p>
            <a:r>
              <a:t>Asking for ACC-MISSING returns 404.</a:t>
            </a:r>
          </a:p>
          <a:p>
            <a:endParaRPr/>
          </a:p>
          <a:p>
            <a:r>
              <a:t>An email-style customerId returns 400.</a:t>
            </a:r>
          </a:p>
          <a:p>
            <a:endParaRPr/>
          </a:p>
          <a:p>
            <a:r>
              <a:t>In Lab 2 the Transaction Service consumes those codes.</a:t>
            </a:r>
          </a:p>
          <a:p>
            <a:endParaRPr/>
          </a:p>
          <a:p>
            <a:r>
              <a:t>If the account is missing or not ACTIVE, it rejects the transaction with 409 ACCOUNT_NOT_ELIGIBLE.</a:t>
            </a:r>
          </a:p>
          <a:p>
            <a:endParaRPr/>
          </a:p>
          <a:p>
            <a:r>
              <a:t>It publishes no event.</a:t>
            </a:r>
          </a:p>
          <a:p>
            <a:endParaRPr/>
          </a:p>
          <a:p>
            <a:r>
              <a:t>If the Account Service is down, Lab 3 adds a circuit breaker and a safe fallback.</a:t>
            </a:r>
          </a:p>
          <a:p>
            <a:endParaRPr/>
          </a:p>
          <a:p>
            <a:r>
              <a:t>That fallback never auto-approves money movement.</a:t>
            </a:r>
          </a:p>
          <a:p>
            <a:endParaRPr/>
          </a:p>
          <a:p>
            <a:r>
              <a:t>Correct codes are what let the calling service choose between reject, retry and fall back.</a:t>
            </a:r>
          </a:p>
          <a:p>
            <a:endParaRPr/>
          </a:p>
          <a:p>
            <a:endParaRPr/>
          </a:p>
          <a:p>
            <a:r>
              <a:t>TOPIC 2 OF 2: Request and Response Design</a:t>
            </a:r>
          </a:p>
          <a:p>
            <a:r>
              <a:t>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REQUEST KEY ELEMENTS</a:t>
            </a:r>
          </a:p>
          <a:p>
            <a:endParaRPr/>
          </a:p>
          <a:p>
            <a:r>
              <a:t>  Method and URL name the intent and the resource.</a:t>
            </a:r>
          </a:p>
          <a:p>
            <a:endParaRPr/>
          </a:p>
          <a:p>
            <a:r>
              <a:t>  Examples are POST /api/v1/accounts or GET /api/v1/accounts/{accountId}.</a:t>
            </a:r>
          </a:p>
          <a:p>
            <a:endParaRPr/>
          </a:p>
          <a:p>
            <a:r>
              <a:t>  Verbs appear only for real business actions like /activate.</a:t>
            </a:r>
          </a:p>
          <a:p>
            <a:endParaRPr/>
          </a:p>
          <a:p>
            <a:r>
              <a:t>  Headers carry cross-cutting information that should not clutter the body.</a:t>
            </a:r>
          </a:p>
          <a:p>
            <a:endParaRPr/>
          </a:p>
          <a:p>
            <a:r>
              <a:t>  That includes Authorization with a Bearer token (Lab 3) and Content-Type application/json.</a:t>
            </a:r>
          </a:p>
          <a:p>
            <a:endParaRPr/>
          </a:p>
          <a:p>
            <a:r>
              <a:t>  It also includes X-Correlation-Id, used in every lab, and an idempotency key for creates that move money.</a:t>
            </a:r>
          </a:p>
          <a:p>
            <a:endParaRPr/>
          </a:p>
          <a:p>
            <a:r>
              <a:t>  The body is the business payload.</a:t>
            </a:r>
          </a:p>
          <a:p>
            <a:endParaRPr/>
          </a:p>
          <a:p>
            <a:r>
              <a:t>  Spring validates it before the controller runs.</a:t>
            </a:r>
          </a:p>
          <a:p>
            <a:endParaRPr/>
          </a:p>
          <a:p>
            <a:r>
              <a:t>  In Lab 1 the CreateAccountRequest record uses @NotBlank and @Pattern.</a:t>
            </a:r>
          </a:p>
          <a:p>
            <a:endParaRPr/>
          </a:p>
          <a:p>
            <a:r>
              <a:t>  @Valid on the controller triggers the check.</a:t>
            </a:r>
          </a:p>
          <a:p>
            <a:endParaRPr/>
          </a:p>
          <a:p>
            <a:r>
              <a:t>- REQUEST &amp; RESPONSE BEST PRACTICES</a:t>
            </a:r>
          </a:p>
          <a:p>
            <a:endParaRPr/>
          </a:p>
          <a:p>
            <a:r>
              <a:t>  Consistency means a field called accountId in one service is not acctId in another.</a:t>
            </a:r>
          </a:p>
          <a:p>
            <a:endParaRPr/>
          </a:p>
          <a:p>
            <a:r>
              <a:t>  The same casing is used everywhere, and errors share one shape.</a:t>
            </a:r>
          </a:p>
          <a:p>
            <a:endParaRPr/>
          </a:p>
          <a:p>
            <a:r>
              <a:t>  Explicit means descriptive names and no extra fields.</a:t>
            </a:r>
          </a:p>
          <a:p>
            <a:endParaRPr/>
          </a:p>
          <a:p>
            <a:r>
              <a:t>  Return a DTO, a data object designed for consumers, not the JPA entity with its internal columns.</a:t>
            </a:r>
          </a:p>
          <a:p>
            <a:endParaRPr/>
          </a:p>
          <a:p>
            <a:r>
              <a:t>  That way you do not leak data or lock yourself into the schema.</a:t>
            </a:r>
          </a:p>
          <a:p>
            <a:endParaRPr/>
          </a:p>
          <a:p>
            <a:r>
              <a:t>  Traceable means the correlation ID travels with the request.</a:t>
            </a:r>
          </a:p>
          <a:p>
            <a:endParaRPr/>
          </a:p>
          <a:p>
            <a:r>
              <a:t>  Lab 1 echoes X-Correlation-Id back, or generates one if it is missing.</a:t>
            </a:r>
          </a:p>
          <a:p>
            <a:endParaRPr/>
          </a:p>
          <a:p>
            <a:r>
              <a:t>  Lab 2 copies it onto the Kafka event.</a:t>
            </a:r>
          </a:p>
          <a:p>
            <a:endParaRPr/>
          </a:p>
          <a:p>
            <a:r>
              <a:t>  So one ID follows the work end to end.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Account opening across channels: web, mobile and branch applications often call the same account-creation API.</a:t>
            </a:r>
          </a:p>
          <a:p>
            <a:endParaRPr/>
          </a:p>
          <a:p>
            <a:r>
              <a:t>  Suppose one response says accountNumber and another says acctNo.</a:t>
            </a:r>
          </a:p>
          <a:p>
            <a:endParaRPr/>
          </a:p>
          <a:p>
            <a:r>
              <a:t>  Then every channel writes mapping code.</a:t>
            </a:r>
          </a:p>
          <a:p>
            <a:endParaRPr/>
          </a:p>
          <a:p>
            <a:r>
              <a:t>  One consistent contract lets a single client library serve all three.</a:t>
            </a:r>
          </a:p>
          <a:p>
            <a:endParaRPr/>
          </a:p>
          <a:p>
            <a:r>
              <a:t>- Support calls: a banking app may show an error with a short reference code.</a:t>
            </a:r>
          </a:p>
          <a:p>
            <a:endParaRPr/>
          </a:p>
          <a:p>
            <a:r>
              <a:t>  That reference is often the correlation ID.</a:t>
            </a:r>
          </a:p>
          <a:p>
            <a:endParaRPr/>
          </a:p>
          <a:p>
            <a:r>
              <a:t>  Support engineers search centralized logs for it.</a:t>
            </a:r>
          </a:p>
          <a:p>
            <a:endParaRPr/>
          </a:p>
          <a:p>
            <a:r>
              <a:t>  They see every service's log lines for that one request, instead of guessing by timestamp.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Show the Lab 1 create call as an anatomy lesson.</a:t>
            </a:r>
          </a:p>
          <a:p>
            <a:endParaRPr/>
          </a:p>
          <a:p>
            <a:r>
              <a:t>The method and URL are POST http://localhost:8081/api/v1/accounts.</a:t>
            </a:r>
          </a:p>
          <a:p>
            <a:endParaRPr/>
          </a:p>
          <a:p>
            <a:r>
              <a:t>The headers are Content-Type application/json and X-Correlation-Id lab1-demo.</a:t>
            </a:r>
          </a:p>
          <a:p>
            <a:endParaRPr/>
          </a:p>
          <a:p>
            <a:r>
              <a:t>The body carries customerId CUST-0001, accountType, currency USD and an optional nickname.</a:t>
            </a:r>
          </a:p>
          <a:p>
            <a:endParaRPr/>
          </a:p>
          <a:p>
            <a:r>
              <a:t>The response is 201 with a Location header pointing at the new account.</a:t>
            </a:r>
          </a:p>
          <a:p>
            <a:endParaRPr/>
          </a:p>
          <a:p>
            <a:r>
              <a:t>The same X-Correlation-Id is echoed back.</a:t>
            </a:r>
          </a:p>
          <a:p>
            <a:endParaRPr/>
          </a:p>
          <a:p>
            <a:r>
              <a:t>The body shows status PENDING.</a:t>
            </a:r>
          </a:p>
          <a:p>
            <a:endParaRPr/>
          </a:p>
          <a:p>
            <a:r>
              <a:t>In Lab 2 the Transaction Service sends the same correlation header when it calls the Account Service.</a:t>
            </a:r>
          </a:p>
          <a:p>
            <a:endParaRPr/>
          </a:p>
          <a:p>
            <a:r>
              <a:t>So both services log one shared ID for a single teller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- 1. DTOs (Data Transfer Objects)</a:t>
            </a:r>
          </a:p>
          <a:p>
            <a:endParaRPr/>
          </a:p>
          <a:p>
            <a:r>
              <a:t>  The internal User model holds everything the service needs.</a:t>
            </a:r>
          </a:p>
          <a:p>
            <a:endParaRPr/>
          </a:p>
          <a:p>
            <a:r>
              <a:t>  That includes passwordHash, roles, address, and a list of orders.</a:t>
            </a:r>
          </a:p>
          <a:p>
            <a:endParaRPr/>
          </a:p>
          <a:p>
            <a:r>
              <a:t>  The UserDTO exposes only id, name, email, isActive, and createdAt as a string.</a:t>
            </a:r>
          </a:p>
          <a:p>
            <a:endParaRPr/>
          </a:p>
          <a:p>
            <a:r>
              <a:t>  The callout lists the reasons.</a:t>
            </a:r>
          </a:p>
          <a:p>
            <a:endParaRPr/>
          </a:p>
          <a:p>
            <a:r>
              <a:t>  A DTO hides internal structure and exposes only the data a client needs.</a:t>
            </a:r>
          </a:p>
          <a:p>
            <a:endParaRPr/>
          </a:p>
          <a:p>
            <a:r>
              <a:t>  It prevents over-posting, where a client sets fields it should not control.</a:t>
            </a:r>
          </a:p>
          <a:p>
            <a:endParaRPr/>
          </a:p>
          <a:p>
            <a:r>
              <a:t>  It also helps security and versioning.</a:t>
            </a:r>
          </a:p>
          <a:p>
            <a:endParaRPr/>
          </a:p>
          <a:p>
            <a:r>
              <a:t>  In Spring Boot, controllers accept and return records like AccountRequest and AccountResponse.</a:t>
            </a:r>
          </a:p>
          <a:p>
            <a:endParaRPr/>
          </a:p>
          <a:p>
            <a:r>
              <a:t>  They never use JPA entities.</a:t>
            </a:r>
          </a:p>
          <a:p>
            <a:endParaRPr/>
          </a:p>
          <a:p>
            <a:r>
              <a:t>  Then a schema change inside the service does not silently change the public payload.</a:t>
            </a:r>
          </a:p>
          <a:p>
            <a:endParaRPr/>
          </a:p>
          <a:p>
            <a:r>
              <a:t>- 2. API Contracts</a:t>
            </a:r>
          </a:p>
          <a:p>
            <a:endParaRPr/>
          </a:p>
          <a:p>
            <a:r>
              <a:t>  The contract is the agreement between client and server.</a:t>
            </a:r>
          </a:p>
          <a:p>
            <a:endParaRPr/>
          </a:p>
          <a:p>
            <a:r>
              <a:t>  It says what a request and a response look like.</a:t>
            </a:r>
          </a:p>
          <a:p>
            <a:endParaRPr/>
          </a:p>
          <a:p>
            <a:r>
              <a:t>  The diagram shows POST /api/users going right with a JSON body.</a:t>
            </a:r>
          </a:p>
          <a:p>
            <a:endParaRPr/>
          </a:p>
          <a:p>
            <a:r>
              <a:t>  A JSON response comes back with a generated UUID and a timestamp.</a:t>
            </a:r>
          </a:p>
          <a:p>
            <a:endParaRPr/>
          </a:p>
          <a:p>
            <a:r>
              <a:t>  Look at the dashed line from the server down to Internal Domain Model.</a:t>
            </a:r>
          </a:p>
          <a:p>
            <a:endParaRPr/>
          </a:p>
          <a:p>
            <a:r>
              <a:t>  That line is the point.</a:t>
            </a:r>
          </a:p>
          <a:p>
            <a:endParaRPr/>
          </a:p>
          <a:p>
            <a:r>
              <a:t>  The internal model sits behind the server and never crosses the wire.</a:t>
            </a:r>
          </a:p>
          <a:p>
            <a:endParaRPr/>
          </a:p>
          <a:p>
            <a:r>
              <a:t>  Clients code against the contract.</a:t>
            </a:r>
          </a:p>
          <a:p>
            <a:endParaRPr/>
          </a:p>
          <a:p>
            <a:r>
              <a:t>  The server is free to change what is behind it.</a:t>
            </a:r>
          </a:p>
          <a:p>
            <a:endParaRPr/>
          </a:p>
          <a:p>
            <a:r>
              <a:t>- Contract Includes</a:t>
            </a:r>
          </a:p>
          <a:p>
            <a:endParaRPr/>
          </a:p>
          <a:p>
            <a:r>
              <a:t>  The right-hand column is a checklist.</a:t>
            </a:r>
          </a:p>
          <a:p>
            <a:endParaRPr/>
          </a:p>
          <a:p>
            <a:r>
              <a:t>  It shows what a complete contract documents.</a:t>
            </a:r>
          </a:p>
          <a:p>
            <a:endParaRPr/>
          </a:p>
          <a:p>
            <a:r>
              <a:t>  It lists the endpoint URI and the HTTP method.</a:t>
            </a:r>
          </a:p>
          <a:p>
            <a:endParaRPr/>
          </a:p>
          <a:p>
            <a:r>
              <a:t>  It lists the request schema and response schema, which are both DTOs.</a:t>
            </a:r>
          </a:p>
          <a:p>
            <a:endParaRPr/>
          </a:p>
          <a:p>
            <a:r>
              <a:t>  It also lists validation rules and error codes.</a:t>
            </a:r>
          </a:p>
          <a:p>
            <a:endParaRPr/>
          </a:p>
          <a:p>
            <a:r>
              <a:t>  Most teams document the happy path and forget those last two.</a:t>
            </a:r>
          </a:p>
          <a:p>
            <a:endParaRPr/>
          </a:p>
          <a:p>
            <a:r>
              <a:t>  In this course, the contract is published through OpenAPI at /v3/api-docs with Swagger UI.</a:t>
            </a:r>
          </a:p>
          <a:p>
            <a:endParaRPr/>
          </a:p>
          <a:p>
            <a:r>
              <a:t>  In Lab 1, three error codes are part of that contract.</a:t>
            </a:r>
          </a:p>
          <a:p>
            <a:endParaRPr/>
          </a:p>
          <a:p>
            <a:r>
              <a:t>  It returns 400 for bad input.</a:t>
            </a:r>
          </a:p>
          <a:p>
            <a:endParaRPr/>
          </a:p>
          <a:p>
            <a:r>
              <a:t>  It returns 404 for a missing account.</a:t>
            </a:r>
          </a:p>
          <a:p>
            <a:endParaRPr/>
          </a:p>
          <a:p>
            <a:r>
              <a:t>  It returns 409 for an illegal status change.</a:t>
            </a:r>
          </a:p>
          <a:p>
            <a:endParaRPr/>
          </a:p>
          <a:p>
            <a:r>
              <a:t>- Benefits</a:t>
            </a:r>
          </a:p>
          <a:p>
            <a:endParaRPr/>
          </a:p>
          <a:p>
            <a:r>
              <a:t>  The bottom band names four payoffs.</a:t>
            </a:r>
          </a:p>
          <a:p>
            <a:endParaRPr/>
          </a:p>
          <a:p>
            <a:r>
              <a:t>  Loose coupling means client and server change independently.</a:t>
            </a:r>
          </a:p>
          <a:p>
            <a:endParaRPr/>
          </a:p>
          <a:p>
            <a:r>
              <a:t>  Consistency means well-defined contracts give predictable interactions.</a:t>
            </a:r>
          </a:p>
          <a:p>
            <a:endParaRPr/>
          </a:p>
          <a:p>
            <a:r>
              <a:t>  Maintainability means changes are managed through versioned contracts.</a:t>
            </a:r>
          </a:p>
          <a:p>
            <a:endParaRPr/>
          </a:p>
          <a:p>
            <a:r>
              <a:t>  Security means only necessary data and validation rules are exposed.</a:t>
            </a:r>
          </a:p>
          <a:p>
            <a:endParaRPr/>
          </a:p>
          <a:p>
            <a:r>
              <a:t>  Tie each one back to a failure participants have seen.</a:t>
            </a:r>
          </a:p>
          <a:p>
            <a:endParaRPr/>
          </a:p>
          <a:p>
            <a:r>
              <a:t>  For example, a mobile app broke because a backend renamed a database column.</a:t>
            </a:r>
          </a:p>
          <a:p>
            <a:endParaRPr/>
          </a:p>
          <a:p>
            <a:r>
              <a:t>  That column was leaking straight through an entity.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Mass-assignment or over-posting bugs happen when a framework binds request JSON straight onto an entity.</a:t>
            </a:r>
          </a:p>
          <a:p>
            <a:endParaRPr/>
          </a:p>
          <a:p>
            <a:r>
              <a:t>  A caller can then set fields they should never control, such as role or isAdmin.</a:t>
            </a:r>
          </a:p>
          <a:p>
            <a:endParaRPr/>
          </a:p>
          <a:p>
            <a:r>
              <a:t>  A dedicated request DTO with only permitted fields closes that gap.</a:t>
            </a:r>
          </a:p>
          <a:p>
            <a:endParaRPr/>
          </a:p>
          <a:p>
            <a:r>
              <a:t>- Public payment APIs such as Stripe's publish detailed documentation.</a:t>
            </a:r>
          </a:p>
          <a:p>
            <a:endParaRPr/>
          </a:p>
          <a:p>
            <a:r>
              <a:t>  It covers requests, responses, and errors.</a:t>
            </a:r>
          </a:p>
          <a:p>
            <a:endParaRPr/>
          </a:p>
          <a:p>
            <a:r>
              <a:t>  Client libraries are built against those documented shapes.</a:t>
            </a:r>
          </a:p>
          <a:p>
            <a:endParaRPr/>
          </a:p>
          <a:p>
            <a:r>
              <a:t>  They are not built against the provider's internal data model.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1, the Account entity carries status, timestamps, and audit fields that the service manages.</a:t>
            </a:r>
          </a:p>
          <a:p>
            <a:endParaRPr/>
          </a:p>
          <a:p>
            <a:r>
              <a:t>The create request DTO accepts only what a caller may supply.</a:t>
            </a:r>
          </a:p>
          <a:p>
            <a:endParaRPr/>
          </a:p>
          <a:p>
            <a:r>
              <a:t>The response DTO returns what consumers need.</a:t>
            </a:r>
          </a:p>
          <a:p>
            <a:endParaRPr/>
          </a:p>
          <a:p>
            <a:r>
              <a:t>Now suppose a teammate returns the entity directly to save time.</a:t>
            </a:r>
          </a:p>
          <a:p>
            <a:endParaRPr/>
          </a:p>
          <a:p>
            <a:r>
              <a:t>Weeks later, someone adds an internal column for the risk team.</a:t>
            </a:r>
          </a:p>
          <a:p>
            <a:endParaRPr/>
          </a:p>
          <a:p>
            <a:r>
              <a:t>That column appears in every GET response that Transaction Service parses.</a:t>
            </a:r>
          </a:p>
          <a:p>
            <a:endParaRPr/>
          </a:p>
          <a:p>
            <a:r>
              <a:t>Future Risk Assessment Service parses those responses too.</a:t>
            </a:r>
          </a:p>
          <a:p>
            <a:endParaRPr/>
          </a:p>
          <a:p>
            <a:r>
              <a:t>With DTOs, the column stays internal until someone deliberately adds it to the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JSON Payload Design Guidelines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GUIDING PRINCIPLES</a:t>
            </a:r>
          </a:p>
          <a:p>
            <a:endParaRPr/>
          </a:p>
          <a:p>
            <a:r>
              <a:t>  Consistency means a date, an amount and an ID look the same in every API.</a:t>
            </a:r>
          </a:p>
          <a:p>
            <a:endParaRPr/>
          </a:p>
          <a:p>
            <a:r>
              <a:t>  Consumers then learn the pattern once.</a:t>
            </a:r>
          </a:p>
          <a:p>
            <a:endParaRPr/>
          </a:p>
          <a:p>
            <a:r>
              <a:t>  Domain names such as availableBalance read like the business.</a:t>
            </a:r>
          </a:p>
          <a:p>
            <a:endParaRPr/>
          </a:p>
          <a:p>
            <a:r>
              <a:t>  They survive staff turnover better than avBal.</a:t>
            </a:r>
          </a:p>
          <a:p>
            <a:endParaRPr/>
          </a:p>
          <a:p>
            <a:r>
              <a:t>  Simplicity means returning what the consumer needs, flat where possible.</a:t>
            </a:r>
          </a:p>
          <a:p>
            <a:endParaRPr/>
          </a:p>
          <a:p>
            <a:r>
              <a:t>  Three levels of nesting make every client brittle.</a:t>
            </a:r>
          </a:p>
          <a:p>
            <a:endParaRPr/>
          </a:p>
          <a:p>
            <a:r>
              <a:t>  Designing for evolution means new optional fields should never break an old client.</a:t>
            </a:r>
          </a:p>
          <a:p>
            <a:endParaRPr/>
          </a:p>
          <a:p>
            <a:r>
              <a:t>  Spring Boot's default Jackson setup ignores unknown properties when deserializing, that is, when turning JSON into objects.</a:t>
            </a:r>
          </a:p>
          <a:p>
            <a:endParaRPr/>
          </a:p>
          <a:p>
            <a:r>
              <a:t>  So a Spring consumer tolerates additions out of the box.</a:t>
            </a:r>
          </a:p>
          <a:p>
            <a:endParaRPr/>
          </a:p>
          <a:p>
            <a:r>
              <a:t>  Ask whether every consumer is that tolerant.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camelCase matches Java record components and Jackson's defaults, so there is no mapping friction.</a:t>
            </a:r>
          </a:p>
          <a:p>
            <a:endParaRPr/>
          </a:p>
          <a:p>
            <a:r>
              <a:t>  Plural collection names such as /accounts read naturally as a set of resources.</a:t>
            </a:r>
          </a:p>
          <a:p>
            <a:endParaRPr/>
          </a:p>
          <a:p>
            <a:r>
              <a:t>  ISO 8601 timestamps with an offset remove time zone guesswork.</a:t>
            </a:r>
          </a:p>
          <a:p>
            <a:endParaRPr/>
          </a:p>
          <a:p>
            <a:r>
              <a:t>  The module notes use 2026-08-02T14:30:00Z as an example.</a:t>
            </a:r>
          </a:p>
          <a:p>
            <a:endParaRPr/>
          </a:p>
          <a:p>
            <a:r>
              <a:t>  Spring Boot writes java.time values that way by default.</a:t>
            </a:r>
          </a:p>
          <a:p>
            <a:endParaRPr/>
          </a:p>
          <a:p>
            <a:r>
              <a:t>  IDs as strings keep formats like ACC- or CUST- prefixes and leading zeros.</a:t>
            </a:r>
          </a:p>
          <a:p>
            <a:endParaRPr/>
          </a:p>
          <a:p>
            <a:r>
              <a:t>  They also avoid JavaScript precision loss on large numbers.</a:t>
            </a:r>
          </a:p>
          <a:p>
            <a:endParaRPr/>
          </a:p>
          <a:p>
            <a:r>
              <a:t>  Omitting a field instead of sending null keeps payloads smaller.</a:t>
            </a:r>
          </a:p>
          <a:p>
            <a:endParaRPr/>
          </a:p>
          <a:p>
            <a:r>
              <a:t>  It also avoids ambiguity.</a:t>
            </a:r>
          </a:p>
          <a:p>
            <a:endParaRPr/>
          </a:p>
          <a:p>
            <a:r>
              <a:t>  For money, add that amounts should be decimals, BigDecimal in Java, with a separate currency code.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Account and routing numbers can begin with zero.</a:t>
            </a:r>
          </a:p>
          <a:p>
            <a:endParaRPr/>
          </a:p>
          <a:p>
            <a:r>
              <a:t>  A payload that sends them as JSON numbers silently drops the leading digit.</a:t>
            </a:r>
          </a:p>
          <a:p>
            <a:endParaRPr/>
          </a:p>
          <a:p>
            <a:r>
              <a:t>  The downstream payment then fails or is misrouted.</a:t>
            </a:r>
          </a:p>
          <a:p>
            <a:endParaRPr/>
          </a:p>
          <a:p>
            <a:r>
              <a:t>  Sending identifiers as strings keeps them exactly.</a:t>
            </a:r>
          </a:p>
          <a:p>
            <a:endParaRPr/>
          </a:p>
          <a:p>
            <a:r>
              <a:t>- Statement cut-off: a card transaction made shortly before midnight in one time zone can land on a different statement date.</a:t>
            </a:r>
          </a:p>
          <a:p>
            <a:endParaRPr/>
          </a:p>
          <a:p>
            <a:r>
              <a:t>  This happens if a service sends local times without an offset.</a:t>
            </a:r>
          </a:p>
          <a:p>
            <a:endParaRPr/>
          </a:p>
          <a:p>
            <a:r>
              <a:t>  ISO 8601 timestamps with an explicit offset let every service agree on when it happened.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5 the Risk Assessment Service becomes the consumer of the TransactionSubmitted event.</a:t>
            </a:r>
          </a:p>
          <a:p>
            <a:endParaRPr/>
          </a:p>
          <a:p>
            <a:r>
              <a:t>The Transaction Service produces that event.</a:t>
            </a:r>
          </a:p>
          <a:p>
            <a:endParaRPr/>
          </a:p>
          <a:p>
            <a:r>
              <a:t>Imagine the producer sends the amount as a floating-point number.</a:t>
            </a:r>
          </a:p>
          <a:p>
            <a:endParaRPr/>
          </a:p>
          <a:p>
            <a:r>
              <a:t>It also sends the timestamp as local time without an offset, and the account identifier as a number.</a:t>
            </a:r>
          </a:p>
          <a:p>
            <a:endParaRPr/>
          </a:p>
          <a:p>
            <a:r>
              <a:t>The risk logic now sees rounding errors, mistimed activity and mangled IDs.</a:t>
            </a:r>
          </a:p>
          <a:p>
            <a:endParaRPr/>
          </a:p>
          <a:p>
            <a:r>
              <a:t>Its scores become unreliable in ways nobody notices at first.</a:t>
            </a:r>
          </a:p>
          <a:p>
            <a:endParaRPr/>
          </a:p>
          <a:p>
            <a:r>
              <a:t>Agree up front on string IDs, decimal amounts with a currency code and ISO 8601 UTC timestamps.</a:t>
            </a:r>
          </a:p>
          <a:p>
            <a:endParaRPr/>
          </a:p>
          <a:p>
            <a:r>
              <a:t>That costs one design meeting and prevents weeks of debugging.</a:t>
            </a:r>
          </a:p>
          <a:p>
            <a:endParaRPr/>
          </a:p>
          <a:p>
            <a:endParaRPr/>
          </a:p>
          <a:p>
            <a:r>
              <a:t>TOPIC 2 OF 2: API Validation and Error Handling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VALIDATION FLOW</a:t>
            </a:r>
          </a:p>
          <a:p>
            <a:endParaRPr/>
          </a:p>
          <a:p>
            <a:r>
              <a:t>  Think of validation as layers.</a:t>
            </a:r>
          </a:p>
          <a:p>
            <a:endParaRPr/>
          </a:p>
          <a:p>
            <a:r>
              <a:t>  Syntax checks whether the body is even parseable JSON.</a:t>
            </a:r>
          </a:p>
          <a:p>
            <a:endParaRPr/>
          </a:p>
          <a:p>
            <a:r>
              <a:t>  Lab 1 returns 400 MALFORMED_JSON when it is not.</a:t>
            </a:r>
          </a:p>
          <a:p>
            <a:endParaRPr/>
          </a:p>
          <a:p>
            <a:r>
              <a:t>  Structure checks shape and field rules on the DTO with Jakarta Validation.</a:t>
            </a:r>
          </a:p>
          <a:p>
            <a:endParaRPr/>
          </a:p>
          <a:p>
            <a:r>
              <a:t>  That gives 400 VALIDATION_FAILED.</a:t>
            </a:r>
          </a:p>
          <a:p>
            <a:endParaRPr/>
          </a:p>
          <a:p>
            <a:r>
              <a:t>  Business rules live in the service layer and need domain knowledge.</a:t>
            </a:r>
          </a:p>
          <a:p>
            <a:endParaRPr/>
          </a:p>
          <a:p>
            <a:r>
              <a:t>  An unsupported currency is 400 UNSUPPORTED_CURRENCY.</a:t>
            </a:r>
          </a:p>
          <a:p>
            <a:endParaRPr/>
          </a:p>
          <a:p>
            <a:r>
              <a:t>  An illegal status change is 409 INVALID_ACCOUNT_STATE.</a:t>
            </a:r>
          </a:p>
          <a:p>
            <a:endParaRPr/>
          </a:p>
          <a:p>
            <a:r>
              <a:t>  Rejecting before any database write or event keeps bad data out of every downstream system.</a:t>
            </a:r>
          </a:p>
          <a:p>
            <a:endParaRPr/>
          </a:p>
          <a:p>
            <a:r>
              <a:t>  In Lab 2 an ineligible account means no transaction row and no Kafka event.</a:t>
            </a:r>
          </a:p>
          <a:p>
            <a:endParaRPr/>
          </a:p>
          <a:p>
            <a:r>
              <a:t>- ERROR HANDLING PRINCIPLES</a:t>
            </a:r>
          </a:p>
          <a:p>
            <a:endParaRPr/>
          </a:p>
          <a:p>
            <a:r>
              <a:t>  One error format across services means consumers write one parser.</a:t>
            </a:r>
          </a:p>
          <a:p>
            <a:endParaRPr/>
          </a:p>
          <a:p>
            <a:r>
              <a:t>  Lab 1 centralizes it in a @RestControllerAdvice class named GlobalExceptionHandler.</a:t>
            </a:r>
          </a:p>
          <a:p>
            <a:endParaRPr/>
          </a:p>
          <a:p>
            <a:r>
              <a:t>  Actionable messages tell the caller what to change.</a:t>
            </a:r>
          </a:p>
          <a:p>
            <a:endParaRPr/>
          </a:p>
          <a:p>
            <a:r>
              <a:t>  An example is the Lab 1 message saying currency must be a 3-letter ISO code such as USD.</a:t>
            </a:r>
          </a:p>
          <a:p>
            <a:endParaRPr/>
          </a:p>
          <a:p>
            <a:r>
              <a:t>  Never return stack traces or internal exception text.</a:t>
            </a:r>
          </a:p>
          <a:p>
            <a:endParaRPr/>
          </a:p>
          <a:p>
            <a:r>
              <a:t>  They help attackers and confuse users.</a:t>
            </a:r>
          </a:p>
          <a:p>
            <a:endParaRPr/>
          </a:p>
          <a:p>
            <a:r>
              <a:t>  Log each failure with the correlationId and enough context to diagnose it.</a:t>
            </a:r>
          </a:p>
          <a:p>
            <a:endParaRPr/>
          </a:p>
          <a:p>
            <a:r>
              <a:t>  Follow Lab 1's log hygiene while you do.</a:t>
            </a:r>
          </a:p>
          <a:p>
            <a:endParaRPr/>
          </a:p>
          <a:p>
            <a:r>
              <a:t>  Log accountId and status, but never request bodies, emails or card-like numbers.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Online loan applications: someone submits a form with letters in the income field.</a:t>
            </a:r>
          </a:p>
          <a:p>
            <a:endParaRPr/>
          </a:p>
          <a:p>
            <a:r>
              <a:t>  The structural layer rejects it with a field-level message, before any eligibility rules run.</a:t>
            </a:r>
          </a:p>
          <a:p>
            <a:endParaRPr/>
          </a:p>
          <a:p>
            <a:r>
              <a:t>  Only well-formed applications reach business checks.</a:t>
            </a:r>
          </a:p>
          <a:p>
            <a:endParaRPr/>
          </a:p>
          <a:p>
            <a:r>
              <a:t>  That avoids wasted downstream work, such as requesting a credit report for an application that was never valid.</a:t>
            </a:r>
          </a:p>
          <a:p>
            <a:endParaRPr/>
          </a:p>
          <a:p>
            <a:r>
              <a:t>- Transfer amounts: a zero or negative amount can be rejected at the DTO with a simple constraint.</a:t>
            </a:r>
          </a:p>
          <a:p>
            <a:endParaRPr/>
          </a:p>
          <a:p>
            <a:r>
              <a:t>  An amount above the customer's daily limit is a business rule that needs account data.</a:t>
            </a:r>
          </a:p>
          <a:p>
            <a:endParaRPr/>
          </a:p>
          <a:p>
            <a:r>
              <a:t>  So it is checked in the service.</a:t>
            </a:r>
          </a:p>
          <a:p>
            <a:endParaRPr/>
          </a:p>
          <a:p>
            <a:r>
              <a:t>  It returns a specific code the app can explain.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1 Step 6 makes the two layers concrete.</a:t>
            </a:r>
          </a:p>
          <a:p>
            <a:endParaRPr/>
          </a:p>
          <a:p>
            <a:r>
              <a:t>Post an email address as the customerId, and it fails at the DTO with 400 VALIDATION_FAILED.</a:t>
            </a:r>
          </a:p>
          <a:p>
            <a:endParaRPr/>
          </a:p>
          <a:p>
            <a:r>
              <a:t>The pattern expects a synthetic ID like CUST-0001.</a:t>
            </a:r>
          </a:p>
          <a:p>
            <a:endParaRPr/>
          </a:p>
          <a:p>
            <a:r>
              <a:t>Post currency EUR, and it passes the three-letter pattern.</a:t>
            </a:r>
          </a:p>
          <a:p>
            <a:endParaRPr/>
          </a:p>
          <a:p>
            <a:r>
              <a:t>But it fails in the service with 400 UNSUPPORTED_CURRENCY.</a:t>
            </a:r>
          </a:p>
          <a:p>
            <a:endParaRPr/>
          </a:p>
          <a:p>
            <a:r>
              <a:t>The bank's policy for this service accepts only USD.</a:t>
            </a:r>
          </a:p>
          <a:p>
            <a:endParaRPr/>
          </a:p>
          <a:p>
            <a:r>
              <a:t>The DTO guards shape and the service guards banking policy.</a:t>
            </a:r>
          </a:p>
          <a:p>
            <a:endParaRPr/>
          </a:p>
          <a:p>
            <a:r>
              <a:t>The lab guide notes a benefit of the shared code, message and correlationId shape.</a:t>
            </a:r>
          </a:p>
          <a:p>
            <a:endParaRPr/>
          </a:p>
          <a:p>
            <a:r>
              <a:t>It lets later consumers, including the Day 5 AI tooling, parse failures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Standardized API Error Responses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STANDARD ERROR RESPONSE FIELDS</a:t>
            </a:r>
          </a:p>
          <a:p>
            <a:endParaRPr/>
          </a:p>
          <a:p>
            <a:r>
              <a:t>  Each field answers a question.</a:t>
            </a:r>
          </a:p>
          <a:p>
            <a:endParaRPr/>
          </a:p>
          <a:p>
            <a:r>
              <a:t>  Timestamp says when it happened.</a:t>
            </a:r>
          </a:p>
          <a:p>
            <a:endParaRPr/>
          </a:p>
          <a:p>
            <a:r>
              <a:t>  Status repeats the HTTP code for clients that log only bodies.</a:t>
            </a:r>
          </a:p>
          <a:p>
            <a:endParaRPr/>
          </a:p>
          <a:p>
            <a:r>
              <a:t>  Error is the standard reason phrase, and message is a human-readable explanation.</a:t>
            </a:r>
          </a:p>
          <a:p>
            <a:endParaRPr/>
          </a:p>
          <a:p>
            <a:r>
              <a:t>  Path shows which endpoint failed.</a:t>
            </a:r>
          </a:p>
          <a:p>
            <a:endParaRPr/>
          </a:p>
          <a:p>
            <a:r>
              <a:t>  Programs should branch on the application code.</a:t>
            </a:r>
          </a:p>
          <a:p>
            <a:endParaRPr/>
          </a:p>
          <a:p>
            <a:r>
              <a:t>  Messages get reworded, but codes stay stable.</a:t>
            </a:r>
          </a:p>
          <a:p>
            <a:endParaRPr/>
          </a:p>
          <a:p>
            <a:r>
              <a:t>  The slide calls it errorCode, while the Lab 1 body names it code.</a:t>
            </a:r>
          </a:p>
          <a:p>
            <a:endParaRPr/>
          </a:p>
          <a:p>
            <a:r>
              <a:t>  So pick one name per platform.</a:t>
            </a:r>
          </a:p>
          <a:p>
            <a:endParaRPr/>
          </a:p>
          <a:p>
            <a:r>
              <a:t>  CorrelationId links to logs.</a:t>
            </a:r>
          </a:p>
          <a:p>
            <a:endParaRPr/>
          </a:p>
          <a:p>
            <a:r>
              <a:t>  Details carries per-field problems, so a form can highlight the exact input.</a:t>
            </a:r>
          </a:p>
          <a:p>
            <a:endParaRPr/>
          </a:p>
          <a:p>
            <a:r>
              <a:t>  RFC 9457 Problem Details is a standard alternative.</a:t>
            </a:r>
          </a:p>
          <a:p>
            <a:endParaRPr/>
          </a:p>
          <a:p>
            <a:r>
              <a:t>  Spring supports it through ProblemDetail.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Mobile banking apps map stable error codes to localized, friendly screens.</a:t>
            </a:r>
          </a:p>
          <a:p>
            <a:endParaRPr/>
          </a:p>
          <a:p>
            <a:r>
              <a:t>  One message appears when an account is not found.</a:t>
            </a:r>
          </a:p>
          <a:p>
            <a:endParaRPr/>
          </a:p>
          <a:p>
            <a:r>
              <a:t>  Another appears when an action is not allowed in the account's current state.</a:t>
            </a:r>
          </a:p>
          <a:p>
            <a:endParaRPr/>
          </a:p>
          <a:p>
            <a:r>
              <a:t>  Branching on codes rather than English message text keeps the app working when wording changes.</a:t>
            </a:r>
          </a:p>
          <a:p>
            <a:endParaRPr/>
          </a:p>
          <a:p>
            <a:r>
              <a:t>- Incident triage: an operations engineer sees a spike of failed transfers.</a:t>
            </a:r>
          </a:p>
          <a:p>
            <a:endParaRPr/>
          </a:p>
          <a:p>
            <a:r>
              <a:t>  The correlationId in a sample error body lets them follow that request through Transaction Service and Account Service logs.</a:t>
            </a:r>
          </a:p>
          <a:p>
            <a:endParaRPr/>
          </a:p>
          <a:p>
            <a:r>
              <a:t>  Within minutes, that shows which dependency actually failed.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Show the Lab 1 error body for GET /api/v1/accounts/ACC-MISSING.</a:t>
            </a:r>
          </a:p>
          <a:p>
            <a:endParaRPr/>
          </a:p>
          <a:p>
            <a:r>
              <a:t>It includes timestamp, status 404, error Not Found and code ACCOUNT_NOT_FOUND.</a:t>
            </a:r>
          </a:p>
          <a:p>
            <a:endParaRPr/>
          </a:p>
          <a:p>
            <a:r>
              <a:t>It also has a message naming the account, the path, a correlationId and an empty details array.</a:t>
            </a:r>
          </a:p>
          <a:p>
            <a:endParaRPr/>
          </a:p>
          <a:p>
            <a:r>
              <a:t>Now view it from the Transaction Service in Lab 2, which calls this endpoint before accepting a transaction.</a:t>
            </a:r>
          </a:p>
          <a:p>
            <a:endParaRPr/>
          </a:p>
          <a:p>
            <a:r>
              <a:t>The shape is predictable.</a:t>
            </a:r>
          </a:p>
          <a:p>
            <a:endParaRPr/>
          </a:p>
          <a:p>
            <a:r>
              <a:t>So its client can map ACCOUNT_NOT_FOUND and INVALID_ACCOUNT_STATE to a clean rejection and record the correlationId.</a:t>
            </a:r>
          </a:p>
          <a:p>
            <a:endParaRPr/>
          </a:p>
          <a:p>
            <a:r>
              <a:t>When Lab 3 adds security, the 401 and 403 responses also come back as JSON.</a:t>
            </a:r>
          </a:p>
          <a:p>
            <a:endParaRPr/>
          </a:p>
          <a:p>
            <a:r>
              <a:t>So consumers never need a second, special error parser.</a:t>
            </a:r>
          </a:p>
          <a:p>
            <a:endParaRPr/>
          </a:p>
          <a:p>
            <a:endParaRPr/>
          </a:p>
          <a:p>
            <a:r>
              <a:t>TOPIC 2 OF 2: Pagination, Filtering, and Sorting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THREE QUERY CAPABILITIES</a:t>
            </a:r>
          </a:p>
          <a:p>
            <a:endParaRPr/>
          </a:p>
          <a:p>
            <a:r>
              <a:t>  Pagination returns a slice of the results.</a:t>
            </a:r>
          </a:p>
          <a:p>
            <a:endParaRPr/>
          </a:p>
          <a:p>
            <a:r>
              <a:t>  With page and size, Spring Data's Pageable binds page, size and sort parameters directly.</a:t>
            </a:r>
          </a:p>
          <a:p>
            <a:endParaRPr/>
          </a:p>
          <a:p>
            <a:r>
              <a:t>  The page index is zero-based by default.</a:t>
            </a:r>
          </a:p>
          <a:p>
            <a:endParaRPr/>
          </a:p>
          <a:p>
            <a:r>
              <a:t>  Cursor pagination returns a token for the next slice.</a:t>
            </a:r>
          </a:p>
          <a:p>
            <a:endParaRPr/>
          </a:p>
          <a:p>
            <a:r>
              <a:t>  It holds up better on large or constantly changing data, such as transaction histories.</a:t>
            </a:r>
          </a:p>
          <a:p>
            <a:endParaRPr/>
          </a:p>
          <a:p>
            <a:r>
              <a:t>  Filtering narrows the set.</a:t>
            </a:r>
          </a:p>
          <a:p>
            <a:endParaRPr/>
          </a:p>
          <a:p>
            <a:r>
              <a:t>  The in: syntax shown is a convention, not a standard, so pick one grammar for the platform.</a:t>
            </a:r>
          </a:p>
          <a:p>
            <a:endParaRPr/>
          </a:p>
          <a:p>
            <a:r>
              <a:t>  Sorting uses field and direction.</a:t>
            </a:r>
          </a:p>
          <a:p>
            <a:endParaRPr/>
          </a:p>
          <a:p>
            <a:r>
              <a:t>  Always add a unique tiebreaker such as the ID.</a:t>
            </a:r>
          </a:p>
          <a:p>
            <a:endParaRPr/>
          </a:p>
          <a:p>
            <a:r>
              <a:t>  Otherwise rows with equal dates can shuffle between pages and appear twice or never.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An unbounded list works in development and fails in production.</a:t>
            </a:r>
          </a:p>
          <a:p>
            <a:endParaRPr/>
          </a:p>
          <a:p>
            <a:r>
              <a:t>  That happens when one customer has years of history, and the response exhausts memory or times out.</a:t>
            </a:r>
          </a:p>
          <a:p>
            <a:endParaRPr/>
          </a:p>
          <a:p>
            <a:r>
              <a:t>  Cap the page size, for example at 100, so a client cannot request everything in one call.</a:t>
            </a:r>
          </a:p>
          <a:p>
            <a:endParaRPr/>
          </a:p>
          <a:p>
            <a:r>
              <a:t>  Return metadata so clients know whether to ask for more.</a:t>
            </a:r>
          </a:p>
          <a:p>
            <a:endParaRPr/>
          </a:p>
          <a:p>
            <a:r>
              <a:t>  Spring Data's Page exposes the total element count and whether a next page exists.</a:t>
            </a:r>
          </a:p>
          <a:p>
            <a:endParaRPr/>
          </a:p>
          <a:p>
            <a:r>
              <a:t>  Computing an exact total needs an extra count query.</a:t>
            </a:r>
          </a:p>
          <a:p>
            <a:endParaRPr/>
          </a:p>
          <a:p>
            <a:r>
              <a:t>  So consider a slice when totals are not needed.</a:t>
            </a:r>
          </a:p>
          <a:p>
            <a:endParaRPr/>
          </a:p>
          <a:p>
            <a:r>
              <a:t>  Whitelist filter and sort fields, meaning allow only named fields.</a:t>
            </a:r>
          </a:p>
          <a:p>
            <a:endParaRPr/>
          </a:p>
          <a:p>
            <a:r>
              <a:t>  That blocks unindexed, slow queries and avoids passing user input straight into query construction.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Transaction history in online banking: customers scroll back through months of activity.</a:t>
            </a:r>
          </a:p>
          <a:p>
            <a:endParaRPr/>
          </a:p>
          <a:p>
            <a:r>
              <a:t>  The app loads one page at a time, newest first.</a:t>
            </a:r>
          </a:p>
          <a:p>
            <a:endParaRPr/>
          </a:p>
          <a:p>
            <a:r>
              <a:t>  It sorts by posting date and then transaction ID.</a:t>
            </a:r>
          </a:p>
          <a:p>
            <a:endParaRPr/>
          </a:p>
          <a:p>
            <a:r>
              <a:t>  So entries never jump between pages as the customer scrolls.</a:t>
            </a:r>
          </a:p>
          <a:p>
            <a:endParaRPr/>
          </a:p>
          <a:p>
            <a:r>
              <a:t>- GitHub's public REST API paginates its list endpoints.</a:t>
            </a:r>
          </a:p>
          <a:p>
            <a:endParaRPr/>
          </a:p>
          <a:p>
            <a:r>
              <a:t>  It accepts a page size parameter and returns a Link header that points to the next page.</a:t>
            </a:r>
          </a:p>
          <a:p>
            <a:endParaRPr/>
          </a:p>
          <a:p>
            <a:r>
              <a:t>  So clients never receive unbounded result sets.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The capstone labs do not build a list endpoint, so this makes a good design extension.</a:t>
            </a:r>
          </a:p>
          <a:p>
            <a:endParaRPr/>
          </a:p>
          <a:p>
            <a:r>
              <a:t>Suppose operations asks the Transaction Service for a screen of recent transactions for one account.</a:t>
            </a:r>
          </a:p>
          <a:p>
            <a:endParaRPr/>
          </a:p>
          <a:p>
            <a:r>
              <a:t>The screen filters by status and shows newest first.</a:t>
            </a:r>
          </a:p>
          <a:p>
            <a:endParaRPr/>
          </a:p>
          <a:p>
            <a:r>
              <a:t>A naive GET that returns every row works with ten test records.</a:t>
            </a:r>
          </a:p>
          <a:p>
            <a:endParaRPr/>
          </a:p>
          <a:p>
            <a:r>
              <a:t>It times out on an account with years of activity.</a:t>
            </a:r>
          </a:p>
          <a:p>
            <a:endParaRPr/>
          </a:p>
          <a:p>
            <a:r>
              <a:t>A well-designed version accepts page and size with a sensible maximum.</a:t>
            </a:r>
          </a:p>
          <a:p>
            <a:endParaRPr/>
          </a:p>
          <a:p>
            <a:r>
              <a:t>It whitelists status and submission time as filter and sort fields.</a:t>
            </a:r>
          </a:p>
          <a:p>
            <a:endParaRPr/>
          </a:p>
          <a:p>
            <a:r>
              <a:t>It adds the transaction ID as a tiebreaker.</a:t>
            </a:r>
          </a:p>
          <a:p>
            <a:endParaRPr/>
          </a:p>
          <a:p>
            <a:r>
              <a:t>It returns hasNext so the screen knows when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Partial Updates with HTTP PATCH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WHY USE PATCH</a:t>
            </a:r>
          </a:p>
          <a:p>
            <a:endParaRPr/>
          </a:p>
          <a:p>
            <a:r>
              <a:t>  With PUT the client must send the whole resource, so it must first read it.</a:t>
            </a:r>
          </a:p>
          <a:p>
            <a:endParaRPr/>
          </a:p>
          <a:p>
            <a:r>
              <a:t>  Any field someone else changed in between gets silently overwritten.</a:t>
            </a:r>
          </a:p>
          <a:p>
            <a:endParaRPr/>
          </a:p>
          <a:p>
            <a:r>
              <a:t>  That is the lost update problem.</a:t>
            </a:r>
          </a:p>
          <a:p>
            <a:endParaRPr/>
          </a:p>
          <a:p>
            <a:r>
              <a:t>  PATCH sends only the intended change.</a:t>
            </a:r>
          </a:p>
          <a:p>
            <a:endParaRPr/>
          </a:p>
          <a:p>
            <a:r>
              <a:t>  So the payload is smaller and unrelated fields stay untouched.</a:t>
            </a:r>
          </a:p>
          <a:p>
            <a:endParaRPr/>
          </a:p>
          <a:p>
            <a:r>
              <a:t>  For real concurrency safety, add optimistic locking.</a:t>
            </a:r>
          </a:p>
          <a:p>
            <a:endParaRPr/>
          </a:p>
          <a:p>
            <a:r>
              <a:t>  The server returns an ETag, a version tag for the resource.</a:t>
            </a:r>
          </a:p>
          <a:p>
            <a:endParaRPr/>
          </a:p>
          <a:p>
            <a:r>
              <a:t>  The client sends it back in If-Match.</a:t>
            </a:r>
          </a:p>
          <a:p>
            <a:endParaRPr/>
          </a:p>
          <a:p>
            <a:r>
              <a:t>  The server answers 412 Precondition Failed if the resource changed in the meantime.</a:t>
            </a:r>
          </a:p>
          <a:p>
            <a:endParaRPr/>
          </a:p>
          <a:p>
            <a:r>
              <a:t>  On the database side, the JPA @Version annotation gives the same protection.</a:t>
            </a:r>
          </a:p>
          <a:p>
            <a:endParaRPr/>
          </a:p>
          <a:p>
            <a:r>
              <a:t>- COMMON PATCH FORMATS</a:t>
            </a:r>
          </a:p>
          <a:p>
            <a:endParaRPr/>
          </a:p>
          <a:p>
            <a:r>
              <a:t>  JSON Patch, RFC 6902, uses media type application/json-patch+json.</a:t>
            </a:r>
          </a:p>
          <a:p>
            <a:endParaRPr/>
          </a:p>
          <a:p>
            <a:r>
              <a:t>  It is a list of operations such as add, remove, replace, move, copy and test.</a:t>
            </a:r>
          </a:p>
          <a:p>
            <a:endParaRPr/>
          </a:p>
          <a:p>
            <a:r>
              <a:t>  So it can express precise changes, including conditional ones.</a:t>
            </a:r>
          </a:p>
          <a:p>
            <a:endParaRPr/>
          </a:p>
          <a:p>
            <a:r>
              <a:t>  JSON Merge Patch uses application/merge-patch+json.</a:t>
            </a:r>
          </a:p>
          <a:p>
            <a:endParaRPr/>
          </a:p>
          <a:p>
            <a:r>
              <a:t>  You send a partial document.</a:t>
            </a:r>
          </a:p>
          <a:p>
            <a:endParaRPr/>
          </a:p>
          <a:p>
            <a:r>
              <a:t>  Present fields overwrite, and null deletes.</a:t>
            </a:r>
          </a:p>
          <a:p>
            <a:endParaRPr/>
          </a:p>
          <a:p>
            <a:r>
              <a:t>  It was first published as RFC 7386 and quickly reissued as RFC 7396, which is the one to cite.</a:t>
            </a:r>
          </a:p>
          <a:p>
            <a:endParaRPr/>
          </a:p>
          <a:p>
            <a:r>
              <a:t>  Many teams simply accept a partial JSON DTO.</a:t>
            </a:r>
          </a:p>
          <a:p>
            <a:endParaRPr/>
          </a:p>
          <a:p>
            <a:r>
              <a:t>  PATCH is not idempotent by default.</a:t>
            </a:r>
          </a:p>
          <a:p>
            <a:endParaRPr/>
          </a:p>
          <a:p>
            <a:r>
              <a:t>  Operations like appending to an array change the result on every repeat.</a:t>
            </a:r>
          </a:p>
          <a:p>
            <a:endParaRPr/>
          </a:p>
          <a:p>
            <a:r>
              <a:t>  Setting absolute values makes it effectively idempotent.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Paperless statements: when a customer switches on paperless delivery, the app sends only that preference.</a:t>
            </a:r>
          </a:p>
          <a:p>
            <a:endParaRPr/>
          </a:p>
          <a:p>
            <a:r>
              <a:t>  A full PUT built from a stale copy could do harm.</a:t>
            </a:r>
          </a:p>
          <a:p>
            <a:endParaRPr/>
          </a:p>
          <a:p>
            <a:r>
              <a:t>  It could overwrite a mailing address that the branch updated minutes earlier.</a:t>
            </a:r>
          </a:p>
          <a:p>
            <a:endParaRPr/>
          </a:p>
          <a:p>
            <a:r>
              <a:t>- Two branch staff members edit the same customer record at once.</a:t>
            </a:r>
          </a:p>
          <a:p>
            <a:endParaRPr/>
          </a:p>
          <a:p>
            <a:r>
              <a:t>  With ETags and If-Match, the second save is rejected with 412 Precondition Failed.</a:t>
            </a:r>
          </a:p>
          <a:p>
            <a:endParaRPr/>
          </a:p>
          <a:p>
            <a:r>
              <a:t>  That employee reloads the latest data.</a:t>
            </a:r>
          </a:p>
          <a:p>
            <a:endParaRPr/>
          </a:p>
          <a:p>
            <a:r>
              <a:t>  They do not silently erase the first employee's change.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1 uses PATCH /api/v1/accounts/{accountId} for exactly one attribute, the nickname.</a:t>
            </a:r>
          </a:p>
          <a:p>
            <a:endParaRPr/>
          </a:p>
          <a:p>
            <a:r>
              <a:t>Sending nickname Business checking returns 200, and sending it again leaves the same result.</a:t>
            </a:r>
          </a:p>
          <a:p>
            <a:endParaRPr/>
          </a:p>
          <a:p>
            <a:r>
              <a:t>So this PATCH is effectively idempotent.</a:t>
            </a:r>
          </a:p>
          <a:p>
            <a:endParaRPr/>
          </a:p>
          <a:p>
            <a:r>
              <a:t>The same call on a CLOSED account returns 409.</a:t>
            </a:r>
          </a:p>
          <a:p>
            <a:endParaRPr/>
          </a:p>
          <a:p>
            <a:r>
              <a:t>Notice what Lab 1 does not allow: changing status through PATCH.</a:t>
            </a:r>
          </a:p>
          <a:p>
            <a:endParaRPr/>
          </a:p>
          <a:p>
            <a:r>
              <a:t>The guide explains that activate is a state change, not a field you PATCH blindly.</a:t>
            </a:r>
          </a:p>
          <a:p>
            <a:endParaRPr/>
          </a:p>
          <a:p>
            <a:r>
              <a:t>So status moves only through POST .../activate, .../freeze and .../close.</a:t>
            </a:r>
          </a:p>
          <a:p>
            <a:endParaRPr/>
          </a:p>
          <a:p>
            <a:r>
              <a:t>There the service enforces the PENDING, ACTIVE, FROZEN and CLOSED rules.</a:t>
            </a:r>
          </a:p>
          <a:p>
            <a:endParaRPr/>
          </a:p>
          <a:p>
            <a:endParaRPr/>
          </a:p>
          <a:p>
            <a:r>
              <a:t>TOPIC 2 OF 2: Content Negotiation</a:t>
            </a:r>
          </a:p>
          <a:p>
            <a:r>
              <a:t>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CONTENT NEGOTIATION WORKS</a:t>
            </a:r>
          </a:p>
          <a:p>
            <a:endParaRPr/>
          </a:p>
          <a:p>
            <a:r>
              <a:t>  Accept lists what the client can read.</a:t>
            </a:r>
          </a:p>
          <a:p>
            <a:endParaRPr/>
          </a:p>
          <a:p>
            <a:r>
              <a:t>  It can add weights with q values, such as application/json first and text/csv as a fallback.</a:t>
            </a:r>
          </a:p>
          <a:p>
            <a:endParaRPr/>
          </a:p>
          <a:p>
            <a:r>
              <a:t>  In Spring MVC, the produces attribute on a mapping declares what an endpoint can return.</a:t>
            </a:r>
          </a:p>
          <a:p>
            <a:endParaRPr/>
          </a:p>
          <a:p>
            <a:r>
              <a:t>  Message converters handle the serialization.</a:t>
            </a:r>
          </a:p>
          <a:p>
            <a:endParaRPr/>
          </a:p>
          <a:p>
            <a:r>
              <a:t>  If nothing matches, Spring answers 406 Not Acceptable.</a:t>
            </a:r>
          </a:p>
          <a:p>
            <a:endParaRPr/>
          </a:p>
          <a:p>
            <a:r>
              <a:t>  The mirror image applies to request bodies.</a:t>
            </a:r>
          </a:p>
          <a:p>
            <a:endParaRPr/>
          </a:p>
          <a:p>
            <a:r>
              <a:t>  Content-Type says what the client sent.</a:t>
            </a:r>
          </a:p>
          <a:p>
            <a:endParaRPr/>
          </a:p>
          <a:p>
            <a:r>
              <a:t>  A type the endpoint cannot consume gets 415 Unsupported Media Type.</a:t>
            </a:r>
          </a:p>
          <a:p>
            <a:endParaRPr/>
          </a:p>
          <a:p>
            <a:r>
              <a:t>  The response's Content-Type confirms what the server actually produced.</a:t>
            </a:r>
          </a:p>
          <a:p>
            <a:endParaRPr/>
          </a:p>
          <a:p>
            <a:r>
              <a:t>  So the client never has to sniff the body.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Always send an accurate Content-Type.</a:t>
            </a:r>
          </a:p>
          <a:p>
            <a:endParaRPr/>
          </a:p>
          <a:p>
            <a:r>
              <a:t>  Use application/json for normal bodies, or application/problem+json if you adopt Problem Details for errors.</a:t>
            </a:r>
          </a:p>
          <a:p>
            <a:endParaRPr/>
          </a:p>
          <a:p>
            <a:r>
              <a:t>  Default to JSON, because every consumer in a microservice platform can read it.</a:t>
            </a:r>
          </a:p>
          <a:p>
            <a:endParaRPr/>
          </a:p>
          <a:p>
            <a:r>
              <a:t>  Add other representations only when a real consumer needs them, such as CSV for an export.</a:t>
            </a:r>
          </a:p>
          <a:p>
            <a:endParaRPr/>
          </a:p>
          <a:p>
            <a:r>
              <a:t>  When the response varies by Accept, send Vary: Accept.</a:t>
            </a:r>
          </a:p>
          <a:p>
            <a:endParaRPr/>
          </a:p>
          <a:p>
            <a:r>
              <a:t>  Otherwise a shared cache may store the JSON version and serve it to a client that asked for CSV.</a:t>
            </a:r>
          </a:p>
          <a:p>
            <a:endParaRPr/>
          </a:p>
          <a:p>
            <a:r>
              <a:t>  That is a confusing bug to trace.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Statement downloads: the same statement resource can be served as JSON for the mobile app.</a:t>
            </a:r>
          </a:p>
          <a:p>
            <a:endParaRPr/>
          </a:p>
          <a:p>
            <a:r>
              <a:t>  It can also be a PDF or CSV file for a customer who wants to download it.</a:t>
            </a:r>
          </a:p>
          <a:p>
            <a:endParaRPr/>
          </a:p>
          <a:p>
            <a:r>
              <a:t>  The Accept header selects the representation.</a:t>
            </a:r>
          </a:p>
          <a:p>
            <a:endParaRPr/>
          </a:p>
          <a:p>
            <a:r>
              <a:t>  So the bank does not maintain three separate endpoints.</a:t>
            </a:r>
          </a:p>
          <a:p>
            <a:endParaRPr/>
          </a:p>
          <a:p>
            <a:r>
              <a:t>- GitHub's REST API documents application/vnd.github+json as the recommended Accept value.</a:t>
            </a:r>
          </a:p>
          <a:p>
            <a:endParaRPr/>
          </a:p>
          <a:p>
            <a:r>
              <a:t>  Clients state exactly which representation they expect.</a:t>
            </a:r>
          </a:p>
          <a:p>
            <a:endParaRPr/>
          </a:p>
          <a:p>
            <a:r>
              <a:t>  The vendor media type leaves room to evolve the format over time.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Every Lab 1 curl command that sends a body includes Content-Type: application/json.</a:t>
            </a:r>
          </a:p>
          <a:p>
            <a:endParaRPr/>
          </a:p>
          <a:p>
            <a:r>
              <a:t>The lab's troubleshooting table shows what happens when the body is mangled: 400 MALFORMED_JSON.</a:t>
            </a:r>
          </a:p>
          <a:p>
            <a:endParaRPr/>
          </a:p>
          <a:p>
            <a:r>
              <a:t>Now imagine audit asks for a CSV export of transactions that the Risk Assessment Service flagged.</a:t>
            </a:r>
          </a:p>
          <a:p>
            <a:endParaRPr/>
          </a:p>
          <a:p>
            <a:r>
              <a:t>You do not need a new URL.</a:t>
            </a:r>
          </a:p>
          <a:p>
            <a:endParaRPr/>
          </a:p>
          <a:p>
            <a:r>
              <a:t>The export endpoint could honor Accept: text/csv alongside JSON and return Content-Type: text/csv.</a:t>
            </a:r>
          </a:p>
          <a:p>
            <a:endParaRPr/>
          </a:p>
          <a:p>
            <a:r>
              <a:t>It could also send Vary: Accept so a caching layer does not confuse the two.</a:t>
            </a:r>
          </a:p>
          <a:p>
            <a:endParaRPr/>
          </a:p>
          <a:p>
            <a:r>
              <a:t>Ask the room how the client should react if the server returns 406.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FIVE COMMON VERSIONING STRATEGIES</a:t>
            </a:r>
          </a:p>
          <a:p>
            <a:endParaRPr/>
          </a:p>
          <a:p>
            <a:r>
              <a:t>  URI path versioning is the most visible, and the easiest to route, log and test.</a:t>
            </a:r>
          </a:p>
          <a:p>
            <a:endParaRPr/>
          </a:p>
          <a:p>
            <a:r>
              <a:t>  That is why the labs use /api/v1.</a:t>
            </a:r>
          </a:p>
          <a:p>
            <a:endParaRPr/>
          </a:p>
          <a:p>
            <a:r>
              <a:t>  Query parameters keep the base path clean but are easy to forget.</a:t>
            </a:r>
          </a:p>
          <a:p>
            <a:endParaRPr/>
          </a:p>
          <a:p>
            <a:r>
              <a:t>  A custom header keeps URLs clean.</a:t>
            </a:r>
          </a:p>
          <a:p>
            <a:endParaRPr/>
          </a:p>
          <a:p>
            <a:r>
              <a:t>  But it hides the version from browser address bars and casual logs.</a:t>
            </a:r>
          </a:p>
          <a:p>
            <a:endParaRPr/>
          </a:p>
          <a:p>
            <a:r>
              <a:t>  The header name varies, and the next diagram shows X-API-Version.</a:t>
            </a:r>
          </a:p>
          <a:p>
            <a:endParaRPr/>
          </a:p>
          <a:p>
            <a:r>
              <a:t>  Media type versioning is the most HTTP-purist, but harder to implement and to call by hand.</a:t>
            </a:r>
          </a:p>
          <a:p>
            <a:endParaRPr/>
          </a:p>
          <a:p>
            <a:r>
              <a:t>  Domain versioning isolates versions at the infrastructure level.</a:t>
            </a:r>
          </a:p>
          <a:p>
            <a:endParaRPr/>
          </a:p>
          <a:p>
            <a:r>
              <a:t>  The cost is separate routes, certificates and deployments.</a:t>
            </a:r>
          </a:p>
          <a:p>
            <a:endParaRPr/>
          </a:p>
          <a:p>
            <a:r>
              <a:t>  None is universally right.</a:t>
            </a:r>
          </a:p>
          <a:p>
            <a:endParaRPr/>
          </a:p>
          <a:p>
            <a:r>
              <a:t>  Consistency across services matters most.</a:t>
            </a:r>
          </a:p>
          <a:p>
            <a:endParaRPr/>
          </a:p>
          <a:p>
            <a:r>
              <a:t>- WHEN TO VERSION</a:t>
            </a:r>
          </a:p>
          <a:p>
            <a:endParaRPr/>
          </a:p>
          <a:p>
            <a:r>
              <a:t>  A new version is justified when existing clients would break unless they change their code.</a:t>
            </a:r>
          </a:p>
          <a:p>
            <a:endParaRPr/>
          </a:p>
          <a:p>
            <a:r>
              <a:t>  Examples are removing or renaming a field, or changing its type or meaning.</a:t>
            </a:r>
          </a:p>
          <a:p>
            <a:endParaRPr/>
          </a:p>
          <a:p>
            <a:r>
              <a:t>  Making an optional field required counts too.</a:t>
            </a:r>
          </a:p>
          <a:p>
            <a:endParaRPr/>
          </a:p>
          <a:p>
            <a:r>
              <a:t>  So does changing status code behavior unexpectedly, as the module notes add.</a:t>
            </a:r>
          </a:p>
          <a:p>
            <a:endParaRPr/>
          </a:p>
          <a:p>
            <a:r>
              <a:t>  Adding an optional response field or a new endpoint does not need a version.</a:t>
            </a:r>
          </a:p>
          <a:p>
            <a:endParaRPr/>
          </a:p>
          <a:p>
            <a:r>
              <a:t>  Well-behaved clients ignore what they do not use.</a:t>
            </a:r>
          </a:p>
          <a:p>
            <a:endParaRPr/>
          </a:p>
          <a:p>
            <a:r>
              <a:t>  Versioning every small change multiplies the code you must maintain and test.</a:t>
            </a:r>
          </a:p>
          <a:p>
            <a:endParaRPr/>
          </a:p>
          <a:p>
            <a:r>
              <a:t>  The module notes warn against two things.</a:t>
            </a:r>
          </a:p>
          <a:p>
            <a:endParaRPr/>
          </a:p>
          <a:p>
            <a:r>
              <a:t>  One is breaking clients without notice.</a:t>
            </a:r>
          </a:p>
          <a:p>
            <a:endParaRPr/>
          </a:p>
          <a:p>
            <a:r>
              <a:t>  The other is supporting too many versions forever.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Kubernetes and OpenShift version their APIs in the manifest itself.</a:t>
            </a:r>
          </a:p>
          <a:p>
            <a:endParaRPr/>
          </a:p>
          <a:p>
            <a:r>
              <a:t>  A Deployment declares apiVersion apps/v1.</a:t>
            </a:r>
          </a:p>
          <a:p>
            <a:endParaRPr/>
          </a:p>
          <a:p>
            <a:r>
              <a:t>  Older beta versions were deprecated and later removed on a published schedule.</a:t>
            </a:r>
          </a:p>
          <a:p>
            <a:endParaRPr/>
          </a:p>
          <a:p>
            <a:r>
              <a:t>  Participants will see these apiVersion lines in OpenShift YAML later in the course.</a:t>
            </a:r>
          </a:p>
          <a:p>
            <a:endParaRPr/>
          </a:p>
          <a:p>
            <a:r>
              <a:t>- Stripe uses date-named API versions.</a:t>
            </a:r>
          </a:p>
          <a:p>
            <a:endParaRPr/>
          </a:p>
          <a:p>
            <a:r>
              <a:t>  An account has a default version.</a:t>
            </a:r>
          </a:p>
          <a:p>
            <a:endParaRPr/>
          </a:p>
          <a:p>
            <a:r>
              <a:t>  A request can pin a specific version with a Stripe-Version header.</a:t>
            </a:r>
          </a:p>
          <a:p>
            <a:endParaRPr/>
          </a:p>
          <a:p>
            <a:r>
              <a:t>  So integrations upgrade on their own schedule rather than all at once.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The Lab 1 Account Service publishes /api/v1/accounts, and the Lab 2 Transaction Service depends on it.</a:t>
            </a:r>
          </a:p>
          <a:p>
            <a:endParaRPr/>
          </a:p>
          <a:p>
            <a:r>
              <a:t>Suppose the account team later wants to replace the free-text nickname with a structured displayName.</a:t>
            </a:r>
          </a:p>
          <a:p>
            <a:endParaRPr/>
          </a:p>
          <a:p>
            <a:r>
              <a:t>They also want to change a response field's meaning.</a:t>
            </a:r>
          </a:p>
          <a:p>
            <a:endParaRPr/>
          </a:p>
          <a:p>
            <a:r>
              <a:t>That breaks the Transaction Service's client.</a:t>
            </a:r>
          </a:p>
          <a:p>
            <a:endParaRPr/>
          </a:p>
          <a:p>
            <a:r>
              <a:t>The team does not force a coordinated release.</a:t>
            </a:r>
          </a:p>
          <a:p>
            <a:endParaRPr/>
          </a:p>
          <a:p>
            <a:r>
              <a:t>Instead it adds /api/v2/accounts next to v1.</a:t>
            </a:r>
          </a:p>
          <a:p>
            <a:endParaRPr/>
          </a:p>
          <a:p>
            <a:r>
              <a:t>The Lab 1 guide notes you can do this without breaking Lab 2.</a:t>
            </a:r>
          </a:p>
          <a:p>
            <a:endParaRPr/>
          </a:p>
          <a:p>
            <a:r>
              <a:t>The transaction team migrates when ready.</a:t>
            </a:r>
          </a:p>
          <a:p>
            <a:endParaRPr/>
          </a:p>
          <a:p>
            <a:r>
              <a:t>The team retires v1 only after monitoring shows no remaining callers.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What is API Versioning banner</a:t>
            </a:r>
          </a:p>
          <a:p>
            <a:endParaRPr/>
          </a:p>
          <a:p>
            <a:r>
              <a:t>  The information banner defines versioning as a strategy for managing change over time.</a:t>
            </a:r>
          </a:p>
          <a:p>
            <a:endParaRPr/>
          </a:p>
          <a:p>
            <a:r>
              <a:t>  It lets multiple versions coexist.</a:t>
            </a:r>
          </a:p>
          <a:p>
            <a:endParaRPr/>
          </a:p>
          <a:p>
            <a:r>
              <a:t>  Emphasize coexistence.</a:t>
            </a:r>
          </a:p>
          <a:p>
            <a:endParaRPr/>
          </a:p>
          <a:p>
            <a:r>
              <a:t>  The whole point is that v1 keeps serving existing consumers while v2 is adopted.</a:t>
            </a:r>
          </a:p>
          <a:p>
            <a:endParaRPr/>
          </a:p>
          <a:p>
            <a:r>
              <a:t>  A microservice platform has many teams.</a:t>
            </a:r>
          </a:p>
          <a:p>
            <a:endParaRPr/>
          </a:p>
          <a:p>
            <a:r>
              <a:t>  There, coexistence turns a risky coordinated release into independent deployments.</a:t>
            </a:r>
          </a:p>
          <a:p>
            <a:endParaRPr/>
          </a:p>
          <a:p>
            <a:r>
              <a:t>  It is also why versioning is closely tied to the backward-compatible evolution rules covered on the next slide.</a:t>
            </a:r>
          </a:p>
          <a:p>
            <a:endParaRPr/>
          </a:p>
          <a:p>
            <a:r>
              <a:t>- Why Version APIs?</a:t>
            </a:r>
          </a:p>
          <a:p>
            <a:endParaRPr/>
          </a:p>
          <a:p>
            <a:r>
              <a:t>  The four benefits are Backward Compatibility, Client Flexibility, Evolve Safely and Better Lifecycle Management.</a:t>
            </a:r>
          </a:p>
          <a:p>
            <a:endParaRPr/>
          </a:p>
          <a:p>
            <a:r>
              <a:t>  Backward compatibility means existing clients keep working without breaking changes.</a:t>
            </a:r>
          </a:p>
          <a:p>
            <a:endParaRPr/>
          </a:p>
          <a:p>
            <a:r>
              <a:t>  Client flexibility means each consumer chooses when to upgrade.</a:t>
            </a:r>
          </a:p>
          <a:p>
            <a:endParaRPr/>
          </a:p>
          <a:p>
            <a:r>
              <a:t>  That matters when a mobile app release or another team's sprint schedule is outside your control.</a:t>
            </a:r>
          </a:p>
          <a:p>
            <a:endParaRPr/>
          </a:p>
          <a:p>
            <a:r>
              <a:t>  Evolving safely means the provider can still ship new features.</a:t>
            </a:r>
          </a:p>
          <a:p>
            <a:endParaRPr/>
          </a:p>
          <a:p>
            <a:r>
              <a:t>  Lifecycle management means old versions can be deprecated and retired on purpose.</a:t>
            </a:r>
          </a:p>
          <a:p>
            <a:endParaRPr/>
          </a:p>
          <a:p>
            <a:r>
              <a:t>  They do not linger forever.</a:t>
            </a:r>
          </a:p>
          <a:p>
            <a:endParaRPr/>
          </a:p>
          <a:p>
            <a:r>
              <a:t>- Common API Versioning Strategies</a:t>
            </a:r>
          </a:p>
          <a:p>
            <a:endParaRPr/>
          </a:p>
          <a:p>
            <a:r>
              <a:t>  The four colored cards pair each approach with an example and a tradeoff.</a:t>
            </a:r>
          </a:p>
          <a:p>
            <a:endParaRPr/>
          </a:p>
          <a:p>
            <a:r>
              <a:t>  URI Path Versioning is clear and explicit, but means multiple URLs to maintain.</a:t>
            </a:r>
          </a:p>
          <a:p>
            <a:endParaRPr/>
          </a:p>
          <a:p>
            <a:r>
              <a:t>  Query Parameter Versioning is simple, but the version parameter is easy to forget.</a:t>
            </a:r>
          </a:p>
          <a:p>
            <a:endParaRPr/>
          </a:p>
          <a:p>
            <a:r>
              <a:t>  Custom Header Versioning, shown as X-API-Version, keeps the URI clean.</a:t>
            </a:r>
          </a:p>
          <a:p>
            <a:endParaRPr/>
          </a:p>
          <a:p>
            <a:r>
              <a:t>  But it is less visible to developers.</a:t>
            </a:r>
          </a:p>
          <a:p>
            <a:endParaRPr/>
          </a:p>
          <a:p>
            <a:r>
              <a:t>  Media Type Versioning uses an Accept header with v equals 1 or 2, and it is RESTful and flexible, but more complex to implement.</a:t>
            </a:r>
          </a:p>
          <a:p>
            <a:endParaRPr/>
          </a:p>
          <a:p>
            <a:r>
              <a:t>  The previous slide also listed domain versioning, which this diagram omits.</a:t>
            </a:r>
          </a:p>
          <a:p>
            <a:endParaRPr/>
          </a:p>
          <a:p>
            <a:r>
              <a:t>  The labs use URI path versioning with /api/v1.</a:t>
            </a:r>
          </a:p>
          <a:p>
            <a:endParaRPr/>
          </a:p>
          <a:p>
            <a:r>
              <a:t>- Versioning Lifecycle</a:t>
            </a:r>
          </a:p>
          <a:p>
            <a:endParaRPr/>
          </a:p>
          <a:p>
            <a:r>
              <a:t>  Four icons are connected by arrows.</a:t>
            </a:r>
          </a:p>
          <a:p>
            <a:endParaRPr/>
          </a:p>
          <a:p>
            <a:r>
              <a:t>  Release a new version, and Communicate the change to developers.</a:t>
            </a:r>
          </a:p>
          <a:p>
            <a:endParaRPr/>
          </a:p>
          <a:p>
            <a:r>
              <a:t>  Deprecate the old version with a sunset timeline.</a:t>
            </a:r>
          </a:p>
          <a:p>
            <a:endParaRPr/>
          </a:p>
          <a:p>
            <a:r>
              <a:t>  Sunset it after the migration period.</a:t>
            </a:r>
          </a:p>
          <a:p>
            <a:endParaRPr/>
          </a:p>
          <a:p>
            <a:r>
              <a:t>  Most real problems happen in the middle two steps.</a:t>
            </a:r>
          </a:p>
          <a:p>
            <a:endParaRPr/>
          </a:p>
          <a:p>
            <a:r>
              <a:t>  Teams release v2 and forget to tell consumers.</a:t>
            </a:r>
          </a:p>
          <a:p>
            <a:endParaRPr/>
          </a:p>
          <a:p>
            <a:r>
              <a:t>  Or they deprecate without a date, so nobody migrates.</a:t>
            </a:r>
          </a:p>
          <a:p>
            <a:endParaRPr/>
          </a:p>
          <a:p>
            <a:r>
              <a:t>  The module notes list what to communicate.</a:t>
            </a:r>
          </a:p>
          <a:p>
            <a:endParaRPr/>
          </a:p>
          <a:p>
            <a:r>
              <a:t>  That is what is changing, why, and the migration timeline.</a:t>
            </a:r>
          </a:p>
          <a:p>
            <a:endParaRPr/>
          </a:p>
          <a:p>
            <a:r>
              <a:t>  It also covers the replacement endpoint and the support end date.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The bottom row has six tiles.</a:t>
            </a:r>
          </a:p>
          <a:p>
            <a:endParaRPr/>
          </a:p>
          <a:p>
            <a:r>
              <a:t>  Version only when you make breaking changes.</a:t>
            </a:r>
          </a:p>
          <a:p>
            <a:endParaRPr/>
          </a:p>
          <a:p>
            <a:r>
              <a:t>  Document changes clearly for each version.</a:t>
            </a:r>
          </a:p>
          <a:p>
            <a:endParaRPr/>
          </a:p>
          <a:p>
            <a:r>
              <a:t>  Publish a deprecation policy and sunset timeline.</a:t>
            </a:r>
          </a:p>
          <a:p>
            <a:endParaRPr/>
          </a:p>
          <a:p>
            <a:r>
              <a:t>  Automate tests across all supported versions.</a:t>
            </a:r>
          </a:p>
          <a:p>
            <a:endParaRPr/>
          </a:p>
          <a:p>
            <a:r>
              <a:t>  Monitor usage of each version, and support and guide clients through migration.</a:t>
            </a:r>
          </a:p>
          <a:p>
            <a:endParaRPr/>
          </a:p>
          <a:p>
            <a:r>
              <a:t>  Monitoring usage is what makes sunsetting safe.</a:t>
            </a:r>
          </a:p>
          <a:p>
            <a:endParaRPr/>
          </a:p>
          <a:p>
            <a:r>
              <a:t>  You retire v1 when metrics show no remaining traffic, not when you hope nobody uses it.</a:t>
            </a:r>
          </a:p>
          <a:p>
            <a:endParaRPr/>
          </a:p>
          <a:p>
            <a:r>
              <a:t>  Automated tests across versions keep a fix in v2 from quietly breaking v1.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Kubernetes publishes a deprecation policy for its APIs.</a:t>
            </a:r>
          </a:p>
          <a:p>
            <a:endParaRPr/>
          </a:p>
          <a:p>
            <a:r>
              <a:t>  Beta API versions, such as older extensions and beta groups, were marked deprecated.</a:t>
            </a:r>
          </a:p>
          <a:p>
            <a:endParaRPr/>
          </a:p>
          <a:p>
            <a:r>
              <a:t>  They were announced in release notes and removed in later releases.</a:t>
            </a:r>
          </a:p>
          <a:p>
            <a:endParaRPr/>
          </a:p>
          <a:p>
            <a:r>
              <a:t>  Stable versions like apps/v1 remained.</a:t>
            </a:r>
          </a:p>
          <a:p>
            <a:endParaRPr/>
          </a:p>
          <a:p>
            <a:r>
              <a:t>  This is Release, Communicate, Deprecate and Sunset applied at massive scale.</a:t>
            </a:r>
          </a:p>
          <a:p>
            <a:endParaRPr/>
          </a:p>
          <a:p>
            <a:r>
              <a:t>- In retail banking, partner integrations such as aggregators or payroll providers usually cannot upgrade on the bank's schedule.</a:t>
            </a:r>
          </a:p>
          <a:p>
            <a:endParaRPr/>
          </a:p>
          <a:p>
            <a:r>
              <a:t>  Run the old and new API versions side by side.</a:t>
            </a:r>
          </a:p>
          <a:p>
            <a:endParaRPr/>
          </a:p>
          <a:p>
            <a:r>
              <a:t>  Add a published sunset date and usage monitoring per partner.</a:t>
            </a:r>
          </a:p>
          <a:p>
            <a:endParaRPr/>
          </a:p>
          <a:p>
            <a:r>
              <a:t>  That avoids cutting off a partner's customers overnight.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Picture the capstone a year later.</a:t>
            </a:r>
          </a:p>
          <a:p>
            <a:endParaRPr/>
          </a:p>
          <a:p>
            <a:r>
              <a:t>The Account Service team needs v2 of the account resource to support joint ownership.</a:t>
            </a:r>
          </a:p>
          <a:p>
            <a:endParaRPr/>
          </a:p>
          <a:p>
            <a:r>
              <a:t>That changes the response shape.</a:t>
            </a:r>
          </a:p>
          <a:p>
            <a:endParaRPr/>
          </a:p>
          <a:p>
            <a:r>
              <a:t>They release /api/v2/accounts and announce it to the Transaction Service and Risk Assessment Service teams with a migration guide and a sunset date for v1.</a:t>
            </a:r>
          </a:p>
          <a:p>
            <a:endParaRPr/>
          </a:p>
          <a:p>
            <a:r>
              <a:t>Using Micrometer metrics tagged by URI, they watch v1 traffic fall as each team migrates.</a:t>
            </a:r>
          </a:p>
          <a:p>
            <a:endParaRPr/>
          </a:p>
          <a:p>
            <a:r>
              <a:t>When v1 traffic reaches zero and contract tests pass, they remove v1.</a:t>
            </a:r>
          </a:p>
          <a:p>
            <a:endParaRPr/>
          </a:p>
          <a:p>
            <a:r>
              <a:t>Nobody had to coordinate a big-bang release across three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Backward-Compatible API Evolution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SAFE (BACKWARD-COMPATIBLE) CHANGES</a:t>
            </a:r>
          </a:p>
          <a:p>
            <a:endParaRPr/>
          </a:p>
          <a:p>
            <a:r>
              <a:t>  Additive changes are safe because a well-behaved client ignores what it does not use.</a:t>
            </a:r>
          </a:p>
          <a:p>
            <a:endParaRPr/>
          </a:p>
          <a:p>
            <a:r>
              <a:t>  This is often called being a tolerant reader.</a:t>
            </a:r>
          </a:p>
          <a:p>
            <a:endParaRPr/>
          </a:p>
          <a:p>
            <a:r>
              <a:t>  Spring Boot's Jackson defaults ignore unknown properties.</a:t>
            </a:r>
          </a:p>
          <a:p>
            <a:endParaRPr/>
          </a:p>
          <a:p>
            <a:r>
              <a:t>  So a new optional response field does not break a Spring consumer.</a:t>
            </a:r>
          </a:p>
          <a:p>
            <a:endParaRPr/>
          </a:p>
          <a:p>
            <a:r>
              <a:t>  New endpoints leave existing ones untouched.</a:t>
            </a:r>
          </a:p>
          <a:p>
            <a:endParaRPr/>
          </a:p>
          <a:p>
            <a:r>
              <a:t>  Treat new enum values with care.</a:t>
            </a:r>
          </a:p>
          <a:p>
            <a:endParaRPr/>
          </a:p>
          <a:p>
            <a:r>
              <a:t>  An enum is a fixed list of allowed values.</a:t>
            </a:r>
          </a:p>
          <a:p>
            <a:endParaRPr/>
          </a:p>
          <a:p>
            <a:r>
              <a:t>  Jackson fails by default when it meets an enum constant it does not know.</a:t>
            </a:r>
          </a:p>
          <a:p>
            <a:endParaRPr/>
          </a:p>
          <a:p>
            <a:r>
              <a:t>  The exception is when the consumer opts into a default value or null.</a:t>
            </a:r>
          </a:p>
          <a:p>
            <a:endParaRPr/>
          </a:p>
          <a:p>
            <a:r>
              <a:t>  So a new account status can break a strict client.</a:t>
            </a:r>
          </a:p>
          <a:p>
            <a:endParaRPr/>
          </a:p>
          <a:p>
            <a:r>
              <a:t>  Write consumers to tolerate unknown values.</a:t>
            </a:r>
          </a:p>
          <a:p>
            <a:endParaRPr/>
          </a:p>
          <a:p>
            <a:r>
              <a:t>- CHANGES THAT BREAK COMPATIBILITY</a:t>
            </a:r>
          </a:p>
          <a:p>
            <a:endParaRPr/>
          </a:p>
          <a:p>
            <a:r>
              <a:t>  Removing or renaming a field breaks every client that reads it, even if the data is still there under a new name.</a:t>
            </a:r>
          </a:p>
          <a:p>
            <a:endParaRPr/>
          </a:p>
          <a:p>
            <a:r>
              <a:t>  Changing type breaks deserialization, for example a numeric ID becoming a string.</a:t>
            </a:r>
          </a:p>
          <a:p>
            <a:endParaRPr/>
          </a:p>
          <a:p>
            <a:r>
              <a:t>  Changing meaning is the most dangerous, because nothing fails loudly.</a:t>
            </a:r>
          </a:p>
          <a:p>
            <a:endParaRPr/>
          </a:p>
          <a:p>
            <a:r>
              <a:t>  The field name and type stay the same while the value means something different.</a:t>
            </a:r>
          </a:p>
          <a:p>
            <a:endParaRPr/>
          </a:p>
          <a:p>
            <a:r>
              <a:t>  Changing a default alters behavior for clients that never sent the field.</a:t>
            </a:r>
          </a:p>
          <a:p>
            <a:endParaRPr/>
          </a:p>
          <a:p>
            <a:r>
              <a:t>  Making an optional request field required turns previously valid requests into 400 errors.</a:t>
            </a:r>
          </a:p>
          <a:p>
            <a:endParaRPr/>
          </a:p>
          <a:p>
            <a:r>
              <a:t>  All of these need a new version or a coordinated migration.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Amount units: suppose an API switches a field from dollars to cents without renaming it.</a:t>
            </a:r>
          </a:p>
          <a:p>
            <a:endParaRPr/>
          </a:p>
          <a:p>
            <a:r>
              <a:t>  Every consumer's totals become one hundred times too large.</a:t>
            </a:r>
          </a:p>
          <a:p>
            <a:endParaRPr/>
          </a:p>
          <a:p>
            <a:r>
              <a:t>  No parser error warns anyone.</a:t>
            </a:r>
          </a:p>
          <a:p>
            <a:endParaRPr/>
          </a:p>
          <a:p>
            <a:r>
              <a:t>  Changing meaning is a breaking change, even when the JSON schema looks identical.</a:t>
            </a:r>
          </a:p>
          <a:p>
            <a:endParaRPr/>
          </a:p>
          <a:p>
            <a:r>
              <a:t>- The module notes give a customer example.</a:t>
            </a:r>
          </a:p>
          <a:p>
            <a:endParaRPr/>
          </a:p>
          <a:p>
            <a:r>
              <a:t>  v1 returns a single name field, and v2 splits it into firstName and lastName.</a:t>
            </a:r>
          </a:p>
          <a:p>
            <a:endParaRPr/>
          </a:p>
          <a:p>
            <a:r>
              <a:t>  Any client that displays name breaks.</a:t>
            </a:r>
          </a:p>
          <a:p>
            <a:endParaRPr/>
          </a:p>
          <a:p>
            <a:r>
              <a:t>  So this change needs a new version, even though no data was lost.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The Account Service team adds an optional field showing when an account was last activated.</a:t>
            </a:r>
          </a:p>
          <a:p>
            <a:endParaRPr/>
          </a:p>
          <a:p>
            <a:r>
              <a:t>The Transaction Service reads only accountId and status, so it keeps working.</a:t>
            </a:r>
          </a:p>
          <a:p>
            <a:endParaRPr/>
          </a:p>
          <a:p>
            <a:r>
              <a:t>This change is safe.</a:t>
            </a:r>
          </a:p>
          <a:p>
            <a:endParaRPr/>
          </a:p>
          <a:p>
            <a:r>
              <a:t>Next the team proposes a new status value, DORMANT.</a:t>
            </a:r>
          </a:p>
          <a:p>
            <a:endParaRPr/>
          </a:p>
          <a:p>
            <a:r>
              <a:t>The Transaction Service maps status into a Java enum.</a:t>
            </a:r>
          </a:p>
          <a:p>
            <a:endParaRPr/>
          </a:p>
          <a:p>
            <a:r>
              <a:t>It would fail to deserialize the unknown value.</a:t>
            </a:r>
          </a:p>
          <a:p>
            <a:endParaRPr/>
          </a:p>
          <a:p>
            <a:r>
              <a:t>So this seemingly additive change is breaking for that consumer.</a:t>
            </a:r>
          </a:p>
          <a:p>
            <a:endParaRPr/>
          </a:p>
          <a:p>
            <a:r>
              <a:t>The fix is to coordinate.</a:t>
            </a:r>
          </a:p>
          <a:p>
            <a:endParaRPr/>
          </a:p>
          <a:p>
            <a:r>
              <a:t>The transaction team first makes its client tolerate unknown statuses.</a:t>
            </a:r>
          </a:p>
          <a:p>
            <a:endParaRPr/>
          </a:p>
          <a:p>
            <a:r>
              <a:t>Contract tests on both sides confirm it before DORMANT ships.</a:t>
            </a:r>
          </a:p>
          <a:p>
            <a:endParaRPr/>
          </a:p>
          <a:p>
            <a:endParaRPr/>
          </a:p>
          <a:p>
            <a:r>
              <a:t>TOPIC 2 OF 2: Idempotency Keys</a:t>
            </a:r>
          </a:p>
          <a:p>
            <a:r>
              <a:t>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HOW IDEMPOTENCY KEYS WORK</a:t>
            </a:r>
          </a:p>
          <a:p>
            <a:endParaRPr/>
          </a:p>
          <a:p>
            <a:r>
              <a:t>  The client generates a unique value, typically a UUID, once for each business intent.</a:t>
            </a:r>
          </a:p>
          <a:p>
            <a:endParaRPr/>
          </a:p>
          <a:p>
            <a:r>
              <a:t>  It sends that value on every attempt.</a:t>
            </a:r>
          </a:p>
          <a:p>
            <a:endParaRPr/>
          </a:p>
          <a:p>
            <a:r>
              <a:t>  The server must check and record the key atomically, in one indivisible step.</a:t>
            </a:r>
          </a:p>
          <a:p>
            <a:endParaRPr/>
          </a:p>
          <a:p>
            <a:r>
              <a:t>  For example, insert it into a table with a unique constraint.</a:t>
            </a:r>
          </a:p>
          <a:p>
            <a:endParaRPr/>
          </a:p>
          <a:p>
            <a:r>
              <a:t>  Then two simultaneous duplicates cannot both proceed.</a:t>
            </a:r>
          </a:p>
          <a:p>
            <a:endParaRPr/>
          </a:p>
          <a:p>
            <a:r>
              <a:t>  On first use the server processes the request.</a:t>
            </a:r>
          </a:p>
          <a:p>
            <a:endParaRPr/>
          </a:p>
          <a:p>
            <a:r>
              <a:t>  It stores the status code and response body against the key.</a:t>
            </a:r>
          </a:p>
          <a:p>
            <a:endParaRPr/>
          </a:p>
          <a:p>
            <a:r>
              <a:t>  On a repeat it returns that stored response.</a:t>
            </a:r>
          </a:p>
          <a:p>
            <a:endParaRPr/>
          </a:p>
          <a:p>
            <a:r>
              <a:t>  Good implementations also handle a key that is still in progress.</a:t>
            </a:r>
          </a:p>
          <a:p>
            <a:endParaRPr/>
          </a:p>
          <a:p>
            <a:r>
              <a:t>  They reject a key reused with a different request body, instead of returning an unrelated result.</a:t>
            </a:r>
          </a:p>
          <a:p>
            <a:endParaRPr/>
          </a:p>
          <a:p>
            <a:r>
              <a:t>- COMMON USE CASES</a:t>
            </a:r>
          </a:p>
          <a:p>
            <a:endParaRPr/>
          </a:p>
          <a:p>
            <a:r>
              <a:t>  Payments and order creation are the classic cases, because a duplicate means real money or real goods.</a:t>
            </a:r>
          </a:p>
          <a:p>
            <a:endParaRPr/>
          </a:p>
          <a:p>
            <a:r>
              <a:t>  The same applies to account opening and loan applications.</a:t>
            </a:r>
          </a:p>
          <a:p>
            <a:endParaRPr/>
          </a:p>
          <a:p>
            <a:r>
              <a:t>  Scope keys to the caller, tenant or resource.</a:t>
            </a:r>
          </a:p>
          <a:p>
            <a:endParaRPr/>
          </a:p>
          <a:p>
            <a:r>
              <a:t>  Then two different clients who happen to generate the same value never collide.</a:t>
            </a:r>
          </a:p>
          <a:p>
            <a:endParaRPr/>
          </a:p>
          <a:p>
            <a:r>
              <a:t>  Keep keys for a time to live long enough to cover any realistic client retry window.</a:t>
            </a:r>
          </a:p>
          <a:p>
            <a:endParaRPr/>
          </a:p>
          <a:p>
            <a:r>
              <a:t>  Then expire them so the store does not grow forever.</a:t>
            </a:r>
          </a:p>
          <a:p>
            <a:endParaRPr/>
          </a:p>
          <a:p>
            <a:r>
              <a:t>  The stored record also becomes useful evidence when you investigate a disputed duplicate transaction.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Stripe documents Idempotency-Key support on its POST endpoints.</a:t>
            </a:r>
          </a:p>
          <a:p>
            <a:endParaRPr/>
          </a:p>
          <a:p>
            <a:r>
              <a:t>  The first request's result, success or failure, is saved.</a:t>
            </a:r>
          </a:p>
          <a:p>
            <a:endParaRPr/>
          </a:p>
          <a:p>
            <a:r>
              <a:t>  It is returned for later requests with the same key.</a:t>
            </a:r>
          </a:p>
          <a:p>
            <a:endParaRPr/>
          </a:p>
          <a:p>
            <a:r>
              <a:t>  The keys are eventually removed.</a:t>
            </a:r>
          </a:p>
          <a:p>
            <a:endParaRPr/>
          </a:p>
          <a:p>
            <a:r>
              <a:t>  A reused key with different parameters is rejected.</a:t>
            </a:r>
          </a:p>
          <a:p>
            <a:endParaRPr/>
          </a:p>
          <a:p>
            <a:r>
              <a:t>- Account opening: an applicant submits a long online application and double-clicks Submit on a slow connection.</a:t>
            </a:r>
          </a:p>
          <a:p>
            <a:endParaRPr/>
          </a:p>
          <a:p>
            <a:r>
              <a:t>  Suppose a key was generated when the application form was loaded.</a:t>
            </a:r>
          </a:p>
          <a:p>
            <a:endParaRPr/>
          </a:p>
          <a:p>
            <a:r>
              <a:t>  Then the second submission returns the original application reference.</a:t>
            </a:r>
          </a:p>
          <a:p>
            <a:endParaRPr/>
          </a:p>
          <a:p>
            <a:r>
              <a:t>  It does not create a duplicate customer and account.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As a design extension to Lab 2, add an Idempotency-Key header to POST /api/v1/transactions on the Transaction Service.</a:t>
            </a:r>
          </a:p>
          <a:p>
            <a:endParaRPr/>
          </a:p>
          <a:p>
            <a:r>
              <a:t>That service runs on port 8082.</a:t>
            </a:r>
          </a:p>
          <a:p>
            <a:endParaRPr/>
          </a:p>
          <a:p>
            <a:r>
              <a:t>The teller UI generates the key when a transaction is confirmed.</a:t>
            </a:r>
          </a:p>
          <a:p>
            <a:endParaRPr/>
          </a:p>
          <a:p>
            <a:r>
              <a:t>On the first request the service validates the account and stores the transaction.</a:t>
            </a:r>
          </a:p>
          <a:p>
            <a:endParaRPr/>
          </a:p>
          <a:p>
            <a:r>
              <a:t>It publishes TransactionSubmitted and saves the 201 response against the key.</a:t>
            </a:r>
          </a:p>
          <a:p>
            <a:endParaRPr/>
          </a:p>
          <a:p>
            <a:r>
              <a:t>Suppose the UI times out and retries.</a:t>
            </a:r>
          </a:p>
          <a:p>
            <a:endParaRPr/>
          </a:p>
          <a:p>
            <a:r>
              <a:t>The service finds the key and returns the same transaction ID.</a:t>
            </a:r>
          </a:p>
          <a:p>
            <a:endParaRPr/>
          </a:p>
          <a:p>
            <a:r>
              <a:t>It writes no new row and publishes no second event.</a:t>
            </a:r>
          </a:p>
          <a:p>
            <a:endParaRPr/>
          </a:p>
          <a:p>
            <a:r>
              <a:t>Point out the parallel with Lab 2's Kafka consumer.</a:t>
            </a:r>
          </a:p>
          <a:p>
            <a:endParaRPr/>
          </a:p>
          <a:p>
            <a:r>
              <a:t>Its processed_events table gives the same guarantee for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Correlation and Trace Identifiers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WHAT AND WHY</a:t>
            </a:r>
          </a:p>
          <a:p>
            <a:endParaRPr/>
          </a:p>
          <a:p>
            <a:r>
              <a:t>  In a monolith, where everything runs as one application, one stack trace tells the whole story.</a:t>
            </a:r>
          </a:p>
          <a:p>
            <a:endParaRPr/>
          </a:p>
          <a:p>
            <a:r>
              <a:t>  In microservices, one teller action might touch the Transaction Service, the Account Service, Kafka and the Risk Assessment Service.</a:t>
            </a:r>
          </a:p>
          <a:p>
            <a:endParaRPr/>
          </a:p>
          <a:p>
            <a:r>
              <a:t>  Each has its own logs on different pods.</a:t>
            </a:r>
          </a:p>
          <a:p>
            <a:endParaRPr/>
          </a:p>
          <a:p>
            <a:r>
              <a:t>  A correlation ID is a single value attached to the request, so that every service logs it.</a:t>
            </a:r>
          </a:p>
          <a:p>
            <a:endParaRPr/>
          </a:p>
          <a:p>
            <a:r>
              <a:t>  Search for that ID and you rebuild the whole path.</a:t>
            </a:r>
          </a:p>
          <a:p>
            <a:endParaRPr/>
          </a:p>
          <a:p>
            <a:r>
              <a:t>  Distributed tracing extends the idea with trace and span IDs that also record timing.</a:t>
            </a:r>
          </a:p>
          <a:p>
            <a:endParaRPr/>
          </a:p>
          <a:p>
            <a:r>
              <a:t>  Metrics show that something is slow.</a:t>
            </a:r>
          </a:p>
          <a:p>
            <a:endParaRPr/>
          </a:p>
          <a:p>
            <a:r>
              <a:t>  Traces show where, and correlated logs show why.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Generate the ID once at the entry point, whether that is the gateway or the first service.</a:t>
            </a:r>
          </a:p>
          <a:p>
            <a:endParaRPr/>
          </a:p>
          <a:p>
            <a:r>
              <a:t>  Keep any ID the caller already sent.</a:t>
            </a:r>
          </a:p>
          <a:p>
            <a:endParaRPr/>
          </a:p>
          <a:p>
            <a:r>
              <a:t>  Lab 1 does this: it echoes X-Correlation-Id or generates one when it is absent.</a:t>
            </a:r>
          </a:p>
          <a:p>
            <a:endParaRPr/>
          </a:p>
          <a:p>
            <a:r>
              <a:t>  Propagate it on every outbound HTTP call and in messaging metadata.</a:t>
            </a:r>
          </a:p>
          <a:p>
            <a:endParaRPr/>
          </a:p>
          <a:p>
            <a:r>
              <a:t>  Lab 2 copies it onto the Kafka event.</a:t>
            </a:r>
          </a:p>
          <a:p>
            <a:endParaRPr/>
          </a:p>
          <a:p>
            <a:r>
              <a:t>  Put it in every log line automatically through the logging context, not by hand.</a:t>
            </a:r>
          </a:p>
          <a:p>
            <a:endParaRPr/>
          </a:p>
          <a:p>
            <a:r>
              <a:t>  The Lab 4 guide notes it still appears as correlationId= in logs.</a:t>
            </a:r>
          </a:p>
          <a:p>
            <a:endParaRPr/>
          </a:p>
          <a:p>
            <a:r>
              <a:t>  OpenTelemetry uses the W3C traceparent header.</a:t>
            </a:r>
          </a:p>
          <a:p>
            <a:endParaRPr/>
          </a:p>
          <a:p>
            <a:r>
              <a:t>  Micrometer Tracing puts trace IDs in the logging context.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Disputed card payment: a customer reports that an online purchase showed as declined, but money seems to be held.</a:t>
            </a:r>
          </a:p>
          <a:p>
            <a:endParaRPr/>
          </a:p>
          <a:p>
            <a:r>
              <a:t>  An engineer takes the correlation ID from the failed response.</a:t>
            </a:r>
          </a:p>
          <a:p>
            <a:endParaRPr/>
          </a:p>
          <a:p>
            <a:r>
              <a:t>  They follow the request through authorisation, fraud screening and ledger services.</a:t>
            </a:r>
          </a:p>
          <a:p>
            <a:endParaRPr/>
          </a:p>
          <a:p>
            <a:r>
              <a:t>  They find which step timed out after the hold was placed.</a:t>
            </a:r>
          </a:p>
          <a:p>
            <a:endParaRPr/>
          </a:p>
          <a:p>
            <a:r>
              <a:t>- Distributed tracing grew out of large-scale service architectures.</a:t>
            </a:r>
          </a:p>
          <a:p>
            <a:endParaRPr/>
          </a:p>
          <a:p>
            <a:r>
              <a:t>  Google described its Dapper tracing system in a published paper.</a:t>
            </a:r>
          </a:p>
          <a:p>
            <a:endParaRPr/>
          </a:p>
          <a:p>
            <a:r>
              <a:t>  Open-source successors led to today's OpenTelemetry standard.</a:t>
            </a:r>
          </a:p>
          <a:p>
            <a:endParaRPr/>
          </a:p>
          <a:p>
            <a:r>
              <a:t>  OpenShift environments commonly use it to collect traces.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Lab 3 a participant posts a transaction with X-Correlation-Id: lab3-demo.</a:t>
            </a:r>
          </a:p>
          <a:p>
            <a:endParaRPr/>
          </a:p>
          <a:p>
            <a:r>
              <a:t>The Transaction Service logs it.</a:t>
            </a:r>
          </a:p>
          <a:p>
            <a:endParaRPr/>
          </a:p>
          <a:p>
            <a:r>
              <a:t>It relays the ID with the JWT, the access token, when calling the Account Service.</a:t>
            </a:r>
          </a:p>
          <a:p>
            <a:endParaRPr/>
          </a:p>
          <a:p>
            <a:r>
              <a:t>The Account Service logs the GET with the same ID.</a:t>
            </a:r>
          </a:p>
          <a:p>
            <a:endParaRPr/>
          </a:p>
          <a:p>
            <a:r>
              <a:t>The event on Kafka carries it too, and in Lab 5 the Risk Assessment Service consumes that event.</a:t>
            </a:r>
          </a:p>
          <a:p>
            <a:endParaRPr/>
          </a:p>
          <a:p>
            <a:r>
              <a:t>When a risk score looks wrong, an engineer searches one value and sees the whole journey.</a:t>
            </a:r>
          </a:p>
          <a:p>
            <a:endParaRPr/>
          </a:p>
          <a:p>
            <a:r>
              <a:t>That covers the transaction received, the account check, the event published and the score produced.</a:t>
            </a:r>
          </a:p>
          <a:p>
            <a:endParaRPr/>
          </a:p>
          <a:p>
            <a:r>
              <a:t>Without it, they would be matching timestamps across three services by eye.</a:t>
            </a:r>
          </a:p>
          <a:p>
            <a:endParaRPr/>
          </a:p>
          <a:p>
            <a:endParaRPr/>
          </a:p>
          <a:p>
            <a:r>
              <a:t>TOPIC 2 OF 2: API Documentation with OpenAPI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WHAT OPENAPI PROVIDES</a:t>
            </a:r>
          </a:p>
          <a:p>
            <a:endParaRPr/>
          </a:p>
          <a:p>
            <a:r>
              <a:t>  OpenAPI grew out of the Swagger specification, which was donated to the OpenAPI Initiative.</a:t>
            </a:r>
          </a:p>
          <a:p>
            <a:endParaRPr/>
          </a:p>
          <a:p>
            <a:r>
              <a:t>  From version 3 onward the specification is named OpenAPI.</a:t>
            </a:r>
          </a:p>
          <a:p>
            <a:endParaRPr/>
          </a:p>
          <a:p>
            <a:r>
              <a:t>  Swagger remains the name of a family of tools.</a:t>
            </a:r>
          </a:p>
          <a:p>
            <a:endParaRPr/>
          </a:p>
          <a:p>
            <a:r>
              <a:t>  A spec in YAML or JSON describes every path, method, parameter, schema, status code and security requirement.</a:t>
            </a:r>
          </a:p>
          <a:p>
            <a:endParaRPr/>
          </a:p>
          <a:p>
            <a:r>
              <a:t>  It is machine-readable, so tools can render interactive docs and generate client SDKs and server stubs.</a:t>
            </a:r>
          </a:p>
          <a:p>
            <a:endParaRPr/>
          </a:p>
          <a:p>
            <a:r>
              <a:t>  They can also run mock servers and verify that an implementation matches.</a:t>
            </a:r>
          </a:p>
          <a:p>
            <a:endParaRPr/>
          </a:p>
          <a:p>
            <a:r>
              <a:t>  In Lab 1, springdoc generates the spec at /v3/api-docs.</a:t>
            </a:r>
          </a:p>
          <a:p>
            <a:endParaRPr/>
          </a:p>
          <a:p>
            <a:r>
              <a:t>  It serves Swagger UI at /swagger-ui/index.html on port 8081.</a:t>
            </a:r>
          </a:p>
          <a:p>
            <a:endParaRPr/>
          </a:p>
          <a:p>
            <a:r>
              <a:t>- BEST PRACTICES</a:t>
            </a:r>
          </a:p>
          <a:p>
            <a:endParaRPr/>
          </a:p>
          <a:p>
            <a:r>
              <a:t>  Keep the spec in the same Git repository as the service.</a:t>
            </a:r>
          </a:p>
          <a:p>
            <a:endParaRPr/>
          </a:p>
          <a:p>
            <a:r>
              <a:t>  Then a change to the API and a change to its contract are reviewed in the same pull request.</a:t>
            </a:r>
          </a:p>
          <a:p>
            <a:endParaRPr/>
          </a:p>
          <a:p>
            <a:r>
              <a:t>  Document error responses as carefully as the happy path.</a:t>
            </a:r>
          </a:p>
          <a:p>
            <a:endParaRPr/>
          </a:p>
          <a:p>
            <a:r>
              <a:t>  The 400, 404 and 409 bodies are exactly what consumers need to code against.</a:t>
            </a:r>
          </a:p>
          <a:p>
            <a:endParaRPr/>
          </a:p>
          <a:p>
            <a:r>
              <a:t>  The module notes list happy-path-only docs as a common mistake.</a:t>
            </a:r>
          </a:p>
          <a:p>
            <a:endParaRPr/>
          </a:p>
          <a:p>
            <a:r>
              <a:t>  Lint the spec automatically, which means checking it against rules.</a:t>
            </a:r>
          </a:p>
          <a:p>
            <a:endParaRPr/>
          </a:p>
          <a:p>
            <a:r>
              <a:t>  Spectral, an open-source OpenAPI linter, can enforce naming, required descriptions and error schemas.</a:t>
            </a:r>
          </a:p>
          <a:p>
            <a:endParaRPr/>
          </a:p>
          <a:p>
            <a:r>
              <a:t>  A step in an OpenShift Pipelines run can fail the build when the contract breaks the rules.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Many banks run internal developer portals where teams publish OpenAPI specs for their services.</a:t>
            </a:r>
          </a:p>
          <a:p>
            <a:endParaRPr/>
          </a:p>
          <a:p>
            <a:r>
              <a:t>  A team building a new mobile feature finds the account API.</a:t>
            </a:r>
          </a:p>
          <a:p>
            <a:endParaRPr/>
          </a:p>
          <a:p>
            <a:r>
              <a:t>  It reads the error responses and generates a client.</a:t>
            </a:r>
          </a:p>
          <a:p>
            <a:endParaRPr/>
          </a:p>
          <a:p>
            <a:r>
              <a:t>  It does this without scheduling a meeting with the owning team.</a:t>
            </a:r>
          </a:p>
          <a:p>
            <a:endParaRPr/>
          </a:p>
          <a:p>
            <a:r>
              <a:t>- Postman can import an OpenAPI document and generate a ready-to-run collection of requests.</a:t>
            </a:r>
          </a:p>
          <a:p>
            <a:endParaRPr/>
          </a:p>
          <a:p>
            <a:r>
              <a:t>  So QA engineers get a starting test suite for a banking API straight from its specification.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At the end of Lab 1, participants open Swagger UI on port 8081 and expand POST /api/v1/accounts and its request body.</a:t>
            </a:r>
          </a:p>
          <a:p>
            <a:endParaRPr/>
          </a:p>
          <a:p>
            <a:r>
              <a:t>They confirm the body lists customerId, accountType, currency and nickname.</a:t>
            </a:r>
          </a:p>
          <a:p>
            <a:endParaRPr/>
          </a:p>
          <a:p>
            <a:r>
              <a:t>The lab's stretch goal is to run create and activate straight from Swagger UI.</a:t>
            </a:r>
          </a:p>
          <a:p>
            <a:endParaRPr/>
          </a:p>
          <a:p>
            <a:r>
              <a:t>Now switch perspective.</a:t>
            </a:r>
          </a:p>
          <a:p>
            <a:endParaRPr/>
          </a:p>
          <a:p>
            <a:r>
              <a:t>The Transaction Service team in Lab 2 needs to call this API.</a:t>
            </a:r>
          </a:p>
          <a:p>
            <a:endParaRPr/>
          </a:p>
          <a:p>
            <a:r>
              <a:t>They do not read Account Service code.</a:t>
            </a:r>
          </a:p>
          <a:p>
            <a:endParaRPr/>
          </a:p>
          <a:p>
            <a:r>
              <a:t>They read /v3/api-docs to learn the paths, the 404 and 409 error shapes and the status codes.</a:t>
            </a:r>
          </a:p>
          <a:p>
            <a:endParaRPr/>
          </a:p>
          <a:p>
            <a:r>
              <a:t>The spec is the handshake between the two capstone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Header</a:t>
            </a:r>
          </a:p>
          <a:p>
            <a:endParaRPr/>
          </a:p>
          <a:p>
            <a:r>
              <a:t>  The top banner pairs the OpenAPI Initiative logo with a definition.</a:t>
            </a:r>
          </a:p>
          <a:p>
            <a:endParaRPr/>
          </a:p>
          <a:p>
            <a:r>
              <a:t>  OpenAPI is a standard, language-agnostic specification for describing RESTful APIs, formerly Swagger.</a:t>
            </a:r>
          </a:p>
          <a:p>
            <a:endParaRPr/>
          </a:p>
          <a:p>
            <a:r>
              <a:t>  It enables documentation, tooling, automation and client generation.</a:t>
            </a:r>
          </a:p>
          <a:p>
            <a:endParaRPr/>
          </a:p>
          <a:p>
            <a:r>
              <a:t>  Stress language-agnostic, meaning it works with any programming language.</a:t>
            </a:r>
          </a:p>
          <a:p>
            <a:endParaRPr/>
          </a:p>
          <a:p>
            <a:r>
              <a:t>  The Account Service is Java.</a:t>
            </a:r>
          </a:p>
          <a:p>
            <a:endParaRPr/>
          </a:p>
          <a:p>
            <a:r>
              <a:t>  But a spec it publishes can generate a TypeScript client for a web front end.</a:t>
            </a:r>
          </a:p>
          <a:p>
            <a:endParaRPr/>
          </a:p>
          <a:p>
            <a:r>
              <a:t>  It can also generate a Python client for a data science notebook in OpenShift AI later in the course.</a:t>
            </a:r>
          </a:p>
          <a:p>
            <a:endParaRPr/>
          </a:p>
          <a:p>
            <a:r>
              <a:t>- Key Benefits</a:t>
            </a:r>
          </a:p>
          <a:p>
            <a:endParaRPr/>
          </a:p>
          <a:p>
            <a:r>
              <a:t>  The green panel lists Standardized, Machine-Readable, Consistent, Better Collaboration and Tooling Ecosystem.</a:t>
            </a:r>
          </a:p>
          <a:p>
            <a:endParaRPr/>
          </a:p>
          <a:p>
            <a:r>
              <a:t>  Standardized means it is vendor-neutral, so there is no lock-in to one gateway or tool.</a:t>
            </a:r>
          </a:p>
          <a:p>
            <a:endParaRPr/>
          </a:p>
          <a:p>
            <a:r>
              <a:t>  Machine-readable is the benefit that powers everything else: automation, code generation and validation.</a:t>
            </a:r>
          </a:p>
          <a:p>
            <a:endParaRPr/>
          </a:p>
          <a:p>
            <a:r>
              <a:t>  Consistent means every team documents APIs the same way.</a:t>
            </a:r>
          </a:p>
          <a:p>
            <a:endParaRPr/>
          </a:p>
          <a:p>
            <a:r>
              <a:t>  Better collaboration means providers and consumers discuss one concrete artifact.</a:t>
            </a:r>
          </a:p>
          <a:p>
            <a:endParaRPr/>
          </a:p>
          <a:p>
            <a:r>
              <a:t>  The tooling ecosystem means UI, testing, mocking and generation tools already exist.</a:t>
            </a:r>
          </a:p>
          <a:p>
            <a:endParaRPr/>
          </a:p>
          <a:p>
            <a:r>
              <a:t>  So teams do not build their own.</a:t>
            </a:r>
          </a:p>
          <a:p>
            <a:endParaRPr/>
          </a:p>
          <a:p>
            <a:r>
              <a:t>- OpenAPI Specification (Example)</a:t>
            </a:r>
          </a:p>
          <a:p>
            <a:endParaRPr/>
          </a:p>
          <a:p>
            <a:r>
              <a:t>  The central code panel shows openapi 3.0.3, an info block for a Banking API, and a production server URL.</a:t>
            </a:r>
          </a:p>
          <a:p>
            <a:endParaRPr/>
          </a:p>
          <a:p>
            <a:r>
              <a:t>  It has a /accounts path whose GET returns 200 with an array of Account objects.</a:t>
            </a:r>
          </a:p>
          <a:p>
            <a:endParaRPr/>
          </a:p>
          <a:p>
            <a:r>
              <a:t>  Those objects are referenced through $ref.</a:t>
            </a:r>
          </a:p>
          <a:p>
            <a:endParaRPr/>
          </a:p>
          <a:p>
            <a:r>
              <a:t>  The components section defines the Account schema with id, accountNumber, balance and currency, all marked required.</a:t>
            </a:r>
          </a:p>
          <a:p>
            <a:endParaRPr/>
          </a:p>
          <a:p>
            <a:r>
              <a:t>  Point out the reuse: the schema is defined once and referenced by any path.</a:t>
            </a:r>
          </a:p>
          <a:p>
            <a:endParaRPr/>
          </a:p>
          <a:p>
            <a:r>
              <a:t>  Also flag a teaching moment: balance is typed as number with format double.</a:t>
            </a:r>
          </a:p>
          <a:p>
            <a:endParaRPr/>
          </a:p>
          <a:p>
            <a:r>
              <a:t>  For money, a bank should not rely on binary floating point.</a:t>
            </a:r>
          </a:p>
          <a:p>
            <a:endParaRPr/>
          </a:p>
          <a:p>
            <a:r>
              <a:t>  Prefer a decimal representation, with BigDecimal in Java.</a:t>
            </a:r>
          </a:p>
          <a:p>
            <a:endParaRPr/>
          </a:p>
          <a:p>
            <a:r>
              <a:t>- How It Works</a:t>
            </a:r>
          </a:p>
          <a:p>
            <a:endParaRPr/>
          </a:p>
          <a:p>
            <a:r>
              <a:t>  The purple panel is a pipeline.</a:t>
            </a:r>
          </a:p>
          <a:p>
            <a:endParaRPr/>
          </a:p>
          <a:p>
            <a:r>
              <a:t>  A YAML or JSON specification goes into the tools and ecosystem.</a:t>
            </a:r>
          </a:p>
          <a:p>
            <a:endParaRPr/>
          </a:p>
          <a:p>
            <a:r>
              <a:t>  They produce generated outputs that fan out into three results: Interactive API Docs, Client SDKs, and Tests and Mock Servers.</a:t>
            </a:r>
          </a:p>
          <a:p>
            <a:endParaRPr/>
          </a:p>
          <a:p>
            <a:r>
              <a:t>  The message is that the spec is a source artifact, like code.</a:t>
            </a:r>
          </a:p>
          <a:p>
            <a:endParaRPr/>
          </a:p>
          <a:p>
            <a:r>
              <a:t>  Change the spec and rerun the tools.</a:t>
            </a:r>
          </a:p>
          <a:p>
            <a:endParaRPr/>
          </a:p>
          <a:p>
            <a:r>
              <a:t>  Docs, clients and mocks then all update together instead of drifting apart.</a:t>
            </a:r>
          </a:p>
          <a:p>
            <a:endParaRPr/>
          </a:p>
          <a:p>
            <a:r>
              <a:t>- Common Tools</a:t>
            </a:r>
          </a:p>
          <a:p>
            <a:endParaRPr/>
          </a:p>
          <a:p>
            <a:r>
              <a:t>  The blue panel lists six tools.</a:t>
            </a:r>
          </a:p>
          <a:p>
            <a:endParaRPr/>
          </a:p>
          <a:p>
            <a:r>
              <a:t>  Swagger UI renders interactive documentation.</a:t>
            </a:r>
          </a:p>
          <a:p>
            <a:endParaRPr/>
          </a:p>
          <a:p>
            <a:r>
              <a:t>  The label says OpenAPI Editor, but the separate Swagger Editor is the authoring tool.</a:t>
            </a:r>
          </a:p>
          <a:p>
            <a:endParaRPr/>
          </a:p>
          <a:p>
            <a:r>
              <a:t>  Swagger Codegen and OpenAPI Generator produce clients and server stubs.</a:t>
            </a:r>
          </a:p>
          <a:p>
            <a:endParaRPr/>
          </a:p>
          <a:p>
            <a:r>
              <a:t>  Postman imports OpenAPI to build request collections.</a:t>
            </a:r>
          </a:p>
          <a:p>
            <a:endParaRPr/>
          </a:p>
          <a:p>
            <a:r>
              <a:t>  Stoplight Studio is a visual design tool, and Redoc renders reference documentation.</a:t>
            </a:r>
          </a:p>
          <a:p>
            <a:endParaRPr/>
          </a:p>
          <a:p>
            <a:r>
              <a:t>  Prism runs a mock server from a spec.</a:t>
            </a:r>
          </a:p>
          <a:p>
            <a:endParaRPr/>
          </a:p>
          <a:p>
            <a:r>
              <a:t>  In Lab 1, springdoc supplies Swagger UI automatically.</a:t>
            </a:r>
          </a:p>
          <a:p>
            <a:endParaRPr/>
          </a:p>
          <a:p>
            <a:r>
              <a:t>  So participants use the first tool without installing anything.</a:t>
            </a:r>
          </a:p>
          <a:p>
            <a:endParaRPr/>
          </a:p>
          <a:p>
            <a:r>
              <a:t>- Typical Workflow</a:t>
            </a:r>
          </a:p>
          <a:p>
            <a:endParaRPr/>
          </a:p>
          <a:p>
            <a:r>
              <a:t>  The orange strip runs six numbered steps.</a:t>
            </a:r>
          </a:p>
          <a:p>
            <a:endParaRPr/>
          </a:p>
          <a:p>
            <a:r>
              <a:t>  Design the API in the spec.</a:t>
            </a:r>
          </a:p>
          <a:p>
            <a:endParaRPr/>
          </a:p>
          <a:p>
            <a:r>
              <a:t>  Validate it for correctness and quality.</a:t>
            </a:r>
          </a:p>
          <a:p>
            <a:endParaRPr/>
          </a:p>
          <a:p>
            <a:r>
              <a:t>  Document it with interactive docs.</a:t>
            </a:r>
          </a:p>
          <a:p>
            <a:endParaRPr/>
          </a:p>
          <a:p>
            <a:r>
              <a:t>  Generate client SDKs, server stubs and models.</a:t>
            </a:r>
          </a:p>
          <a:p>
            <a:endParaRPr/>
          </a:p>
          <a:p>
            <a:r>
              <a:t>  Test and Mock by creating tests and mock servers from the spec.</a:t>
            </a:r>
          </a:p>
          <a:p>
            <a:endParaRPr/>
          </a:p>
          <a:p>
            <a:r>
              <a:t>  Publish it to consumers.</a:t>
            </a:r>
          </a:p>
          <a:p>
            <a:endParaRPr/>
          </a:p>
          <a:p>
            <a:r>
              <a:t>  This is the contract-first flow that the next slide compares with code-first.</a:t>
            </a:r>
          </a:p>
          <a:p>
            <a:endParaRPr/>
          </a:p>
          <a:p>
            <a:r>
              <a:t>  The Validate step is where a linter such as Spectral fits.</a:t>
            </a:r>
          </a:p>
          <a:p>
            <a:endParaRPr/>
          </a:p>
          <a:p>
            <a:r>
              <a:t>  Publish is where a developer portal or API catalog comes in.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Mock servers unblock parallel work.</a:t>
            </a:r>
          </a:p>
          <a:p>
            <a:endParaRPr/>
          </a:p>
          <a:p>
            <a:r>
              <a:t>  A mobile team building a new account-summary screen can run Prism against the agreed spec.</a:t>
            </a:r>
          </a:p>
          <a:p>
            <a:endParaRPr/>
          </a:p>
          <a:p>
            <a:r>
              <a:t>  They develop against realistic responses weeks before the real service is deployed.</a:t>
            </a:r>
          </a:p>
          <a:p>
            <a:endParaRPr/>
          </a:p>
          <a:p>
            <a:r>
              <a:t>  Then they switch the base URL when it is ready.</a:t>
            </a:r>
          </a:p>
          <a:p>
            <a:endParaRPr/>
          </a:p>
          <a:p>
            <a:r>
              <a:t>- Generated clients reduce integration bugs.</a:t>
            </a:r>
          </a:p>
          <a:p>
            <a:endParaRPr/>
          </a:p>
          <a:p>
            <a:r>
              <a:t>  Say a payments team generates its Java client from the account team's published spec with OpenAPI Generator.</a:t>
            </a:r>
          </a:p>
          <a:p>
            <a:endParaRPr/>
          </a:p>
          <a:p>
            <a:r>
              <a:t>  Then field names, types and paths come straight from the contract.</a:t>
            </a:r>
          </a:p>
          <a:p>
            <a:endParaRPr/>
          </a:p>
          <a:p>
            <a:r>
              <a:t>  Nobody retypes them by hand.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the Account Service publishes its spec at /v3/api-docs.</a:t>
            </a:r>
          </a:p>
          <a:p>
            <a:endParaRPr/>
          </a:p>
          <a:p>
            <a:r>
              <a:t>The Transaction Service team could generate a typed client from it, instead of writing request classes by hand.</a:t>
            </a:r>
          </a:p>
          <a:p>
            <a:endParaRPr/>
          </a:p>
          <a:p>
            <a:r>
              <a:t>Later, the Risk Assessment Service team works in Python for model experiments in OpenShift AI.</a:t>
            </a:r>
          </a:p>
          <a:p>
            <a:endParaRPr/>
          </a:p>
          <a:p>
            <a:r>
              <a:t>They could generate a Python client from the same spec.</a:t>
            </a:r>
          </a:p>
          <a:p>
            <a:endParaRPr/>
          </a:p>
          <a:p>
            <a:r>
              <a:t>Suppose the account team lints the spec in their OpenShift Pipelines run and publishes it to a shared catalog.</a:t>
            </a:r>
          </a:p>
          <a:p>
            <a:endParaRPr/>
          </a:p>
          <a:p>
            <a:r>
              <a:t>Then all three teams work from one source of truth.</a:t>
            </a:r>
          </a:p>
          <a:p>
            <a:endParaRPr/>
          </a:p>
          <a:p>
            <a:r>
              <a:t>A breaking change shows up as a failed pipeline instead of a production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Contract-First vs. Code-First API Development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CONTRACT-FIRST</a:t>
            </a:r>
          </a:p>
          <a:p>
            <a:endParaRPr/>
          </a:p>
          <a:p>
            <a:r>
              <a:t>  The team writes the OpenAPI document before any controller exists.</a:t>
            </a:r>
          </a:p>
          <a:p>
            <a:endParaRPr/>
          </a:p>
          <a:p>
            <a:r>
              <a:t>  They review it with consumers, much like reviewing a design document.</a:t>
            </a:r>
          </a:p>
          <a:p>
            <a:endParaRPr/>
          </a:p>
          <a:p>
            <a:r>
              <a:t>  Once it is agreed, the provider can generate server interfaces, for example with the OpenAPI Generator Maven plugin.</a:t>
            </a:r>
          </a:p>
          <a:p>
            <a:endParaRPr/>
          </a:p>
          <a:p>
            <a:r>
              <a:t>  Meanwhile consumers generate clients or run a mock server.</a:t>
            </a:r>
          </a:p>
          <a:p>
            <a:endParaRPr/>
          </a:p>
          <a:p>
            <a:r>
              <a:t>  So both sides build in parallel.</a:t>
            </a:r>
          </a:p>
          <a:p>
            <a:endParaRPr/>
          </a:p>
          <a:p>
            <a:r>
              <a:t>  The cost is upfront design time, and the discipline to keep the implementation faithful to the contract.</a:t>
            </a:r>
          </a:p>
          <a:p>
            <a:endParaRPr/>
          </a:p>
          <a:p>
            <a:r>
              <a:t>  It pays off for business-critical APIs, cross-team platforms and anything exposed to external partners.</a:t>
            </a:r>
          </a:p>
          <a:p>
            <a:endParaRPr/>
          </a:p>
          <a:p>
            <a:r>
              <a:t>  In those cases a late change is expensive.</a:t>
            </a:r>
          </a:p>
          <a:p>
            <a:endParaRPr/>
          </a:p>
          <a:p>
            <a:r>
              <a:t>- CODE-FIRST</a:t>
            </a:r>
          </a:p>
          <a:p>
            <a:endParaRPr/>
          </a:p>
          <a:p>
            <a:r>
              <a:t>  The team writes Spring controllers and DTOs first.</a:t>
            </a:r>
          </a:p>
          <a:p>
            <a:endParaRPr/>
          </a:p>
          <a:p>
            <a:r>
              <a:t>  Then a library such as springdoc generates the OpenAPI document from the code and its annotations.</a:t>
            </a:r>
          </a:p>
          <a:p>
            <a:endParaRPr/>
          </a:p>
          <a:p>
            <a:r>
              <a:t>  The start is faster.</a:t>
            </a:r>
          </a:p>
          <a:p>
            <a:endParaRPr/>
          </a:p>
          <a:p>
            <a:r>
              <a:t>  The docs cannot drift from what actually runs, because they are produced from it.</a:t>
            </a:r>
          </a:p>
          <a:p>
            <a:endParaRPr/>
          </a:p>
          <a:p>
            <a:r>
              <a:t>  The risk is that the API's shape follows implementation convenience.</a:t>
            </a:r>
          </a:p>
          <a:p>
            <a:endParaRPr/>
          </a:p>
          <a:p>
            <a:r>
              <a:t>  Consumers see changes only after they ship.</a:t>
            </a:r>
          </a:p>
          <a:p>
            <a:endParaRPr/>
          </a:p>
          <a:p>
            <a:r>
              <a:t>  It fits internal, straightforward APIs owned by one team.</a:t>
            </a:r>
          </a:p>
          <a:p>
            <a:endParaRPr/>
          </a:p>
          <a:p>
            <a:r>
              <a:t>  Lab 1 is code-first.</a:t>
            </a:r>
          </a:p>
          <a:p>
            <a:endParaRPr/>
          </a:p>
          <a:p>
            <a:r>
              <a:t>  Participants write the Account Service, and springdoc publishes /v3/api-docs and Swagger UI.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Partner-facing banking APIs are usually designed contract-first.</a:t>
            </a:r>
          </a:p>
          <a:p>
            <a:endParaRPr/>
          </a:p>
          <a:p>
            <a:r>
              <a:t>  Examples are APIs consumed by aggregators or corporate treasury systems.</a:t>
            </a:r>
          </a:p>
          <a:p>
            <a:endParaRPr/>
          </a:p>
          <a:p>
            <a:r>
              <a:t>  External developers need a stable, reviewed specification before any code is written.</a:t>
            </a:r>
          </a:p>
          <a:p>
            <a:endParaRPr/>
          </a:p>
          <a:p>
            <a:r>
              <a:t>  Changes after publication are costly for everyone.</a:t>
            </a:r>
          </a:p>
          <a:p>
            <a:endParaRPr/>
          </a:p>
          <a:p>
            <a:r>
              <a:t>- Take an internal operations tool that lets one team manage its own reference data.</a:t>
            </a:r>
          </a:p>
          <a:p>
            <a:endParaRPr/>
          </a:p>
          <a:p>
            <a:r>
              <a:t>  It has a single consumer that the same team builds.</a:t>
            </a:r>
          </a:p>
          <a:p>
            <a:endParaRPr/>
          </a:p>
          <a:p>
            <a:r>
              <a:t>  That is a reasonable code-first candidate.</a:t>
            </a:r>
          </a:p>
          <a:p>
            <a:endParaRPr/>
          </a:p>
          <a:p>
            <a:r>
              <a:t>  Speed matters more than cross-team negotiation, and generated docs are enough.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1 builds the Account Service code-first, because the goal is learning Spring Boot.</a:t>
            </a:r>
          </a:p>
          <a:p>
            <a:endParaRPr/>
          </a:p>
          <a:p>
            <a:r>
              <a:t>springdoc gives accurate docs for free.</a:t>
            </a:r>
          </a:p>
          <a:p>
            <a:endParaRPr/>
          </a:p>
          <a:p>
            <a:r>
              <a:t>Now scale the capstone to a real bank.</a:t>
            </a:r>
          </a:p>
          <a:p>
            <a:endParaRPr/>
          </a:p>
          <a:p>
            <a:r>
              <a:t>The Account Service will be consumed by the Transaction Service, the Risk Assessment Service, the mobile app and branch systems.</a:t>
            </a:r>
          </a:p>
          <a:p>
            <a:endParaRPr/>
          </a:p>
          <a:p>
            <a:r>
              <a:t>Each is owned by a different team.</a:t>
            </a:r>
          </a:p>
          <a:p>
            <a:endParaRPr/>
          </a:p>
          <a:p>
            <a:r>
              <a:t>Here the account team would likely switch to contract-first.</a:t>
            </a:r>
          </a:p>
          <a:p>
            <a:endParaRPr/>
          </a:p>
          <a:p>
            <a:r>
              <a:t>They would publish a reviewed openapi.yaml and let consumers build against a mock.</a:t>
            </a:r>
          </a:p>
          <a:p>
            <a:endParaRPr/>
          </a:p>
          <a:p>
            <a:r>
              <a:t>They would generate server interfaces from it.</a:t>
            </a:r>
          </a:p>
          <a:p>
            <a:endParaRPr/>
          </a:p>
          <a:p>
            <a:r>
              <a:t>They would also add a pipeline check that fails when the implementation drifts from the agreed contract.</a:t>
            </a:r>
          </a:p>
          <a:p>
            <a:endParaRPr/>
          </a:p>
          <a:p>
            <a:endParaRPr/>
          </a:p>
          <a:p>
            <a:r>
              <a:t>TOPIC 2 OF 2: Consumer-Driven API Design</a:t>
            </a:r>
          </a:p>
          <a:p>
            <a:r>
              <a:t>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THE CDAD CYCLE</a:t>
            </a:r>
          </a:p>
          <a:p>
            <a:endParaRPr/>
          </a:p>
          <a:p>
            <a:r>
              <a:t>  Start from the consumer's real use case, not the provider's data model.</a:t>
            </a:r>
          </a:p>
          <a:p>
            <a:endParaRPr/>
          </a:p>
          <a:p>
            <a:r>
              <a:t>  That keeps APIs lean.</a:t>
            </a:r>
          </a:p>
          <a:p>
            <a:endParaRPr/>
          </a:p>
          <a:p>
            <a:r>
              <a:t>  The consumer writes a contract describing only the requests it makes and the response fields it reads.</a:t>
            </a:r>
          </a:p>
          <a:p>
            <a:endParaRPr/>
          </a:p>
          <a:p>
            <a:r>
              <a:t>  This is often a test, using a tool such as Pact or Spring Cloud Contract.</a:t>
            </a:r>
          </a:p>
          <a:p>
            <a:endParaRPr/>
          </a:p>
          <a:p>
            <a:r>
              <a:t>  The provider implements the API to satisfy every consumer contract.</a:t>
            </a:r>
          </a:p>
          <a:p>
            <a:endParaRPr/>
          </a:p>
          <a:p>
            <a:r>
              <a:t>  It then runs those contracts as verification tests in its own build.</a:t>
            </a:r>
          </a:p>
          <a:p>
            <a:endParaRPr/>
          </a:p>
          <a:p>
            <a:r>
              <a:t>  If a change would break a consumer, the provider's pipeline fails before release.</a:t>
            </a:r>
          </a:p>
          <a:p>
            <a:endParaRPr/>
          </a:p>
          <a:p>
            <a:r>
              <a:t>  After deployment, monitoring shows how the API is really used.</a:t>
            </a:r>
          </a:p>
          <a:p>
            <a:endParaRPr/>
          </a:p>
          <a:p>
            <a:r>
              <a:t>  That feeds the next round of contracts.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Pact is a widely used open-source contract testing tool.</a:t>
            </a:r>
          </a:p>
          <a:p>
            <a:endParaRPr/>
          </a:p>
          <a:p>
            <a:r>
              <a:t>  Consumer tests record the interactions they expect.</a:t>
            </a:r>
          </a:p>
          <a:p>
            <a:endParaRPr/>
          </a:p>
          <a:p>
            <a:r>
              <a:t>  The resulting pact files are shared with the provider, which verifies them in its own build.</a:t>
            </a:r>
          </a:p>
          <a:p>
            <a:endParaRPr/>
          </a:p>
          <a:p>
            <a:r>
              <a:t>  Teams can then see which consumer versions are safe to deploy against which provider versions.</a:t>
            </a:r>
          </a:p>
          <a:p>
            <a:endParaRPr/>
          </a:p>
          <a:p>
            <a:r>
              <a:t>- Spring Cloud Contract supports consumer-driven contracts in the Spring ecosystem.</a:t>
            </a:r>
          </a:p>
          <a:p>
            <a:endParaRPr/>
          </a:p>
          <a:p>
            <a:r>
              <a:t>  Contracts are written in Groovy or YAML.</a:t>
            </a:r>
          </a:p>
          <a:p>
            <a:endParaRPr/>
          </a:p>
          <a:p>
            <a:r>
              <a:t>  They generate provider-side tests and consumer-side stubs.</a:t>
            </a:r>
          </a:p>
          <a:p>
            <a:endParaRPr/>
          </a:p>
          <a:p>
            <a:r>
              <a:t>  So a Spring Boot provider's Maven build fails if it stops honoring a contract.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In the capstone, the Transaction Service is a consumer of the Account Service.</a:t>
            </a:r>
          </a:p>
          <a:p>
            <a:endParaRPr/>
          </a:p>
          <a:p>
            <a:r>
              <a:t>It needs only one thing: GET /api/v1/accounts/{accountId} returning accountId and status, with 404 for unknown accounts.</a:t>
            </a:r>
          </a:p>
          <a:p>
            <a:endParaRPr/>
          </a:p>
          <a:p>
            <a:r>
              <a:t>The transaction team writes that down as a contract.</a:t>
            </a:r>
          </a:p>
          <a:p>
            <a:endParaRPr/>
          </a:p>
          <a:p>
            <a:r>
              <a:t>The account team adds the contract to its build.</a:t>
            </a:r>
          </a:p>
          <a:p>
            <a:endParaRPr/>
          </a:p>
          <a:p>
            <a:r>
              <a:t>Months later someone renames status to accountStatus in a refactor.</a:t>
            </a:r>
          </a:p>
          <a:p>
            <a:endParaRPr/>
          </a:p>
          <a:p>
            <a:r>
              <a:t>The Account Service pipeline fails on the Transaction Service contract before the change reaches OpenShift.</a:t>
            </a:r>
          </a:p>
          <a:p>
            <a:endParaRPr/>
          </a:p>
          <a:p>
            <a:r>
              <a:t>The teams then discuss a versioned change.</a:t>
            </a:r>
          </a:p>
          <a:p>
            <a:endParaRPr/>
          </a:p>
          <a:p>
            <a:r>
              <a:t>They do not discover a broken transaction flow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TOPIC 1 OF 2: REST API Security Considerations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COMMON API THREATS</a:t>
            </a:r>
          </a:p>
          <a:p>
            <a:endParaRPr/>
          </a:p>
          <a:p>
            <a:r>
              <a:t>  Broken authentication means callers are not reliably identified.</a:t>
            </a:r>
          </a:p>
          <a:p>
            <a:endParaRPr/>
          </a:p>
          <a:p>
            <a:r>
              <a:t>  Broken authorization, or IDOR, means an authenticated user changes an ID in the URL and reaches someone else's account.</a:t>
            </a:r>
          </a:p>
          <a:p>
            <a:endParaRPr/>
          </a:p>
          <a:p>
            <a:r>
              <a:t>  The OWASP API Security Top 10 ranks broken object level authorization first.</a:t>
            </a:r>
          </a:p>
          <a:p>
            <a:endParaRPr/>
          </a:p>
          <a:p>
            <a:r>
              <a:t>  Injection happens when input is pasted straight into SQL or commands.</a:t>
            </a:r>
          </a:p>
          <a:p>
            <a:endParaRPr/>
          </a:p>
          <a:p>
            <a:r>
              <a:t>  Spring Data JPA parameterizes queries.</a:t>
            </a:r>
          </a:p>
          <a:p>
            <a:endParaRPr/>
          </a:p>
          <a:p>
            <a:r>
              <a:t>  Sensitive data exposure is returning full account numbers or personal data nobody needed.</a:t>
            </a:r>
          </a:p>
          <a:p>
            <a:endParaRPr/>
          </a:p>
          <a:p>
            <a:r>
              <a:t>  Misconfiguration includes exposing every Actuator endpoint or allowing any CORS origin.</a:t>
            </a:r>
          </a:p>
          <a:p>
            <a:endParaRPr/>
          </a:p>
          <a:p>
            <a:r>
              <a:t>  Insufficient logging means an attack goes unnoticed.</a:t>
            </a:r>
          </a:p>
          <a:p>
            <a:endParaRPr/>
          </a:p>
          <a:p>
            <a:r>
              <a:t>  In banking that is also an audit failure.</a:t>
            </a:r>
          </a:p>
          <a:p>
            <a:endParaRPr/>
          </a:p>
          <a:p>
            <a:r>
              <a:t>- SECURE API DESIGN PRINCIPLES</a:t>
            </a:r>
          </a:p>
          <a:p>
            <a:endParaRPr/>
          </a:p>
          <a:p>
            <a:r>
              <a:t>  Validate everything, including headers and path variables, not just bodies.</a:t>
            </a:r>
          </a:p>
          <a:p>
            <a:endParaRPr/>
          </a:p>
          <a:p>
            <a:r>
              <a:t>  That is the same layered validation from Lab 1.</a:t>
            </a:r>
          </a:p>
          <a:p>
            <a:endParaRPr/>
          </a:p>
          <a:p>
            <a:r>
              <a:t>  Encrypt in transit with modern TLS.</a:t>
            </a:r>
          </a:p>
          <a:p>
            <a:endParaRPr/>
          </a:p>
          <a:p>
            <a:r>
              <a:t>  On OpenShift, routes can terminate or re-encrypt TLS, so traffic is never plain text.</a:t>
            </a:r>
          </a:p>
          <a:p>
            <a:endParaRPr/>
          </a:p>
          <a:p>
            <a:r>
              <a:t>  Minimize exposure by returning DTOs with masked or omitted sensitive fields, not entities.</a:t>
            </a:r>
          </a:p>
          <a:p>
            <a:endParaRPr/>
          </a:p>
          <a:p>
            <a:r>
              <a:t>  Rate limit at the gateway or edge to blunt credential stuffing and scraping.</a:t>
            </a:r>
          </a:p>
          <a:p>
            <a:endParaRPr/>
          </a:p>
          <a:p>
            <a:r>
              <a:t>  Lab 3 adds authentication and authorization.</a:t>
            </a:r>
          </a:p>
          <a:p>
            <a:endParaRPr/>
          </a:p>
          <a:p>
            <a:r>
              <a:t>  A call with no token gets 401.</a:t>
            </a:r>
          </a:p>
          <a:p>
            <a:endParaRPr/>
          </a:p>
          <a:p>
            <a:r>
              <a:t>  A token without the right scope gets 403, and production would use an identity provider such as Keycloak.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IDOR in banking: a customer viewing a statement notices the URL contains an account identifier and changes it.</a:t>
            </a:r>
          </a:p>
          <a:p>
            <a:endParaRPr/>
          </a:p>
          <a:p>
            <a:r>
              <a:t>  The API might check only that the caller is logged in, not that the account belongs to them.</a:t>
            </a:r>
          </a:p>
          <a:p>
            <a:endParaRPr/>
          </a:p>
          <a:p>
            <a:r>
              <a:t>  Then another customer's statement is exposed.</a:t>
            </a:r>
          </a:p>
          <a:p>
            <a:endParaRPr/>
          </a:p>
          <a:p>
            <a:r>
              <a:t>  The fix is an ownership or scope check on every object access.</a:t>
            </a:r>
          </a:p>
          <a:p>
            <a:endParaRPr/>
          </a:p>
          <a:p>
            <a:r>
              <a:t>- Credential stuffing: attackers replay username and password pairs leaked from other sites against a bank's login API.</a:t>
            </a:r>
          </a:p>
          <a:p>
            <a:endParaRPr/>
          </a:p>
          <a:p>
            <a:r>
              <a:t>  Rate limiting per client and per account slows the attack.</a:t>
            </a:r>
          </a:p>
          <a:p>
            <a:endParaRPr/>
          </a:p>
          <a:p>
            <a:r>
              <a:t>  Combine it with monitoring for bursts of failed logins, and the security team gets alerted.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Lab 3 hardens the capstone.</a:t>
            </a:r>
          </a:p>
          <a:p>
            <a:endParaRPr/>
          </a:p>
          <a:p>
            <a:r>
              <a:t>The Account and Transaction APIs now require a Bearer JWT.</a:t>
            </a:r>
          </a:p>
          <a:p>
            <a:endParaRPr/>
          </a:p>
          <a:p>
            <a:r>
              <a:t>A teller token carries accounts.read and accounts.write.</a:t>
            </a:r>
          </a:p>
          <a:p>
            <a:endParaRPr/>
          </a:p>
          <a:p>
            <a:r>
              <a:t>So it can create and activate accounts, but posting a transaction returns 403.</a:t>
            </a:r>
          </a:p>
          <a:p>
            <a:endParaRPr/>
          </a:p>
          <a:p>
            <a:r>
              <a:t>An ops token carries transaction scopes and can submit transactions.</a:t>
            </a:r>
          </a:p>
          <a:p>
            <a:endParaRPr/>
          </a:p>
          <a:p>
            <a:r>
              <a:t>Calls with no token get 401, while health checks stay open.</a:t>
            </a:r>
          </a:p>
          <a:p>
            <a:endParaRPr/>
          </a:p>
          <a:p>
            <a:r>
              <a:t>The Transaction Service relays the token when calling the Account Service.</a:t>
            </a:r>
          </a:p>
          <a:p>
            <a:endParaRPr/>
          </a:p>
          <a:p>
            <a:r>
              <a:t>The lab checks that no log line contains the word Bearer.</a:t>
            </a:r>
          </a:p>
          <a:p>
            <a:endParaRPr/>
          </a:p>
          <a:p>
            <a:r>
              <a:t>The circuit breaker fallback never auto-approves money movement.</a:t>
            </a:r>
          </a:p>
          <a:p>
            <a:endParaRPr/>
          </a:p>
          <a:p>
            <a:r>
              <a:t>That is itself a security decision.</a:t>
            </a:r>
          </a:p>
          <a:p>
            <a:endParaRPr/>
          </a:p>
          <a:p>
            <a:endParaRPr/>
          </a:p>
          <a:p>
            <a:r>
              <a:t>TOPIC 2 OF 2: REST API Design Anti-Patterns</a:t>
            </a:r>
          </a:p>
          <a:p>
            <a:r>
              <a:t>------------------------------------------</a:t>
            </a:r>
          </a:p>
          <a:p>
            <a:endParaRPr/>
          </a:p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ANTI-PATTERNS TO AVOID (1 OF 2)</a:t>
            </a:r>
          </a:p>
          <a:p>
            <a:endParaRPr/>
          </a:p>
          <a:p>
            <a:r>
              <a:t>  Verb URLs like /getUsers repeat what the HTTP method already says.</a:t>
            </a:r>
          </a:p>
          <a:p>
            <a:endParaRPr/>
          </a:p>
          <a:p>
            <a:r>
              <a:t>  Use nouns such as GET /users.</a:t>
            </a:r>
          </a:p>
          <a:p>
            <a:endParaRPr/>
          </a:p>
          <a:p>
            <a:r>
              <a:t>  Stuffing actions and options into query parameters makes URLs unreadable.</a:t>
            </a:r>
          </a:p>
          <a:p>
            <a:endParaRPr/>
          </a:p>
          <a:p>
            <a:r>
              <a:t>  Reserve them for filtering, sorting and paging.</a:t>
            </a:r>
          </a:p>
          <a:p>
            <a:endParaRPr/>
          </a:p>
          <a:p>
            <a:r>
              <a:t>  Returning JPA entities couples consumers to your schema and leaks internal columns, so return DTOs.</a:t>
            </a:r>
          </a:p>
          <a:p>
            <a:endParaRPr/>
          </a:p>
          <a:p>
            <a:r>
              <a:t>  Always returning 200 hides failures from clients and monitoring.</a:t>
            </a:r>
          </a:p>
          <a:p>
            <a:endParaRPr/>
          </a:p>
          <a:p>
            <a:r>
              <a:t>  Over-fetching sends data nobody needs.</a:t>
            </a:r>
          </a:p>
          <a:p>
            <a:endParaRPr/>
          </a:p>
          <a:p>
            <a:r>
              <a:t>  Under-fetching forces extra calls.</a:t>
            </a:r>
          </a:p>
          <a:p>
            <a:endParaRPr/>
          </a:p>
          <a:p>
            <a:r>
              <a:t>  Design responses around consumer use cases.</a:t>
            </a:r>
          </a:p>
          <a:p>
            <a:endParaRPr/>
          </a:p>
          <a:p>
            <a:r>
              <a:t>  Unpaginated collections eventually time out when data grows, so page and cap them.</a:t>
            </a:r>
          </a:p>
          <a:p>
            <a:endParaRPr/>
          </a:p>
          <a:p>
            <a:r>
              <a:t>- ANTI-PATTERNS TO AVOID (2 OF 2)</a:t>
            </a:r>
          </a:p>
          <a:p>
            <a:endParaRPr/>
          </a:p>
          <a:p>
            <a:r>
              <a:t>  Inconsistent naming and error shapes force every consumer to special-case each endpoint.</a:t>
            </a:r>
          </a:p>
          <a:p>
            <a:endParaRPr/>
          </a:p>
          <a:p>
            <a:r>
              <a:t>  One convention and one error body fix it.</a:t>
            </a:r>
          </a:p>
          <a:p>
            <a:endParaRPr/>
          </a:p>
          <a:p>
            <a:r>
              <a:t>  GET with side effects breaks under caching, prefetching and retries.</a:t>
            </a:r>
          </a:p>
          <a:p>
            <a:endParaRPr/>
          </a:p>
          <a:p>
            <a:r>
              <a:t>  Tunneling everything through POST with a _method override hides intent from every intermediary.</a:t>
            </a:r>
          </a:p>
          <a:p>
            <a:endParaRPr/>
          </a:p>
          <a:p>
            <a:r>
              <a:t>  Stack traces in responses leak internals.</a:t>
            </a:r>
          </a:p>
          <a:p>
            <a:endParaRPr/>
          </a:p>
          <a:p>
            <a:r>
              <a:t>  Some teams version inconsistently, or lock the API into one rigid scheme.</a:t>
            </a:r>
          </a:p>
          <a:p>
            <a:endParaRPr/>
          </a:p>
          <a:p>
            <a:r>
              <a:t>  That makes evolution painful, so choose a strategy and a deprecation policy.</a:t>
            </a:r>
          </a:p>
          <a:p>
            <a:endParaRPr/>
          </a:p>
          <a:p>
            <a:r>
              <a:t>  Chatty APIs need many round trips for one screen.</a:t>
            </a:r>
          </a:p>
          <a:p>
            <a:endParaRPr/>
          </a:p>
          <a:p>
            <a:r>
              <a:t>  They multiply latency and failure points.</a:t>
            </a:r>
          </a:p>
          <a:p>
            <a:endParaRPr/>
          </a:p>
          <a:p>
            <a:r>
              <a:t>  Offer coarser, use-case-oriented resources instead.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Picture a statement screen that calls one endpoint for account details.</a:t>
            </a:r>
          </a:p>
          <a:p>
            <a:endParaRPr/>
          </a:p>
          <a:p>
            <a:r>
              <a:t>  It calls another for each of fifty transactions, and another for each merchant name.</a:t>
            </a:r>
          </a:p>
          <a:p>
            <a:endParaRPr/>
          </a:p>
          <a:p>
            <a:r>
              <a:t>  That is over a hundred calls to render one page.</a:t>
            </a:r>
          </a:p>
          <a:p>
            <a:endParaRPr/>
          </a:p>
          <a:p>
            <a:r>
              <a:t>  On a mobile network that is slow and fragile.</a:t>
            </a:r>
          </a:p>
          <a:p>
            <a:endParaRPr/>
          </a:p>
          <a:p>
            <a:r>
              <a:t>  One paginated transactions resource with the needed fields solves it.</a:t>
            </a:r>
          </a:p>
          <a:p>
            <a:endParaRPr/>
          </a:p>
          <a:p>
            <a:r>
              <a:t>- An email link that performs an action through a plain GET, such as confirming an address change, is risky.</a:t>
            </a:r>
          </a:p>
          <a:p>
            <a:endParaRPr/>
          </a:p>
          <a:p>
            <a:r>
              <a:t>  Corporate email security scanners that follow links automatically can trigger it.</a:t>
            </a:r>
          </a:p>
          <a:p>
            <a:endParaRPr/>
          </a:p>
          <a:p>
            <a:r>
              <a:t>  That is a real reason why GET must never change state.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Run a quick design review of an imaginary first draft of the capstone APIs.</a:t>
            </a:r>
          </a:p>
          <a:p>
            <a:endParaRPr/>
          </a:p>
          <a:p>
            <a:r>
              <a:t>The draft has POST /getAccount.</a:t>
            </a:r>
          </a:p>
          <a:p>
            <a:endParaRPr/>
          </a:p>
          <a:p>
            <a:r>
              <a:t>It has a GET /api/v1/accounts/{id}/close that closes the account.</a:t>
            </a:r>
          </a:p>
          <a:p>
            <a:endParaRPr/>
          </a:p>
          <a:p>
            <a:r>
              <a:t>It returns JPA entities with internal columns.</a:t>
            </a:r>
          </a:p>
          <a:p>
            <a:endParaRPr/>
          </a:p>
          <a:p>
            <a:r>
              <a:t>Every error comes back as 200 with success false.</a:t>
            </a:r>
          </a:p>
          <a:p>
            <a:endParaRPr/>
          </a:p>
          <a:p>
            <a:r>
              <a:t>Ask the room to fix it using Lab 1.</a:t>
            </a:r>
          </a:p>
          <a:p>
            <a:endParaRPr/>
          </a:p>
          <a:p>
            <a:r>
              <a:t>The draft becomes GET /api/v1/accounts/{accountId}.</a:t>
            </a:r>
          </a:p>
          <a:p>
            <a:endParaRPr/>
          </a:p>
          <a:p>
            <a:r>
              <a:t>Closing becomes POST /api/v1/accounts/{accountId}/close with no physical delete.</a:t>
            </a:r>
          </a:p>
          <a:p>
            <a:endParaRPr/>
          </a:p>
          <a:p>
            <a:r>
              <a:t>It returns DTO responses, with real 400, 404 and 409 codes and one error body.</a:t>
            </a:r>
          </a:p>
          <a:p>
            <a:endParaRPr/>
          </a:p>
          <a:p>
            <a:r>
              <a:t>Every fix maps to a slide from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>
            <a:endParaRPr/>
          </a:p>
          <a:p>
            <a:r>
              <a:t>- CHECKLIST -- SECTIONS 1 TO 6</a:t>
            </a:r>
          </a:p>
          <a:p>
            <a:endParaRPr/>
          </a:p>
          <a:p>
            <a:r>
              <a:t>  The first six sections cover the shape of the contract.</a:t>
            </a:r>
          </a:p>
          <a:p>
            <a:endParaRPr/>
          </a:p>
          <a:p>
            <a:r>
              <a:t>  URLs name nouns in the plural, like /api/v1/accounts, and the hierarchy shows real relationships.</a:t>
            </a:r>
          </a:p>
          <a:p>
            <a:endParaRPr/>
          </a:p>
          <a:p>
            <a:r>
              <a:t>  The HTTP method carries the action.</a:t>
            </a:r>
          </a:p>
          <a:p>
            <a:endParaRPr/>
          </a:p>
          <a:p>
            <a:r>
              <a:t>  GET reads, POST creates, and PATCH updates part of a resource.</a:t>
            </a:r>
          </a:p>
          <a:p>
            <a:endParaRPr/>
          </a:p>
          <a:p>
            <a:r>
              <a:t>  Payloads are consistent JSON with clear field names.</a:t>
            </a:r>
          </a:p>
          <a:p>
            <a:endParaRPr/>
          </a:p>
          <a:p>
            <a:r>
              <a:t>  Status codes tell the truth.</a:t>
            </a:r>
          </a:p>
          <a:p>
            <a:endParaRPr/>
          </a:p>
          <a:p>
            <a:r>
              <a:t>  Return 201 on create and 404 when something is missing.</a:t>
            </a:r>
          </a:p>
          <a:p>
            <a:endParaRPr/>
          </a:p>
          <a:p>
            <a:r>
              <a:t>  Never return 200 for an error.</a:t>
            </a:r>
          </a:p>
          <a:p>
            <a:endParaRPr/>
          </a:p>
          <a:p>
            <a:r>
              <a:t>  Errors share one format with a correlation ID and no stack traces.</a:t>
            </a:r>
          </a:p>
          <a:p>
            <a:endParaRPr/>
          </a:p>
          <a:p>
            <a:r>
              <a:t>  A correlation ID is a tracking number for one request.</a:t>
            </a:r>
          </a:p>
          <a:p>
            <a:endParaRPr/>
          </a:p>
          <a:p>
            <a:r>
              <a:t>  Query parameters for filtering and sorting are named consistently and documented.</a:t>
            </a:r>
          </a:p>
          <a:p>
            <a:endParaRPr/>
          </a:p>
          <a:p>
            <a:r>
              <a:t>- CHECKLIST -- SECTIONS 7 TO 12</a:t>
            </a:r>
          </a:p>
          <a:p>
            <a:endParaRPr/>
          </a:p>
          <a:p>
            <a:r>
              <a:t>  The second six sections cover running the contract safely at scale.</a:t>
            </a:r>
          </a:p>
          <a:p>
            <a:endParaRPr/>
          </a:p>
          <a:p>
            <a:r>
              <a:t>  Validation happens on the server.</a:t>
            </a:r>
          </a:p>
          <a:p>
            <a:endParaRPr/>
          </a:p>
          <a:p>
            <a:r>
              <a:t>  Its messages tell the caller what to fix.</a:t>
            </a:r>
          </a:p>
          <a:p>
            <a:endParaRPr/>
          </a:p>
          <a:p>
            <a:r>
              <a:t>  Security means HTTPS, calls that are authenticated and authorized, and sanitized, or cleaned, input.</a:t>
            </a:r>
          </a:p>
          <a:p>
            <a:endParaRPr/>
          </a:p>
          <a:p>
            <a:r>
              <a:t>  OpenAPI documentation stays current.</a:t>
            </a:r>
          </a:p>
          <a:p>
            <a:endParaRPr/>
          </a:p>
          <a:p>
            <a:r>
              <a:t>  It includes examples, and error examples too.</a:t>
            </a:r>
          </a:p>
          <a:p>
            <a:endParaRPr/>
          </a:p>
          <a:p>
            <a:r>
              <a:t>  Performance covers pagination for large lists, caching where it is safe, and compressed responses.</a:t>
            </a:r>
          </a:p>
          <a:p>
            <a:endParaRPr/>
          </a:p>
          <a:p>
            <a:r>
              <a:t>  Usability means predictable URLs and backward-compatible change.</a:t>
            </a:r>
          </a:p>
          <a:p>
            <a:endParaRPr/>
          </a:p>
          <a:p>
            <a:r>
              <a:t>  Announce any deprecation ahead of time.</a:t>
            </a:r>
          </a:p>
          <a:p>
            <a:endParaRPr/>
          </a:p>
          <a:p>
            <a:r>
              <a:t>  Observability closes the loop.</a:t>
            </a:r>
          </a:p>
          <a:p>
            <a:endParaRPr/>
          </a:p>
          <a:p>
            <a:r>
              <a:t>  It means correlation IDs, request logs without sensitive data, metrics, health endpoints, and alerts on failures.</a:t>
            </a:r>
          </a:p>
          <a:p>
            <a:endParaRPr/>
          </a:p>
          <a:p>
            <a:endParaRPr/>
          </a:p>
          <a:p>
            <a:r>
              <a:t>REAL-WORLD EXAMPLES</a:t>
            </a:r>
          </a:p>
          <a:p>
            <a:r>
              <a:t>-------------------</a:t>
            </a:r>
          </a:p>
          <a:p>
            <a:endParaRPr/>
          </a:p>
          <a:p>
            <a:r>
              <a:t>- A card authorization API might return 200 OK with a declined flag in the body.</a:t>
            </a:r>
          </a:p>
          <a:p>
            <a:endParaRPr/>
          </a:p>
          <a:p>
            <a:r>
              <a:t>  Then every client must parse the body before it knows something failed.</a:t>
            </a:r>
          </a:p>
          <a:p>
            <a:endParaRPr/>
          </a:p>
          <a:p>
            <a:r>
              <a:t>  Clear status codes plus a machine-readable error code fix this.</a:t>
            </a:r>
          </a:p>
          <a:p>
            <a:endParaRPr/>
          </a:p>
          <a:p>
            <a:r>
              <a:t>  A mobile app, a branch system, and a fraud dashboard can then all react the same way.</a:t>
            </a:r>
          </a:p>
          <a:p>
            <a:endParaRPr/>
          </a:p>
          <a:p>
            <a:r>
              <a:t>- Say a customer calls support about a failed account update.</a:t>
            </a:r>
          </a:p>
          <a:p>
            <a:endParaRPr/>
          </a:p>
          <a:p>
            <a:r>
              <a:t>  The agent can quote the correlation ID from the error screen.</a:t>
            </a:r>
          </a:p>
          <a:p>
            <a:endParaRPr/>
          </a:p>
          <a:p>
            <a:r>
              <a:t>  Operations can then find that exact request in the logs.</a:t>
            </a:r>
          </a:p>
          <a:p>
            <a:endParaRPr/>
          </a:p>
          <a:p>
            <a:r>
              <a:t>  They can follow it across every service it touched.</a:t>
            </a:r>
          </a:p>
          <a:p>
            <a:endParaRPr/>
          </a:p>
          <a:p>
            <a:r>
              <a:t>  The error response never exposes a stack trace or account details.</a:t>
            </a:r>
          </a:p>
          <a:p>
            <a:endParaRPr/>
          </a:p>
          <a:p>
            <a:r>
              <a:t>- A statements endpoint might return every transaction for a long-lived account in one response.</a:t>
            </a:r>
          </a:p>
          <a:p>
            <a:endParaRPr/>
          </a:p>
          <a:p>
            <a:r>
              <a:t>  That response becomes slow and uses a lot of memory.</a:t>
            </a:r>
          </a:p>
          <a:p>
            <a:endParaRPr/>
          </a:p>
          <a:p>
            <a:r>
              <a:t>  Add pagination with documented page and size parameters, plus a sort order.</a:t>
            </a:r>
          </a:p>
          <a:p>
            <a:endParaRPr/>
          </a:p>
          <a:p>
            <a:r>
              <a:t>  That keeps the response small and predictable for online banking screens.</a:t>
            </a:r>
          </a:p>
          <a:p>
            <a:endParaRPr/>
          </a:p>
          <a:p>
            <a:endParaRPr/>
          </a:p>
          <a:p>
            <a:r>
              <a:t>USE-CASE SCENARIO</a:t>
            </a:r>
          </a:p>
          <a:p>
            <a:r>
              <a:t>-----------------</a:t>
            </a:r>
          </a:p>
          <a:p>
            <a:endParaRPr/>
          </a:p>
          <a:p>
            <a:r>
              <a:t>Before Lab 1, a team reviews its Account Service contract against this checklist.</a:t>
            </a:r>
          </a:p>
          <a:p>
            <a:endParaRPr/>
          </a:p>
          <a:p>
            <a:r>
              <a:t>POST /api/v1/accounts returns 201 with a Location header.</a:t>
            </a:r>
          </a:p>
          <a:p>
            <a:endParaRPr/>
          </a:p>
          <a:p>
            <a:r>
              <a:t>GET on an unknown id returns 404 with code ACCOUNT_NOT_FOUND and a correlationId.</a:t>
            </a:r>
          </a:p>
          <a:p>
            <a:endParaRPr/>
          </a:p>
          <a:p>
            <a:r>
              <a:t>Trying to freeze a PENDING account returns 409, not 500.</a:t>
            </a:r>
          </a:p>
          <a:p>
            <a:endParaRPr/>
          </a:p>
          <a:p>
            <a:r>
              <a:t>There is no DELETE, because closed accounts are kept for audit.</a:t>
            </a:r>
          </a:p>
          <a:p>
            <a:endParaRPr/>
          </a:p>
          <a:p>
            <a:r>
              <a:t>Swagger UI documents the operations.</a:t>
            </a:r>
          </a:p>
          <a:p>
            <a:endParaRPr/>
          </a:p>
          <a:p>
            <a:r>
              <a:t>Actuator exposes health.</a:t>
            </a:r>
          </a:p>
          <a:p>
            <a:endParaRPr/>
          </a:p>
          <a:p>
            <a:r>
              <a:t>On Day 2 the Transaction Service calls this API before it accepts a transaction.</a:t>
            </a:r>
          </a:p>
          <a:p>
            <a:endParaRPr/>
          </a:p>
          <a:p>
            <a:r>
              <a:t>On Day 5 the Risk Assessment Service and AI tooling parse the same error shape.</a:t>
            </a:r>
          </a:p>
          <a:p>
            <a:endParaRPr/>
          </a:p>
          <a:p>
            <a:r>
              <a:t>Every checklist box ticked today saves a rework conversation later in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OBJECTIVE</a:t>
            </a:r>
          </a:p>
          <a:p/>
          <a:p>
            <a:r>
              <a:t>  The objective is a design artifact, not code.</a:t>
            </a:r>
          </a:p>
          <a:p/>
          <a:p>
            <a:r>
              <a:t>  It covers REST resources, the status machine, and a rough OpenAPI outline for Account Service.</a:t>
            </a:r>
          </a:p>
          <a:p/>
          <a:p>
            <a:r>
              <a:t>  A status machine is the set of allowed status changes.</a:t>
            </a:r>
          </a:p>
          <a:p/>
          <a:p>
            <a:r>
              <a:t>  This is a 15-minute checkpoint.</a:t>
            </a:r>
          </a:p>
          <a:p/>
          <a:p>
            <a:r>
              <a:t>  So the aim is agreement on the contract, not polish.</a:t>
            </a:r>
          </a:p>
          <a:p/>
          <a:p>
            <a:r>
              <a:t>  Point people to the worksheet path on the slide.</a:t>
            </a:r>
          </a:p>
          <a:p/>
          <a:p>
            <a:r>
              <a:t>  There they can see the success criteria.</a:t>
            </a:r>
          </a:p>
          <a:p/>
          <a:p>
            <a:r>
              <a:t>  Every task is discussed, and a sketch is ready for review.</a:t>
            </a:r>
          </a:p>
          <a:p/>
          <a:p>
            <a:r>
              <a:t>  Scope stays at Account, Transaction, and Risk Assessment, with no extra services.</a:t>
            </a:r>
          </a:p>
          <a:p/>
          <a:p>
            <a:r>
              <a:t>- DO THIS</a:t>
            </a:r>
          </a:p>
          <a:p/>
          <a:p>
            <a:r>
              <a:t>  First, treat the account as the resource.</a:t>
            </a:r>
          </a:p>
          <a:p/>
          <a:p>
            <a:r>
              <a:t>  Use POST to create, GET to read, and PATCH to update the nickname.</a:t>
            </a:r>
          </a:p>
          <a:p/>
          <a:p>
            <a:r>
              <a:t>  Use POST actions for activate, freeze, and close.</a:t>
            </a:r>
          </a:p>
          <a:p/>
          <a:p>
            <a:r>
              <a:t>  There is no DELETE, because the closed record is kept for audit.</a:t>
            </a:r>
          </a:p>
          <a:p/>
          <a:p>
            <a:r>
              <a:t>  Second, draw the Lab 1 status machine.</a:t>
            </a:r>
          </a:p>
          <a:p/>
          <a:p>
            <a:r>
              <a:t>  New accounts start PENDING.</a:t>
            </a:r>
          </a:p>
          <a:p/>
          <a:p>
            <a:r>
              <a:t>  Activate moves them to ACTIVE.</a:t>
            </a:r>
          </a:p>
          <a:p/>
          <a:p>
            <a:r>
              <a:t>  Freeze is allowed only from ACTIVE; freeze PENDING returns 409.</a:t>
            </a:r>
          </a:p>
          <a:p/>
          <a:p>
            <a:r>
              <a:t>  FROZEN can be activated back to ACTIVE.</a:t>
            </a:r>
          </a:p>
          <a:p/>
          <a:p>
            <a:r>
              <a:t>  Close keeps the row. Repeating an action that already succeeded returns 200.</a:t>
            </a:r>
          </a:p>
          <a:p/>
          <a:p>
            <a:r>
              <a:t>  Third, list the 400, 404, and 409 cases.</a:t>
            </a:r>
          </a:p>
          <a:p/>
          <a:p>
            <a:r>
              <a:t>  Note OpenAPI and Actuator as Lab 1 deliverables.</a:t>
            </a:r>
          </a:p>
          <a:p/>
          <a:p>
            <a:r>
              <a:t>  Fourth, draw the boundary.</a:t>
            </a:r>
          </a:p>
          <a:p/>
          <a:p>
            <a:r>
              <a:t>  Account owns accounts only.</a:t>
            </a:r>
          </a:p>
          <a:p/>
          <a:p>
            <a:r>
              <a:t>- EXPECTED RESULT</a:t>
            </a:r>
          </a:p>
          <a:p/>
          <a:p>
            <a:r>
              <a:t>  A strong one-page sketch lists /api/v1/accounts and /api/v1/accounts/{accountId}.</a:t>
            </a:r>
          </a:p>
          <a:p/>
          <a:p>
            <a:r>
              <a:t>  It puts actions under that path.</a:t>
            </a:r>
          </a:p>
          <a:p/>
          <a:p>
            <a:r>
              <a:t>  It gives 201 for create and 200 for everything else.</a:t>
            </a:r>
          </a:p>
          <a:p/>
          <a:p>
            <a:r>
              <a:t>  Retries are safe.</a:t>
            </a:r>
          </a:p>
          <a:p/>
          <a:p>
            <a:r>
              <a:t>  Activate on ACTIVE, freeze on FROZEN, and close on CLOSED all return 200.</a:t>
            </a:r>
          </a:p>
          <a:p/>
          <a:p>
            <a:r>
              <a:t>  The first 400 case is a customerId that is not a synthetic CUST-0001 style id.</a:t>
            </a:r>
          </a:p>
          <a:p/>
          <a:p>
            <a:r>
              <a:t>  The second 400 case is an unsupported currency.</a:t>
            </a:r>
          </a:p>
          <a:p/>
          <a:p>
            <a:r>
              <a:t>  The 404 case is an unknown account.</a:t>
            </a:r>
          </a:p>
          <a:p/>
          <a:p>
            <a:r>
              <a:t>  The 409 cases are freezing a PENDING account and renaming a CLOSED one.</a:t>
            </a:r>
          </a:p>
          <a:p/>
          <a:p>
            <a:r>
              <a:t>  The boundary excludes balances, transactions, and risk scores.</a:t>
            </a:r>
          </a:p>
          <a:p/>
          <a:p>
            <a:r>
              <a:t>  It adds no Customer or Notification service.</a:t>
            </a:r>
          </a:p>
          <a:p/>
          <a:p/>
          <a:p>
            <a:r>
              <a:t>REAL-WORLD EXAMPLES</a:t>
            </a:r>
          </a:p>
          <a:p>
            <a:r>
              <a:t>-------------------</a:t>
            </a:r>
          </a:p>
          <a:p/>
          <a:p>
            <a:r>
              <a:t>- In retail banking, closing an account rarely erases it.</a:t>
            </a:r>
          </a:p>
          <a:p/>
          <a:p>
            <a:r>
              <a:t>  Records are kept for audit, dispute handling, and regulatory reporting.</a:t>
            </a:r>
          </a:p>
          <a:p/>
          <a:p>
            <a:r>
              <a:t>  That is why Account Service models close as a status change, not a DELETE.</a:t>
            </a:r>
          </a:p>
          <a:p/>
          <a:p>
            <a:r>
              <a:t>  It is also why GET on a closed account still returns the record.</a:t>
            </a:r>
          </a:p>
          <a:p/>
          <a:p>
            <a:r>
              <a:t>- Payment and account apps retry requests on flaky mobile networks.</a:t>
            </a:r>
          </a:p>
          <a:p/>
          <a:p>
            <a:r>
              <a:t>  Say a customer taps twice to freeze an account linked to a lost card.</a:t>
            </a:r>
          </a:p>
          <a:p/>
          <a:p>
            <a:r>
              <a:t>  The second call should confirm the account is FROZEN, not return an error.</a:t>
            </a:r>
          </a:p>
          <a:p/>
          <a:p>
            <a:r>
              <a:t>  That is why this design makes repeated actions return 200.</a:t>
            </a:r>
          </a:p>
          <a:p/>
          <a:p/>
          <a:p>
            <a:r>
              <a:t>USE-CASE SCENARIO</a:t>
            </a:r>
          </a:p>
          <a:p>
            <a:r>
              <a:t>-----------------</a:t>
            </a:r>
          </a:p>
          <a:p/>
          <a:p>
            <a:r>
              <a:t>Run the checkpoint in pairs or groups of three.</a:t>
            </a:r>
          </a:p>
          <a:p/>
          <a:p>
            <a:r>
              <a:t>Give each group a whiteboard area or a shared page.</a:t>
            </a:r>
          </a:p>
          <a:p/>
          <a:p>
            <a:r>
              <a:t>Spend 2 minutes framing, 8 minutes designing, and 5 minutes on debrief.</a:t>
            </a:r>
          </a:p>
          <a:p/>
          <a:p>
            <a:r>
              <a:t>Walk the room at minute 4.</a:t>
            </a:r>
          </a:p>
          <a:p/>
          <a:p>
            <a:r>
              <a:t>A group may have drawn DELETE /accounts/{id} or added a balance field.</a:t>
            </a:r>
          </a:p>
          <a:p/>
          <a:p>
            <a:r>
              <a:t>If so, ask what a regulator would want to see after an account is closed.</a:t>
            </a:r>
          </a:p>
          <a:p/>
          <a:p>
            <a:r>
              <a:t>Also ask which service will own money movement tomorrow.</a:t>
            </a:r>
          </a:p>
          <a:p/>
          <a:p>
            <a:r>
              <a:t>For the debrief, pick one group to present its status machine.</a:t>
            </a:r>
          </a:p>
          <a:p/>
          <a:p>
            <a:r>
              <a:t>Pick another group to present its error table.</a:t>
            </a:r>
          </a:p>
          <a:p/>
          <a:p>
            <a:r>
              <a:t>Then ask: what happens if Transaction Service calls this API with a FROZEN account?</a:t>
            </a:r>
          </a:p>
          <a:p/>
          <a:p>
            <a:r>
              <a:t>Close by pointing out that Lab 1 uses these exact paths on port 8081.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9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4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4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5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6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7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8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9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"APIs are contracts, not convenience — version them like you mean it."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SUPPLEMENTARY  ·  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Microservices Design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and REST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Design REST APIs that teams can evolve: resource models, status codes, idempotency, OpenAPI as the contract, and the patterns that keep consumers from coupling to your internals.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4846320"/>
            <a:ext cx="640080" cy="640080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484632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2" name="Oval 11"/>
          <p:cNvSpPr/>
          <p:nvPr/>
        </p:nvSpPr>
        <p:spPr>
          <a:xfrm>
            <a:off x="2011680" y="4846320"/>
            <a:ext cx="640080" cy="64008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4" name="Oval 13"/>
          <p:cNvSpPr/>
          <p:nvPr/>
        </p:nvSpPr>
        <p:spPr>
          <a:xfrm>
            <a:off x="2788920" y="484632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4846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DAY 1  •  MODULE 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0">
                <a:solidFill>
                  <a:srgbClr val="D1282E"/>
                </a:solidFill>
                <a:latin typeface="Leelawadee"/>
              </a:rPr>
              <a:t>FROM BUSINESS REQUIREMENTS TO SERVICE DESIGN  ·  DOMAIN-DRIVEN DESIGN AS A SERVICE DESIGN TOOL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2"/>
            <a:ext cx="379733" cy="37973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2"/>
            <a:ext cx="379733" cy="3797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5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0085" y="1170432"/>
            <a:ext cx="3223003" cy="379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7" b="1" i="0">
                <a:solidFill>
                  <a:srgbClr val="D1282E"/>
                </a:solidFill>
                <a:latin typeface="Nirmala UI"/>
              </a:rPr>
              <a:t>THE SEVEN-STEP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73019"/>
            <a:ext cx="3675888" cy="30155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Understand the business requirement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Identify business capabilities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Define the domain and bounded contexts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Identify service boundaries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Design service responsibilities and contracts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Choose a communication and data strategy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Validate and refine the design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170432"/>
            <a:ext cx="379733" cy="379733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170432"/>
            <a:ext cx="379733" cy="3797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5" b="1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701" y="1170432"/>
            <a:ext cx="3223003" cy="670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7" b="1" i="0">
                <a:solidFill>
                  <a:srgbClr val="D1282E"/>
                </a:solidFill>
                <a:latin typeface="Nirmala UI"/>
              </a:rPr>
              <a:t>WHY START WITH BUSINESS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963402"/>
            <a:ext cx="3675888" cy="2479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Technology-first design produces services that mirror database tables, not business capabilities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87" b="1" i="0">
                <a:solidFill>
                  <a:srgbClr val="000000"/>
                </a:solidFill>
                <a:latin typeface="Nirmala UI"/>
              </a:rPr>
              <a:t>Requirements reveal the true nouns of the domain: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Customer, Account, Transaction, Loan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Design validated against real workflows is far less likely to need costly rework later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170432"/>
            <a:ext cx="379733" cy="379733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170432"/>
            <a:ext cx="379733" cy="3797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65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1317" y="1170432"/>
            <a:ext cx="3223003" cy="379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87" b="1" i="0">
                <a:solidFill>
                  <a:srgbClr val="D1282E"/>
                </a:solidFill>
                <a:latin typeface="Nirmala UI"/>
              </a:rPr>
              <a:t>CORE DDD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673019"/>
            <a:ext cx="3675888" cy="4087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87" b="1" i="0">
                <a:solidFill>
                  <a:srgbClr val="000000"/>
                </a:solidFill>
                <a:latin typeface="Nirmala UI"/>
              </a:rPr>
              <a:t>Domain: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the overall business area a system supports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87" b="1" i="0">
                <a:solidFill>
                  <a:srgbClr val="000000"/>
                </a:solidFill>
                <a:latin typeface="Nirmala UI"/>
              </a:rPr>
              <a:t>Subdomain: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a focused slice of the domain (core, supporting, or generic)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87" b="1" i="0">
                <a:solidFill>
                  <a:srgbClr val="000000"/>
                </a:solidFill>
                <a:latin typeface="Nirmala UI"/>
              </a:rPr>
              <a:t>Bounded context: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a boundary where a model has one specific meaning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87" b="1" i="0">
                <a:solidFill>
                  <a:srgbClr val="000000"/>
                </a:solidFill>
                <a:latin typeface="Nirmala UI"/>
              </a:rPr>
              <a:t>Ubiquitous language: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shared business terms used consistently inside a context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87" b="1" i="0">
                <a:solidFill>
                  <a:srgbClr val="000000"/>
                </a:solidFill>
                <a:latin typeface="Nirmala UI"/>
              </a:rPr>
              <a:t>Aggregate: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a consistency boundary for related domain objects</a:t>
            </a:r>
          </a:p>
          <a:p>
            <a:pPr>
              <a:spcBef>
                <a:spcPts val="0"/>
              </a:spcBef>
              <a:spcAft>
                <a:spcPts val="366"/>
              </a:spcAft>
            </a:pPr>
            <a:r>
              <a:rPr sz="1587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87" b="1" i="0">
                <a:solidFill>
                  <a:srgbClr val="000000"/>
                </a:solidFill>
                <a:latin typeface="Nirmala UI"/>
              </a:rPr>
              <a:t>Domain event: </a:t>
            </a:r>
            <a:r>
              <a:rPr sz="1587" b="0" i="0">
                <a:solidFill>
                  <a:srgbClr val="000000"/>
                </a:solidFill>
                <a:latin typeface="Nirmala UI"/>
              </a:rPr>
              <a:t>a meaningful business fact, such as AccountOpened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seven-step path takes a business requirement from raw need to a validated, ready-to-build service design.   •   DDD concepts -- domain, bounded context, ubiquitous language, aggregate -- turn business understanding into service boundaries.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DOMAINS, SUBDOMAINS, AND BUSINESS CAPABILITIES  ·  UNDERSTANDING BOUNDED CONTEXTS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7"/>
            <a:ext cx="371481" cy="37148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833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DOMAIN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2103"/>
            <a:ext cx="5568696" cy="111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Domain -&gt; Subdomain -&gt; Business Capability -&gt; Candidate Service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Banking domain example: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customer management, accounts, transactions, lending, fraud, notifications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7"/>
            <a:ext cx="371481" cy="37148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0257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THREE KINDS OF SUBDOMAIN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62103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Core: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the competitive differentiator -- invest heavily, build in-house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Supporting: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necessary but not differentiating -- build with moderate investment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Generic: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common, well-solved problems -- prefer buying or reusing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410712"/>
            <a:ext cx="371481" cy="37148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833" y="3410712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WHAT A BOUNDED CONTEXT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02378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 boundary within which a domain model has one specific, consistent meaning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Prevents teams from forcing a single shared model across the whole enterprise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Bounded contexts usually align 1:1 with service boundaries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410712"/>
            <a:ext cx="371481" cy="37148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410712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257" y="3410712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BANKING EXAMPLE: 'CUSTOMER' MEANS DIFFERENT THINGS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902378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Account Service: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accounts, status machine, customerId as a field (no separate Customer Service)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Account Service: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a customer ID linked to accounts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Fraud Service: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risk signals and behavior patterns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Marketing Service: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preferences and campaign eligibility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Core, supporting, and generic subdomains each deserve a different level of investment and a different build-vs-buy decision.   •   The word 'customer' means something different to Customer, Account, Fraud, and Marketing services -- each owns its own model.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17 - Bounded Context and Service Boundarie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 - Bounded Context and Service Bounda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56 - Context Mapping Between Service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 - Context Mapping Between 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10" y="0"/>
            <a:ext cx="112195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IDENTIFYING SERVICE BOUNDARIES  ·  SERVICE GRANULARITY AND THE “RIGHT-SIZED” SERVICE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6"/>
            <a:ext cx="349946" cy="34994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6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298" y="1170436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BOUNDARY-DESIGN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3599"/>
            <a:ext cx="5568696" cy="1790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What business capability does this service own?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What data does it own?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Who owns the service (which team)?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What APIs does it expose, and what events does it publish or consume?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How often does it change, and does it need independent scaling?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6"/>
            <a:ext cx="349946" cy="34994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6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8722" y="1170436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WARNING SIGNS OF POOR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33599"/>
            <a:ext cx="5568696" cy="129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Frequent cross-service changes required for a single feature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Shared database tables between services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Services that cannot be deployed independently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Duplicated business rules across 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534222"/>
            <a:ext cx="349946" cy="349946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34222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298" y="3534222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THE GRANULARITY SPECTRUM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97385"/>
            <a:ext cx="5568696" cy="154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Too fine-grained: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excessive network calls, chatty integration, high operational overhead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Right-sized: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aligned to a business capability, independently deployable, manageable to own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Too coarse-grained: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a distributed monolith -- separate processes, still tightly coupled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534222"/>
            <a:ext cx="349946" cy="349946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534222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8722" y="3534222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SIGNALS FOR RIGHT-SIZING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997385"/>
            <a:ext cx="5568696" cy="154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Team can own, understand, and change the service independently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Service has a single, cohesive business responsibility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Data and API boundaries are clean, without leaking internals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Six boundary-design questions -- capability, data, ownership, APIs, events, change rate -- turn a vague service idea into a defined one.   •   Right-sized services balance independent deployability against the operational overhead of running too many tiny services.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0">
                <a:solidFill>
                  <a:srgbClr val="D1282E"/>
                </a:solidFill>
                <a:latin typeface="Leelawadee"/>
              </a:rPr>
              <a:t>DECOMPOSING BY BUSINESS CAPABILITY  ·  DECOMPOSING BY SUBDOMAIN  ·  DECOMPOSING AN EXISTING MONOLITH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327291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2729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327291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CAPABILITY-BASED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3727"/>
            <a:ext cx="3675888" cy="276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List the business capabilities the organization performs, independent of org chart or technology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Each capability becomes a candidate service: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Customer Management, Account Management, Payments, Lending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Capabilities are more stable over time than teams, technologies, or database schemas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327291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32729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327291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SUBDOMAIN-BASED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833727"/>
            <a:ext cx="3675888" cy="3308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Identify core subdomains (competitive advantage) and invest most heavily there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Identify supporting subdomains and build them with moderate investment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Identify generic subdomains and prefer buying, reusing, or outsourcing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Each subdomain typically becomes one or more services with a clear owner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327291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32729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327291"/>
            <a:ext cx="3220095" cy="675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THE FOUR-STEP DECOMPOSITION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2126335"/>
            <a:ext cx="3675888" cy="3038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Analyze the existing monolith's modules, data, and dependencies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Identify natural seams along business capability and data-ownership lines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Extract one service incrementally, starting with a low-risk, high-value seam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Validate the extraction against real workflows before repeating the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Mapping what the business does -- open accounts, process payments, manage loans -- produces natural, durable service boundaries.   •   Subdomain-based decomposition complements capability-based decomposition, weighting investment by business differentiation.   •   Analyze the monolith, identify seams, extract incrementally, and validate at each step -- decomposition is a journey, not an event.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STRANGLER FIG MIGRATION PATTERN  ·  LOOSE COUPLING IN PRACTICE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96513"/>
            <a:ext cx="326722" cy="32672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96513"/>
            <a:ext cx="326722" cy="326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074" y="1196513"/>
            <a:ext cx="5168822" cy="326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6" b="1" i="0">
                <a:solidFill>
                  <a:srgbClr val="D1282E"/>
                </a:solidFill>
                <a:latin typeface="Nirmala UI"/>
              </a:rPr>
              <a:t>FOUR-STAGE STRANGLER FIG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8939"/>
            <a:ext cx="5568696" cy="1902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366" b="0" i="0">
                <a:solidFill>
                  <a:srgbClr val="000000"/>
                </a:solidFill>
                <a:latin typeface="Nirmala UI"/>
              </a:rPr>
              <a:t>Place a routing layer (facade or gateway) in front of the monolith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366" b="0" i="0">
                <a:solidFill>
                  <a:srgbClr val="000000"/>
                </a:solidFill>
                <a:latin typeface="Nirmala UI"/>
              </a:rPr>
              <a:t>Build new services for individual capabilities alongside the monolith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366" b="0" i="0">
                <a:solidFill>
                  <a:srgbClr val="000000"/>
                </a:solidFill>
                <a:latin typeface="Nirmala UI"/>
              </a:rPr>
              <a:t>Redirect traffic for each capability to the new service as it becomes ready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366" b="0" i="0">
                <a:solidFill>
                  <a:srgbClr val="000000"/>
                </a:solidFill>
                <a:latin typeface="Nirmala UI"/>
              </a:rPr>
              <a:t>Retire the corresponding monolith code once the new service fully replaces it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96513"/>
            <a:ext cx="326722" cy="32672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96513"/>
            <a:ext cx="326722" cy="326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1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5498" y="1196513"/>
            <a:ext cx="5168822" cy="326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6" b="1" i="0">
                <a:solidFill>
                  <a:srgbClr val="D1282E"/>
                </a:solidFill>
                <a:latin typeface="Nirmala UI"/>
              </a:rPr>
              <a:t>WHY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28939"/>
            <a:ext cx="5568696" cy="98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The monolith keeps serving traffic throughout the migration -- low risk, reversible steps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Each capability can be migrated, tested, and validated independently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41339"/>
            <a:ext cx="326722" cy="326722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41339"/>
            <a:ext cx="326722" cy="326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074" y="3641339"/>
            <a:ext cx="5168822" cy="326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6" b="1" i="0">
                <a:solidFill>
                  <a:srgbClr val="D1282E"/>
                </a:solidFill>
                <a:latin typeface="Nirmala UI"/>
              </a:rPr>
              <a:t>TIGHTLY COUPLED VS. LOOSELY COUPLED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73765"/>
            <a:ext cx="5568696" cy="98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66" b="1" i="0">
                <a:solidFill>
                  <a:srgbClr val="000000"/>
                </a:solidFill>
                <a:latin typeface="Nirmala UI"/>
              </a:rPr>
              <a:t>Tightly coupled: </a:t>
            </a:r>
            <a:r>
              <a:rPr sz="1366" b="0" i="0">
                <a:solidFill>
                  <a:srgbClr val="000000"/>
                </a:solidFill>
                <a:latin typeface="Nirmala UI"/>
              </a:rPr>
              <a:t>Account Service reads directly from customer_db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66" b="1" i="0">
                <a:solidFill>
                  <a:srgbClr val="000000"/>
                </a:solidFill>
                <a:latin typeface="Nirmala UI"/>
              </a:rPr>
              <a:t>Loosely coupled: </a:t>
            </a:r>
            <a:r>
              <a:rPr sz="1366" b="0" i="0">
                <a:solidFill>
                  <a:srgbClr val="000000"/>
                </a:solidFill>
                <a:latin typeface="Nirmala UI"/>
              </a:rPr>
              <a:t>Transaction Service calls the Account Service API or consumes account 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641339"/>
            <a:ext cx="326722" cy="326722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641339"/>
            <a:ext cx="326722" cy="326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1" b="1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5498" y="3641339"/>
            <a:ext cx="5168822" cy="326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6" b="1" i="0">
                <a:solidFill>
                  <a:srgbClr val="D1282E"/>
                </a:solidFill>
                <a:latin typeface="Nirmala UI"/>
              </a:rPr>
              <a:t>COMMON COUPLING RISKS TO AVOID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073765"/>
            <a:ext cx="5568696" cy="1441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Database coupling -- sharing tables across services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Deployment coupling -- services that must deploy together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API contract coupling -- breaking changes ripple across consumers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Temporal coupling -- one service must be up for another to finish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Route traffic incrementally to new services while the monolith keeps running, avoiding the risk of an all-at-once cutover.   •   Transaction Service should call Account Service's API, not reach into account_db -- coupling risk hides in shared data, not just shared code.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HIGH COHESION IN PRACTICE  ·  AVOIDING SHARED BUSINESS LOGIC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41479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41479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241479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LOW COHESION VS. HIGH COHESION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47915"/>
            <a:ext cx="5568696" cy="14180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Low cohesion: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 BankingUtilityService mixing customer lookup, account update, email, reporting, and fraud scoring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High cohesion: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separate Customer, Account, Notification, Reporting, and Fraud Detection services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241479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241479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417" y="1241479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747915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Cohesive services are easier to understand, test, own, and evolve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Business-capability alignment is the most reliable path to high cohesion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75662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75662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993" y="3275662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THE HIDDEN RISK OF SHARED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82098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 shared library with domain rules becomes a de facto deployment dependency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Changing the rule means coordinating releases across every consuming service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Business rules belong inside the service that owns the corresponding capability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275662"/>
            <a:ext cx="382641" cy="38264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275662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417" y="3275662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WHAT CAN SAFELY BE SHARED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782098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Generic technical utilities: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logging, tracing, HTTP client wrappers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Not shared: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validation rules, pricing logic, eligibility rules, workflow decisions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Account Service should own account behavior end to end; a catch-all utility service confuses ownership and slows every change.   •   A shared library of business rules forces every consuming service to redeploy together -- the opposite of independent deployability.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66 - Avoiding Shared Database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6 - Avoiding Shared Datab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85" y="0"/>
            <a:ext cx="1093763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611111"/>
            <a:ext cx="409925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SERVICE OWNERSHIP AND GOVERNANCE  ·  STATELESS VS. STATEFUL SERVICES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59831"/>
            <a:ext cx="355893" cy="35589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59831"/>
            <a:ext cx="355893" cy="3558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7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245" y="1259831"/>
            <a:ext cx="5139651" cy="35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88" b="1" i="0">
                <a:solidFill>
                  <a:srgbClr val="D1282E"/>
                </a:solidFill>
                <a:latin typeface="Nirmala UI"/>
              </a:rPr>
              <a:t>OWNERSHIP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0866"/>
            <a:ext cx="5568696" cy="157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A single team owns each service's code, data, deployment, and on-call responsibility</a:t>
            </a:r>
          </a:p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Ownership includes documenting the API contract and its SLAs</a:t>
            </a:r>
          </a:p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Ownership includes deciding when and how the service evolves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259831"/>
            <a:ext cx="355893" cy="355893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259831"/>
            <a:ext cx="355893" cy="3558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73" b="1" i="0">
                <a:solidFill>
                  <a:srgbClr val="FFFFFF"/>
                </a:solidFill>
              </a:rPr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4669" y="1259831"/>
            <a:ext cx="5139651" cy="35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88" b="1" i="0">
                <a:solidFill>
                  <a:srgbClr val="D1282E"/>
                </a:solidFill>
                <a:latin typeface="Nirmala UI"/>
              </a:rPr>
              <a:t>LIGHTWEIGHT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730866"/>
            <a:ext cx="5568696" cy="106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88" b="1" i="0">
                <a:solidFill>
                  <a:srgbClr val="000000"/>
                </a:solidFill>
                <a:latin typeface="Nirmala UI"/>
              </a:rPr>
              <a:t>Enterprise-wide standards: </a:t>
            </a:r>
            <a:r>
              <a:rPr sz="1488" b="0" i="0">
                <a:solidFill>
                  <a:srgbClr val="000000"/>
                </a:solidFill>
                <a:latin typeface="Nirmala UI"/>
              </a:rPr>
              <a:t>naming, security, versioning, observability</a:t>
            </a:r>
          </a:p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Governance should enable teams, not create a bottleneck for every decision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410712"/>
            <a:ext cx="355893" cy="355893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355893" cy="3558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7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245" y="3410712"/>
            <a:ext cx="5139651" cy="35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88" b="1" i="0">
                <a:solidFill>
                  <a:srgbClr val="D1282E"/>
                </a:solidFill>
                <a:latin typeface="Nirmala UI"/>
              </a:rPr>
              <a:t>STATELESS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1747"/>
            <a:ext cx="5568696" cy="157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Do not rely on local, in-memory state from a previous request</a:t>
            </a:r>
          </a:p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Easier to scale horizontally, restart, and load balance</a:t>
            </a:r>
          </a:p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88" b="1" i="0">
                <a:solidFill>
                  <a:srgbClr val="000000"/>
                </a:solidFill>
                <a:latin typeface="Nirmala UI"/>
              </a:rPr>
              <a:t>State needed for correctness is externalized: </a:t>
            </a:r>
            <a:r>
              <a:rPr sz="1488" b="0" i="0">
                <a:solidFill>
                  <a:srgbClr val="000000"/>
                </a:solidFill>
                <a:latin typeface="Nirmala UI"/>
              </a:rPr>
              <a:t>database, cache, token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410712"/>
            <a:ext cx="355893" cy="355893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410712"/>
            <a:ext cx="355893" cy="3558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73" b="1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4669" y="3410712"/>
            <a:ext cx="5139651" cy="35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88" b="1" i="0">
                <a:solidFill>
                  <a:srgbClr val="D1282E"/>
                </a:solidFill>
                <a:latin typeface="Nirmala UI"/>
              </a:rPr>
              <a:t>STATEFUL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881747"/>
            <a:ext cx="5568696" cy="157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Most business services are stateful in that they manage persistent data</a:t>
            </a:r>
          </a:p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The question is where state lives -- not whether it exists</a:t>
            </a:r>
          </a:p>
          <a:p>
            <a:pPr>
              <a:spcBef>
                <a:spcPts val="0"/>
              </a:spcBef>
              <a:spcAft>
                <a:spcPts val="343"/>
              </a:spcAft>
            </a:pPr>
            <a:r>
              <a:rPr sz="1488" b="0" i="0">
                <a:solidFill>
                  <a:srgbClr val="000000"/>
                </a:solidFill>
                <a:latin typeface="Nirmala UI"/>
              </a:rPr>
              <a:t>•  Stateful components (PostgreSQL, Kafka) need backup and recovery plans; Redis is lecture-only in this course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service needs a named owning team, a documented contract, and a small set of enterprise-wide standards it must follow.   •   Stateless services keep no required local memory between requests; stateful components persist data and need extra operational care.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STATELESS MICROSERVICES  ·  MANAGING STATE IN DISTRIBUTED APPLICATIONS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6"/>
            <a:ext cx="349946" cy="34994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6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298" y="1170436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DESIGNING FOR STATELESSNESS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3599"/>
            <a:ext cx="5568696" cy="1790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Client sends request with token -&gt; service validates token -&gt; service reads required data from database/cache -&gt; service returns response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Use tokens for authentication context, not server-side session memory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Store cache data in an external, shared cache when state must be shared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6"/>
            <a:ext cx="349946" cy="34994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6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8722" y="1170436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COMMON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33599"/>
            <a:ext cx="5568696" cy="129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Keeping user sessions only in memory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Storing workflow state in local variables across requests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Assuming requests always reach the same service instance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534222"/>
            <a:ext cx="349946" cy="349946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34222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298" y="3534222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GOOD VS. RISKY STATEFUL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97385"/>
            <a:ext cx="5568696" cy="1049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Good: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Account Service pod -&gt; Account database (survives pod restart)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Risky: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Account Service pod stores pending transactions only in memory (lost on failure)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534222"/>
            <a:ext cx="349946" cy="349946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534222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8722" y="3534222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OPERATIONAL REQUIREMENTS FOR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997385"/>
            <a:ext cx="5568696" cy="154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Backup and recovery plans for every stateful dependency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Monitoring for PostgreSQL, Kafka, and the three Spring Boot services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Treat caches carefully -- cached state can become stale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Any pod can serve any request when authentication uses tokens and persistent data lives in an external store, not local memory.   •   A pod storing pending transactions only in memory loses that data the moment it fails -- durable state needs a durable home.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SYNCHRONOUS VS. ASYNCHRONOUS COMMUNICATION  ·  CHOOSING A SERVICE COMMUNICATION STRATEGY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853422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53422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853422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SYNCHRONOUS REQUEST-RESPONSE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59858"/>
            <a:ext cx="3675888" cy="1958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One service calls another and waits for a response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Simple, testable, gives an immediate answer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Creates runtime dependency: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latency, timeouts, cascading failures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853422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853422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853422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ASYNCHRONOUS MESSAGING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2359858"/>
            <a:ext cx="3675888" cy="1958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 service publishes an event and does not wait for consumers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Supports loose coupling, multiple consumers, and background processing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Introduces eventual consistency and duplicate-message handling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853422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853422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853422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DECISION FACTORS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2359858"/>
            <a:ext cx="3675888" cy="249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Does the caller need an immediate answer, or can it react later?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How many consumers need to know about this event?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Can the workflow tolerate eventual consistency?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How critical is decoupling the producer from consumer availability?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Choosing sync or async is a tradeoff between immediacy and coupling -- the right choice depends on what the business need actually is.   •   Immediate, user-facing answers favor REST; background reactions and fan-out favor messaging -- most systems need both.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API-BASED INTEGRATION  ·  MESSAGING-BASED INTEGRATION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7"/>
            <a:ext cx="371481" cy="37148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833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HOW API COMMUNICATION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2103"/>
            <a:ext cx="5568696" cy="111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Transaction Service calls GET /accounts/5001 and waits for the response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Widely supported, easy to test, compatible with REST and HTTP status codes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7"/>
            <a:ext cx="371481" cy="37148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0257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REQUIRED SAFEGUARDS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62103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Timeouts, retries on safe operations only, and circuit breakers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Correlation IDs, authentication, and authorization on every call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Avoid long synchronous call chains across many 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410712"/>
            <a:ext cx="371481" cy="37148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833" y="3410712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HOW MESSAGING COMMUNICATION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02378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Producer publishes a message or event through a broker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Producer does not need to know when or whether each consumer processes it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553" b="1" i="0">
                <a:solidFill>
                  <a:srgbClr val="000000"/>
                </a:solidFill>
                <a:latin typeface="Nirmala UI"/>
              </a:rPr>
              <a:t>Events are named in past tense: </a:t>
            </a:r>
            <a:r>
              <a:rPr sz="1553" b="0" i="0">
                <a:solidFill>
                  <a:srgbClr val="000000"/>
                </a:solidFill>
                <a:latin typeface="Nirmala UI"/>
              </a:rPr>
              <a:t>CustomerCreated, PaymentFailed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410712"/>
            <a:ext cx="371481" cy="37148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410712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257" y="3410712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CONSUMER DESIGN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902378"/>
            <a:ext cx="5568696" cy="137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Consumers must be idempotent and tolerant of duplicate messages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Use dead-letter queues for repeated processing failures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Monitor broker health and message backlog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Transaction Service calling Account Service's API is easy to build and test, but both services must be healthy at the same time.   •   Account Service publishes AccountOpened without knowing who is listening -- Notification, Reporting, and Fraud services react independently.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HYBRID INTEGRATION MODELS  ·  SERVICE DEPENDENCIES AND DEPENDENCY GRAPHS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48274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COMMON HYBRID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4710"/>
            <a:ext cx="3675888" cy="3308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Sync request + async event: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handle the request synchronously, then publish an event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Async command + sync query: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send a command asynchronously, query status synchronously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Event notification + sync lookup: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notify via events, fetch full details via API when needed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Async processing + sync callback: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process long-running work async, callback or poll for the result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448274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DESIGN GUIDELINES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954710"/>
            <a:ext cx="3675888" cy="1958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Use synchronous calls for short, user-facing interactions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Use asynchronous messaging for decoupled, long-running, or fan-out work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Propagate correlation IDs across both sync and async paths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448274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WHY DEPENDENCY GRAPHS MATTER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954710"/>
            <a:ext cx="3675888" cy="1958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Visualizing call chains reveals services with too many downstream dependencies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Highlights single points of failure that many services depend 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Helps teams reason about blast radius before making a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Handle a request synchronously, then publish an event; or send a command asynchronously and query its status synchronously later.   •   A dependency graph shows which services call which, exposing long chains, single points of failure, and unexpected coupling.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0">
                <a:solidFill>
                  <a:srgbClr val="D1282E"/>
                </a:solidFill>
                <a:latin typeface="Leelawadee"/>
              </a:rPr>
              <a:t>PREVENTING EXCESSIVE SERVICE CHAINING  ·  API COMPOSITION PATTERN  ·  BACKEND-FOR-FRONTEND PATTERN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7"/>
            <a:ext cx="352349" cy="35234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7"/>
            <a:ext cx="352349" cy="352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701" y="1170437"/>
            <a:ext cx="5143195" cy="352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73" b="1" i="0">
                <a:solidFill>
                  <a:srgbClr val="D1282E"/>
                </a:solidFill>
                <a:latin typeface="Nirmala UI"/>
              </a:rPr>
              <a:t>WHY CHAINING IS RISKY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6781"/>
            <a:ext cx="5568696" cy="1057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A -&gt; B -&gt; C -&gt; D means A's response time depends on every downstream service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A single slow or failing service in the chain can cascade failure upstream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7"/>
            <a:ext cx="352349" cy="352349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7"/>
            <a:ext cx="352349" cy="352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1125" y="1170437"/>
            <a:ext cx="5143195" cy="352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73" b="1" i="0">
                <a:solidFill>
                  <a:srgbClr val="D1282E"/>
                </a:solidFill>
                <a:latin typeface="Nirmala UI"/>
              </a:rPr>
              <a:t>WAYS TO REDUCE CHAINING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36781"/>
            <a:ext cx="5568696" cy="1554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Use API composition or a BFF to flatten fan-out calls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Replace synchronous chains with events where immediacy is not required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Set aggressive timeouts and circuit breakers on every hop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300984"/>
            <a:ext cx="352349" cy="352349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4"/>
            <a:ext cx="352349" cy="352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701" y="3300984"/>
            <a:ext cx="5143195" cy="352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73" b="1" i="0">
                <a:solidFill>
                  <a:srgbClr val="D1282E"/>
                </a:solidFill>
                <a:latin typeface="Nirmala UI"/>
              </a:rPr>
              <a:t>HOW API COMPOSITION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67328"/>
            <a:ext cx="5568696" cy="1554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A composition layer calls multiple services (often in parallel) and merges the results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The client makes one call instead of orchestrating several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Useful for read-heavy views that combine data from many owning services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300984"/>
            <a:ext cx="352349" cy="352349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300984"/>
            <a:ext cx="352349" cy="3523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6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1125" y="3300984"/>
            <a:ext cx="5143195" cy="3523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73" b="1" i="0">
                <a:solidFill>
                  <a:srgbClr val="D1282E"/>
                </a:solidFill>
                <a:latin typeface="Nirmala UI"/>
              </a:rPr>
              <a:t>WHY USE A BFF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767328"/>
            <a:ext cx="5568696" cy="1554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Each client type gets an API shaped for its own needs, not a lowest-common-denominator contract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Reduces over-fetching and under-fetching for constrained clients like mobile</a:t>
            </a:r>
          </a:p>
          <a:p>
            <a:pPr>
              <a:spcBef>
                <a:spcPts val="0"/>
              </a:spcBef>
              <a:spcAft>
                <a:spcPts val="340"/>
              </a:spcAft>
            </a:pPr>
            <a:r>
              <a:rPr sz="1473" b="0" i="0">
                <a:solidFill>
                  <a:srgbClr val="000000"/>
                </a:solidFill>
                <a:latin typeface="Nirmala UI"/>
              </a:rPr>
              <a:t>•  Isolates client-specific logic away from core domain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synchronous hop in a chain adds latency and a new way for the whole request to fail -- shorten chains or break them with async patterns.   •   A composer service calls several downstream services in parallel and merges their results into a single client-facing response.   •   Mobile, web, and partner clients often need different shapes of the same data -- a BFF per client type keeps each API simple and fit for purpose.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0" i="0">
                <a:solidFill>
                  <a:srgbClr val="D1282E"/>
                </a:solidFill>
                <a:latin typeface="Leelawadee"/>
              </a:rPr>
              <a:t>API GATEWAY PATTERN  ·  SERVICE DISCOVERY CONCEPTS  ·  CENTRALIZED VS. DECENTRALIZED ORCHESTRATION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66801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6680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266801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WHAT AN API GATEWAY PROVIDES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73237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 single entry point for client traffic into the microservices landscape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Routing to the correct backend service based on the request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Cross-cutting concerns: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authentication, rate limiting, request/response policies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266801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26680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417" y="1266801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WHY SERVICE DISCOVERY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773237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Service instances scale up, scale down, and restart with new network addresses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 discovery mechanism (registry, DNS, or platform-native discovery) tracks healthy instances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Callers resolve a logical service name instead of a hard-coded IP address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571083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7108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993" y="3571083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CENTRALIZED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77519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One coordinator service directs each step of a multi-service workflow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Easier to visualize, monitor, and reason about the overall flow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571083"/>
            <a:ext cx="382641" cy="38264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571083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417" y="3571083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DECENTRALIZED COORDINATION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077519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Each service reacts to events and decides its own next step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More resilient to a single coordinator failing, but harder to trace end to 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31536"/>
            <a:ext cx="10972800" cy="107899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431536"/>
            <a:ext cx="10607040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Centralizing routing, authentication, and policy enforcement at the edge keeps individual services simpler and more consistent.   •   In a dynamic, containerized environment, service instances come and go -- discovery keeps callers pointed at healthy, current instances.   •   A central orchestrator gives visibility and control; decentralized coordination avoids a single point of control but is harder to trace.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83 - Orchestration vs. Choreography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3 - Orchestration vs. Choreogra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7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DESIGNING FOR INDEPENDENT DEPLOYMENT  ·  VERSIONING SERVICES WITHOUT BREAKING CONSUMERS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2123521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12352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2123521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WHAT INDEPENDENT DEPLOYMENT REQUIRES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29957"/>
            <a:ext cx="5568696" cy="1958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Stable, versioned API and event contracts that consumers can rely 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No shared database with any other service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Backward-compatible changes as the default deployment mode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Automated tests and pipelines scoped to the single service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2123521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2123521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417" y="2123521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EVOLVING SERVICE CONTRACTS SAFELY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2629957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Prefer additive, backward-compatible changes whenever possible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Reserve a new major version for genuinely breaking changes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Communicate deprecation timelines and support old versions for a defined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Independent deployability is the practical test of good boundaries -- stable contracts, owned data, and backward-compatible changes make it possible.   •   Backward-compatible changes ship freely; breaking changes get an explicit new version and a communicated deprecation timeline.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86 - Microservices Design Review Checklist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6 - Microservices Design Review 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" y="6632143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REST ARCHITECTURAL PRINCIPLES  ·  RESOURCES, REPRESENTATIONS, AND IDENTIFIERS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216158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16158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216158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REST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22594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Resource-oriented: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clients interact with nouns, not actions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Stateless: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each request carries enough information to be processed on its own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Consistent, predictable, HTTP-native, and cache-aware where appropriate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216158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216158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417" y="1216158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GOOD VS. POOR REST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722594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Good: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GET /customers/101, POST /customers, GET /accounts/5001/transactions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Poor: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/getCustomer, /createAccount, /fetchTransactions, /deleteLoan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The URI identifies the resource; the HTTP method expresses the action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520440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993" y="3520440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THREE CORE REST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6876"/>
            <a:ext cx="5568696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Resources: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nouns such as Users, Orders, Products, Payments, Shipments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Representations: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JSON, XML, HTML, CSV -- the client chooses via content negotiation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Identifiers: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stable, persistent URIs such as /orders/123 or /customers/7/orders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520440"/>
            <a:ext cx="382641" cy="38264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520440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417" y="3520440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GOOD VS. BAD IDENTIFIERS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026876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Good: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/orders/{id}, /customers/{id}/orders, /products/{sku}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Avoid: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/getOrderById/123, /order?id=123, /createUser, /updateProductInfo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REST is popular for microservices because it is simple, language-independent, HTTP-native, and easy to test.   •   A resource is the thing itself, a representation is how it's transferred (JSON, XML), and an identifier (URI) is how it's found.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13 - REST API Design Principle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 - REST API Design Princi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14 - Resource Modeling and URI Design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 - Resource Modeling and URI 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89 - Designing Resource-Oriented URL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9 - Designing Resource-Oriented UR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556247"/>
            <a:ext cx="4465016" cy="217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90 - HTTP Methods and Their Semantic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0 - HTTP Methods and Their Seman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56" y="0"/>
            <a:ext cx="1022808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SAFE AND IDEMPOTENT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All safe methods are idempotent, but not all idempotent methods are safe -- PUT changes state safely on repeat, GET never changes it at all.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97257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97257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2297257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SAFE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03693"/>
            <a:ext cx="5568696" cy="1958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Does not change server state -- intended for read-only operations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Multiple identical requests have the same effect as a single request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Safe methods can be cached, prefetched, and retried automatically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Safe methods: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GET, HEAD, OPTIONS</a:t>
            </a:r>
          </a:p>
        </p:txBody>
      </p:sp>
      <p:sp>
        <p:nvSpPr>
          <p:cNvPr id="8" name="Oval 7"/>
          <p:cNvSpPr/>
          <p:nvPr/>
        </p:nvSpPr>
        <p:spPr>
          <a:xfrm>
            <a:off x="6135624" y="2297257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35624" y="2297257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417" y="2297257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IDEMPOTENT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2803693"/>
            <a:ext cx="5568696" cy="1958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Making the same request multiple times has the same effect as making it once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Enables safe retries when a response is lost or the client is unsure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Idempotent methods: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GET, HEAD, PUT, DELETE, OPTIONS -- POST is neither safe nor idempotent by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All safe methods are idempotent, but not all idempotent methods are safe -- PUT changes state safely on repeat, GET never changes it at 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18 - Idempotency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 - Idempo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HTTP STATUS CODES FOR MICROSERVICES  ·  REQUEST AND RESPONSE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11539"/>
            <a:ext cx="11247120" cy="32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75" b="1" i="0">
                <a:solidFill>
                  <a:srgbClr val="D1282E"/>
                </a:solidFill>
              </a:rPr>
              <a:t>📌  </a:t>
            </a:r>
            <a:r>
              <a:rPr sz="1375" b="1" i="0">
                <a:solidFill>
                  <a:srgbClr val="D1282E"/>
                </a:solidFill>
                <a:latin typeface="Nirmala UI"/>
              </a:rPr>
              <a:t>STATUS CODE CATEGORIES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6840"/>
          <a:ext cx="11247120" cy="13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240">
                <a:tc>
                  <a:txBody>
                    <a:bodyPr/>
                    <a:lstStyle/>
                    <a:p>
                      <a:pPr algn="l"/>
                      <a:r>
                        <a:rPr sz="1269" b="1">
                          <a:solidFill>
                            <a:srgbClr val="FFFFFF"/>
                          </a:solidFill>
                          <a:latin typeface="Nirmala UI"/>
                        </a:rPr>
                        <a:t>RANGE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9" b="1">
                          <a:solidFill>
                            <a:srgbClr val="FFFFFF"/>
                          </a:solidFill>
                          <a:latin typeface="Nirmala UI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69" b="1">
                          <a:solidFill>
                            <a:srgbClr val="FFFFFF"/>
                          </a:solidFill>
                          <a:latin typeface="Nirmala UI"/>
                        </a:rPr>
                        <a:t>EXAMPLES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240">
                <a:tc>
                  <a:txBody>
                    <a:bodyPr/>
                    <a:lstStyle/>
                    <a:p>
                      <a:r>
                        <a:rPr sz="1269" b="1">
                          <a:solidFill>
                            <a:srgbClr val="000000"/>
                          </a:solidFill>
                          <a:latin typeface="Nirmala UI"/>
                        </a:rPr>
                        <a:t>2xx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9" b="0">
                          <a:solidFill>
                            <a:srgbClr val="000000"/>
                          </a:solidFill>
                          <a:latin typeface="Nirmala UI"/>
                        </a:rP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9" b="0">
                          <a:solidFill>
                            <a:srgbClr val="000000"/>
                          </a:solidFill>
                          <a:latin typeface="Nirmala UI"/>
                        </a:rPr>
                        <a:t>200 OK, 201 Created, 204 No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240">
                <a:tc>
                  <a:txBody>
                    <a:bodyPr/>
                    <a:lstStyle/>
                    <a:p>
                      <a:r>
                        <a:rPr sz="1269" b="1">
                          <a:solidFill>
                            <a:srgbClr val="000000"/>
                          </a:solidFill>
                          <a:latin typeface="Nirmala UI"/>
                        </a:rPr>
                        <a:t>4xx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9" b="0">
                          <a:solidFill>
                            <a:srgbClr val="000000"/>
                          </a:solidFill>
                          <a:latin typeface="Nirmala UI"/>
                        </a:rPr>
                        <a:t>Client Error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9" b="0">
                          <a:solidFill>
                            <a:srgbClr val="000000"/>
                          </a:solidFill>
                          <a:latin typeface="Nirmala UI"/>
                        </a:rPr>
                        <a:t>400 Bad Request, 401 Unauthorized, 404 Not Found, 409 Conflict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240">
                <a:tc>
                  <a:txBody>
                    <a:bodyPr/>
                    <a:lstStyle/>
                    <a:p>
                      <a:r>
                        <a:rPr sz="1269" b="1">
                          <a:solidFill>
                            <a:srgbClr val="000000"/>
                          </a:solidFill>
                          <a:latin typeface="Nirmala UI"/>
                        </a:rPr>
                        <a:t>5xx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9" b="0">
                          <a:solidFill>
                            <a:srgbClr val="000000"/>
                          </a:solidFill>
                          <a:latin typeface="Nirmala UI"/>
                        </a:rPr>
                        <a:t>Server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69" b="0">
                          <a:solidFill>
                            <a:srgbClr val="000000"/>
                          </a:solidFill>
                          <a:latin typeface="Nirmala UI"/>
                        </a:rPr>
                        <a:t>500 Internal Server Error, 503 Service Unavailable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457200" y="3149528"/>
            <a:ext cx="328894" cy="32889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149528"/>
            <a:ext cx="328894" cy="3288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9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246" y="3149528"/>
            <a:ext cx="3273842" cy="32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5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84829"/>
            <a:ext cx="3675888" cy="191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Use the most accurate status code -- never return 200 OK for every response</a:t>
            </a:r>
          </a:p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Provide meaningful error details and a consistent error body across services</a:t>
            </a:r>
          </a:p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Never expose stack traces or internal details in an error response</a:t>
            </a:r>
          </a:p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Include a correlation ID in every error response for traceability</a:t>
            </a:r>
          </a:p>
        </p:txBody>
      </p:sp>
      <p:sp>
        <p:nvSpPr>
          <p:cNvPr id="9" name="Oval 8"/>
          <p:cNvSpPr/>
          <p:nvPr/>
        </p:nvSpPr>
        <p:spPr>
          <a:xfrm>
            <a:off x="4242816" y="3149528"/>
            <a:ext cx="328894" cy="32889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42816" y="3149528"/>
            <a:ext cx="328894" cy="3288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9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862" y="3149528"/>
            <a:ext cx="3273842" cy="32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5" b="1" i="0">
                <a:solidFill>
                  <a:srgbClr val="D1282E"/>
                </a:solidFill>
                <a:latin typeface="Nirmala UI"/>
              </a:rPr>
              <a:t>REQUEST KEY ELEMENTS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3584829"/>
            <a:ext cx="3675888" cy="1451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75" b="1" i="0">
                <a:solidFill>
                  <a:srgbClr val="000000"/>
                </a:solidFill>
                <a:latin typeface="Nirmala UI"/>
              </a:rPr>
              <a:t>Method &amp; URL: </a:t>
            </a:r>
            <a:r>
              <a:rPr sz="1375" b="0" i="0">
                <a:solidFill>
                  <a:srgbClr val="000000"/>
                </a:solidFill>
                <a:latin typeface="Nirmala UI"/>
              </a:rPr>
              <a:t>the correct HTTP method and resource-oriented URL</a:t>
            </a:r>
          </a:p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75" b="1" i="0">
                <a:solidFill>
                  <a:srgbClr val="000000"/>
                </a:solidFill>
                <a:latin typeface="Nirmala UI"/>
              </a:rPr>
              <a:t>Headers: </a:t>
            </a:r>
            <a:r>
              <a:rPr sz="1375" b="0" i="0">
                <a:solidFill>
                  <a:srgbClr val="000000"/>
                </a:solidFill>
                <a:latin typeface="Nirmala UI"/>
              </a:rPr>
              <a:t>authentication, content type, correlation ID, idempotency key</a:t>
            </a:r>
          </a:p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75" b="1" i="0">
                <a:solidFill>
                  <a:srgbClr val="000000"/>
                </a:solidFill>
                <a:latin typeface="Nirmala UI"/>
              </a:rPr>
              <a:t>Body: </a:t>
            </a:r>
            <a:r>
              <a:rPr sz="1375" b="0" i="0">
                <a:solidFill>
                  <a:srgbClr val="000000"/>
                </a:solidFill>
                <a:latin typeface="Nirmala UI"/>
              </a:rPr>
              <a:t>structured, validated JSON with clear fields</a:t>
            </a:r>
          </a:p>
        </p:txBody>
      </p:sp>
      <p:sp>
        <p:nvSpPr>
          <p:cNvPr id="13" name="Oval 12"/>
          <p:cNvSpPr/>
          <p:nvPr/>
        </p:nvSpPr>
        <p:spPr>
          <a:xfrm>
            <a:off x="8028432" y="3149528"/>
            <a:ext cx="328894" cy="32889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28432" y="3149528"/>
            <a:ext cx="328894" cy="3288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9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478" y="3149528"/>
            <a:ext cx="3273842" cy="328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75" b="1" i="0">
                <a:solidFill>
                  <a:srgbClr val="D1282E"/>
                </a:solidFill>
                <a:latin typeface="Nirmala UI"/>
              </a:rPr>
              <a:t>REQUEST &amp; RESPONSE BEST PRACTICES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2" y="3584829"/>
            <a:ext cx="3675888" cy="1683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75" b="1" i="0">
                <a:solidFill>
                  <a:srgbClr val="000000"/>
                </a:solidFill>
                <a:latin typeface="Nirmala UI"/>
              </a:rPr>
              <a:t>Be consistent: </a:t>
            </a:r>
            <a:r>
              <a:rPr sz="1375" b="0" i="0">
                <a:solidFill>
                  <a:srgbClr val="000000"/>
                </a:solidFill>
                <a:latin typeface="Nirmala UI"/>
              </a:rPr>
              <a:t>same naming, casing, and structure across endpoints</a:t>
            </a:r>
          </a:p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75" b="1" i="0">
                <a:solidFill>
                  <a:srgbClr val="000000"/>
                </a:solidFill>
                <a:latin typeface="Nirmala UI"/>
              </a:rPr>
              <a:t>Be explicit: </a:t>
            </a:r>
            <a:r>
              <a:rPr sz="1375" b="0" i="0">
                <a:solidFill>
                  <a:srgbClr val="000000"/>
                </a:solidFill>
                <a:latin typeface="Nirmala UI"/>
              </a:rPr>
              <a:t>descriptive field names, only required fields</a:t>
            </a:r>
          </a:p>
          <a:p>
            <a:pPr>
              <a:spcBef>
                <a:spcPts val="0"/>
              </a:spcBef>
              <a:spcAft>
                <a:spcPts val="317"/>
              </a:spcAft>
            </a:pPr>
            <a:r>
              <a:rPr sz="1375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75" b="1" i="0">
                <a:solidFill>
                  <a:srgbClr val="000000"/>
                </a:solidFill>
                <a:latin typeface="Nirmala UI"/>
              </a:rPr>
              <a:t>Make it traceable: </a:t>
            </a:r>
            <a:r>
              <a:rPr sz="1375" b="0" i="0">
                <a:solidFill>
                  <a:srgbClr val="000000"/>
                </a:solidFill>
                <a:latin typeface="Nirmala UI"/>
              </a:rPr>
              <a:t>propagate correlation IDs, use idempotency keys for safe retries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Choosing the accurate status code, not always 200 OK, is what lets clients handle success, client errors, and server errors correctly.   •   Every request and response should be efficient, use the correct HTTP method and status code, and carry a correlation ID for tracing.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16 - DTOs and API Contracts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 - DTOs and API Contra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JSON PAYLOAD DESIGN GUIDELINES  ·  API VALIDATION AND ERROR HANDLING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3"/>
            <a:ext cx="330771" cy="33077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3"/>
            <a:ext cx="330771" cy="330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123" y="1170433"/>
            <a:ext cx="5164773" cy="33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3" b="1" i="0">
                <a:solidFill>
                  <a:srgbClr val="D1282E"/>
                </a:solidFill>
                <a:latin typeface="Nirmala UI"/>
              </a:rPr>
              <a:t>GUIDING PRINCIPLES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8218"/>
            <a:ext cx="5568696" cy="192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Be consistent in naming, structure, and data types across all APIs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Use clear, descriptive names that reflect the domain, not abbreviations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83" b="1" i="0">
                <a:solidFill>
                  <a:srgbClr val="000000"/>
                </a:solidFill>
                <a:latin typeface="Nirmala UI"/>
              </a:rPr>
              <a:t>Keep it simple: </a:t>
            </a:r>
            <a:r>
              <a:rPr sz="1383" b="0" i="0">
                <a:solidFill>
                  <a:srgbClr val="000000"/>
                </a:solidFill>
                <a:latin typeface="Nirmala UI"/>
              </a:rPr>
              <a:t>include only necessary fields, avoid deep nesting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383" b="1" i="0">
                <a:solidFill>
                  <a:srgbClr val="000000"/>
                </a:solidFill>
                <a:latin typeface="Nirmala UI"/>
              </a:rPr>
              <a:t>Design for evolution: </a:t>
            </a:r>
            <a:r>
              <a:rPr sz="1383" b="0" i="0">
                <a:solidFill>
                  <a:srgbClr val="000000"/>
                </a:solidFill>
                <a:latin typeface="Nirmala UI"/>
              </a:rPr>
              <a:t>add new fields without breaking existing consumers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3"/>
            <a:ext cx="330771" cy="33077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3"/>
            <a:ext cx="330771" cy="330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9547" y="1170433"/>
            <a:ext cx="5164773" cy="33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3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08218"/>
            <a:ext cx="5568696" cy="1459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Use camelCase property names and plural names for collections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Use ISO 8601 format for dates, and IDs as strings even when numeric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Use null sparingly -- prefer omitting a field over sending null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44197"/>
            <a:ext cx="330771" cy="33077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44197"/>
            <a:ext cx="330771" cy="330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123" y="3644197"/>
            <a:ext cx="5164773" cy="33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3" b="1" i="0">
                <a:solidFill>
                  <a:srgbClr val="D1282E"/>
                </a:solidFill>
                <a:latin typeface="Nirmala UI"/>
              </a:rPr>
              <a:t>VALIDATION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81982"/>
            <a:ext cx="5568696" cy="1459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383" b="0" i="0">
                <a:solidFill>
                  <a:srgbClr val="000000"/>
                </a:solidFill>
                <a:latin typeface="Nirmala UI"/>
              </a:rPr>
              <a:t>Request received from the client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383" b="0" i="0">
                <a:solidFill>
                  <a:srgbClr val="000000"/>
                </a:solidFill>
                <a:latin typeface="Nirmala UI"/>
              </a:rPr>
              <a:t>Validate syntax, structure, and business rules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383" b="0" i="0">
                <a:solidFill>
                  <a:srgbClr val="000000"/>
                </a:solidFill>
                <a:latin typeface="Nirmala UI"/>
              </a:rPr>
              <a:t>Is it valid?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383" b="1" i="0">
                <a:solidFill>
                  <a:srgbClr val="000000"/>
                </a:solidFill>
                <a:latin typeface="Nirmala UI"/>
              </a:rPr>
              <a:t>If yes: </a:t>
            </a:r>
            <a:r>
              <a:rPr sz="1383" b="0" i="0">
                <a:solidFill>
                  <a:srgbClr val="000000"/>
                </a:solidFill>
                <a:latin typeface="Nirmala UI"/>
              </a:rPr>
              <a:t>process the request and return a success response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383" b="1" i="0">
                <a:solidFill>
                  <a:srgbClr val="000000"/>
                </a:solidFill>
                <a:latin typeface="Nirmala UI"/>
              </a:rPr>
              <a:t>If no: </a:t>
            </a:r>
            <a:r>
              <a:rPr sz="1383" b="0" i="0">
                <a:solidFill>
                  <a:srgbClr val="000000"/>
                </a:solidFill>
                <a:latin typeface="Nirmala UI"/>
              </a:rPr>
              <a:t>return a standardized error response with details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644197"/>
            <a:ext cx="330771" cy="33077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644197"/>
            <a:ext cx="330771" cy="3307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9547" y="3644197"/>
            <a:ext cx="5164773" cy="330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83" b="1" i="0">
                <a:solidFill>
                  <a:srgbClr val="D1282E"/>
                </a:solidFill>
                <a:latin typeface="Nirmala UI"/>
              </a:rPr>
              <a:t>ERROR HANDLING 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4081982"/>
            <a:ext cx="5568696" cy="1225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Use a consistent error format across all services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Provide clear, actionable messages that help the client fix the issue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Never expose stack traces or sensitive internals</a:t>
            </a:r>
          </a:p>
          <a:p>
            <a:pPr>
              <a:spcBef>
                <a:spcPts val="0"/>
              </a:spcBef>
              <a:spcAft>
                <a:spcPts val="319"/>
              </a:spcAft>
            </a:pPr>
            <a:r>
              <a:rPr sz="1383" b="0" i="0">
                <a:solidFill>
                  <a:srgbClr val="000000"/>
                </a:solidFill>
                <a:latin typeface="Nirmala UI"/>
              </a:rPr>
              <a:t>•  Log errors with correlationId and sufficient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Clear naming, the right data types, ISO 8601 dates, and no unnecessary nesting turn a JSON payload into a payload teams can trust.   •   A five-step validation flow -- receive, validate, check, process or reject -- keeps bad data out and gives clients actionable errors.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STANDARDIZED API ERROR RESPONSES  ·  PAGINATION, FILTERING, AND SORTING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48274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STANDARD ERROR RESPONSE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4710"/>
            <a:ext cx="3675888" cy="3308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timestamp, status, error, message -- when, what code, and why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path -- the request path that caused the error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errorCode -- an application-specific code for programmatic handling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correlationId -- ties the error back to logs and traces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details / fieldErrors -- field-level validation messages when relevant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448274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THREE QUERY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954710"/>
            <a:ext cx="3675888" cy="249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Pagination: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page/size or cursor-based, e.g. ?page=2&amp;size=20&amp;sort=orderDate,desc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Filtering: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operators like eq, ne, gt, lt, in, like, between, e.g. ?status=in:NEW,PAID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Sorting: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sort=field,direction, supporting multiple fields for stable sort order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448274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954710"/>
            <a:ext cx="3675888" cy="2498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Always paginate large datasets -- never return unbounded lists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Set a maximum page size to prevent abuse (for example, max 100)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Return pagination metadata (totalElements, hasNext) in every paginated response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Whitelist allowed fields for filtering and sorting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error response should carry a timestamp, status, message, path, error code, and correlation ID so clients can handle it reliably.   •   Query parameters for page, filter operators, and sort direction keep large collections usable, performant, and predictable.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PARTIAL UPDATES WITH HTTP PATCH  ·  CONTENT NEGOTIATION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6"/>
            <a:ext cx="349946" cy="34994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6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298" y="1170436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WHY USE 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3599"/>
            <a:ext cx="5568696" cy="154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Partial update: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send only the fields that need to change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Smaller payloads, less bandwidth, and lower risk of overwriting unrelated fields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Works well with optimistic locking via ETags for safe concurrent updates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6"/>
            <a:ext cx="349946" cy="34994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6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8722" y="1170436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COMMON PATCH FORMATS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33599"/>
            <a:ext cx="5568696" cy="154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JSON Patch (RFC 6902):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operation-based -- {"op": "replace", "path": "/price", "value": 1099.99}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JSON Merge Patch (RFC 7386):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document-based partial body; fields set to null are removed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PATCH is not idempotent by default -- design idempotent operations when possible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87202"/>
            <a:ext cx="349946" cy="349946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87202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298" y="3287202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HOW CONTENT NEGOTIATION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50365"/>
            <a:ext cx="5568696" cy="1790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Client sends a request with an Accept header listing supported media types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Server evaluates and selects the best match it can produce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Server responds with the selected representation and a matching Content-Type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Client consumes the response in the agreed format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287202"/>
            <a:ext cx="349946" cy="349946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287202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8722" y="3287202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750365"/>
            <a:ext cx="5568696" cy="129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Always specify and honor Content-Type in responses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Prefer JSON as the default representation unless clients need something else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Use the Vary header for correct caching and proxy behavior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JSON Patch and JSON Merge Patch let a client update one or two fields on a resource without resending the entire representation.   •   The Accept header tells the server what formats a client can handle; the server picks the best match and returns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 VERSIONING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URI, query parameter, header, media type, and domain versioning each solve the same problem with different tradeoffs.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92109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92109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892109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FIVE COMMON VERSIONING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8545"/>
            <a:ext cx="5568696" cy="27685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URI path versioning: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/v1/orders/123 -- clear and explicit, widely understood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Query parameter versioning: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/orders/123?version=2 -- keeps the base URL clean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Header versioning: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Accept-Version: 2 -- keeps the URL itself clean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Media type versioning: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Accept: application/vnd.myapi.order+json;v=2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Domain versioning: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v1.api.example.com -- strong separation, more operational overhead</a:t>
            </a:r>
          </a:p>
        </p:txBody>
      </p:sp>
      <p:sp>
        <p:nvSpPr>
          <p:cNvPr id="8" name="Oval 7"/>
          <p:cNvSpPr/>
          <p:nvPr/>
        </p:nvSpPr>
        <p:spPr>
          <a:xfrm>
            <a:off x="6135624" y="1892109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35624" y="1892109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417" y="1892109"/>
            <a:ext cx="5112903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WHEN TO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2398545"/>
            <a:ext cx="5568696" cy="1147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Version for breaking changes: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removed fields, changed types, new required fields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Do not version for additive, backward-compatible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URI, query parameter, header, media type, and domain versioning each solve the same problem with different tradeoffs.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19 - API Versioning Overview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 - API Versioning 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BACKWARD-COMPATIBLE API EVOLUTION  ·  IDEMPOTENCY KEYS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6"/>
            <a:ext cx="349946" cy="349946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6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0298" y="1170436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SAFE (BACKWARD-COMPATIBLE)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33599"/>
            <a:ext cx="5568696" cy="129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Add new optional fields to requests or responses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Add new resources or endpoints that don't affect existing ones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Add new enum values that old clients can gracefully ignore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6"/>
            <a:ext cx="349946" cy="349946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6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8722" y="1170436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CHANGES THAT BREAK COMPATIBILITY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33599"/>
            <a:ext cx="5568696" cy="1049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Removing or renaming fields or endpoints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Changing the meaning, type, or default behavior of a field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Making a previously optional field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40182"/>
            <a:ext cx="349946" cy="349946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40182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298" y="3040182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HOW IDEMPOTENCY KEYS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03345"/>
            <a:ext cx="5568696" cy="2037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Client sends a unique Idempotency-Key header with the request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Server checks whether that key has already been processed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If new: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process the request and store the response keyed by that value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63" b="1" i="0">
                <a:solidFill>
                  <a:srgbClr val="000000"/>
                </a:solidFill>
                <a:latin typeface="Nirmala UI"/>
              </a:rPr>
              <a:t>If it exists: </a:t>
            </a:r>
            <a:r>
              <a:rPr sz="1463" b="0" i="0">
                <a:solidFill>
                  <a:srgbClr val="000000"/>
                </a:solidFill>
                <a:latin typeface="Nirmala UI"/>
              </a:rPr>
              <a:t>return the original stored response instead of reprocessing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040182"/>
            <a:ext cx="349946" cy="349946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040182"/>
            <a:ext cx="349946" cy="349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8722" y="3040182"/>
            <a:ext cx="5145598" cy="349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63" b="1" i="0">
                <a:solidFill>
                  <a:srgbClr val="D1282E"/>
                </a:solidFill>
                <a:latin typeface="Nirmala UI"/>
              </a:rPr>
              <a:t>COMMON USE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503345"/>
            <a:ext cx="5568696" cy="12968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Payment processing -- avoid double charges on retry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Order creation -- prevent duplicate orders from network retries</a:t>
            </a:r>
          </a:p>
          <a:p>
            <a:pPr>
              <a:spcBef>
                <a:spcPts val="0"/>
              </a:spcBef>
              <a:spcAft>
                <a:spcPts val="337"/>
              </a:spcAft>
            </a:pPr>
            <a:r>
              <a:rPr sz="1463" b="0" i="0">
                <a:solidFill>
                  <a:srgbClr val="000000"/>
                </a:solidFill>
                <a:latin typeface="Nirmala UI"/>
              </a:rPr>
              <a:t>•  Scope keys to the resource or tenant and set a reasonable TTL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New optional fields and new endpoints are safe; removing fields, renaming fields, or changing meaning are breaking changes that need a version.   •   Same key, same result: a client-generated idempotency key lets the server return the original response instead of processing a duplicate.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CORRELATION AND TRACE IDENTIFIERS  ·  API DOCUMENTATION WITH OPENAPI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70437"/>
            <a:ext cx="371481" cy="37148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833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WHAT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2103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Correlation and trace identifiers uniquely tag a request as it flows across services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They let teams correlate logs, metrics, and traces for faster troubleshooting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Essential when a single user request touches many services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70437"/>
            <a:ext cx="371481" cy="37148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70437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0257" y="1170437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62103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Generate the trace ID at the edge (API gateway or entry point)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Propagate it in HTTP headers and messaging metadata everywhere downstream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Log the trace ID consistently in every log statement across every service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410712"/>
            <a:ext cx="371481" cy="37148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833" y="3410712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WHAT OPENAPI PROVIDES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02378"/>
            <a:ext cx="5568696" cy="1638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A standard (formerly Swagger) format for describing REST APIs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Documents endpoints, methods, request/response schemas, and status codes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Powers interactive documentation (Swagger UI), client generation, and contract testing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3410712"/>
            <a:ext cx="371481" cy="371481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3410712"/>
            <a:ext cx="371481" cy="3714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33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0257" y="3410712"/>
            <a:ext cx="5124063" cy="37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3" b="1" i="0">
                <a:solidFill>
                  <a:srgbClr val="D1282E"/>
                </a:solidFill>
                <a:latin typeface="Nirmala UI"/>
              </a:rPr>
              <a:t>BEST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902378"/>
            <a:ext cx="5568696" cy="137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Keep the spec versioned alongside the code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Define all responses, including errors, with clear descriptions</a:t>
            </a:r>
          </a:p>
          <a:p>
            <a:pPr>
              <a:spcBef>
                <a:spcPts val="0"/>
              </a:spcBef>
              <a:spcAft>
                <a:spcPts val="358"/>
              </a:spcAft>
            </a:pPr>
            <a:r>
              <a:rPr sz="1553" b="0" i="0">
                <a:solidFill>
                  <a:srgbClr val="000000"/>
                </a:solidFill>
                <a:latin typeface="Nirmala UI"/>
              </a:rPr>
              <a:t>•  Validate the spec in CI/CD (for example, with Spectral)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trace ID created at the API gateway and propagated through every downstream call turns scattered logs into one connected story.   •   Define, serve, visualize, automate, and collaborate: OpenAPI documentation keeps a REST API discoverable and its contract enforceable.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20 - OpenAPI Documentation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 - OpenAPI Documen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CONTRACT-FIRST VS. CODE-FIRST API DEVELOPMENT  ·  CONSUMER-DRIVEN API DESIGN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448274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2993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CONTRACT-FIRST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4710"/>
            <a:ext cx="3675888" cy="2228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Define the OpenAPI contract, review and agree with consumers, then implement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Strong collaboration and alignment; enables true parallel development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Best when multiple teams or external consumers depend on the API</a:t>
            </a:r>
          </a:p>
        </p:txBody>
      </p:sp>
      <p:sp>
        <p:nvSpPr>
          <p:cNvPr id="7" name="Oval 6"/>
          <p:cNvSpPr/>
          <p:nvPr/>
        </p:nvSpPr>
        <p:spPr>
          <a:xfrm>
            <a:off x="4242816" y="1448274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42816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609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CODE-FIRST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954710"/>
            <a:ext cx="3675888" cy="2228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Implement the API in code, then generate the OpenAPI spec from it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Faster start, documentation always reflects the code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Best for internal, simple CRUD-style APIs owned end to end by one team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2" y="1448274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2" y="1448274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4225" y="1448274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THE CDAD 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2" y="1954710"/>
            <a:ext cx="3675888" cy="3308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Consumer identifies a need: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 use case and required data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Consumer writes a contract defining the expected request/response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Provider implements the API to satisfy the contract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Provider runs contract verification tests to confirm compliance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Deploy and monitor, feeding real usage back into future contracts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50992"/>
            <a:ext cx="10972800" cy="85953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50992"/>
            <a:ext cx="10607040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Contract-first suits multi-team, business-critical APIs; code-first suits fast-moving internal APIs owned end to end by one team.   •   Consumers define the contract as executable tests; providers implement to satisfy it, catching breaking changes before 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REST API SECURITY CONSIDERATIONS  ·  REST API DESIGN ANTI-PATTERNS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190927"/>
            <a:ext cx="326722" cy="32672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90927"/>
            <a:ext cx="326722" cy="326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1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074" y="1190927"/>
            <a:ext cx="5168822" cy="326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6" b="1" i="0">
                <a:solidFill>
                  <a:srgbClr val="D1282E"/>
                </a:solidFill>
                <a:latin typeface="Nirmala UI"/>
              </a:rPr>
              <a:t>COMMON API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3353"/>
            <a:ext cx="5568696" cy="98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Broken authentication and broken authorization (IDOR)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Injection attacks, sensitive data exposure, security misconfiguration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Insufficient logging and monitoring</a:t>
            </a:r>
          </a:p>
        </p:txBody>
      </p:sp>
      <p:sp>
        <p:nvSpPr>
          <p:cNvPr id="7" name="Oval 6"/>
          <p:cNvSpPr/>
          <p:nvPr/>
        </p:nvSpPr>
        <p:spPr>
          <a:xfrm>
            <a:off x="6135624" y="1190927"/>
            <a:ext cx="326722" cy="32672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1190927"/>
            <a:ext cx="326722" cy="326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1" b="1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5498" y="1190927"/>
            <a:ext cx="5168822" cy="326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6" b="1" i="0">
                <a:solidFill>
                  <a:srgbClr val="D1282E"/>
                </a:solidFill>
                <a:latin typeface="Nirmala UI"/>
              </a:rPr>
              <a:t>SECURE API DESIGN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623353"/>
            <a:ext cx="5568696" cy="1210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Validate everything -- all inputs, headers, and parameters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Use HTTPS everywhere and enforce TLS 1.2 or higher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Minimize data exposure -- return only what's necessary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Rate limit and throttle to prevent abuse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43872"/>
            <a:ext cx="326722" cy="326722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43872"/>
            <a:ext cx="326722" cy="326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1" b="1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074" y="2943872"/>
            <a:ext cx="5168822" cy="326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6" b="1" i="0">
                <a:solidFill>
                  <a:srgbClr val="D1282E"/>
                </a:solidFill>
                <a:latin typeface="Nirmala UI"/>
              </a:rPr>
              <a:t>ANTI-PATTERNS TO AVOID (1 OF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76298"/>
            <a:ext cx="5568696" cy="2133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CRUD-everywhere naming (/getUsers) instead of resource nouns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Over-using query parameters instead of clean filters and pagination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Exposing internal database structures directly in responses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Ignoring HTTP status codes and always returning 200 OK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Over- or under-fetching data with no field selection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No pagination on large collections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135624" y="2943872"/>
            <a:ext cx="326722" cy="326722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5624" y="2943872"/>
            <a:ext cx="326722" cy="326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61" b="1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5498" y="2943872"/>
            <a:ext cx="5168822" cy="326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66" b="1" i="0">
                <a:solidFill>
                  <a:srgbClr val="D1282E"/>
                </a:solidFill>
                <a:latin typeface="Nirmala UI"/>
              </a:rPr>
              <a:t>ANTI-PATTERNS TO AVOID (2 OF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3376298"/>
            <a:ext cx="5568696" cy="23639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Inconsistent naming, casing, and error formats across endpoints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Using GET for operations that have side effects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Tunneling every verb through POST with a _method override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Leaking sensitive information in stack traces or error details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Versioning in the wrong way, locking the API into one rigid scheme</a:t>
            </a:r>
          </a:p>
          <a:p>
            <a:pPr>
              <a:spcBef>
                <a:spcPts val="0"/>
              </a:spcBef>
              <a:spcAft>
                <a:spcPts val="315"/>
              </a:spcAft>
            </a:pPr>
            <a:r>
              <a:rPr sz="1366" b="0" i="0">
                <a:solidFill>
                  <a:srgbClr val="000000"/>
                </a:solidFill>
                <a:latin typeface="Nirmala UI"/>
              </a:rPr>
              <a:t>•  Chatty, overly fine-grained APIs that require many round trips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70448"/>
            <a:ext cx="10972800" cy="64008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58704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Authenticate, authorize, validate, and encrypt at every layer -- from the client request through business logic to data access.   •   From CRUD-everywhere naming to always returning 200 OK, each anti-pattern has a simple, resource-oriented fix.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e-diagram:109 - REST API Design Checklist.p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9 - REST API Design 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9" y="0"/>
            <a:ext cx="1028700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709" y="6642556"/>
            <a:ext cx="434614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1.2 — DESIGN ACCOUNT SERVICE APIS AND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Module 2 checkpoint B — REST resources, status transitions, OpenAPI sketch.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4578"/>
            <a:ext cx="382641" cy="382641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94578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993" y="1594578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1014"/>
            <a:ext cx="3675888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REST resources, status transitions, OpenAPI sketch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15 min · design checkpoint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Worksheet: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curriculum/day-01/exercises/exercise-1.2-account-apis.md</a:t>
            </a:r>
          </a:p>
        </p:txBody>
      </p:sp>
      <p:sp>
        <p:nvSpPr>
          <p:cNvPr id="8" name="Oval 7"/>
          <p:cNvSpPr/>
          <p:nvPr/>
        </p:nvSpPr>
        <p:spPr>
          <a:xfrm>
            <a:off x="4242816" y="1594578"/>
            <a:ext cx="382641" cy="382641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2816" y="1594578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609" y="1594578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DO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2816" y="2101014"/>
            <a:ext cx="3675888" cy="3308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Resource is an account. Sketch POST / GET / PATCH and activate / freeze / close (no DELETE)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Status machine: PENDING → ACTIVE → FROZEN or CLOSED; freeze PENDING is 409; FROZEN can activate; retries return 200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/>
            </a:r>
            <a:r>
              <a:rPr sz="16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List 400 / 404 / 409 cases; note OpenAPI + Actuator as Lab 1 deliverables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Draw the bounded context: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Account owns accounts only — not transactions, not risk scores</a:t>
            </a:r>
          </a:p>
        </p:txBody>
      </p:sp>
      <p:sp>
        <p:nvSpPr>
          <p:cNvPr id="12" name="Oval 11"/>
          <p:cNvSpPr/>
          <p:nvPr/>
        </p:nvSpPr>
        <p:spPr>
          <a:xfrm>
            <a:off x="8028432" y="1594578"/>
            <a:ext cx="382641" cy="382641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28432" y="1594578"/>
            <a:ext cx="382641" cy="3826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76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4225" y="1594578"/>
            <a:ext cx="3220095" cy="382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1282E"/>
                </a:solidFill>
                <a:latin typeface="Nirmala UI"/>
              </a:rPr>
              <a:t>EXPECTED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2" y="2101014"/>
            <a:ext cx="3675888" cy="1688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A one-page Account API sketch that Lab 1 can implement without changing URLs tomorrow.</a:t>
            </a:r>
          </a:p>
          <a:p>
            <a:pPr>
              <a:spcBef>
                <a:spcPts val="0"/>
              </a:spcBef>
              <a:spcAft>
                <a:spcPts val="369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Use this contract in Lab 1. Do not add Customer or Notification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one-page Account API sketch that Lab 1 can implement without changing URLs tomorrow.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146005</Words>
  <Application>Microsoft Office PowerPoint</Application>
  <PresentationFormat>Widescreen</PresentationFormat>
  <Paragraphs>24952</Paragraphs>
  <Slides>181</Slides>
  <Notes>181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181</vt:i4>
      </vt:variant>
    </vt:vector>
  </HeadingPairs>
  <TitlesOfParts>
    <vt:vector size="186" baseType="lpstr">
      <vt:lpstr>Arial</vt:lpstr>
      <vt:lpstr>Calibri</vt:lpstr>
      <vt:lpstr>Leelawadee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Gurinderjeet Kaur</cp:lastModifiedBy>
  <cp:revision>7</cp:revision>
  <dcterms:created xsi:type="dcterms:W3CDTF">2013-01-27T09:14:16Z</dcterms:created>
  <dcterms:modified xsi:type="dcterms:W3CDTF">2026-09-13T22:21:09Z</dcterms:modified>
  <cp:category/>
</cp:coreProperties>
</file>