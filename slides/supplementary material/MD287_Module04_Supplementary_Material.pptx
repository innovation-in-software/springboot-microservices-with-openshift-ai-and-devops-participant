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8" r:id="rId4"/>
    <p:sldId id="260" r:id="rId5"/>
    <p:sldId id="259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3" r:id="rId18"/>
    <p:sldId id="274" r:id="rId19"/>
    <p:sldId id="271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1" r:id="rId30"/>
    <p:sldId id="284" r:id="rId31"/>
    <p:sldId id="285" r:id="rId32"/>
    <p:sldId id="286" r:id="rId33"/>
    <p:sldId id="287" r:id="rId34"/>
    <p:sldId id="288" r:id="rId35"/>
    <p:sldId id="290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965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Why data is the hard part</a:t>
            </a:r>
          </a:p>
          <a:p>
            <a:endParaRPr/>
          </a:p>
          <a:p>
            <a:r>
              <a:t>  In a monolith, one database transaction can update accounts, transactions, and audit rows together.</a:t>
            </a:r>
          </a:p>
          <a:p>
            <a:endParaRPr/>
          </a:p>
          <a:p>
            <a:r>
              <a:t>  Once each service owns its data, that convenience disappears.</a:t>
            </a:r>
          </a:p>
          <a:p>
            <a:endParaRPr/>
          </a:p>
          <a:p>
            <a:r>
              <a:t>  Cross-service joins, reporting, and all-or-nothing updates all need deliberate design.</a:t>
            </a:r>
          </a:p>
          <a:p>
            <a:endParaRPr/>
          </a:p>
          <a:p>
            <a:r>
              <a:t>  Frame the module as learning which guarantees stay local and which become workflows.</a:t>
            </a:r>
          </a:p>
          <a:p>
            <a:endParaRPr/>
          </a:p>
          <a:p>
            <a:r>
              <a:t>  For example, a local transaction inside Transaction Service stays local.</a:t>
            </a:r>
          </a:p>
          <a:p>
            <a:endParaRPr/>
          </a:p>
          <a:p>
            <a:r>
              <a:t>  Events and sagas between services become workflows.</a:t>
            </a:r>
          </a:p>
          <a:p>
            <a:endParaRPr/>
          </a:p>
          <a:p>
            <a:r>
              <a:t>- How the module maps to Lab 2</a:t>
            </a:r>
          </a:p>
          <a:p>
            <a:endParaRPr/>
          </a:p>
          <a:p>
            <a:r>
              <a:t>  Everything here shows up in the lab.</a:t>
            </a:r>
          </a:p>
          <a:p>
            <a:endParaRPr/>
          </a:p>
          <a:p>
            <a:r>
              <a:t>  Database-per-service becomes transaction_db, separate from account_db.</a:t>
            </a:r>
          </a:p>
          <a:p>
            <a:endParaRPr/>
          </a:p>
          <a:p>
            <a:r>
              <a:t>  Spring Data JPA and Flyway become the Transaction entity and its repository.</a:t>
            </a:r>
          </a:p>
          <a:p>
            <a:endParaRPr/>
          </a:p>
          <a:p>
            <a:r>
              <a:t>  They also become V1__create_transactions.sql, with ddl-auto set to validate.</a:t>
            </a:r>
          </a:p>
          <a:p>
            <a:endParaRPr/>
          </a:p>
          <a:p>
            <a:r>
              <a:t>  Local transactions become the @Transactional create method.</a:t>
            </a:r>
          </a:p>
          <a:p>
            <a:endParaRPr/>
          </a:p>
          <a:p>
            <a:r>
              <a:t>  Saga, outbox, and eventual consistency are taught as concepts.</a:t>
            </a:r>
          </a:p>
          <a:p>
            <a:endParaRPr/>
          </a:p>
          <a:p>
            <a:r>
              <a:t>  The outbox is a prebuilt demo only.</a:t>
            </a:r>
          </a:p>
          <a:p>
            <a:endParaRPr/>
          </a:p>
          <a:p>
            <a:r>
              <a:t>  Participants do not build it today.</a:t>
            </a:r>
          </a:p>
          <a:p>
            <a:endParaRPr/>
          </a:p>
          <a:p>
            <a:r>
              <a:t>- Checkpoint at the end</a:t>
            </a:r>
          </a:p>
          <a:p>
            <a:endParaRPr/>
          </a:p>
          <a:p>
            <a:r>
              <a:t>  The module closes with Exercise 2.1, Map Data Ownership for Account vs Transaction.</a:t>
            </a:r>
          </a:p>
          <a:p>
            <a:endParaRPr/>
          </a:p>
          <a:p>
            <a:r>
              <a:t>  Participants produce a two-column ownership map with zero shared tables.</a:t>
            </a:r>
          </a:p>
          <a:p>
            <a:endParaRPr/>
          </a:p>
          <a:p>
            <a:r>
              <a:t>  Accounts live only in account_db.</a:t>
            </a:r>
          </a:p>
          <a:p>
            <a:endParaRPr/>
          </a:p>
          <a:p>
            <a:r>
              <a:t>  Transactions live only in transaction_db.</a:t>
            </a:r>
          </a:p>
          <a:p>
            <a:endParaRPr/>
          </a:p>
          <a:p>
            <a:r>
              <a:t>  accountId is stored as a plain reference, not a cross-service foreign key.</a:t>
            </a:r>
          </a:p>
          <a:p>
            <a:endParaRPr/>
          </a:p>
          <a:p>
            <a:r>
              <a:t>  Eligibility is checked with a REST GET, not a SQL join.</a:t>
            </a:r>
          </a:p>
          <a:p>
            <a:endParaRPr/>
          </a:p>
          <a:p>
            <a:r>
              <a:t>  Mention it now so participants listen with that map in mind.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Many banks run core account ledgers, card platforms, and fraud engines as separate systems.</a:t>
            </a:r>
          </a:p>
          <a:p>
            <a:endParaRPr/>
          </a:p>
          <a:p>
            <a:r>
              <a:t>  Different teams own them.</a:t>
            </a:r>
          </a:p>
          <a:p>
            <a:endParaRPr/>
          </a:p>
          <a:p>
            <a:r>
              <a:t>  The systems integrate through interfaces and messages.</a:t>
            </a:r>
          </a:p>
          <a:p>
            <a:endParaRPr/>
          </a:p>
          <a:p>
            <a:r>
              <a:t>  One team does not write directly into another team's tables.</a:t>
            </a:r>
          </a:p>
          <a:p>
            <a:endParaRPr/>
          </a:p>
          <a:p>
            <a:r>
              <a:t>  This module applies that same ownership discipline at microservice scale.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Set up the module with a question.</a:t>
            </a:r>
          </a:p>
          <a:p>
            <a:endParaRPr/>
          </a:p>
          <a:p>
            <a:r>
              <a:t>The Transaction Service needs to know whether an account is ACTIVE.</a:t>
            </a:r>
          </a:p>
          <a:p>
            <a:endParaRPr/>
          </a:p>
          <a:p>
            <a:r>
              <a:t>The fastest-looking option is to connect to account_db and run a SELECT.</a:t>
            </a:r>
          </a:p>
          <a:p>
            <a:endParaRPr/>
          </a:p>
          <a:p>
            <a:r>
              <a:t>Ask what happens next sprint, when the Account team renames the status column or adds a new status value.</a:t>
            </a:r>
          </a:p>
          <a:p>
            <a:endParaRPr/>
          </a:p>
          <a:p>
            <a:r>
              <a:t>The rest of the module explains the capstone's choice instead.</a:t>
            </a:r>
          </a:p>
          <a:p>
            <a:endParaRPr/>
          </a:p>
          <a:p>
            <a:r>
              <a:t>It calls the Account Service API and keeps each database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Day 2 Objectives column</a:t>
            </a:r>
          </a:p>
          <a:p>
            <a:endParaRPr/>
          </a:p>
          <a:p>
            <a:r>
              <a:t>  The image lists building the Account microservice, persistence with Spring Data JPA, and REST APIs tested with Postman.</a:t>
            </a:r>
          </a:p>
          <a:p>
            <a:endParaRPr/>
          </a:p>
          <a:p>
            <a:r>
              <a:t>  It also lists validation and exception handling, and unit tests.</a:t>
            </a:r>
          </a:p>
          <a:p>
            <a:endParaRPr/>
          </a:p>
          <a:p>
            <a:r>
              <a:t>  Only the JPA item matches today.</a:t>
            </a:r>
          </a:p>
          <a:p>
            <a:endParaRPr/>
          </a:p>
          <a:p>
            <a:r>
              <a:t>  State the real Day 2 objectives instead.</a:t>
            </a:r>
          </a:p>
          <a:p>
            <a:endParaRPr/>
          </a:p>
          <a:p>
            <a:r>
              <a:t>  First, database-per-service and Spring Data JPA.</a:t>
            </a:r>
          </a:p>
          <a:p>
            <a:endParaRPr/>
          </a:p>
          <a:p>
            <a:r>
              <a:t>  Second, Flyway migrations and local transactions.</a:t>
            </a:r>
          </a:p>
          <a:p>
            <a:endParaRPr/>
          </a:p>
          <a:p>
            <a:r>
              <a:t>  Third, eventual consistency, with saga and outbox as concepts.</a:t>
            </a:r>
          </a:p>
          <a:p>
            <a:endParaRPr/>
          </a:p>
          <a:p>
            <a:r>
              <a:t>  Fourth, synchronous REST versus asynchronous messaging.</a:t>
            </a:r>
          </a:p>
          <a:p>
            <a:endParaRPr/>
          </a:p>
          <a:p>
            <a:r>
              <a:t>  Fifth, Kafka on Red Hat AMQ Streams, with produce, consume, correlation IDs, idempotency, and dead-letter handling.</a:t>
            </a:r>
          </a:p>
          <a:p>
            <a:endParaRPr/>
          </a:p>
          <a:p>
            <a:r>
              <a:t>- Capstone Progress tracker</a:t>
            </a:r>
          </a:p>
          <a:p>
            <a:endParaRPr/>
          </a:p>
          <a:p>
            <a:r>
              <a:t>  The tracker shows five stages, with Day 2 as Core Functionality and Finalization on Day 4.</a:t>
            </a:r>
          </a:p>
          <a:p>
            <a:endParaRPr/>
          </a:p>
          <a:p>
            <a:r>
              <a:t>  That does not match this five-day course.</a:t>
            </a:r>
          </a:p>
          <a:p>
            <a:endParaRPr/>
          </a:p>
          <a:p>
            <a:r>
              <a:t>  Give the correct sequence.</a:t>
            </a:r>
          </a:p>
          <a:p>
            <a:endParaRPr/>
          </a:p>
          <a:p>
            <a:r>
              <a:t>  Day 1 Account Service is done.</a:t>
            </a:r>
          </a:p>
          <a:p>
            <a:endParaRPr/>
          </a:p>
          <a:p>
            <a:r>
              <a:t>  Day 2 adds Transaction Service with REST validation and Kafka events.</a:t>
            </a:r>
          </a:p>
          <a:p>
            <a:endParaRPr/>
          </a:p>
          <a:p>
            <a:r>
              <a:t>  Day 3 adds JWT security, Resilience4j, and tests.</a:t>
            </a:r>
          </a:p>
          <a:p>
            <a:endParaRPr/>
          </a:p>
          <a:p>
            <a:r>
              <a:t>  Day 4 adds observability, containers, OpenShift, and CI/CD.</a:t>
            </a:r>
          </a:p>
          <a:p>
            <a:endParaRPr/>
          </a:p>
          <a:p>
            <a:r>
              <a:t>  Day 5 adds the Risk Assessment Service with OpenShift AI and the capstone demonstration.</a:t>
            </a:r>
          </a:p>
          <a:p>
            <a:endParaRPr/>
          </a:p>
          <a:p>
            <a:r>
              <a:t>- Capstone Goal banner</a:t>
            </a:r>
          </a:p>
          <a:p>
            <a:endParaRPr/>
          </a:p>
          <a:p>
            <a:r>
              <a:t>  The banner says the goal is a fully functional Account microservice.</a:t>
            </a:r>
          </a:p>
          <a:p>
            <a:endParaRPr/>
          </a:p>
          <a:p>
            <a:r>
              <a:t>  For today, restate it as a two-service workflow.</a:t>
            </a:r>
          </a:p>
          <a:p>
            <a:endParaRPr/>
          </a:p>
          <a:p>
            <a:r>
              <a:t>  That is Account Service plus Transaction Service, each with its own PostgreSQL database.</a:t>
            </a:r>
          </a:p>
          <a:p>
            <a:endParaRPr/>
          </a:p>
          <a:p>
            <a:r>
              <a:t>  A REST eligibility check and TransactionSubmitted events connect them.</a:t>
            </a:r>
          </a:p>
          <a:p>
            <a:endParaRPr/>
          </a:p>
          <a:p>
            <a:r>
              <a:t>  Also note that the labs use curl.exe from PowerShell and Swagger UI to exercise APIs, not Postman.</a:t>
            </a:r>
          </a:p>
          <a:p>
            <a:endParaRPr/>
          </a:p>
          <a:p>
            <a:r>
              <a:t>  That way participants do not look for a Postman collection.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Incremental delivery is how banks usually modernise.</a:t>
            </a:r>
          </a:p>
          <a:p>
            <a:endParaRPr/>
          </a:p>
          <a:p>
            <a:r>
              <a:t>  One well-bounded capability goes live first.</a:t>
            </a:r>
          </a:p>
          <a:p>
            <a:endParaRPr/>
          </a:p>
          <a:p>
            <a:r>
              <a:t>  Then the next capability integrates with it through an API.</a:t>
            </a:r>
          </a:p>
          <a:p>
            <a:endParaRPr/>
          </a:p>
          <a:p>
            <a:r>
              <a:t>  The capstone mirrors that, with Account Service first and Transaction Service consuming it today.</a:t>
            </a:r>
          </a:p>
          <a:p>
            <a:endParaRPr/>
          </a:p>
          <a:p>
            <a:r>
              <a:t>- Program dashboards in large IT organisations often drift out of date as scope changes.</a:t>
            </a:r>
          </a:p>
          <a:p>
            <a:endParaRPr/>
          </a:p>
          <a:p>
            <a:r>
              <a:t>  Checking status against the current plan before a steering meeting is standard practice.</a:t>
            </a:r>
          </a:p>
          <a:p>
            <a:endParaRPr/>
          </a:p>
          <a:p>
            <a:r>
              <a:t>  That is what you are doing with this slide.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Tell participants to picture a sprint review for the risk platform.</a:t>
            </a:r>
          </a:p>
          <a:p>
            <a:endParaRPr/>
          </a:p>
          <a:p>
            <a:r>
              <a:t>Last sprint, the team demoed account creation and freeze.</a:t>
            </a:r>
          </a:p>
          <a:p>
            <a:endParaRPr/>
          </a:p>
          <a:p>
            <a:r>
              <a:t>This sprint, the product owner wants to see a debit submitted against an ACTIVE account and rejected against a FROZEN one.</a:t>
            </a:r>
          </a:p>
          <a:p>
            <a:endParaRPr/>
          </a:p>
          <a:p>
            <a:r>
              <a:t>They also want to see an event on Kafka.</a:t>
            </a:r>
          </a:p>
          <a:p>
            <a:endParaRPr/>
          </a:p>
          <a:p>
            <a:r>
              <a:t>Next sprint, security wants JWT on both services.</a:t>
            </a:r>
          </a:p>
          <a:p>
            <a:endParaRPr/>
          </a:p>
          <a:p>
            <a:r>
              <a:t>That sequence is exactly Days 1, 2, and 3 of this course.</a:t>
            </a:r>
          </a:p>
          <a:p>
            <a:endParaRPr/>
          </a:p>
          <a:p>
            <a:r>
              <a:t>Keeping it clear stops people trying to finish everything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Data Ownership in Microservices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BANKING OWNERSHIP EXAMPLE</a:t>
            </a:r>
          </a:p>
          <a:p>
            <a:endParaRPr/>
          </a:p>
          <a:p>
            <a:r>
              <a:t>  Map the three capstone services.</a:t>
            </a:r>
          </a:p>
          <a:p>
            <a:endParaRPr/>
          </a:p>
          <a:p>
            <a:r>
              <a:t>  Account Service owns account records, status, nickname, and a customerId field.</a:t>
            </a:r>
          </a:p>
          <a:p>
            <a:endParaRPr/>
          </a:p>
          <a:p>
            <a:r>
              <a:t>  It stores only the synthetic customer ID, such as CUST-0001, not a customer profile.</a:t>
            </a:r>
          </a:p>
          <a:p>
            <a:endParaRPr/>
          </a:p>
          <a:p>
            <a:r>
              <a:t>  Transaction Service owns transaction ledger entries in transaction_db.</a:t>
            </a:r>
          </a:p>
          <a:p>
            <a:endParaRPr/>
          </a:p>
          <a:p>
            <a:r>
              <a:t>  Risk Assessment Service is built on Day 5 with its own risk_db.</a:t>
            </a:r>
          </a:p>
          <a:p>
            <a:endParaRPr/>
          </a:p>
          <a:p>
            <a:r>
              <a:t>  It owns risk scores, the policy disposition, and audit fields.</a:t>
            </a:r>
          </a:p>
          <a:p>
            <a:endParaRPr/>
          </a:p>
          <a:p>
            <a:r>
              <a:t>  Note that Account Service is listed twice on the slide.</a:t>
            </a:r>
          </a:p>
          <a:p>
            <a:endParaRPr/>
          </a:p>
          <a:p>
            <a:r>
              <a:t>  Both lines describe the same ownership.</a:t>
            </a:r>
          </a:p>
          <a:p>
            <a:endParaRPr/>
          </a:p>
          <a:p>
            <a:r>
              <a:t>- WHY OWNERSHIP MATTERS</a:t>
            </a:r>
          </a:p>
          <a:p>
            <a:endParaRPr/>
          </a:p>
          <a:p>
            <a:r>
              <a:t>  When one service owns a table, its team can change it freely.</a:t>
            </a:r>
          </a:p>
          <a:p>
            <a:endParaRPr/>
          </a:p>
          <a:p>
            <a:r>
              <a:t>  They can add a column, add an index, or change a status value.</a:t>
            </a:r>
          </a:p>
          <a:p>
            <a:endParaRPr/>
          </a:p>
          <a:p>
            <a:r>
              <a:t>  Then they deploy without negotiating a release date with other teams.</a:t>
            </a:r>
          </a:p>
          <a:p>
            <a:endParaRPr/>
          </a:p>
          <a:p>
            <a:r>
              <a:t>  Other services use the owner's REST API, subscribe to its events, or keep their own read model.</a:t>
            </a:r>
          </a:p>
          <a:p>
            <a:endParaRPr/>
          </a:p>
          <a:p>
            <a:r>
              <a:t>  A read model is a local copy shaped for their own queries.</a:t>
            </a:r>
          </a:p>
          <a:p>
            <a:endParaRPr/>
          </a:p>
          <a:p>
            <a:r>
              <a:t>  In Lab 2, Transaction Service learns account status with a REST GET to Account Service.</a:t>
            </a:r>
          </a:p>
          <a:p>
            <a:endParaRPr/>
          </a:p>
          <a:p>
            <a:r>
              <a:t>  It stores only the account_id it received.</a:t>
            </a:r>
          </a:p>
          <a:p>
            <a:endParaRPr/>
          </a:p>
          <a:p>
            <a:r>
              <a:t>  It never joins to the accounts table.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card authorisation platform typically asks the account system whether an account can be debited.</a:t>
            </a:r>
          </a:p>
          <a:p>
            <a:endParaRPr/>
          </a:p>
          <a:p>
            <a:r>
              <a:t>  It does not read the ledger database directly.</a:t>
            </a:r>
          </a:p>
          <a:p>
            <a:endParaRPr/>
          </a:p>
          <a:p>
            <a:r>
              <a:t>  The account system keeps control of its own rules, such as blocks, holds, and frozen status.</a:t>
            </a:r>
          </a:p>
          <a:p>
            <a:endParaRPr/>
          </a:p>
          <a:p>
            <a:r>
              <a:t>  Every consumer gets the same answer.</a:t>
            </a:r>
          </a:p>
          <a:p>
            <a:endParaRPr/>
          </a:p>
          <a:p>
            <a:r>
              <a:t>- In many banks, a statement generation job queries operational tables directly.</a:t>
            </a:r>
          </a:p>
          <a:p>
            <a:endParaRPr/>
          </a:p>
          <a:p>
            <a:r>
              <a:t>  That job then becomes the reason a schema change is postponed.</a:t>
            </a:r>
          </a:p>
          <a:p>
            <a:endParaRPr/>
          </a:p>
          <a:p>
            <a:r>
              <a:t>  Feeding statements from events or a reporting extract removes that hidden dependency.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the capstone, a compliance analyst asks why a debit was rejected.</a:t>
            </a:r>
          </a:p>
          <a:p>
            <a:endParaRPr/>
          </a:p>
          <a:p>
            <a:r>
              <a:t>Because ownership is clear, the answer is traceable.</a:t>
            </a:r>
          </a:p>
          <a:p>
            <a:endParaRPr/>
          </a:p>
          <a:p>
            <a:r>
              <a:t>Transaction Service logged that Account Service returned FROZEN for that accountId.</a:t>
            </a:r>
          </a:p>
          <a:p>
            <a:endParaRPr/>
          </a:p>
          <a:p>
            <a:r>
              <a:t>Account Service owns the record of when the freeze happened.</a:t>
            </a:r>
          </a:p>
          <a:p>
            <a:endParaRPr/>
          </a:p>
          <a:p>
            <a:r>
              <a:t>On Day 5, the Risk Assessment Service owns any score and disposition.</a:t>
            </a:r>
          </a:p>
          <a:p>
            <a:endParaRPr/>
          </a:p>
          <a:p>
            <a:r>
              <a:t>Each question goes to exactly one owner.</a:t>
            </a:r>
          </a:p>
          <a:p>
            <a:endParaRPr/>
          </a:p>
          <a:p>
            <a:r>
              <a:t>It does not go to a shared database that nobody fully controls.</a:t>
            </a:r>
          </a:p>
          <a:p>
            <a:endParaRPr/>
          </a:p>
          <a:p>
            <a:endParaRPr/>
          </a:p>
          <a:p>
            <a:r>
              <a:t>TOPIC 2 OF 2: Database per Service Pattern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BAD DESIGN: SHARED DATABASE</a:t>
            </a:r>
          </a:p>
          <a:p>
            <a:endParaRPr/>
          </a:p>
          <a:p>
            <a:r>
              <a:t>  With shared_bank_db, the services look separate in the code base.</a:t>
            </a:r>
          </a:p>
          <a:p>
            <a:endParaRPr/>
          </a:p>
          <a:p>
            <a:r>
              <a:t>  Each has its own repository and deployment.</a:t>
            </a:r>
          </a:p>
          <a:p>
            <a:endParaRPr/>
          </a:p>
          <a:p>
            <a:r>
              <a:t>  But they are coupled through tables.</a:t>
            </a:r>
          </a:p>
          <a:p>
            <a:endParaRPr/>
          </a:p>
          <a:p>
            <a:r>
              <a:t>  A column rename for Account Service can break a query in Transaction Service at runtime.</a:t>
            </a:r>
          </a:p>
          <a:p>
            <a:endParaRPr/>
          </a:p>
          <a:p>
            <a:r>
              <a:t>  Nobody finds out until production.</a:t>
            </a:r>
          </a:p>
          <a:p>
            <a:endParaRPr/>
          </a:p>
          <a:p>
            <a:r>
              <a:t>  Releases must be coordinated.</a:t>
            </a:r>
          </a:p>
          <a:p>
            <a:endParaRPr/>
          </a:p>
          <a:p>
            <a:r>
              <a:t>  A heavy query from one service causes performance problems for everyone.</a:t>
            </a:r>
          </a:p>
          <a:p>
            <a:endParaRPr/>
          </a:p>
          <a:p>
            <a:r>
              <a:t>  It is also unclear who approves a schema change.</a:t>
            </a:r>
          </a:p>
          <a:p>
            <a:endParaRPr/>
          </a:p>
          <a:p>
            <a:r>
              <a:t>- BETTER DESIGN: DATABASE PER SERVICE</a:t>
            </a:r>
          </a:p>
          <a:p>
            <a:endParaRPr/>
          </a:p>
          <a:p>
            <a:r>
              <a:t>  Each service gets its own database or schema.</a:t>
            </a:r>
          </a:p>
          <a:p>
            <a:endParaRPr/>
          </a:p>
          <a:p>
            <a:r>
              <a:t>  The lab makes this physical.</a:t>
            </a:r>
          </a:p>
          <a:p>
            <a:endParaRPr/>
          </a:p>
          <a:p>
            <a:r>
              <a:t>  account_db uses host port 5433, transaction_db uses 5434, and on Day 5 risk_db uses 5435.</a:t>
            </a:r>
          </a:p>
          <a:p>
            <a:endParaRPr/>
          </a:p>
          <a:p>
            <a:r>
              <a:t>  Services communicate through REST APIs and events, not shared tables.</a:t>
            </a:r>
          </a:p>
          <a:p>
            <a:endParaRPr/>
          </a:p>
          <a:p>
            <a:r>
              <a:t>  The trade-off is real.</a:t>
            </a:r>
          </a:p>
          <a:p>
            <a:endParaRPr/>
          </a:p>
          <a:p>
            <a:r>
              <a:t>  There are no cross-service joins and no single transaction across services.</a:t>
            </a:r>
          </a:p>
          <a:p>
            <a:endParaRPr/>
          </a:p>
          <a:p>
            <a:r>
              <a:t>  That is why the rest of the module covers sagas, outbox, and eventual consistency.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Amazon has publicly described moving away from shared databases.</a:t>
            </a:r>
          </a:p>
          <a:p>
            <a:endParaRPr/>
          </a:p>
          <a:p>
            <a:r>
              <a:t>  Its teams expose functionality only through service interfaces, so each team can change its internals independently.</a:t>
            </a:r>
          </a:p>
          <a:p>
            <a:endParaRPr/>
          </a:p>
          <a:p>
            <a:r>
              <a:t>  The banking equivalent is an account platform team that publishes an API and events.</a:t>
            </a:r>
          </a:p>
          <a:p>
            <a:endParaRPr/>
          </a:p>
          <a:p>
            <a:r>
              <a:t>  It does not grant other teams table access.</a:t>
            </a:r>
          </a:p>
          <a:p>
            <a:endParaRPr/>
          </a:p>
          <a:p>
            <a:r>
              <a:t>- A frequent enterprise failure mode is a reporting user or integration account with write access to an operational schema.</a:t>
            </a:r>
          </a:p>
          <a:p>
            <a:endParaRPr/>
          </a:p>
          <a:p>
            <a:r>
              <a:t>  Separate databases with per-service credentials make that accidental coupling much harder to create.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Imagine the Account team adds a RESTRICTED status for accounts under legal hold.</a:t>
            </a:r>
          </a:p>
          <a:p>
            <a:endParaRPr/>
          </a:p>
          <a:p>
            <a:r>
              <a:t>With a shared database, Transaction Service code that checks for status equals ACTIVE keeps working.</a:t>
            </a:r>
          </a:p>
          <a:p>
            <a:endParaRPr/>
          </a:p>
          <a:p>
            <a:r>
              <a:t>But a reporting query that counts non-closed accounts silently changes meaning.</a:t>
            </a:r>
          </a:p>
          <a:p>
            <a:endParaRPr/>
          </a:p>
          <a:p>
            <a:r>
              <a:t>With database-per-service, Account Service publishes the new status through its API contract.</a:t>
            </a:r>
          </a:p>
          <a:p>
            <a:endParaRPr/>
          </a:p>
          <a:p>
            <a:r>
              <a:t>Transaction Service still receives a non-ACTIVE status and returns 409, and the change is reviewed as an API change.</a:t>
            </a:r>
          </a:p>
          <a:p>
            <a:endParaRPr/>
          </a:p>
          <a:p>
            <a:r>
              <a:t>It is not discovered later as a data surprise.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Service row and inter-service arrows</a:t>
            </a:r>
          </a:p>
          <a:p>
            <a:endParaRPr/>
          </a:p>
          <a:p>
            <a:r>
              <a:t>  The five service boxes are connected by double-headed arrows.</a:t>
            </a:r>
          </a:p>
          <a:p>
            <a:endParaRPr/>
          </a:p>
          <a:p>
            <a:r>
              <a:t>  Explain that those arrows represent API calls and events between services, not database links.</a:t>
            </a:r>
          </a:p>
          <a:p>
            <a:endParaRPr/>
          </a:p>
          <a:p>
            <a:r>
              <a:t>  In the capstone, the real interactions are specific.</a:t>
            </a:r>
          </a:p>
          <a:p>
            <a:endParaRPr/>
          </a:p>
          <a:p>
            <a:r>
              <a:t>  Transaction Service makes a REST GET to Account Service.</a:t>
            </a:r>
          </a:p>
          <a:p>
            <a:endParaRPr/>
          </a:p>
          <a:p>
            <a:r>
              <a:t>  Transaction Service also publishes TransactionSubmitted events, which Risk Assessment Service will consume on Day 5.</a:t>
            </a:r>
          </a:p>
          <a:p>
            <a:endParaRPr/>
          </a:p>
          <a:p>
            <a:r>
              <a:t>  Services are not wired to every neighbour.</a:t>
            </a:r>
          </a:p>
          <a:p>
            <a:endParaRPr/>
          </a:p>
          <a:p>
            <a:r>
              <a:t>  Each dependency should have a reason.</a:t>
            </a:r>
          </a:p>
          <a:p>
            <a:endParaRPr/>
          </a:p>
          <a:p>
            <a:r>
              <a:t>- Per-service databases</a:t>
            </a:r>
          </a:p>
          <a:p>
            <a:endParaRPr/>
          </a:p>
          <a:p>
            <a:r>
              <a:t>  Each service has exactly one downward arrow to its own database.</a:t>
            </a:r>
          </a:p>
          <a:p>
            <a:endParaRPr/>
          </a:p>
          <a:p>
            <a:r>
              <a:t>  No arrows go from a service to someone else's cylinder.</a:t>
            </a:r>
          </a:p>
          <a:p>
            <a:endParaRPr/>
          </a:p>
          <a:p>
            <a:r>
              <a:t>  That is the rule to remember.</a:t>
            </a:r>
          </a:p>
          <a:p>
            <a:endParaRPr/>
          </a:p>
          <a:p>
            <a:r>
              <a:t>  In the labs, account_db stores account information.</a:t>
            </a:r>
          </a:p>
          <a:p>
            <a:endParaRPr/>
          </a:p>
          <a:p>
            <a:r>
              <a:t>  transaction_db stores transaction records plus the processed_events table, which is used for duplicate detection.</a:t>
            </a:r>
          </a:p>
          <a:p>
            <a:endParaRPr/>
          </a:p>
          <a:p>
            <a:r>
              <a:t>  On Day 5, risk_db stores risk scores and audit fields.</a:t>
            </a:r>
          </a:p>
          <a:p>
            <a:endParaRPr/>
          </a:p>
          <a:p>
            <a:r>
              <a:t>  Card and Reporting are illustrative and not part of the capstone.</a:t>
            </a:r>
          </a:p>
          <a:p>
            <a:endParaRPr/>
          </a:p>
          <a:p>
            <a:r>
              <a:t>- Benefits band</a:t>
            </a:r>
          </a:p>
          <a:p>
            <a:endParaRPr/>
          </a:p>
          <a:p>
            <a:r>
              <a:t>  The bottom band lists loose coupling, independent scalability, and technology flexibility.</a:t>
            </a:r>
          </a:p>
          <a:p>
            <a:endParaRPr/>
          </a:p>
          <a:p>
            <a:r>
              <a:t>  It also lists better data security and privacy, and faster delivery.</a:t>
            </a:r>
          </a:p>
          <a:p>
            <a:endParaRPr/>
          </a:p>
          <a:p>
            <a:r>
              <a:t>  Balance it with the costs, so the room does not leave with a one-sided view.</a:t>
            </a:r>
          </a:p>
          <a:p>
            <a:endParaRPr/>
          </a:p>
          <a:p>
            <a:r>
              <a:t>  Reporting across services needs read models.</a:t>
            </a:r>
          </a:p>
          <a:p>
            <a:endParaRPr/>
          </a:p>
          <a:p>
            <a:r>
              <a:t>  Business workflows that span services need sagas or events.</a:t>
            </a:r>
          </a:p>
          <a:p>
            <a:endParaRPr/>
          </a:p>
          <a:p>
            <a:r>
              <a:t>  Data across services becomes eventually consistent, meaning copies agree after a short delay.</a:t>
            </a:r>
          </a:p>
          <a:p>
            <a:endParaRPr/>
          </a:p>
          <a:p>
            <a:r>
              <a:t>  Those costs are the subject of the next part of Module 4.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Netflix has publicly described its move to cloud microservices.</a:t>
            </a:r>
          </a:p>
          <a:p>
            <a:endParaRPr/>
          </a:p>
          <a:p>
            <a:r>
              <a:t>  In that design, services own their data and communicate through APIs.</a:t>
            </a:r>
          </a:p>
          <a:p>
            <a:endParaRPr/>
          </a:p>
          <a:p>
            <a:r>
              <a:t>  The widely cited lesson for enterprises is about ownership boundaries.</a:t>
            </a:r>
          </a:p>
          <a:p>
            <a:endParaRPr/>
          </a:p>
          <a:p>
            <a:r>
              <a:t>  Those boundaries, not the number of services, decide whether teams can deploy independently.</a:t>
            </a:r>
          </a:p>
          <a:p>
            <a:endParaRPr/>
          </a:p>
          <a:p>
            <a:r>
              <a:t>- In a bank, the reporting team usually receives data through extracts, events, or a warehouse feed.</a:t>
            </a:r>
          </a:p>
          <a:p>
            <a:endParaRPr/>
          </a:p>
          <a:p>
            <a:r>
              <a:t>  It does not get direct access to the payments database.</a:t>
            </a:r>
          </a:p>
          <a:p>
            <a:endParaRPr/>
          </a:p>
          <a:p>
            <a:r>
              <a:t>  That way operational performance and reporting needs do not compete.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During Lab 2, a participant asks a question.</a:t>
            </a:r>
          </a:p>
          <a:p>
            <a:endParaRPr/>
          </a:p>
          <a:p>
            <a:r>
              <a:t>Why does the Transaction Service not just add a foreign key from transactions.account_id to accounts.account_id?</a:t>
            </a:r>
          </a:p>
          <a:p>
            <a:endParaRPr/>
          </a:p>
          <a:p>
            <a:r>
              <a:t>Use this diagram to answer.</a:t>
            </a:r>
          </a:p>
          <a:p>
            <a:endParaRPr/>
          </a:p>
          <a:p>
            <a:r>
              <a:t>The two tables live in different databases owned by different services.</a:t>
            </a:r>
          </a:p>
          <a:p>
            <a:endParaRPr/>
          </a:p>
          <a:p>
            <a:r>
              <a:t>So a database-level foreign key cannot exist.</a:t>
            </a:r>
          </a:p>
          <a:p>
            <a:endParaRPr/>
          </a:p>
          <a:p>
            <a:r>
              <a:t>Instead, the REST call checks referential integrity, meaning the account really exists, at the moment of creation.</a:t>
            </a:r>
          </a:p>
          <a:p>
            <a:endParaRPr/>
          </a:p>
          <a:p>
            <a:r>
              <a:t>Later changes, such as a freeze, are Account Service's responsibility to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WHY IT'S AN ANTI-PATTERN</a:t>
            </a:r>
          </a:p>
          <a:p>
            <a:endParaRPr/>
          </a:p>
          <a:p>
            <a:r>
              <a:t>  There are three problems.</a:t>
            </a:r>
          </a:p>
          <a:p>
            <a:endParaRPr/>
          </a:p>
          <a:p>
            <a:r>
              <a:t>  First, services that share a schema share its release timing.</a:t>
            </a:r>
          </a:p>
          <a:p>
            <a:endParaRPr/>
          </a:p>
          <a:p>
            <a:r>
              <a:t>  Nobody can change a table without checking every consumer.</a:t>
            </a:r>
          </a:p>
          <a:p>
            <a:endParaRPr/>
          </a:p>
          <a:p>
            <a:r>
              <a:t>  Second, cross-service joins feel convenient.</a:t>
            </a:r>
          </a:p>
          <a:p>
            <a:endParaRPr/>
          </a:p>
          <a:p>
            <a:r>
              <a:t>  But they hide real dependencies that no API contract documents.</a:t>
            </a:r>
          </a:p>
          <a:p>
            <a:endParaRPr/>
          </a:p>
          <a:p>
            <a:r>
              <a:t>  Third, drawing service boundaries around existing tables just recreates the monolith.</a:t>
            </a:r>
          </a:p>
          <a:p>
            <a:endParaRPr/>
          </a:p>
          <a:p>
            <a:r>
              <a:t>  Tables reflect old storage decisions, not business capabilities.</a:t>
            </a:r>
          </a:p>
          <a:p>
            <a:endParaRPr/>
          </a:p>
          <a:p>
            <a:r>
              <a:t>  Boundaries should come from the business domain first.</a:t>
            </a:r>
          </a:p>
          <a:p>
            <a:endParaRPr/>
          </a:p>
          <a:p>
            <a:r>
              <a:t>  Then each service designs its own tables.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Here is a common enterprise story.</a:t>
            </a:r>
          </a:p>
          <a:p>
            <a:endParaRPr/>
          </a:p>
          <a:p>
            <a:r>
              <a:t>  A nightly batch job reads an operational account table directly.</a:t>
            </a:r>
          </a:p>
          <a:p>
            <a:endParaRPr/>
          </a:p>
          <a:p>
            <a:r>
              <a:t>  The owning team changes a column type, and the job fails overnight.</a:t>
            </a:r>
          </a:p>
          <a:p>
            <a:endParaRPr/>
          </a:p>
          <a:p>
            <a:r>
              <a:t>  Statements are delayed.</a:t>
            </a:r>
          </a:p>
          <a:p>
            <a:endParaRPr/>
          </a:p>
          <a:p>
            <a:r>
              <a:t>  Nothing in the application's API changed, so no contract test caught it.</a:t>
            </a:r>
          </a:p>
          <a:p>
            <a:endParaRPr/>
          </a:p>
          <a:p>
            <a:r>
              <a:t>- In retail banking, some core systems grew around one large shared schema.</a:t>
            </a:r>
          </a:p>
          <a:p>
            <a:endParaRPr/>
          </a:p>
          <a:p>
            <a:r>
              <a:t>  They are often cited as a reason change is slow.</a:t>
            </a:r>
          </a:p>
          <a:p>
            <a:endParaRPr/>
          </a:p>
          <a:p>
            <a:r>
              <a:t>  Every modification needs impact analysis across many dependent programs.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the capstone, suppose Transaction Service had been allowed to join to the accounts table to check eligibility.</a:t>
            </a:r>
          </a:p>
          <a:p>
            <a:endParaRPr/>
          </a:p>
          <a:p>
            <a:r>
              <a:t>Later, the Account team moves nickname and status into a separate table to support audit history.</a:t>
            </a:r>
          </a:p>
          <a:p>
            <a:endParaRPr/>
          </a:p>
          <a:p>
            <a:r>
              <a:t>The join breaks.</a:t>
            </a:r>
          </a:p>
          <a:p>
            <a:endParaRPr/>
          </a:p>
          <a:p>
            <a:r>
              <a:t>Debits start failing with 500 errors, and the Transaction team never touched its code.</a:t>
            </a:r>
          </a:p>
          <a:p>
            <a:endParaRPr/>
          </a:p>
          <a:p>
            <a:r>
              <a:t>Now use the REST eligibility check from Lab 2 instead.</a:t>
            </a:r>
          </a:p>
          <a:p>
            <a:endParaRPr/>
          </a:p>
          <a:p>
            <a:r>
              <a:t>Account Service keeps the response contract stable while it changes its internal tables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Centralized data ownership (left side)</a:t>
            </a:r>
          </a:p>
          <a:p>
            <a:endParaRPr/>
          </a:p>
          <a:p>
            <a:r>
              <a:t>  All five services connect to one shared database.</a:t>
            </a:r>
          </a:p>
          <a:p>
            <a:endParaRPr/>
          </a:p>
          <a:p>
            <a:r>
              <a:t>  Walk the red Problems list.</a:t>
            </a:r>
          </a:p>
          <a:p>
            <a:endParaRPr/>
          </a:p>
          <a:p>
            <a:r>
              <a:t>  There is high coupling between services, and changes impact multiple modules.</a:t>
            </a:r>
          </a:p>
          <a:p>
            <a:endParaRPr/>
          </a:p>
          <a:p>
            <a:r>
              <a:t>  One service cannot scale independently.</a:t>
            </a:r>
          </a:p>
          <a:p>
            <a:endParaRPr/>
          </a:p>
          <a:p>
            <a:r>
              <a:t>  Data conflicts are more likely when two services update the same rows.</a:t>
            </a:r>
          </a:p>
          <a:p>
            <a:endParaRPr/>
          </a:p>
          <a:p>
            <a:r>
              <a:t>  Delivery is slower because every change needs coordination.</a:t>
            </a:r>
          </a:p>
          <a:p>
            <a:endParaRPr/>
          </a:p>
          <a:p>
            <a:r>
              <a:t>  Relate each problem to banking.</a:t>
            </a:r>
          </a:p>
          <a:p>
            <a:endParaRPr/>
          </a:p>
          <a:p>
            <a:r>
              <a:t>  A Reports query can slow Transactions.</a:t>
            </a:r>
          </a:p>
          <a:p>
            <a:endParaRPr/>
          </a:p>
          <a:p>
            <a:r>
              <a:t>  A Cards schema change can need sign-off from four teams.</a:t>
            </a:r>
          </a:p>
          <a:p>
            <a:endParaRPr/>
          </a:p>
          <a:p>
            <a:r>
              <a:t>- Separate data ownership (right side)</a:t>
            </a:r>
          </a:p>
          <a:p>
            <a:endParaRPr/>
          </a:p>
          <a:p>
            <a:r>
              <a:t>  Each service has an arrow to its own database.</a:t>
            </a:r>
          </a:p>
          <a:p>
            <a:endParaRPr/>
          </a:p>
          <a:p>
            <a:r>
              <a:t>  The green Benefits list covers loose coupling, independent scalability, and technology flexibility.</a:t>
            </a:r>
          </a:p>
          <a:p>
            <a:endParaRPr/>
          </a:p>
          <a:p>
            <a:r>
              <a:t>  It also covers better data security and privacy, faster delivery, and clear ownership and accountability.</a:t>
            </a:r>
          </a:p>
          <a:p>
            <a:endParaRPr/>
          </a:p>
          <a:p>
            <a:r>
              <a:t>  Map it to the capstone.</a:t>
            </a:r>
          </a:p>
          <a:p>
            <a:endParaRPr/>
          </a:p>
          <a:p>
            <a:r>
              <a:t>  Accounts is Account Service with account_db.</a:t>
            </a:r>
          </a:p>
          <a:p>
            <a:endParaRPr/>
          </a:p>
          <a:p>
            <a:r>
              <a:t>  Transactions is Transaction Service with transaction_db.</a:t>
            </a:r>
          </a:p>
          <a:p>
            <a:endParaRPr/>
          </a:p>
          <a:p>
            <a:r>
              <a:t>  The Fraud box corresponds to our Risk Assessment Service with risk_db.</a:t>
            </a:r>
          </a:p>
          <a:p>
            <a:endParaRPr/>
          </a:p>
          <a:p>
            <a:r>
              <a:t>  Cards and Reports are illustrative and are not built in the labs.</a:t>
            </a:r>
          </a:p>
          <a:p>
            <a:endParaRPr/>
          </a:p>
          <a:p>
            <a:r>
              <a:t>- Business impact band</a:t>
            </a:r>
          </a:p>
          <a:p>
            <a:endParaRPr/>
          </a:p>
          <a:p>
            <a:r>
              <a:t>  The bottom band translates architecture into outcomes a bank cares about.</a:t>
            </a:r>
          </a:p>
          <a:p>
            <a:endParaRPr/>
          </a:p>
          <a:p>
            <a:r>
              <a:t>  Sensitive data is isolated with narrower access.</a:t>
            </a:r>
          </a:p>
          <a:p>
            <a:endParaRPr/>
          </a:p>
          <a:p>
            <a:r>
              <a:t>  Only what needs it gets scaled.</a:t>
            </a:r>
          </a:p>
          <a:p>
            <a:endParaRPr/>
          </a:p>
          <a:p>
            <a:r>
              <a:t>  Teams move without waiting on each other.</a:t>
            </a:r>
          </a:p>
          <a:p>
            <a:endParaRPr/>
          </a:p>
          <a:p>
            <a:r>
              <a:t>  Data residency and compliance conversations get easier.</a:t>
            </a:r>
          </a:p>
          <a:p>
            <a:endParaRPr/>
          </a:p>
          <a:p>
            <a:r>
              <a:t>  When something fails, the blast radius, meaning how much breaks, is smaller.</a:t>
            </a:r>
          </a:p>
          <a:p>
            <a:endParaRPr/>
          </a:p>
          <a:p>
            <a:r>
              <a:t>  Stress that separate databases help compliance by making access and ownership auditable.</a:t>
            </a:r>
          </a:p>
          <a:p>
            <a:endParaRPr/>
          </a:p>
          <a:p>
            <a:r>
              <a:t>  But they do not make a system compliant on their own.</a:t>
            </a:r>
          </a:p>
          <a:p>
            <a:endParaRPr/>
          </a:p>
          <a:p>
            <a:r>
              <a:t>  Controls, logging, and review still matter.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Card issuers typically keep cardholder data inside a tightly controlled environment.</a:t>
            </a:r>
          </a:p>
          <a:p>
            <a:endParaRPr/>
          </a:p>
          <a:p>
            <a:r>
              <a:t>  That way fewer systems fall under PCI DSS scope, the card industry's security standard.</a:t>
            </a:r>
          </a:p>
          <a:p>
            <a:endParaRPr/>
          </a:p>
          <a:p>
            <a:r>
              <a:t>  Put that data in a service that owns it, not in a shared schema many applications can read.</a:t>
            </a:r>
          </a:p>
          <a:p>
            <a:endParaRPr/>
          </a:p>
          <a:p>
            <a:r>
              <a:t>  That is a practical way to limit the scope.</a:t>
            </a:r>
          </a:p>
          <a:p>
            <a:endParaRPr/>
          </a:p>
          <a:p>
            <a:r>
              <a:t>- Fraud screening platforms in banks usually maintain their own scoring data and case history.</a:t>
            </a:r>
          </a:p>
          <a:p>
            <a:endParaRPr/>
          </a:p>
          <a:p>
            <a:r>
              <a:t>  Transaction events feed that data.</a:t>
            </a:r>
          </a:p>
          <a:p>
            <a:endParaRPr/>
          </a:p>
          <a:p>
            <a:r>
              <a:t>  They do not query the payments database directly.</a:t>
            </a:r>
          </a:p>
          <a:p>
            <a:endParaRPr/>
          </a:p>
          <a:p>
            <a:r>
              <a:t>  That way heavy analytical reads do not slow payment processing.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An internal auditor asks the risk platform team who can read risk scores.</a:t>
            </a:r>
          </a:p>
          <a:p>
            <a:endParaRPr/>
          </a:p>
          <a:p>
            <a:r>
              <a:t>With a shared database, the honest answer is every application with a connection string.</a:t>
            </a:r>
          </a:p>
          <a:p>
            <a:endParaRPr/>
          </a:p>
          <a:p>
            <a:r>
              <a:t>In the capstone, only Risk Assessment Service has credentials for risk_db.</a:t>
            </a:r>
          </a:p>
          <a:p>
            <a:endParaRPr/>
          </a:p>
          <a:p>
            <a:r>
              <a:t>Transaction Service only sees its own transaction_db.</a:t>
            </a:r>
          </a:p>
          <a:p>
            <a:endParaRPr/>
          </a:p>
          <a:p>
            <a:r>
              <a:t>Scores leave risk_db only through defined events or APIs.</a:t>
            </a:r>
          </a:p>
          <a:p>
            <a:endParaRPr/>
          </a:p>
          <a:p>
            <a:r>
              <a:t>So the team can answer the auditor with a short list of service accounts.</a:t>
            </a:r>
          </a:p>
          <a:p>
            <a:endParaRPr/>
          </a:p>
          <a:p>
            <a:r>
              <a:t>They do not need a spreadsheet of grants.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EXAMPLE DATA STORE CHOICES</a:t>
            </a:r>
          </a:p>
          <a:p>
            <a:endParaRPr/>
          </a:p>
          <a:p>
            <a:r>
              <a:t>  The slide uses generic Order, Payment, and Analytics services, so translate them to banking.</a:t>
            </a:r>
          </a:p>
          <a:p>
            <a:endParaRPr/>
          </a:p>
          <a:p>
            <a:r>
              <a:t>  A ledger or transaction service needs a relational, ACID store such as PostgreSQL.</a:t>
            </a:r>
          </a:p>
          <a:p>
            <a:endParaRPr/>
          </a:p>
          <a:p>
            <a:r>
              <a:t>  ACID means transactions are all-or-nothing, consistent, isolated, and durable.</a:t>
            </a:r>
          </a:p>
          <a:p>
            <a:endParaRPr/>
          </a:p>
          <a:p>
            <a:r>
              <a:t>  Some enterprises put customer profiles in a document store or use Redis as a cache.</a:t>
            </a:r>
          </a:p>
          <a:p>
            <a:endParaRPr/>
          </a:p>
          <a:p>
            <a:r>
              <a:t>  Those are lecture-only here.</a:t>
            </a:r>
          </a:p>
          <a:p>
            <a:endParaRPr/>
          </a:p>
          <a:p>
            <a:r>
              <a:t>  Search and analytics workloads sometimes use Elasticsearch.</a:t>
            </a:r>
          </a:p>
          <a:p>
            <a:endParaRPr/>
          </a:p>
          <a:p>
            <a:r>
              <a:t>  In this capstone, Account, Transaction, and Risk Assessment each use their own PostgreSQL database.</a:t>
            </a:r>
          </a:p>
          <a:p>
            <a:endParaRPr/>
          </a:p>
          <a:p>
            <a:r>
              <a:t>  Labs 1 to 5 install neither Redis nor Elasticsearch.</a:t>
            </a:r>
          </a:p>
          <a:p>
            <a:endParaRPr/>
          </a:p>
          <a:p>
            <a:r>
              <a:t>- CHALLENGES TO MANAGE</a:t>
            </a:r>
          </a:p>
          <a:p>
            <a:endParaRPr/>
          </a:p>
          <a:p>
            <a:r>
              <a:t>  Every new store brings backups, patching, monitoring, and security hardening.</a:t>
            </a:r>
          </a:p>
          <a:p>
            <a:endParaRPr/>
          </a:p>
          <a:p>
            <a:r>
              <a:t>  It also needs people who know how to run it.</a:t>
            </a:r>
          </a:p>
          <a:p>
            <a:endParaRPr/>
          </a:p>
          <a:p>
            <a:r>
              <a:t>  That is why many banks keep a short approved-technology list.</a:t>
            </a:r>
          </a:p>
          <a:p>
            <a:endParaRPr/>
          </a:p>
          <a:p>
            <a:r>
              <a:t>  Consistency also gets harder.</a:t>
            </a:r>
          </a:p>
          <a:p>
            <a:endParaRPr/>
          </a:p>
          <a:p>
            <a:r>
              <a:t>  There are no joins across databases.</a:t>
            </a:r>
          </a:p>
          <a:p>
            <a:endParaRPr/>
          </a:p>
          <a:p>
            <a:r>
              <a:t>  Combining data means calling APIs, consuming events, or building read models.</a:t>
            </a:r>
          </a:p>
          <a:p>
            <a:endParaRPr/>
          </a:p>
          <a:p>
            <a:r>
              <a:t>  Encourage participants to default to the platform standard.</a:t>
            </a:r>
          </a:p>
          <a:p>
            <a:endParaRPr/>
          </a:p>
          <a:p>
            <a:r>
              <a:t>  They should justify any exception with a workload need.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Online banking search is a common reason for a retail bank to add a search engine.</a:t>
            </a:r>
          </a:p>
          <a:p>
            <a:endParaRPr/>
          </a:p>
          <a:p>
            <a:r>
              <a:t>  Customers search over years of transaction descriptions.</a:t>
            </a:r>
          </a:p>
          <a:p>
            <a:endParaRPr/>
          </a:p>
          <a:p>
            <a:r>
              <a:t>  Events feed the search engine, which sits alongside the relational ledger.</a:t>
            </a:r>
          </a:p>
          <a:p>
            <a:endParaRPr/>
          </a:p>
          <a:p>
            <a:r>
              <a:t>  The ledger remains the system of record for balances and postings.</a:t>
            </a:r>
          </a:p>
          <a:p>
            <a:endParaRPr/>
          </a:p>
          <a:p>
            <a:r>
              <a:t>- Branch and ATM locator data is read-heavy and changes rarely.</a:t>
            </a:r>
          </a:p>
          <a:p>
            <a:endParaRPr/>
          </a:p>
          <a:p>
            <a:r>
              <a:t>  So teams often cache it in an in-memory store.</a:t>
            </a:r>
          </a:p>
          <a:p>
            <a:endParaRPr/>
          </a:p>
          <a:p>
            <a:r>
              <a:t>  Account balances, by contrast, are poor cache candidates.</a:t>
            </a:r>
          </a:p>
          <a:p>
            <a:endParaRPr/>
          </a:p>
          <a:p>
            <a:r>
              <a:t>  Stale values create customer and business risk.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Suppose the risk platform later needs analysts to search free-text notes on held transactions.</a:t>
            </a:r>
          </a:p>
          <a:p>
            <a:endParaRPr/>
          </a:p>
          <a:p>
            <a:r>
              <a:t>A team could skip adding text search to transaction_db.</a:t>
            </a:r>
          </a:p>
          <a:p>
            <a:endParaRPr/>
          </a:p>
          <a:p>
            <a:r>
              <a:t>Instead, it could build a separate search read model fed by TransactionHeldForReview events.</a:t>
            </a:r>
          </a:p>
          <a:p>
            <a:endParaRPr/>
          </a:p>
          <a:p>
            <a:r>
              <a:t>Walk through the cost.</a:t>
            </a:r>
          </a:p>
          <a:p>
            <a:endParaRPr/>
          </a:p>
          <a:p>
            <a:r>
              <a:t>There is a new store to secure and operate.</a:t>
            </a:r>
          </a:p>
          <a:p>
            <a:endParaRPr/>
          </a:p>
          <a:p>
            <a:r>
              <a:t>There is a lag before new holds appear in search.</a:t>
            </a:r>
          </a:p>
          <a:p>
            <a:endParaRPr/>
          </a:p>
          <a:p>
            <a:r>
              <a:t>And there is a new owner.</a:t>
            </a:r>
          </a:p>
          <a:p>
            <a:endParaRPr/>
          </a:p>
          <a:p>
            <a:r>
              <a:t>Then ask whether PostgreSQL full-text search inside Risk Assessment Service would be enough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RELATIONAL VS. NOSQL</a:t>
            </a:r>
          </a:p>
          <a:p>
            <a:endParaRPr/>
          </a:p>
          <a:p>
            <a:r>
              <a:t>  Relational stores use tables with a schema enforced on write.</a:t>
            </a:r>
          </a:p>
          <a:p>
            <a:endParaRPr/>
          </a:p>
          <a:p>
            <a:r>
              <a:t>  They support joins and foreign keys and give full ACID transactions.</a:t>
            </a:r>
          </a:p>
          <a:p>
            <a:endParaRPr/>
          </a:p>
          <a:p>
            <a:r>
              <a:t>  That suits ledgers and anything with money.</a:t>
            </a:r>
          </a:p>
          <a:p>
            <a:endParaRPr/>
          </a:p>
          <a:p>
            <a:r>
              <a:t>  NoSQL stores offer key-value, document, wide-column, or graph models.</a:t>
            </a:r>
          </a:p>
          <a:p>
            <a:endParaRPr/>
          </a:p>
          <a:p>
            <a:r>
              <a:t>  They often trade immediate consistency for availability and horizontal scale, known as BASE.</a:t>
            </a:r>
          </a:p>
          <a:p>
            <a:endParaRPr/>
          </a:p>
          <a:p>
            <a:r>
              <a:t>  They suit catalogues, caching, IoT, and event data.</a:t>
            </a:r>
          </a:p>
          <a:p>
            <a:endParaRPr/>
          </a:p>
          <a:p>
            <a:r>
              <a:t>  The vertical versus horizontal line is a generalisation.</a:t>
            </a:r>
          </a:p>
          <a:p>
            <a:endParaRPr/>
          </a:p>
          <a:p>
            <a:r>
              <a:t>  PostgreSQL can scale reads with replicas, and some NoSQL products offer transactions.</a:t>
            </a:r>
          </a:p>
          <a:p>
            <a:endParaRPr/>
          </a:p>
          <a:p>
            <a:r>
              <a:t>  The capstone uses PostgreSQL everywhere.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Banks typically keep payment postings and account ledgers in relational databases.</a:t>
            </a:r>
          </a:p>
          <a:p>
            <a:endParaRPr/>
          </a:p>
          <a:p>
            <a:r>
              <a:t>  A debit and its matching entries must commit together or not at all.</a:t>
            </a:r>
          </a:p>
          <a:p>
            <a:endParaRPr/>
          </a:p>
          <a:p>
            <a:r>
              <a:t>  Auditors also expect constraints that prevent half-written records.</a:t>
            </a:r>
          </a:p>
          <a:p>
            <a:endParaRPr/>
          </a:p>
          <a:p>
            <a:r>
              <a:t>- Key-value or document stores are common for some bank data.</a:t>
            </a:r>
          </a:p>
          <a:p>
            <a:endParaRPr/>
          </a:p>
          <a:p>
            <a:r>
              <a:t>  Examples are customer session data, device fingerprints for login risk, or a product catalogue for a bank's marketing site.</a:t>
            </a:r>
          </a:p>
          <a:p>
            <a:endParaRPr/>
          </a:p>
          <a:p>
            <a:r>
              <a:t>  That data is simple, high-volume, and tolerant of brief inconsistency.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2, the transactions table has amount as NUMERIC(18, 2), a UNIQUE event_id, and a status column.</a:t>
            </a:r>
          </a:p>
          <a:p>
            <a:endParaRPr/>
          </a:p>
          <a:p>
            <a:r>
              <a:t>The consumer updates the transaction and inserts into processed_events in one local transaction.</a:t>
            </a:r>
          </a:p>
          <a:p>
            <a:endParaRPr/>
          </a:p>
          <a:p>
            <a:r>
              <a:t>Now ask about an eventually consistent store.</a:t>
            </a:r>
          </a:p>
          <a:p>
            <a:endParaRPr/>
          </a:p>
          <a:p>
            <a:r>
              <a:t>Suppose the status update succeeded, but the processed_events insert was not yet visible when a duplicate event arrived.</a:t>
            </a:r>
          </a:p>
          <a:p>
            <a:endParaRPr/>
          </a:p>
          <a:p>
            <a:r>
              <a:t>What would happen?</a:t>
            </a:r>
          </a:p>
          <a:p>
            <a:endParaRPr/>
          </a:p>
          <a:p>
            <a:r>
              <a:t>The answer shows why the capstone relies on relational ACID guarantees for duplicate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Spring Data Architecture</a:t>
            </a:r>
          </a:p>
          <a:p>
            <a:r>
              <a:t>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THE SPRING DATA LAYERS</a:t>
            </a:r>
          </a:p>
          <a:p>
            <a:endParaRPr/>
          </a:p>
          <a:p>
            <a:r>
              <a:t>  Application code talks to repository interfaces.</a:t>
            </a:r>
          </a:p>
          <a:p>
            <a:endParaRPr/>
          </a:p>
          <a:p>
            <a:r>
              <a:t>  Spring Data supplies the implementation through a store module such as Spring Data JPA, MongoDB, Cassandra, or Redis.</a:t>
            </a:r>
          </a:p>
          <a:p>
            <a:endParaRPr/>
          </a:p>
          <a:p>
            <a:r>
              <a:t>  The store module then talks to the store.</a:t>
            </a:r>
          </a:p>
          <a:p>
            <a:endParaRPr/>
          </a:p>
          <a:p>
            <a:r>
              <a:t>  The labs use only Spring Data JPA with Hibernate and PostgreSQL.</a:t>
            </a:r>
          </a:p>
          <a:p>
            <a:endParaRPr/>
          </a:p>
          <a:p>
            <a:r>
              <a:t>  For Spring Boot 3, correct one detail on the hierarchy line.</a:t>
            </a:r>
          </a:p>
          <a:p>
            <a:endParaRPr/>
          </a:p>
          <a:p>
            <a:r>
              <a:t>  Since Spring Data 3.0, PagingAndSortingRepository no longer extends CrudRepository.</a:t>
            </a:r>
          </a:p>
          <a:p>
            <a:endParaRPr/>
          </a:p>
          <a:p>
            <a:r>
              <a:t>  JpaRepository extends ListCrudRepository and ListPagingAndSortingRepository.</a:t>
            </a:r>
          </a:p>
          <a:p>
            <a:endParaRPr/>
          </a:p>
          <a:p>
            <a:r>
              <a:t>  So it still includes both CRUD and paging.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Enterprise teams that standardise on Spring often have a relational service using Spring Data JPA.</a:t>
            </a:r>
          </a:p>
          <a:p>
            <a:endParaRPr/>
          </a:p>
          <a:p>
            <a:r>
              <a:t>  They may also have a cache-backed service using Spring Data Redis.</a:t>
            </a:r>
          </a:p>
          <a:p>
            <a:endParaRPr/>
          </a:p>
          <a:p>
            <a:r>
              <a:t>  Developers moving between them recognise the same repository and derived-query style.</a:t>
            </a:r>
          </a:p>
          <a:p>
            <a:endParaRPr/>
          </a:p>
          <a:p>
            <a:r>
              <a:t>  That shortens onboarding.</a:t>
            </a:r>
          </a:p>
          <a:p>
            <a:endParaRPr/>
          </a:p>
          <a:p>
            <a:r>
              <a:t>- When a bank upgrades older Spring Boot 2 services to Spring Boot 3, some code can fail to compile.</a:t>
            </a:r>
          </a:p>
          <a:p>
            <a:endParaRPr/>
          </a:p>
          <a:p>
            <a:r>
              <a:t>  This is code that relied on PagingAndSortingRepository inheriting save or findById.</a:t>
            </a:r>
          </a:p>
          <a:p>
            <a:endParaRPr/>
          </a:p>
          <a:p>
            <a:r>
              <a:t>  It is a commonly reported upgrade issue.</a:t>
            </a:r>
          </a:p>
          <a:p>
            <a:endParaRPr/>
          </a:p>
          <a:p>
            <a:r>
              <a:t>  The fix is to also extend CrudRepository or ListCrudRepository.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2, participants open TransactionRepository and ProcessedEventRepository.</a:t>
            </a:r>
          </a:p>
          <a:p>
            <a:endParaRPr/>
          </a:p>
          <a:p>
            <a:r>
              <a:t>They find both already extend JpaRepository.</a:t>
            </a:r>
          </a:p>
          <a:p>
            <a:endParaRPr/>
          </a:p>
          <a:p>
            <a:r>
              <a:t>So save, findById, and existsById are available without writing SQL.</a:t>
            </a:r>
          </a:p>
          <a:p>
            <a:endParaRPr/>
          </a:p>
          <a:p>
            <a:r>
              <a:t>The consumer calls processedEventRepository.existsById with the event ID to detect duplicates.</a:t>
            </a:r>
          </a:p>
          <a:p>
            <a:endParaRPr/>
          </a:p>
          <a:p>
            <a:r>
              <a:t>Point out that the Spring Data abstraction provides this one method name.</a:t>
            </a:r>
          </a:p>
          <a:p>
            <a:endParaRPr/>
          </a:p>
          <a:p>
            <a:r>
              <a:t>At runtime, Hibernate turns it into a SELECT against transaction_db.</a:t>
            </a:r>
          </a:p>
          <a:p>
            <a:endParaRPr/>
          </a:p>
          <a:p>
            <a:endParaRPr/>
          </a:p>
          <a:p>
            <a:r>
              <a:t>TOPIC 2 OF 2: Spring Data JPA Fundamentals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JPA FUNDAMENTALS</a:t>
            </a:r>
          </a:p>
          <a:p>
            <a:endParaRPr/>
          </a:p>
          <a:p>
            <a:r>
              <a:t>  An entity is a Java class marked @Entity that maps to a table.</a:t>
            </a:r>
          </a:p>
          <a:p>
            <a:endParaRPr/>
          </a:p>
          <a:p>
            <a:r>
              <a:t>  @Id marks the primary key.</a:t>
            </a:r>
          </a:p>
          <a:p>
            <a:endParaRPr/>
          </a:p>
          <a:p>
            <a:r>
              <a:t>  In Lab 2, the Transaction entity maps to the transactions table.</a:t>
            </a:r>
          </a:p>
          <a:p>
            <a:endParaRPr/>
          </a:p>
          <a:p>
            <a:r>
              <a:t>  Its transaction_id is a String, such as TXN- plus eight hex characters.</a:t>
            </a:r>
          </a:p>
          <a:p>
            <a:endParaRPr/>
          </a:p>
          <a:p>
            <a:r>
              <a:t>  @OneToMany, @ManyToOne, and @OneToOne map associations.</a:t>
            </a:r>
          </a:p>
          <a:p>
            <a:endParaRPr/>
          </a:p>
          <a:p>
            <a:r>
              <a:t>  But use them only between entities the same service owns.</a:t>
            </a:r>
          </a:p>
          <a:p>
            <a:endParaRPr/>
          </a:p>
          <a:p>
            <a:r>
              <a:t>  The persistence context is a first-level cache per transaction.</a:t>
            </a:r>
          </a:p>
          <a:p>
            <a:endParaRPr/>
          </a:p>
          <a:p>
            <a:r>
              <a:t>  It tracks loaded entities, so a changed entity is flushed, meaning written, as an UPDATE on commit.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Use derived queries such as findByAccountId for simple lookups.</a:t>
            </a:r>
          </a:p>
          <a:p>
            <a:endParaRPr/>
          </a:p>
          <a:p>
            <a:r>
              <a:t>  Reach for @Query only when names get unreadable.</a:t>
            </a:r>
          </a:p>
          <a:p>
            <a:endParaRPr/>
          </a:p>
          <a:p>
            <a:r>
              <a:t>  Put @Transactional on public service-layer methods, as Lab 2 does on create and on the consumer.</a:t>
            </a:r>
          </a:p>
          <a:p>
            <a:endParaRPr/>
          </a:p>
          <a:p>
            <a:r>
              <a:t>  Do not put it on controllers or repositories.</a:t>
            </a:r>
          </a:p>
          <a:p>
            <a:endParaRPr/>
          </a:p>
          <a:p>
            <a:r>
              <a:t>  Keep repositories behind the service layer, so controllers never call them directly.</a:t>
            </a:r>
          </a:p>
          <a:p>
            <a:endParaRPr/>
          </a:p>
          <a:p>
            <a:r>
              <a:t>  That keeps business rules such as the ACTIVE check in one place.</a:t>
            </a:r>
          </a:p>
          <a:p>
            <a:endParaRPr/>
          </a:p>
          <a:p>
            <a:r>
              <a:t>  Return DTOs such as TransactionResponse from the API, not entities.</a:t>
            </a:r>
          </a:p>
          <a:p>
            <a:endParaRPr/>
          </a:p>
          <a:p>
            <a:r>
              <a:t>  A DTO is a simple object shaped for the response.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Think of a loan origination service.</a:t>
            </a:r>
          </a:p>
          <a:p>
            <a:endParaRPr/>
          </a:p>
          <a:p>
            <a:r>
              <a:t>  A derived query like findByApplicantIdAndStatus replaces hand-written JDBC code for a common lookup.</a:t>
            </a:r>
          </a:p>
          <a:p>
            <a:endParaRPr/>
          </a:p>
          <a:p>
            <a:r>
              <a:t>  The approval workflow changes several tables, so it stays in a transactional service method.</a:t>
            </a:r>
          </a:p>
          <a:p>
            <a:endParaRPr/>
          </a:p>
          <a:p>
            <a:r>
              <a:t>  There it can be reviewed and tested.</a:t>
            </a:r>
          </a:p>
          <a:p>
            <a:endParaRPr/>
          </a:p>
          <a:p>
            <a:r>
              <a:t>- A frequently seen production issue is a controller that returns a JPA entity with lazy associations as JSON.</a:t>
            </a:r>
          </a:p>
          <a:p>
            <a:endParaRPr/>
          </a:p>
          <a:p>
            <a:r>
              <a:t>  That triggers extra queries or serialisation errors.</a:t>
            </a:r>
          </a:p>
          <a:p>
            <a:endParaRPr/>
          </a:p>
          <a:p>
            <a:r>
              <a:t>  Mapping to a response DTO in the service layer avoids it.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Walk through Lab 2's consumer.</a:t>
            </a:r>
          </a:p>
          <a:p>
            <a:endParaRPr/>
          </a:p>
          <a:p>
            <a:r>
              <a:t>It is @Transactional.</a:t>
            </a:r>
          </a:p>
          <a:p>
            <a:endParaRPr/>
          </a:p>
          <a:p>
            <a:r>
              <a:t>It loads the Transaction by ID, calls markSubmitted, and saves a ProcessedEvent.</a:t>
            </a:r>
          </a:p>
          <a:p>
            <a:endParaRPr/>
          </a:p>
          <a:p>
            <a:r>
              <a:t>There is no explicit save call for the Transaction, yet the status becomes SUBMITTED.</a:t>
            </a:r>
          </a:p>
          <a:p>
            <a:endParaRPr/>
          </a:p>
          <a:p>
            <a:r>
              <a:t>Ask participants why.</a:t>
            </a:r>
          </a:p>
          <a:p>
            <a:endParaRPr/>
          </a:p>
          <a:p>
            <a:r>
              <a:t>The persistence context is tracking the managed entity.</a:t>
            </a:r>
          </a:p>
          <a:p>
            <a:endParaRPr/>
          </a:p>
          <a:p>
            <a:r>
              <a:t>Dirty checking, which compares the entity with its loaded state, notices the status change.</a:t>
            </a:r>
          </a:p>
          <a:p>
            <a:endParaRPr/>
          </a:p>
          <a:p>
            <a:r>
              <a:t>Hibernate then issues the UPDATE when the transaction commits, together with the processed_events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Layer stack</a:t>
            </a:r>
          </a:p>
          <a:p>
            <a:endParaRPr/>
          </a:p>
          <a:p>
            <a:r>
              <a:t>  Service or controller code calls repository methods.</a:t>
            </a:r>
          </a:p>
          <a:p>
            <a:endParaRPr/>
          </a:p>
          <a:p>
            <a:r>
              <a:t>  The repository interface extends JpaRepository and gets CRUD and query capabilities.</a:t>
            </a:r>
          </a:p>
          <a:p>
            <a:endParaRPr/>
          </a:p>
          <a:p>
            <a:r>
              <a:t>  Spring Data JPA builds the implementation.</a:t>
            </a:r>
          </a:p>
          <a:p>
            <a:endParaRPr/>
          </a:p>
          <a:p>
            <a:r>
              <a:t>  The EntityManager, provided by Hibernate, manages entity lifecycle and executes SQL.</a:t>
            </a:r>
          </a:p>
          <a:p>
            <a:endParaRPr/>
          </a:p>
          <a:p>
            <a:r>
              <a:t>  PostgreSQL stores the data.</a:t>
            </a:r>
          </a:p>
          <a:p>
            <a:endParaRPr/>
          </a:p>
          <a:p>
            <a:r>
              <a:t>  Add one correction to the top box.</a:t>
            </a:r>
          </a:p>
          <a:p>
            <a:endParaRPr/>
          </a:p>
          <a:p>
            <a:r>
              <a:t>  In the course labs, controllers never call repositories directly.</a:t>
            </a:r>
          </a:p>
          <a:p>
            <a:endParaRPr/>
          </a:p>
          <a:p>
            <a:r>
              <a:t>  Controllers call services, and services call repositories.</a:t>
            </a:r>
          </a:p>
          <a:p>
            <a:endParaRPr/>
          </a:p>
          <a:p>
            <a:r>
              <a:t>  That keeps validation and business rules in one layer.</a:t>
            </a:r>
          </a:p>
          <a:p>
            <a:endParaRPr/>
          </a:p>
          <a:p>
            <a:r>
              <a:t>- How It Works flow</a:t>
            </a:r>
          </a:p>
          <a:p>
            <a:endParaRPr/>
          </a:p>
          <a:p>
            <a:r>
              <a:t>  There are five steps.</a:t>
            </a:r>
          </a:p>
          <a:p>
            <a:endParaRPr/>
          </a:p>
          <a:p>
            <a:r>
              <a:t>  The application calls a repository method.</a:t>
            </a:r>
          </a:p>
          <a:p>
            <a:endParaRPr/>
          </a:p>
          <a:p>
            <a:r>
              <a:t>  Spring Data JPA creates the query from the method name or @Query.</a:t>
            </a:r>
          </a:p>
          <a:p>
            <a:endParaRPr/>
          </a:p>
          <a:p>
            <a:r>
              <a:t>  JPA executes it through the EntityManager.</a:t>
            </a:r>
          </a:p>
          <a:p>
            <a:endParaRPr/>
          </a:p>
          <a:p>
            <a:r>
              <a:t>  The database returns rows.</a:t>
            </a:r>
          </a:p>
          <a:p>
            <a:endParaRPr/>
          </a:p>
          <a:p>
            <a:r>
              <a:t>  Then results are mapped to entities.</a:t>
            </a:r>
          </a:p>
          <a:p>
            <a:endParaRPr/>
          </a:p>
          <a:p>
            <a:r>
              <a:t>  Connect it to Lab 2.</a:t>
            </a:r>
          </a:p>
          <a:p>
            <a:endParaRPr/>
          </a:p>
          <a:p>
            <a:r>
              <a:t>  accountId eligibility is not in this flow at all, because it lives in another service.</a:t>
            </a:r>
          </a:p>
          <a:p>
            <a:endParaRPr/>
          </a:p>
          <a:p>
            <a:r>
              <a:t>  But findById on the transactions table follows exactly these steps.</a:t>
            </a:r>
          </a:p>
          <a:p>
            <a:endParaRPr/>
          </a:p>
          <a:p>
            <a:r>
              <a:t>- Example code panels</a:t>
            </a:r>
          </a:p>
          <a:p>
            <a:endParaRPr/>
          </a:p>
          <a:p>
            <a:r>
              <a:t>  The code uses a generic User entity, so translate it.</a:t>
            </a:r>
          </a:p>
          <a:p>
            <a:endParaRPr/>
          </a:p>
          <a:p>
            <a:r>
              <a:t>  Entity becomes Transaction, with @Id on transactionId.</a:t>
            </a:r>
          </a:p>
          <a:p>
            <a:endParaRPr/>
          </a:p>
          <a:p>
            <a:r>
              <a:t>  Repository becomes TransactionRepository extends JpaRepository of Transaction and String.</a:t>
            </a:r>
          </a:p>
          <a:p>
            <a:endParaRPr/>
          </a:p>
          <a:p>
            <a:r>
              <a:t>  A derived query such as findByAccountId replaces findByEmail.</a:t>
            </a:r>
          </a:p>
          <a:p>
            <a:endParaRPr/>
          </a:p>
          <a:p>
            <a:r>
              <a:t>  There are two style differences from the labs.</a:t>
            </a:r>
          </a:p>
          <a:p>
            <a:endParaRPr/>
          </a:p>
          <a:p>
            <a:r>
              <a:t>  First, the example uses @Autowired field injection, but lab services use constructor injection.</a:t>
            </a:r>
          </a:p>
          <a:p>
            <a:endParaRPr/>
          </a:p>
          <a:p>
            <a:r>
              <a:t>  Second, it throws a generic RuntimeException.</a:t>
            </a:r>
          </a:p>
          <a:p>
            <a:endParaRPr/>
          </a:p>
          <a:p>
            <a:r>
              <a:t>  The labs throw specific exceptions such as TransactionNotFoundException, which map to a 404 error response.</a:t>
            </a:r>
          </a:p>
          <a:p>
            <a:endParaRPr/>
          </a:p>
          <a:p>
            <a:r>
              <a:t>- Benefits band</a:t>
            </a:r>
          </a:p>
          <a:p>
            <a:endParaRPr/>
          </a:p>
          <a:p>
            <a:r>
              <a:t>  The band lists reduced boilerplate, faster development, powerful query capabilities, type safety, and Spring ecosystem integration.</a:t>
            </a:r>
          </a:p>
          <a:p>
            <a:endParaRPr/>
          </a:p>
          <a:p>
            <a:r>
              <a:t>  Qualify the powerful queries claim.</a:t>
            </a:r>
          </a:p>
          <a:p>
            <a:endParaRPr/>
          </a:p>
          <a:p>
            <a:r>
              <a:t>  Generated SQL still needs review.</a:t>
            </a:r>
          </a:p>
          <a:p>
            <a:endParaRPr/>
          </a:p>
          <a:p>
            <a:r>
              <a:t>  A harmless-looking method can load large result sets or trigger N+1 queries, meaning one query plus one more per row.</a:t>
            </a:r>
          </a:p>
          <a:p>
            <a:endParaRPr/>
          </a:p>
          <a:p>
            <a:r>
              <a:t>  Encourage participants to turn on SQL logging locally to see what Hibernate issues.</a:t>
            </a:r>
          </a:p>
          <a:p>
            <a:endParaRPr/>
          </a:p>
          <a:p>
            <a:r>
              <a:t>  Keep it off in shared or production logs.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bank's customer servicing application might need findByAccountIdAndStatus.</a:t>
            </a:r>
          </a:p>
          <a:p>
            <a:endParaRPr/>
          </a:p>
          <a:p>
            <a:r>
              <a:t>  It would list pending transactions for a support agent.</a:t>
            </a:r>
          </a:p>
          <a:p>
            <a:endParaRPr/>
          </a:p>
          <a:p>
            <a:r>
              <a:t>  A derived query delivers that in one line.</a:t>
            </a:r>
          </a:p>
          <a:p>
            <a:endParaRPr/>
          </a:p>
          <a:p>
            <a:r>
              <a:t>  The agent-facing service then adds masking and authorisation rules before returning data.</a:t>
            </a:r>
          </a:p>
          <a:p>
            <a:endParaRPr/>
          </a:p>
          <a:p>
            <a:r>
              <a:t>- Some teams migrate legacy DAO classes full of hand-written JDBC to Spring Data JPA.</a:t>
            </a:r>
          </a:p>
          <a:p>
            <a:endParaRPr/>
          </a:p>
          <a:p>
            <a:r>
              <a:t>  They often remove large amounts of repetitive mapping code.</a:t>
            </a:r>
          </a:p>
          <a:p>
            <a:endParaRPr/>
          </a:p>
          <a:p>
            <a:r>
              <a:t>  But they typically keep a few native queries where tuned SQL matters for performance.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 participant in Lab 2 calls GET /api/v1/transactions/TXN-1A2B3C4D.</a:t>
            </a:r>
          </a:p>
          <a:p>
            <a:endParaRPr/>
          </a:p>
          <a:p>
            <a:r>
              <a:t>Trace it on the diagram.</a:t>
            </a:r>
          </a:p>
          <a:p>
            <a:endParaRPr/>
          </a:p>
          <a:p>
            <a:r>
              <a:t>TransactionController calls TransactionService.get, which is @Transactional with readOnly set.</a:t>
            </a:r>
          </a:p>
          <a:p>
            <a:endParaRPr/>
          </a:p>
          <a:p>
            <a:r>
              <a:t>The service calls transactionRepository.findById.</a:t>
            </a:r>
          </a:p>
          <a:p>
            <a:endParaRPr/>
          </a:p>
          <a:p>
            <a:r>
              <a:t>Hibernate issues a SELECT on transaction_db.</a:t>
            </a:r>
          </a:p>
          <a:p>
            <a:endParaRPr/>
          </a:p>
          <a:p>
            <a:r>
              <a:t>The row is mapped to a Transaction entity.</a:t>
            </a:r>
          </a:p>
          <a:p>
            <a:endParaRPr/>
          </a:p>
          <a:p>
            <a:r>
              <a:t>The service converts it to TransactionResponse.</a:t>
            </a:r>
          </a:p>
          <a:p>
            <a:endParaRPr/>
          </a:p>
          <a:p>
            <a:r>
              <a:t>A missing ID becomes TransactionNotFoundException and a 404, not a generic 500.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ORM WORKS</a:t>
            </a:r>
          </a:p>
          <a:p>
            <a:endParaRPr/>
          </a:p>
          <a:p>
            <a:r>
              <a:t>  The EntityManager owns a persistence context for the current transaction.</a:t>
            </a:r>
          </a:p>
          <a:p>
            <a:endParaRPr/>
          </a:p>
          <a:p>
            <a:r>
              <a:t>  Entities are new before persist.</a:t>
            </a:r>
          </a:p>
          <a:p>
            <a:endParaRPr/>
          </a:p>
          <a:p>
            <a:r>
              <a:t>  They are managed once loaded or saved.</a:t>
            </a:r>
          </a:p>
          <a:p>
            <a:endParaRPr/>
          </a:p>
          <a:p>
            <a:r>
              <a:t>  They are detached after the context closes.</a:t>
            </a:r>
          </a:p>
          <a:p>
            <a:endParaRPr/>
          </a:p>
          <a:p>
            <a:r>
              <a:t>  They are removed when marked for deletion.</a:t>
            </a:r>
          </a:p>
          <a:p>
            <a:endParaRPr/>
          </a:p>
          <a:p>
            <a:r>
              <a:t>  At flush time, dirty checking compares managed entities with their loaded state.</a:t>
            </a:r>
          </a:p>
          <a:p>
            <a:endParaRPr/>
          </a:p>
          <a:p>
            <a:r>
              <a:t>  Hibernate then writes UPDATE statements for the changes.</a:t>
            </a:r>
          </a:p>
          <a:p>
            <a:endParaRPr/>
          </a:p>
          <a:p>
            <a:r>
              <a:t>  That is why Lab 2's consumer changes status through markSubmitted without an explicit save of the Transaction.</a:t>
            </a:r>
          </a:p>
          <a:p>
            <a:endParaRPr/>
          </a:p>
          <a:p>
            <a:r>
              <a:t>  It is also why modifying a detached entity does nothing until it is merged.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Model the business domain first, then design tables with Flyway.</a:t>
            </a:r>
          </a:p>
          <a:p>
            <a:endParaRPr/>
          </a:p>
          <a:p>
            <a:r>
              <a:t>  Do not just mirror a legacy schema.</a:t>
            </a:r>
          </a:p>
          <a:p>
            <a:endParaRPr/>
          </a:p>
          <a:p>
            <a:r>
              <a:t>  Keep entities small.</a:t>
            </a:r>
          </a:p>
          <a:p>
            <a:endParaRPr/>
          </a:p>
          <a:p>
            <a:r>
              <a:t>  Lab 2's Transaction holds IDs, amount, currency, type, status, correlation and event IDs, and timestamps.</a:t>
            </a:r>
          </a:p>
          <a:p>
            <a:endParaRPr/>
          </a:p>
          <a:p>
            <a:r>
              <a:t>  Treat LAZY by default as a recommendation, not the JPA default.</a:t>
            </a:r>
          </a:p>
          <a:p>
            <a:endParaRPr/>
          </a:p>
          <a:p>
            <a:r>
              <a:t>  JPA makes @ManyToOne and @OneToOne EAGER, and @OneToMany and @ManyToMany LAZY.</a:t>
            </a:r>
          </a:p>
          <a:p>
            <a:endParaRPr/>
          </a:p>
          <a:p>
            <a:r>
              <a:t>  Keep workflows in the service layer.</a:t>
            </a:r>
          </a:p>
          <a:p>
            <a:endParaRPr/>
          </a:p>
          <a:p>
            <a:r>
              <a:t>  Small intention-revealing methods on the entity, such as markSubmitted, are fine.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In an account maintenance service, you load an account, change its status, and commit.</a:t>
            </a:r>
          </a:p>
          <a:p>
            <a:endParaRPr/>
          </a:p>
          <a:p>
            <a:r>
              <a:t>  Dirty checking produces a single UPDATE.</a:t>
            </a:r>
          </a:p>
          <a:p>
            <a:endParaRPr/>
          </a:p>
          <a:p>
            <a:r>
              <a:t>  A common bug goes differently.</a:t>
            </a:r>
          </a:p>
          <a:p>
            <a:endParaRPr/>
          </a:p>
          <a:p>
            <a:r>
              <a:t>  A developer loads the entity in one transaction and returns it to a controller.</a:t>
            </a:r>
          </a:p>
          <a:p>
            <a:endParaRPr/>
          </a:p>
          <a:p>
            <a:r>
              <a:t>  They modify it there and expect the change to persist.</a:t>
            </a:r>
          </a:p>
          <a:p>
            <a:endParaRPr/>
          </a:p>
          <a:p>
            <a:r>
              <a:t>- Some batch jobs load hundreds of thousands of entities into one persistence context, for example to recalculate interest.</a:t>
            </a:r>
          </a:p>
          <a:p>
            <a:endParaRPr/>
          </a:p>
          <a:p>
            <a:r>
              <a:t>  They can run out of memory because the context keeps every entity.</a:t>
            </a:r>
          </a:p>
          <a:p>
            <a:endParaRPr/>
          </a:p>
          <a:p>
            <a:r>
              <a:t>  Teams avoid this by flushing and clearing in chunks, or by using bulk SQL.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Ask participants to predict the SQL for Lab 2's create method.</a:t>
            </a:r>
          </a:p>
          <a:p>
            <a:endParaRPr/>
          </a:p>
          <a:p>
            <a:r>
              <a:t>transactionRepository.save on a new Transaction produces an INSERT into transactions.</a:t>
            </a:r>
          </a:p>
          <a:p>
            <a:endParaRPr/>
          </a:p>
          <a:p>
            <a:r>
              <a:t>That happens within the @Transactional boundary.</a:t>
            </a:r>
          </a:p>
          <a:p>
            <a:endParaRPr/>
          </a:p>
          <a:p>
            <a:r>
              <a:t>Then the event is published to Kafka.</a:t>
            </a:r>
          </a:p>
          <a:p>
            <a:endParaRPr/>
          </a:p>
          <a:p>
            <a:r>
              <a:t>Now ask what happens if the Kafka publish throws.</a:t>
            </a:r>
          </a:p>
          <a:p>
            <a:endParaRPr/>
          </a:p>
          <a:p>
            <a:r>
              <a:t>The exception propagates and the local transaction rolls back.</a:t>
            </a:r>
          </a:p>
          <a:p>
            <a:endParaRPr/>
          </a:p>
          <a:p>
            <a:r>
              <a:t>No RECEIVED row is left behind.</a:t>
            </a:r>
          </a:p>
          <a:p>
            <a:endParaRPr/>
          </a:p>
          <a:p>
            <a:r>
              <a:t>This is ORM plus transaction boundaries working together.</a:t>
            </a:r>
          </a:p>
          <a:p>
            <a:endParaRPr/>
          </a:p>
          <a:p>
            <a:r>
              <a:t>It also previews why the outbox pattern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Context and design principles</a:t>
            </a:r>
          </a:p>
          <a:p>
            <a:endParaRPr/>
          </a:p>
          <a:p>
            <a:r>
              <a:t>  The header says Account Service manages customer accounts and related information.</a:t>
            </a:r>
          </a:p>
          <a:p>
            <a:endParaRPr/>
          </a:p>
          <a:p>
            <a:r>
              <a:t>  The left panel lists design principles.</a:t>
            </a:r>
          </a:p>
          <a:p>
            <a:endParaRPr/>
          </a:p>
          <a:p>
            <a:r>
              <a:t>  Data is owned within the service and modelled on domain needs.</a:t>
            </a:r>
          </a:p>
          <a:p>
            <a:endParaRPr/>
          </a:p>
          <a:p>
            <a:r>
              <a:t>  It is encapsulated, with proper keys and constraints, and cohesive.</a:t>
            </a:r>
          </a:p>
          <a:p>
            <a:endParaRPr/>
          </a:p>
          <a:p>
            <a:r>
              <a:t>  The principles are sound.</a:t>
            </a:r>
          </a:p>
          <a:p>
            <a:endParaRPr/>
          </a:p>
          <a:p>
            <a:r>
              <a:t>  Use them to test the diagram itself.</a:t>
            </a:r>
          </a:p>
          <a:p>
            <a:endParaRPr/>
          </a:p>
          <a:p>
            <a:r>
              <a:t>  In the capstone, Account Service does not own Customer profile data or Transaction records.</a:t>
            </a:r>
          </a:p>
          <a:p>
            <a:endParaRPr/>
          </a:p>
          <a:p>
            <a:r>
              <a:t>  So those fail the first principle.</a:t>
            </a:r>
          </a:p>
          <a:p>
            <a:endParaRPr/>
          </a:p>
          <a:p>
            <a:r>
              <a:t>- Entity boxes and relationships</a:t>
            </a:r>
          </a:p>
          <a:p>
            <a:endParaRPr/>
          </a:p>
          <a:p>
            <a:r>
              <a:t>  The diagram shows that Customer owns many Accounts.</a:t>
            </a:r>
          </a:p>
          <a:p>
            <a:endParaRPr/>
          </a:p>
          <a:p>
            <a:r>
              <a:t>  Account has many Transactions and many Account Contacts.</a:t>
            </a:r>
          </a:p>
          <a:p>
            <a:endParaRPr/>
          </a:p>
          <a:p>
            <a:r>
              <a:t>  It uses Long IDs and a balance field.</a:t>
            </a:r>
          </a:p>
          <a:p>
            <a:endParaRPr/>
          </a:p>
          <a:p>
            <a:r>
              <a:t>  Correct it against the labs.</a:t>
            </a:r>
          </a:p>
          <a:p>
            <a:endParaRPr/>
          </a:p>
          <a:p>
            <a:r>
              <a:t>  Account Service stores customer_id as a plain VARCHAR, such as CUST-0001, with no customer table.</a:t>
            </a:r>
          </a:p>
          <a:p>
            <a:endParaRPr/>
          </a:p>
          <a:p>
            <a:r>
              <a:t>  Lab 1 accounts have no balance column.</a:t>
            </a:r>
          </a:p>
          <a:p>
            <a:endParaRPr/>
          </a:p>
          <a:p>
            <a:r>
              <a:t>  IDs are Strings, such as ACC- plus eight hex characters.</a:t>
            </a:r>
          </a:p>
          <a:p>
            <a:endParaRPr/>
          </a:p>
          <a:p>
            <a:r>
              <a:t>  Transactions live in transaction_db, with account_id as a plain reference and no foreign key.</a:t>
            </a:r>
          </a:p>
          <a:p>
            <a:endParaRPr/>
          </a:p>
          <a:p>
            <a:r>
              <a:t>  Account to Account Contact is a valid within-service relationship.</a:t>
            </a:r>
          </a:p>
          <a:p>
            <a:endParaRPr/>
          </a:p>
          <a:p>
            <a:r>
              <a:t>- Legend and relationship summary</a:t>
            </a:r>
          </a:p>
          <a:p>
            <a:endParaRPr/>
          </a:p>
          <a:p>
            <a:r>
              <a:t>  The legend explains crow's-foot notation for one-to-many, one-to-one, and zero-or-one.</a:t>
            </a:r>
          </a:p>
          <a:p>
            <a:endParaRPr/>
          </a:p>
          <a:p>
            <a:r>
              <a:t>  It also shows PK and FK markers.</a:t>
            </a:r>
          </a:p>
          <a:p>
            <a:endParaRPr/>
          </a:p>
          <a:p>
            <a:r>
              <a:t>  The summary restates the three relationships in words.</a:t>
            </a:r>
          </a:p>
          <a:p>
            <a:endParaRPr/>
          </a:p>
          <a:p>
            <a:r>
              <a:t>  Its Account to Account Contact connector is drawn differently from the one-to-many symbol, even though the text says many.</a:t>
            </a:r>
          </a:p>
          <a:p>
            <a:endParaRPr/>
          </a:p>
          <a:p>
            <a:r>
              <a:t>  Use the legend to teach how a foreign key maps to JPA.</a:t>
            </a:r>
          </a:p>
          <a:p>
            <a:endParaRPr/>
          </a:p>
          <a:p>
            <a:r>
              <a:t>  The child gets @ManyToOne with @JoinColumn.</a:t>
            </a:r>
          </a:p>
          <a:p>
            <a:endParaRPr/>
          </a:p>
          <a:p>
            <a:r>
              <a:t>  The parent can optionally get @OneToMany with mappedBy.</a:t>
            </a:r>
          </a:p>
          <a:p>
            <a:endParaRPr/>
          </a:p>
          <a:p>
            <a:r>
              <a:t>- Benefits band</a:t>
            </a:r>
          </a:p>
          <a:p>
            <a:endParaRPr/>
          </a:p>
          <a:p>
            <a:r>
              <a:t>  The band lists clear domain modelling, data integrity and consistency, and easier maintenance.</a:t>
            </a:r>
          </a:p>
          <a:p>
            <a:endParaRPr/>
          </a:p>
          <a:p>
            <a:r>
              <a:t>  It also lists better performance and scalability, and encapsulated data within the service.</a:t>
            </a:r>
          </a:p>
          <a:p>
            <a:endParaRPr/>
          </a:p>
          <a:p>
            <a:r>
              <a:t>  Make the point that integrity through foreign keys is available only inside one database.</a:t>
            </a:r>
          </a:p>
          <a:p>
            <a:endParaRPr/>
          </a:p>
          <a:p>
            <a:r>
              <a:t>  Across services, integrity is enforced differently.</a:t>
            </a:r>
          </a:p>
          <a:p>
            <a:endParaRPr/>
          </a:p>
          <a:p>
            <a:r>
              <a:t>  Lab 2 checks account eligibility with a REST call at creation time and records the result.</a:t>
            </a:r>
          </a:p>
          <a:p>
            <a:endParaRPr/>
          </a:p>
          <a:p>
            <a:r>
              <a:t>  It accepts that later account changes are Account Service's to publish.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Inside a mortgage servicing system, a loan and its payment schedule entries are owned together.</a:t>
            </a:r>
          </a:p>
          <a:p>
            <a:endParaRPr/>
          </a:p>
          <a:p>
            <a:r>
              <a:t>  They are a natural JPA one-to-many relationship.</a:t>
            </a:r>
          </a:p>
          <a:p>
            <a:endParaRPr/>
          </a:p>
          <a:p>
            <a:r>
              <a:t>  The borrower's identity profile is owned by a customer or KYC (know your customer) system.</a:t>
            </a:r>
          </a:p>
          <a:p>
            <a:endParaRPr/>
          </a:p>
          <a:p>
            <a:r>
              <a:t>  So it is referenced by an ID, not mapped as an entity.</a:t>
            </a:r>
          </a:p>
          <a:p>
            <a:endParaRPr/>
          </a:p>
          <a:p>
            <a:r>
              <a:t>- A common modernisation mistake is copying an entire legacy schema into the first new service.</a:t>
            </a:r>
          </a:p>
          <a:p>
            <a:endParaRPr/>
          </a:p>
          <a:p>
            <a:r>
              <a:t>  That means customers, accounts, and transactions with all their foreign keys.</a:t>
            </a:r>
          </a:p>
          <a:p>
            <a:endParaRPr/>
          </a:p>
          <a:p>
            <a:r>
              <a:t>  The service then becomes a new monolith that every other service depends on.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Run this as a quick redesign.</a:t>
            </a:r>
          </a:p>
          <a:p>
            <a:endParaRPr/>
          </a:p>
          <a:p>
            <a:r>
              <a:t>Tell the room a team built Account Service with this exact diagram.</a:t>
            </a:r>
          </a:p>
          <a:p>
            <a:endParaRPr/>
          </a:p>
          <a:p>
            <a:r>
              <a:t>Then Day 2 arrives, and Transaction Service needs its own transactions.</a:t>
            </a:r>
          </a:p>
          <a:p>
            <a:endParaRPr/>
          </a:p>
          <a:p>
            <a:r>
              <a:t>Ask what they must do.</a:t>
            </a:r>
          </a:p>
          <a:p>
            <a:endParaRPr/>
          </a:p>
          <a:p>
            <a:r>
              <a:t>They must remove the TRANSACTION entity and foreign key from account_db.</a:t>
            </a:r>
          </a:p>
          <a:p>
            <a:endParaRPr/>
          </a:p>
          <a:p>
            <a:r>
              <a:t>They must move transaction data into transaction_db.</a:t>
            </a:r>
          </a:p>
          <a:p>
            <a:endParaRPr/>
          </a:p>
          <a:p>
            <a:r>
              <a:t>They must replace the customer table with a customer_id reference.</a:t>
            </a:r>
          </a:p>
          <a:p>
            <a:endParaRPr/>
          </a:p>
          <a:p>
            <a:r>
              <a:t>And they must expose account status through the API.</a:t>
            </a:r>
          </a:p>
          <a:p>
            <a:endParaRPr/>
          </a:p>
          <a:p>
            <a:r>
              <a:t>Then show that Labs 1 and 2 already follow the redesigned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EAGER VS. LAZY</a:t>
            </a:r>
          </a:p>
          <a:p>
            <a:endParaRPr/>
          </a:p>
          <a:p>
            <a:r>
              <a:t>  EAGER loads the association with its owner, often through a join.</a:t>
            </a:r>
          </a:p>
          <a:p>
            <a:endParaRPr/>
          </a:p>
          <a:p>
            <a:r>
              <a:t>  Use it only when the data is always needed.</a:t>
            </a:r>
          </a:p>
          <a:p>
            <a:endParaRPr/>
          </a:p>
          <a:p>
            <a:r>
              <a:t>  LAZY loads it on first access, usually through a proxy and a separate SELECT.</a:t>
            </a:r>
          </a:p>
          <a:p>
            <a:endParaRPr/>
          </a:p>
          <a:p>
            <a:r>
              <a:t>  Correct the default.</a:t>
            </a:r>
          </a:p>
          <a:p>
            <a:endParaRPr/>
          </a:p>
          <a:p>
            <a:r>
              <a:t>  JPA makes @OneToMany and @ManyToMany LAZY, but @ManyToOne and @OneToOne EAGER.</a:t>
            </a:r>
          </a:p>
          <a:p>
            <a:endParaRPr/>
          </a:p>
          <a:p>
            <a:r>
              <a:t>  That is why the image's example sets fetch LAZY explicitly on @ManyToOne.</a:t>
            </a:r>
          </a:p>
          <a:p>
            <a:endParaRPr/>
          </a:p>
          <a:p>
            <a:r>
              <a:t>  Accessing a LAZY association after the persistence context closes throws LazyInitializationException.</a:t>
            </a:r>
          </a:p>
          <a:p>
            <a:endParaRPr/>
          </a:p>
          <a:p>
            <a:r>
              <a:t>- COMMON FETCH PITFALLS</a:t>
            </a:r>
          </a:p>
          <a:p>
            <a:endParaRPr/>
          </a:p>
          <a:p>
            <a:r>
              <a:t>  The N+1 problem works like this.</a:t>
            </a:r>
          </a:p>
          <a:p>
            <a:endParaRPr/>
          </a:p>
          <a:p>
            <a:r>
              <a:t>  You load N parents with one query.</a:t>
            </a:r>
          </a:p>
          <a:p>
            <a:endParaRPr/>
          </a:p>
          <a:p>
            <a:r>
              <a:t>  Then you touch a lazy collection on each and issue N more.</a:t>
            </a:r>
          </a:p>
          <a:p>
            <a:endParaRPr/>
          </a:p>
          <a:p>
            <a:r>
              <a:t>  It hides in loops and in JSON serialisation of entities.</a:t>
            </a:r>
          </a:p>
          <a:p>
            <a:endParaRPr/>
          </a:p>
          <a:p>
            <a:r>
              <a:t>  Fixes include a JOIN FETCH query, @EntityGraph, or a DTO projection that selects only the needed columns.</a:t>
            </a:r>
          </a:p>
          <a:p>
            <a:endParaRPr/>
          </a:p>
          <a:p>
            <a:r>
              <a:t>  Overusing EAGER loads large object graphs on every read, which increases latency and memory.</a:t>
            </a:r>
          </a:p>
          <a:p>
            <a:endParaRPr/>
          </a:p>
          <a:p>
            <a:r>
              <a:t>  The diagram adds a third pitfall.</a:t>
            </a:r>
          </a:p>
          <a:p>
            <a:endParaRPr/>
          </a:p>
          <a:p>
            <a:r>
              <a:t>  JOIN FETCH on collections combined with pagination can return wrong page sizes or paginate in memory.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Picture a customer servicing screen that lists fifty accounts.</a:t>
            </a:r>
          </a:p>
          <a:p>
            <a:endParaRPr/>
          </a:p>
          <a:p>
            <a:r>
              <a:t>  It then loads each account's contact details lazily inside a loop, which issues fifty-one queries.</a:t>
            </a:r>
          </a:p>
          <a:p>
            <a:endParaRPr/>
          </a:p>
          <a:p>
            <a:r>
              <a:t>  Under peak call-centre load, this shows up as slow screens and database CPU spikes.</a:t>
            </a:r>
          </a:p>
          <a:p>
            <a:endParaRPr/>
          </a:p>
          <a:p>
            <a:r>
              <a:t>  A join fetch or projection resolves it.</a:t>
            </a:r>
          </a:p>
          <a:p>
            <a:endParaRPr/>
          </a:p>
          <a:p>
            <a:r>
              <a:t>- Picture a statement service that maps every account with EAGER associations to all its transactions.</a:t>
            </a:r>
          </a:p>
          <a:p>
            <a:endParaRPr/>
          </a:p>
          <a:p>
            <a:r>
              <a:t>  It can load years of history just to print a header.</a:t>
            </a:r>
          </a:p>
          <a:p>
            <a:endParaRPr/>
          </a:p>
          <a:p>
            <a:r>
              <a:t>  That is why teams paginate transaction history and fetch it only for the requested period.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Lab 2 deliberately has no JPA relationships.</a:t>
            </a:r>
          </a:p>
          <a:p>
            <a:endParaRPr/>
          </a:p>
          <a:p>
            <a:r>
              <a:t>Transaction stores account_id as a String, and ProcessedEvent stores transaction_id.</a:t>
            </a:r>
          </a:p>
          <a:p>
            <a:endParaRPr/>
          </a:p>
          <a:p>
            <a:r>
              <a:t>So no lazy loading surprises exist.</a:t>
            </a:r>
          </a:p>
          <a:p>
            <a:endParaRPr/>
          </a:p>
          <a:p>
            <a:r>
              <a:t>Ask the room to imagine adding a Transaction to many TransactionNote entities for Day 5 human review.</a:t>
            </a:r>
          </a:p>
          <a:p>
            <a:endParaRPr/>
          </a:p>
          <a:p>
            <a:r>
              <a:t>A reviewer list page shows twenty held transactions with note counts.</a:t>
            </a:r>
          </a:p>
          <a:p>
            <a:endParaRPr/>
          </a:p>
          <a:p>
            <a:r>
              <a:t>That could trigger twenty-one queries.</a:t>
            </a:r>
          </a:p>
          <a:p>
            <a:endParaRPr/>
          </a:p>
          <a:p>
            <a:r>
              <a:t>Have them propose the fix: a DTO projection query that counts notes per transaction in one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WHY USE REPOSITORY ABSTRACTIONS</a:t>
            </a:r>
          </a:p>
          <a:p>
            <a:endParaRPr/>
          </a:p>
          <a:p>
            <a:r>
              <a:t>  The service depends on an interface such as TransactionRepository, not on SQL or the EntityManager.</a:t>
            </a:r>
          </a:p>
          <a:p>
            <a:endParaRPr/>
          </a:p>
          <a:p>
            <a:r>
              <a:t>  So business rules read clearly, and storage details can change.</a:t>
            </a:r>
          </a:p>
          <a:p>
            <a:endParaRPr/>
          </a:p>
          <a:p>
            <a:r>
              <a:t>  The same style works across Spring Data store modules.</a:t>
            </a:r>
          </a:p>
          <a:p>
            <a:endParaRPr/>
          </a:p>
          <a:p>
            <a:r>
              <a:t>  Tests also become easier.</a:t>
            </a:r>
          </a:p>
          <a:p>
            <a:endParaRPr/>
          </a:p>
          <a:p>
            <a:r>
              <a:t>  Lab 2's TransactionServiceTest can mock the repository and verify the service without a database.</a:t>
            </a:r>
          </a:p>
          <a:p>
            <a:endParaRPr/>
          </a:p>
          <a:p>
            <a:r>
              <a:t>  For Spring Data 3, clarify the takeaway.</a:t>
            </a:r>
          </a:p>
          <a:p>
            <a:endParaRPr/>
          </a:p>
          <a:p>
            <a:r>
              <a:t>  CrudRepository and PagingAndSortingRepository are separate interfaces.</a:t>
            </a:r>
          </a:p>
          <a:p>
            <a:endParaRPr/>
          </a:p>
          <a:p>
            <a:r>
              <a:t>  JpaRepository combines list-returning CRUD, paging and sorting, and JPA extras such as flush.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payments team might have a rule that a payment above a threshold goes to manual review.</a:t>
            </a:r>
          </a:p>
          <a:p>
            <a:endParaRPr/>
          </a:p>
          <a:p>
            <a:r>
              <a:t>  They can unit test it by mocking the payment repository.</a:t>
            </a:r>
          </a:p>
          <a:p>
            <a:endParaRPr/>
          </a:p>
          <a:p>
            <a:r>
              <a:t>  That runs thousands of fast tests without a database.</a:t>
            </a:r>
          </a:p>
          <a:p>
            <a:endParaRPr/>
          </a:p>
          <a:p>
            <a:r>
              <a:t>  A smaller set of integration tests then covers the real SQL.</a:t>
            </a:r>
          </a:p>
          <a:p>
            <a:endParaRPr/>
          </a:p>
          <a:p>
            <a:r>
              <a:t>- Repositories should not hold business rules or publish events.</a:t>
            </a:r>
          </a:p>
          <a:p>
            <a:endParaRPr/>
          </a:p>
          <a:p>
            <a:r>
              <a:t>  Picture a bank's servicing app where a repository method also sends notifications.</a:t>
            </a:r>
          </a:p>
          <a:p>
            <a:endParaRPr/>
          </a:p>
          <a:p>
            <a:r>
              <a:t>  That makes both persistence and notification harder to test and to change.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2, TransactionService depends on TransactionRepository, AccountClient, and the publisher.</a:t>
            </a:r>
          </a:p>
          <a:p>
            <a:endParaRPr/>
          </a:p>
          <a:p>
            <a:r>
              <a:t>In a unit test, the repository is mocked to return the saved entity.</a:t>
            </a:r>
          </a:p>
          <a:p>
            <a:endParaRPr/>
          </a:p>
          <a:p>
            <a:r>
              <a:t>AccountClient is mocked to throw AccountNotEligibleException for a FROZEN account.</a:t>
            </a:r>
          </a:p>
          <a:p>
            <a:endParaRPr/>
          </a:p>
          <a:p>
            <a:r>
              <a:t>The test asserts that neither save nor publish is called.</a:t>
            </a:r>
          </a:p>
          <a:p>
            <a:endParaRPr/>
          </a:p>
          <a:p>
            <a:r>
              <a:t>That single test proves the most important rule of the day: no row and no event for an ineligible account.</a:t>
            </a:r>
          </a:p>
          <a:p>
            <a:endParaRPr/>
          </a:p>
          <a:p>
            <a:r>
              <a:t>It only works because persistence sits behind an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Lazy Loading and the N+1 Problem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THE PROBLEM</a:t>
            </a:r>
          </a:p>
          <a:p>
            <a:endParaRPr/>
          </a:p>
          <a:p>
            <a:r>
              <a:t>  Make the arithmetic concrete with a relationship owned inside one service.</a:t>
            </a:r>
          </a:p>
          <a:p>
            <a:endParaRPr/>
          </a:p>
          <a:p>
            <a:r>
              <a:t>  A ledger entity with its entries works well.</a:t>
            </a:r>
          </a:p>
          <a:p>
            <a:endParaRPr/>
          </a:p>
          <a:p>
            <a:r>
              <a:t>  Say an endpoint returns 50 ledgers.</a:t>
            </a:r>
          </a:p>
          <a:p>
            <a:endParaRPr/>
          </a:p>
          <a:p>
            <a:r>
              <a:t>  While it maps each one to JSON, it reads that ledger's entries.</a:t>
            </a:r>
          </a:p>
          <a:p>
            <a:endParaRPr/>
          </a:p>
          <a:p>
            <a:r>
              <a:t>  Hibernate runs one SELECT for the ledgers.</a:t>
            </a:r>
          </a:p>
          <a:p>
            <a:endParaRPr/>
          </a:p>
          <a:p>
            <a:r>
              <a:t>  Then it runs 50 more, one for each collection.</a:t>
            </a:r>
          </a:p>
          <a:p>
            <a:endParaRPr/>
          </a:p>
          <a:p>
            <a:r>
              <a:t>  That is 51 round trips where one or two would do.</a:t>
            </a:r>
          </a:p>
          <a:p>
            <a:endParaRPr/>
          </a:p>
          <a:p>
            <a:r>
              <a:t>  With ten test rows, nobody notices.</a:t>
            </a:r>
          </a:p>
          <a:p>
            <a:endParaRPr/>
          </a:p>
          <a:p>
            <a:r>
              <a:t>  With real statement data, latency climbs.</a:t>
            </a:r>
          </a:p>
          <a:p>
            <a:endParaRPr/>
          </a:p>
          <a:p>
            <a:r>
              <a:t>  Each request also holds a pooled connection longer.</a:t>
            </a:r>
          </a:p>
          <a:p>
            <a:endParaRPr/>
          </a:p>
          <a:p>
            <a:r>
              <a:t>  Tell the room it hides in REST list endpoints.</a:t>
            </a:r>
          </a:p>
          <a:p>
            <a:endParaRPr/>
          </a:p>
          <a:p>
            <a:r>
              <a:t>  A lazy field loads only when code first reads it.</a:t>
            </a:r>
          </a:p>
          <a:p>
            <a:endParaRPr/>
          </a:p>
          <a:p>
            <a:r>
              <a:t>  Serialization, or DTO mapping into response objects, touches that field quietly, far away from the repository call.</a:t>
            </a:r>
          </a:p>
          <a:p>
            <a:endParaRPr/>
          </a:p>
          <a:p>
            <a:r>
              <a:t>- HOW TO AVOID IT</a:t>
            </a:r>
          </a:p>
          <a:p>
            <a:endParaRPr/>
          </a:p>
          <a:p>
            <a:r>
              <a:t>  Each fix trades something.</a:t>
            </a:r>
          </a:p>
          <a:p>
            <a:endParaRPr/>
          </a:p>
          <a:p>
            <a:r>
              <a:t>  JOIN FETCH in a JPQL query loads parents and the collection in one SQL join.</a:t>
            </a:r>
          </a:p>
          <a:p>
            <a:endParaRPr/>
          </a:p>
          <a:p>
            <a:r>
              <a:t>  But if you combine a collection fetch with pagination, Hibernate paginates in memory.</a:t>
            </a:r>
          </a:p>
          <a:p>
            <a:endParaRPr/>
          </a:p>
          <a:p>
            <a:r>
              <a:t>  @EntityGraph on a repository method says which associations to load for that call only.</a:t>
            </a:r>
          </a:p>
          <a:p>
            <a:endParaRPr/>
          </a:p>
          <a:p>
            <a:r>
              <a:t>  It does not change the entity mapping.</a:t>
            </a:r>
          </a:p>
          <a:p>
            <a:endParaRPr/>
          </a:p>
          <a:p>
            <a:r>
              <a:t>  DTO projections select just the columns the response needs.</a:t>
            </a:r>
          </a:p>
          <a:p>
            <a:endParaRPr/>
          </a:p>
          <a:p>
            <a:r>
              <a:t>  They skip entity loading entirely.</a:t>
            </a:r>
          </a:p>
          <a:p>
            <a:endParaRPr/>
          </a:p>
          <a:p>
            <a:r>
              <a:t>  Batch fetching loads lazy collections in groups, using IN clauses.</a:t>
            </a:r>
          </a:p>
          <a:p>
            <a:endParaRPr/>
          </a:p>
          <a:p>
            <a:r>
              <a:t>  You turn it on with @BatchSize or the hibernate.default_batch_fetch_size property.</a:t>
            </a:r>
          </a:p>
          <a:p>
            <a:endParaRPr/>
          </a:p>
          <a:p>
            <a:r>
              <a:t>  Whatever the fix, prove it.</a:t>
            </a:r>
          </a:p>
          <a:p>
            <a:endParaRPr/>
          </a:p>
          <a:p>
            <a:r>
              <a:t>  Count the logged SQL statements, and do not rely on intuition.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An online banking statement page lists recent statements.</a:t>
            </a:r>
          </a:p>
          <a:p>
            <a:endParaRPr/>
          </a:p>
          <a:p>
            <a:r>
              <a:t>  Each statement has its line items.</a:t>
            </a:r>
          </a:p>
          <a:p>
            <a:endParaRPr/>
          </a:p>
          <a:p>
            <a:r>
              <a:t>  Suppose the statement entity maps its lines lazily.</a:t>
            </a:r>
          </a:p>
          <a:p>
            <a:endParaRPr/>
          </a:p>
          <a:p>
            <a:r>
              <a:t>  The serializer then walks them one statement at a time.</a:t>
            </a:r>
          </a:p>
          <a:p>
            <a:endParaRPr/>
          </a:p>
          <a:p>
            <a:r>
              <a:t>  A single page view becomes dozens of queries.</a:t>
            </a:r>
          </a:p>
          <a:p>
            <a:endParaRPr/>
          </a:p>
          <a:p>
            <a:r>
              <a:t>  Teams usually catch it by turning on SQL logging in a test.</a:t>
            </a:r>
          </a:p>
          <a:p>
            <a:endParaRPr/>
          </a:p>
          <a:p>
            <a:r>
              <a:t>  Then they count the SELECTs per request.</a:t>
            </a:r>
          </a:p>
          <a:p>
            <a:endParaRPr/>
          </a:p>
          <a:p>
            <a:r>
              <a:t>- Hibernate's user guide recommends lazy associations.</a:t>
            </a:r>
          </a:p>
          <a:p>
            <a:endParaRPr/>
          </a:p>
          <a:p>
            <a:r>
              <a:t>  It says to fetch what each use case needs per query, using fetch joins or entity graphs.</a:t>
            </a:r>
          </a:p>
          <a:p>
            <a:endParaRPr/>
          </a:p>
          <a:p>
            <a:r>
              <a:t>  Tools such as p6spy and datasource-proxy wrap the JDBC DataSource and log every statement.</a:t>
            </a:r>
          </a:p>
          <a:p>
            <a:endParaRPr/>
          </a:p>
          <a:p>
            <a:r>
              <a:t>  So teams can write automated tests that check an endpoint issues a fixed number of queries.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2, Transaction Service stores account_id as a plain column.</a:t>
            </a:r>
          </a:p>
          <a:p>
            <a:endParaRPr/>
          </a:p>
          <a:p>
            <a:r>
              <a:t>It has no JPA relationship to Account Service, exactly as database per service requires.</a:t>
            </a:r>
          </a:p>
          <a:p>
            <a:endParaRPr/>
          </a:p>
          <a:p>
            <a:r>
              <a:t>Now imagine a teammate adds a status-history child entity inside Transaction Service.</a:t>
            </a:r>
          </a:p>
          <a:p>
            <a:endParaRPr/>
          </a:p>
          <a:p>
            <a:r>
              <a:t>They also add a GET endpoint that lists 200 transactions for an account, with their history.</a:t>
            </a:r>
          </a:p>
          <a:p>
            <a:endParaRPr/>
          </a:p>
          <a:p>
            <a:r>
              <a:t>Response time jumps.</a:t>
            </a:r>
          </a:p>
          <a:p>
            <a:endParaRPr/>
          </a:p>
          <a:p>
            <a:r>
              <a:t>The SQL log shows 201 SELECTs.</a:t>
            </a:r>
          </a:p>
          <a:p>
            <a:endParaRPr/>
          </a:p>
          <a:p>
            <a:r>
              <a:t>The fix is an @EntityGraph on the repository method, or a DTO projection.</a:t>
            </a:r>
          </a:p>
          <a:p>
            <a:endParaRPr/>
          </a:p>
          <a:p>
            <a:r>
              <a:t>Either one brings it back to one or two queries.</a:t>
            </a:r>
          </a:p>
          <a:p>
            <a:endParaRPr/>
          </a:p>
          <a:p>
            <a:r>
              <a:t>Then point out the cross-service twin of this bug.</a:t>
            </a:r>
          </a:p>
          <a:p>
            <a:endParaRPr/>
          </a:p>
          <a:p>
            <a:r>
              <a:t>Calling Account Service once per transaction row, in a loop, is an N+1 over HTTP.</a:t>
            </a:r>
          </a:p>
          <a:p>
            <a:endParaRPr/>
          </a:p>
          <a:p>
            <a:r>
              <a:t>Every row shares one accountId, so a single call is enough.</a:t>
            </a:r>
          </a:p>
          <a:p>
            <a:endParaRPr/>
          </a:p>
          <a:p>
            <a:endParaRPr/>
          </a:p>
          <a:p>
            <a:r>
              <a:t>TOPIC 2 OF 2: Query Methods and Custom Queries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FOUR QUERY APPROACHES</a:t>
            </a:r>
          </a:p>
          <a:p>
            <a:endParaRPr/>
          </a:p>
          <a:p>
            <a:r>
              <a:t>  Derived methods are the default.</a:t>
            </a:r>
          </a:p>
          <a:p>
            <a:endParaRPr/>
          </a:p>
          <a:p>
            <a:r>
              <a:t>  Spring Data reads a method name such as findByStatus and generates the query.</a:t>
            </a:r>
          </a:p>
          <a:p>
            <a:endParaRPr/>
          </a:p>
          <a:p>
            <a:r>
              <a:t>  It checks the property names when the repository is created at startup, so a typo fails fast.</a:t>
            </a:r>
          </a:p>
          <a:p>
            <a:endParaRPr/>
          </a:p>
          <a:p>
            <a:r>
              <a:t>  Once a name strings together several conditions, switch to @Query with JPQL.</a:t>
            </a:r>
          </a:p>
          <a:p>
            <a:endParaRPr/>
          </a:p>
          <a:p>
            <a:r>
              <a:t>  JPQL is a query language that targets entity and field names, and it stays portable.</a:t>
            </a:r>
          </a:p>
          <a:p>
            <a:endParaRPr/>
          </a:p>
          <a:p>
            <a:r>
              <a:t>  Use native SQL, set with nativeQuery = true, for PostgreSQL-specific features.</a:t>
            </a:r>
          </a:p>
          <a:p>
            <a:endParaRPr/>
          </a:p>
          <a:p>
            <a:r>
              <a:t>  Examples are JSONB operators or window functions.</a:t>
            </a:r>
          </a:p>
          <a:p>
            <a:endParaRPr/>
          </a:p>
          <a:p>
            <a:r>
              <a:t>  The cost is portability.</a:t>
            </a:r>
          </a:p>
          <a:p>
            <a:endParaRPr/>
          </a:p>
          <a:p>
            <a:r>
              <a:t>  Named queries live on the entity with @NamedQuery.</a:t>
            </a:r>
          </a:p>
          <a:p>
            <a:endParaRPr/>
          </a:p>
          <a:p>
            <a:r>
              <a:t>  They are less common in Spring Data code, but they still show up in older codebases.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Account lookups fit derived methods well.</a:t>
            </a:r>
          </a:p>
          <a:p>
            <a:endParaRPr/>
          </a:p>
          <a:p>
            <a:r>
              <a:t>  A repository method such as findByCustomerId returns every account for a synthetic customer like CUST-0001, backed by the idx_accounts_customer_id index.</a:t>
            </a:r>
          </a:p>
          <a:p>
            <a:endParaRPr/>
          </a:p>
          <a:p>
            <a:r>
              <a:t>  Lab 1's Flyway migration already creates that index.</a:t>
            </a:r>
          </a:p>
          <a:p>
            <a:endParaRPr/>
          </a:p>
          <a:p>
            <a:r>
              <a:t>  No hand-written query is needed.</a:t>
            </a:r>
          </a:p>
          <a:p>
            <a:endParaRPr/>
          </a:p>
          <a:p>
            <a:r>
              <a:t>- Reporting-style queries usually outgrow method names.</a:t>
            </a:r>
          </a:p>
          <a:p>
            <a:endParaRPr/>
          </a:p>
          <a:p>
            <a:r>
              <a:t>  One example is summing posted amounts per day for one account.</a:t>
            </a:r>
          </a:p>
          <a:p>
            <a:endParaRPr/>
          </a:p>
          <a:p>
            <a:r>
              <a:t>  Teams write these in JPQL with @Query.</a:t>
            </a:r>
          </a:p>
          <a:p>
            <a:endParaRPr/>
          </a:p>
          <a:p>
            <a:r>
              <a:t>  They use native SQL when they need PostgreSQL functions like date_trunc.</a:t>
            </a:r>
          </a:p>
          <a:p>
            <a:endParaRPr/>
          </a:p>
          <a:p>
            <a:r>
              <a:t>  Either way, they return a DTO projection instead of full entities.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Lab 2's TransactionRepository gets save and findById free from JpaRepository.</a:t>
            </a:r>
          </a:p>
          <a:p>
            <a:endParaRPr/>
          </a:p>
          <a:p>
            <a:r>
              <a:t>The lab's troubleshooting table mentions transactions stuck in RECEIVED when the consumer fails.</a:t>
            </a:r>
          </a:p>
          <a:p>
            <a:endParaRPr/>
          </a:p>
          <a:p>
            <a:r>
              <a:t>An operations engineer asks for a query.</a:t>
            </a:r>
          </a:p>
          <a:p>
            <a:endParaRPr/>
          </a:p>
          <a:p>
            <a:r>
              <a:t>It should list RECEIVED transactions older than five minutes for an account.</a:t>
            </a:r>
          </a:p>
          <a:p>
            <a:endParaRPr/>
          </a:p>
          <a:p>
            <a:r>
              <a:t>A derived method, findByAccountIdAndStatusAndCreatedAtBefore, is still readable.</a:t>
            </a:r>
          </a:p>
          <a:p>
            <a:endParaRPr/>
          </a:p>
          <a:p>
            <a:r>
              <a:t>It uses the idx_transactions_account_id and idx_transactions_status indexes from the V1 migration.</a:t>
            </a:r>
          </a:p>
          <a:p>
            <a:endParaRPr/>
          </a:p>
          <a:p>
            <a:r>
              <a:t>Next they want a count of transactions per status across all accounts.</a:t>
            </a:r>
          </a:p>
          <a:p>
            <a:endParaRPr/>
          </a:p>
          <a:p>
            <a:r>
              <a:t>That needs GROUP BY, so it becomes an @Query in JPQL that returns a small projection.</a:t>
            </a:r>
          </a:p>
          <a:p>
            <a:endParaRPr/>
          </a:p>
          <a:p>
            <a:r>
              <a:t>Each time, the team uses the simplest option that stays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Database Connection Pooling</a:t>
            </a:r>
          </a:p>
          <a:p>
            <a:r>
              <a:t>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WHY POOLING MATTERS</a:t>
            </a:r>
          </a:p>
          <a:p>
            <a:endParaRPr/>
          </a:p>
          <a:p>
            <a:r>
              <a:t>  Opening a PostgreSQL connection takes several steps.</a:t>
            </a:r>
          </a:p>
          <a:p>
            <a:endParaRPr/>
          </a:p>
          <a:p>
            <a:r>
              <a:t>  There is a TCP handshake, often TLS, authentication, and a new server-side backend process.</a:t>
            </a:r>
          </a:p>
          <a:p>
            <a:endParaRPr/>
          </a:p>
          <a:p>
            <a:r>
              <a:t>  That costs far more than a simple query.</a:t>
            </a:r>
          </a:p>
          <a:p>
            <a:endParaRPr/>
          </a:p>
          <a:p>
            <a:r>
              <a:t>  A pool opens connections once and lends them to requests.</a:t>
            </a:r>
          </a:p>
          <a:p>
            <a:endParaRPr/>
          </a:p>
          <a:p>
            <a:r>
              <a:t>  So each request pays only for its SQL.</a:t>
            </a:r>
          </a:p>
          <a:p>
            <a:endParaRPr/>
          </a:p>
          <a:p>
            <a:r>
              <a:t>  The pool is also a safety valve.</a:t>
            </a:r>
          </a:p>
          <a:p>
            <a:endParaRPr/>
          </a:p>
          <a:p>
            <a:r>
              <a:t>  PostgreSQL caps connections with max_connections.</a:t>
            </a:r>
          </a:p>
          <a:p>
            <a:endParaRPr/>
          </a:p>
          <a:p>
            <a:r>
              <a:t>  Without a pool, a traffic spike or a scaled-out deployment can use up that limit.</a:t>
            </a:r>
          </a:p>
          <a:p>
            <a:endParaRPr/>
          </a:p>
          <a:p>
            <a:r>
              <a:t>  Then every client of the server is locked out.</a:t>
            </a:r>
          </a:p>
          <a:p>
            <a:endParaRPr/>
          </a:p>
          <a:p>
            <a:r>
              <a:t>  With a pool, requests beyond its size wait briefly.</a:t>
            </a:r>
          </a:p>
          <a:p>
            <a:endParaRPr/>
          </a:p>
          <a:p>
            <a:r>
              <a:t>  They do not overwhelm the database.</a:t>
            </a:r>
          </a:p>
          <a:p>
            <a:endParaRPr/>
          </a:p>
          <a:p>
            <a:r>
              <a:t>- KEY HIKARICP SETTINGS</a:t>
            </a:r>
          </a:p>
          <a:p>
            <a:endParaRPr/>
          </a:p>
          <a:p>
            <a:r>
              <a:t>  In Spring Boot, these settings sit under spring.datasource.hikari.</a:t>
            </a:r>
          </a:p>
          <a:p>
            <a:endParaRPr/>
          </a:p>
          <a:p>
            <a:r>
              <a:t>  maximum-pool-size caps open connections and defaults to 10.</a:t>
            </a:r>
          </a:p>
          <a:p>
            <a:endParaRPr/>
          </a:p>
          <a:p>
            <a:r>
              <a:t>  minimum-idle keeps warm connections ready.</a:t>
            </a:r>
          </a:p>
          <a:p>
            <a:endParaRPr/>
          </a:p>
          <a:p>
            <a:r>
              <a:t>  HikariCP's documentation suggests leaving it unset, so the pool stays a fixed size.</a:t>
            </a:r>
          </a:p>
          <a:p>
            <a:endParaRPr/>
          </a:p>
          <a:p>
            <a:r>
              <a:t>  connection-timeout is how long a request waits for a free connection before it fails.</a:t>
            </a:r>
          </a:p>
          <a:p>
            <a:endParaRPr/>
          </a:p>
          <a:p>
            <a:r>
              <a:t>  idle-timeout retires unused extra connections.</a:t>
            </a:r>
          </a:p>
          <a:p>
            <a:endParaRPr/>
          </a:p>
          <a:p>
            <a:r>
              <a:t>  max-lifetime recycles connections before a database or firewall silently drops them.</a:t>
            </a:r>
          </a:p>
          <a:p>
            <a:endParaRPr/>
          </a:p>
          <a:p>
            <a:r>
              <a:t>  Right-sizing is multiplication.</a:t>
            </a:r>
          </a:p>
          <a:p>
            <a:endParaRPr/>
          </a:p>
          <a:p>
            <a:r>
              <a:t>  Pool size times pod replicas must stay within what the database allows.</a:t>
            </a:r>
          </a:p>
          <a:p>
            <a:endParaRPr/>
          </a:p>
          <a:p>
            <a:r>
              <a:t>  This matters when an OpenShift deployment scales out.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card authorization service scales its pods horizontally on a busy shopping day.</a:t>
            </a:r>
          </a:p>
          <a:p>
            <a:endParaRPr/>
          </a:p>
          <a:p>
            <a:r>
              <a:t>  Suppose every pod keeps a large pool.</a:t>
            </a:r>
          </a:p>
          <a:p>
            <a:endParaRPr/>
          </a:p>
          <a:p>
            <a:r>
              <a:t>  Together, those connections exceed the database limit.</a:t>
            </a:r>
          </a:p>
          <a:p>
            <a:endParaRPr/>
          </a:p>
          <a:p>
            <a:r>
              <a:t>  New pods then fail to connect while old ones keep working.</a:t>
            </a:r>
          </a:p>
          <a:p>
            <a:endParaRPr/>
          </a:p>
          <a:p>
            <a:r>
              <a:t>  Sizing each pod's pool against the database's total connection budget prevents this.</a:t>
            </a:r>
          </a:p>
          <a:p>
            <a:endParaRPr/>
          </a:p>
          <a:p>
            <a:r>
              <a:t>- HikariCP's project wiki has an article on pool sizing.</a:t>
            </a:r>
          </a:p>
          <a:p>
            <a:endParaRPr/>
          </a:p>
          <a:p>
            <a:r>
              <a:t>  It argues that smaller pools often outperform large ones.</a:t>
            </a:r>
          </a:p>
          <a:p>
            <a:endParaRPr/>
          </a:p>
          <a:p>
            <a:r>
              <a:t>  The reason is that a database can only run so much work in parallel.</a:t>
            </a:r>
          </a:p>
          <a:p>
            <a:endParaRPr/>
          </a:p>
          <a:p>
            <a:r>
              <a:t>  Spring Boot teams commonly start at the default.</a:t>
            </a:r>
          </a:p>
          <a:p>
            <a:endParaRPr/>
          </a:p>
          <a:p>
            <a:r>
              <a:t>  Then they tune using Micrometer's hikaricp metrics, such as active and pending connections.</a:t>
            </a:r>
          </a:p>
          <a:p>
            <a:endParaRPr/>
          </a:p>
          <a:p>
            <a:r>
              <a:t>  Those metrics are exposed through Actuator, Spring Boot's monitoring endpoints.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2, TransactionService.create runs inside one transaction.</a:t>
            </a:r>
          </a:p>
          <a:p>
            <a:endParaRPr/>
          </a:p>
          <a:p>
            <a:r>
              <a:t>It calls Account Service over REST and inserts the row.</a:t>
            </a:r>
          </a:p>
          <a:p>
            <a:endParaRPr/>
          </a:p>
          <a:p>
            <a:r>
              <a:t>Then it waits up to 5 seconds for Kafka to acknowledge the event.</a:t>
            </a:r>
          </a:p>
          <a:p>
            <a:endParaRPr/>
          </a:p>
          <a:p>
            <a:r>
              <a:t>Picture the broker becoming slow.</a:t>
            </a:r>
          </a:p>
          <a:p>
            <a:endParaRPr/>
          </a:p>
          <a:p>
            <a:r>
              <a:t>Every create request now holds a pooled connection for seconds.</a:t>
            </a:r>
          </a:p>
          <a:p>
            <a:endParaRPr/>
          </a:p>
          <a:p>
            <a:r>
              <a:t>The default pool has 10 connections.</a:t>
            </a:r>
          </a:p>
          <a:p>
            <a:endParaRPr/>
          </a:p>
          <a:p>
            <a:r>
              <a:t>So the eleventh concurrent request waits on connection-timeout.</a:t>
            </a:r>
          </a:p>
          <a:p>
            <a:endParaRPr/>
          </a:p>
          <a:p>
            <a:r>
              <a:t>The API looks broken, even though PostgreSQL itself is idle.</a:t>
            </a:r>
          </a:p>
          <a:p>
            <a:endParaRPr/>
          </a:p>
          <a:p>
            <a:r>
              <a:t>The pending-connections metric climbs.</a:t>
            </a:r>
          </a:p>
          <a:p>
            <a:endParaRPr/>
          </a:p>
          <a:p>
            <a:r>
              <a:t>Give the team the lesson.</a:t>
            </a:r>
          </a:p>
          <a:p>
            <a:endParaRPr/>
          </a:p>
          <a:p>
            <a:r>
              <a:t>Pool exhaustion is often a symptom of long transactions, not of a pool that is too small.</a:t>
            </a:r>
          </a:p>
          <a:p>
            <a:endParaRPr/>
          </a:p>
          <a:p>
            <a:r>
              <a:t>Raising the pool size would only move the pressure onto the database.</a:t>
            </a:r>
          </a:p>
          <a:p>
            <a:endParaRPr/>
          </a:p>
          <a:p>
            <a:endParaRPr/>
          </a:p>
          <a:p>
            <a:r>
              <a:t>TOPIC 2 OF 2: Schema Migration with Flyway or Liquibase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FLYWAY VS. LIQUIBASE</a:t>
            </a:r>
          </a:p>
          <a:p>
            <a:endParaRPr/>
          </a:p>
          <a:p>
            <a:r>
              <a:t>  Flyway runs plain SQL files named by version, such as V1__create_transactions.sql, in order.</a:t>
            </a:r>
          </a:p>
          <a:p>
            <a:endParaRPr/>
          </a:p>
          <a:p>
            <a:r>
              <a:t>  It records each one in flyway_schema_history.</a:t>
            </a:r>
          </a:p>
          <a:p>
            <a:endParaRPr/>
          </a:p>
          <a:p>
            <a:r>
              <a:t>  That is why the capstone uses it: engineers review ordinary PostgreSQL DDL, the statements that create and change tables.</a:t>
            </a:r>
          </a:p>
          <a:p>
            <a:endParaRPr/>
          </a:p>
          <a:p>
            <a:r>
              <a:t>  In the open-source edition, undoing a change means writing a new forward migration.</a:t>
            </a:r>
          </a:p>
          <a:p>
            <a:endParaRPr/>
          </a:p>
          <a:p>
            <a:r>
              <a:t>  Undo migrations are a commercial Flyway feature.</a:t>
            </a:r>
          </a:p>
          <a:p>
            <a:endParaRPr/>
          </a:p>
          <a:p>
            <a:r>
              <a:t>  Liquibase keeps changesets in a changelog written in SQL, XML, YAML, or JSON.</a:t>
            </a:r>
          </a:p>
          <a:p>
            <a:endParaRPr/>
          </a:p>
          <a:p>
            <a:r>
              <a:t>  It records them in DATABASECHANGELOG.</a:t>
            </a:r>
          </a:p>
          <a:p>
            <a:endParaRPr/>
          </a:p>
          <a:p>
            <a:r>
              <a:t>  It can generate rollback for many change types automatically.</a:t>
            </a:r>
          </a:p>
          <a:p>
            <a:endParaRPr/>
          </a:p>
          <a:p>
            <a:r>
              <a:t>  But raw SQL changesets need their rollback written by hand.</a:t>
            </a:r>
          </a:p>
          <a:p>
            <a:endParaRPr/>
          </a:p>
          <a:p>
            <a:r>
              <a:t>  Spring Boot auto-configures either tool.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Migrations live in Git under src/main/resources/db/migration.</a:t>
            </a:r>
          </a:p>
          <a:p>
            <a:endParaRPr/>
          </a:p>
          <a:p>
            <a:r>
              <a:t>  So a schema change and the entity change that needs it ship in one reviewed commit.</a:t>
            </a:r>
          </a:p>
          <a:p>
            <a:endParaRPr/>
          </a:p>
          <a:p>
            <a:r>
              <a:t>  Keep each file small and single-purpose, such as one column or one index.</a:t>
            </a:r>
          </a:p>
          <a:p>
            <a:endParaRPr/>
          </a:p>
          <a:p>
            <a:r>
              <a:t>  Then a failure is easy to diagnose.</a:t>
            </a:r>
          </a:p>
          <a:p>
            <a:endParaRPr/>
          </a:p>
          <a:p>
            <a:r>
              <a:t>  Never edit an applied migration.</a:t>
            </a:r>
          </a:p>
          <a:p>
            <a:endParaRPr/>
          </a:p>
          <a:p>
            <a:r>
              <a:t>  Flyway stores a checksum and fails validation at startup if the file changed.</a:t>
            </a:r>
          </a:p>
          <a:p>
            <a:endParaRPr/>
          </a:p>
          <a:p>
            <a:r>
              <a:t>  That stops environments from silently drifting apart.</a:t>
            </a:r>
          </a:p>
          <a:p>
            <a:endParaRPr/>
          </a:p>
          <a:p>
            <a:r>
              <a:t>  Fix mistakes with a new V2 file.</a:t>
            </a:r>
          </a:p>
          <a:p>
            <a:endParaRPr/>
          </a:p>
          <a:p>
            <a:r>
              <a:t>  Pair this with ddl-auto set to validate, as Labs 1 and 2 do.</a:t>
            </a:r>
          </a:p>
          <a:p>
            <a:endParaRPr/>
          </a:p>
          <a:p>
            <a:r>
              <a:t>  Then Hibernate checks the schema but never changes it.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Banks generally require schema changes to pass change management with an audit trail.</a:t>
            </a:r>
          </a:p>
          <a:p>
            <a:endParaRPr/>
          </a:p>
          <a:p>
            <a:r>
              <a:t>  Versioned migration files live in Git and are reviewed in pull requests.</a:t>
            </a:r>
          </a:p>
          <a:p>
            <a:endParaRPr/>
          </a:p>
          <a:p>
            <a:r>
              <a:t>  The pipeline applies them, and nobody runs scripts by hand.</a:t>
            </a:r>
          </a:p>
          <a:p>
            <a:endParaRPr/>
          </a:p>
          <a:p>
            <a:r>
              <a:t>  Auditors can see the exact DDL, its author, and the order in which it reached production.</a:t>
            </a:r>
          </a:p>
          <a:p>
            <a:endParaRPr/>
          </a:p>
          <a:p>
            <a:r>
              <a:t>- Here is a classic failure.</a:t>
            </a:r>
          </a:p>
          <a:p>
            <a:endParaRPr/>
          </a:p>
          <a:p>
            <a:r>
              <a:t>  A developer fixes a typo in a V3 script that was already applied.</a:t>
            </a:r>
          </a:p>
          <a:p>
            <a:endParaRPr/>
          </a:p>
          <a:p>
            <a:r>
              <a:t>  Environments that ran the old version now fail Flyway checksum validation at startup.</a:t>
            </a:r>
          </a:p>
          <a:p>
            <a:endParaRPr/>
          </a:p>
          <a:p>
            <a:r>
              <a:t>  Fresh environments, meanwhile, get different DDL.</a:t>
            </a:r>
          </a:p>
          <a:p>
            <a:endParaRPr/>
          </a:p>
          <a:p>
            <a:r>
              <a:t>  The correct repair is a new V4 migration that makes the correction explicit.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2 Step 2, learners create V1__create_transactions.sql, the file that builds the transactions table, two indexes, and the processed_events inbox table.</a:t>
            </a:r>
          </a:p>
          <a:p>
            <a:endParaRPr/>
          </a:p>
          <a:p>
            <a:r>
              <a:t>On restart, the log reports migrating schema public to version 1.</a:t>
            </a:r>
          </a:p>
          <a:p>
            <a:endParaRPr/>
          </a:p>
          <a:p>
            <a:r>
              <a:t>Now imagine the product owner asks to record the channel a transaction came from, such as mobile or branch.</a:t>
            </a:r>
          </a:p>
          <a:p>
            <a:endParaRPr/>
          </a:p>
          <a:p>
            <a:r>
              <a:t>A learner is tempted to add the column to V1.</a:t>
            </a:r>
          </a:p>
          <a:p>
            <a:endParaRPr/>
          </a:p>
          <a:p>
            <a:r>
              <a:t>But V1 is already applied on every laptop, so Flyway would reject the changed checksum.</a:t>
            </a:r>
          </a:p>
          <a:p>
            <a:endParaRPr/>
          </a:p>
          <a:p>
            <a:r>
              <a:t>Instead they write V2__add_transaction_channel.sql, add the field to the entity, and restart.</a:t>
            </a:r>
          </a:p>
          <a:p>
            <a:endParaRPr/>
          </a:p>
          <a:p>
            <a:r>
              <a:t>Because ddl-auto is validate, forgetting either half fails at startup instead of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Five-step startup flow</a:t>
            </a:r>
          </a:p>
          <a:p>
            <a:endParaRPr/>
          </a:p>
          <a:p>
            <a:r>
              <a:t>  Participants create versioned SQL files under src/main/resources/db/migration.</a:t>
            </a:r>
          </a:p>
          <a:p>
            <a:endParaRPr/>
          </a:p>
          <a:p>
            <a:r>
              <a:t>  When Spring Boot starts, Flyway is auto-configured and runs before JPA initialises.</a:t>
            </a:r>
          </a:p>
          <a:p>
            <a:endParaRPr/>
          </a:p>
          <a:p>
            <a:r>
              <a:t>  It checks which versions are already applied.</a:t>
            </a:r>
          </a:p>
          <a:p>
            <a:endParaRPr/>
          </a:p>
          <a:p>
            <a:r>
              <a:t>  It runs pending ones in version order.</a:t>
            </a:r>
          </a:p>
          <a:p>
            <a:endParaRPr/>
          </a:p>
          <a:p>
            <a:r>
              <a:t>  Only then does the application finish starting.</a:t>
            </a:r>
          </a:p>
          <a:p>
            <a:endParaRPr/>
          </a:p>
          <a:p>
            <a:r>
              <a:t>  Connect it to the labs.</a:t>
            </a:r>
          </a:p>
          <a:p>
            <a:endParaRPr/>
          </a:p>
          <a:p>
            <a:r>
              <a:t>  ddl-auto is set to validate.</a:t>
            </a:r>
          </a:p>
          <a:p>
            <a:endParaRPr/>
          </a:p>
          <a:p>
            <a:r>
              <a:t>  So if a Flyway script and the entity disagree, startup fails loudly.</a:t>
            </a:r>
          </a:p>
          <a:p>
            <a:endParaRPr/>
          </a:p>
          <a:p>
            <a:r>
              <a:t>  Hibernate does not silently alter tables instead.</a:t>
            </a:r>
          </a:p>
          <a:p>
            <a:endParaRPr/>
          </a:p>
          <a:p>
            <a:r>
              <a:t>- Migration scripts, application, and database</a:t>
            </a:r>
          </a:p>
          <a:p>
            <a:endParaRPr/>
          </a:p>
          <a:p>
            <a:r>
              <a:t>  File names follow V, a version number, two underscores, and a description.</a:t>
            </a:r>
          </a:p>
          <a:p>
            <a:endParaRPr/>
          </a:p>
          <a:p>
            <a:r>
              <a:t>  The example folder mixes users, accounts, and transactions in one service.</a:t>
            </a:r>
          </a:p>
          <a:p>
            <a:endParaRPr/>
          </a:p>
          <a:p>
            <a:r>
              <a:t>  That is fine for a generic illustration, but not for the capstone.</a:t>
            </a:r>
          </a:p>
          <a:p>
            <a:endParaRPr/>
          </a:p>
          <a:p>
            <a:r>
              <a:t>  In the labs, each service has its own V1 file.</a:t>
            </a:r>
          </a:p>
          <a:p>
            <a:endParaRPr/>
          </a:p>
          <a:p>
            <a:r>
              <a:t>  Lab 1 has V1__create_accounts.sql in account_db.</a:t>
            </a:r>
          </a:p>
          <a:p>
            <a:endParaRPr/>
          </a:p>
          <a:p>
            <a:r>
              <a:t>  Lab 2 has V1__create_transactions.sql, which creates transactions and processed_events in transaction_db.</a:t>
            </a:r>
          </a:p>
          <a:p>
            <a:endParaRPr/>
          </a:p>
          <a:p>
            <a:r>
              <a:t>  The database keeps application tables alongside flyway_schema_history.</a:t>
            </a:r>
          </a:p>
          <a:p>
            <a:endParaRPr/>
          </a:p>
          <a:p>
            <a:r>
              <a:t>- flyway_schema_history table</a:t>
            </a:r>
          </a:p>
          <a:p>
            <a:endParaRPr/>
          </a:p>
          <a:p>
            <a:r>
              <a:t>  Each applied migration is recorded with rank, version, description, script, and checksum.</a:t>
            </a:r>
          </a:p>
          <a:p>
            <a:endParaRPr/>
          </a:p>
          <a:p>
            <a:r>
              <a:t>  It also records the installing user, time, duration, and success.</a:t>
            </a:r>
          </a:p>
          <a:p>
            <a:endParaRPr/>
          </a:p>
          <a:p>
            <a:r>
              <a:t>  The rows on the image are illustrative sample values.</a:t>
            </a:r>
          </a:p>
          <a:p>
            <a:endParaRPr/>
          </a:p>
          <a:p>
            <a:r>
              <a:t>  In practice the checksum, a fingerprint of the file, matters most.</a:t>
            </a:r>
          </a:p>
          <a:p>
            <a:endParaRPr/>
          </a:p>
          <a:p>
            <a:r>
              <a:t>  If someone edits an already applied V1 file, validation fails on the next start.</a:t>
            </a:r>
          </a:p>
          <a:p>
            <a:endParaRPr/>
          </a:p>
          <a:p>
            <a:r>
              <a:t>  The fix is a new V2 migration, never editing history.</a:t>
            </a:r>
          </a:p>
          <a:p>
            <a:endParaRPr/>
          </a:p>
          <a:p>
            <a:r>
              <a:t>  That is the discipline auditors expect for schema changes.</a:t>
            </a:r>
          </a:p>
          <a:p>
            <a:endParaRPr/>
          </a:p>
          <a:p>
            <a:r>
              <a:t>- Benefits panel</a:t>
            </a:r>
          </a:p>
          <a:p>
            <a:endParaRPr/>
          </a:p>
          <a:p>
            <a:r>
              <a:t>  The panel lists version control for the schema, automated and repeatable deployments, consistency across environments, and safe schema evolution.</a:t>
            </a:r>
          </a:p>
          <a:p>
            <a:endParaRPr/>
          </a:p>
          <a:p>
            <a:r>
              <a:t>  Tie it to later days.</a:t>
            </a:r>
          </a:p>
          <a:p>
            <a:endParaRPr/>
          </a:p>
          <a:p>
            <a:r>
              <a:t>  On Day 4, the same container image runs in OpenShift, and Flyway applies the same migrations there.</a:t>
            </a:r>
          </a:p>
          <a:p>
            <a:endParaRPr/>
          </a:p>
          <a:p>
            <a:r>
              <a:t>  So development and cluster databases converge.</a:t>
            </a:r>
          </a:p>
          <a:p>
            <a:endParaRPr/>
          </a:p>
          <a:p>
            <a:r>
              <a:t>  Remind participants that migrations must be backward compatible.</a:t>
            </a:r>
          </a:p>
          <a:p>
            <a:endParaRPr/>
          </a:p>
          <a:p>
            <a:r>
              <a:t>  Old and new pods run side by side during a rollout.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Banks commonly require schema changes to go through the same review and change management as application code.</a:t>
            </a:r>
          </a:p>
          <a:p>
            <a:endParaRPr/>
          </a:p>
          <a:p>
            <a:r>
              <a:t>  Versioned migration files in the service repository give reviewers a readable diff.</a:t>
            </a:r>
          </a:p>
          <a:p>
            <a:endParaRPr/>
          </a:p>
          <a:p>
            <a:r>
              <a:t>  They also give auditors a history table showing exactly when each change was applied.</a:t>
            </a:r>
          </a:p>
          <a:p>
            <a:endParaRPr/>
          </a:p>
          <a:p>
            <a:r>
              <a:t>- A frequent production incident starts with a hotfix applied by hand to one environment's database.</a:t>
            </a:r>
          </a:p>
          <a:p>
            <a:endParaRPr/>
          </a:p>
          <a:p>
            <a:r>
              <a:t>  The next automated deployment then fails.</a:t>
            </a:r>
          </a:p>
          <a:p>
            <a:endParaRPr/>
          </a:p>
          <a:p>
            <a:r>
              <a:t>  Teams using Flyway avoid that.</a:t>
            </a:r>
          </a:p>
          <a:p>
            <a:endParaRPr/>
          </a:p>
          <a:p>
            <a:r>
              <a:t>  They route even urgent schema fixes through a new migration version.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Later, the risk platform needs a merchant category column on transactions.</a:t>
            </a:r>
          </a:p>
          <a:p>
            <a:endParaRPr/>
          </a:p>
          <a:p>
            <a:r>
              <a:t>A participant is tempted to edit V1__create_transactions.sql.</a:t>
            </a:r>
          </a:p>
          <a:p>
            <a:endParaRPr/>
          </a:p>
          <a:p>
            <a:r>
              <a:t>Walk through the result.</a:t>
            </a:r>
          </a:p>
          <a:p>
            <a:endParaRPr/>
          </a:p>
          <a:p>
            <a:r>
              <a:t>Every database that already applied V1 now has a Flyway checksum that no longer matches, so startup fails.</a:t>
            </a:r>
          </a:p>
          <a:p>
            <a:endParaRPr/>
          </a:p>
          <a:p>
            <a:r>
              <a:t>The right move is V2__add_merchant_category.sql with an ALTER TABLE that adds a nullable column.</a:t>
            </a:r>
          </a:p>
          <a:p>
            <a:endParaRPr/>
          </a:p>
          <a:p>
            <a:r>
              <a:t>Also update the Transaction entity.</a:t>
            </a:r>
          </a:p>
          <a:p>
            <a:endParaRPr/>
          </a:p>
          <a:p>
            <a:r>
              <a:t>Then ddl-auto validate confirms they match on the next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Database Configuration Across Environments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TYPICAL ENVIRONMENTS</a:t>
            </a:r>
          </a:p>
          <a:p>
            <a:endParaRPr/>
          </a:p>
          <a:p>
            <a:r>
              <a:t>  The same jar should run everywhere.</a:t>
            </a:r>
          </a:p>
          <a:p>
            <a:endParaRPr/>
          </a:p>
          <a:p>
            <a:r>
              <a:t>  Only the configuration changes.</a:t>
            </a:r>
          </a:p>
          <a:p>
            <a:endParaRPr/>
          </a:p>
          <a:p>
            <a:r>
              <a:t>  Development favours speed.</a:t>
            </a:r>
          </a:p>
          <a:p>
            <a:endParaRPr/>
          </a:p>
          <a:p>
            <a:r>
              <a:t>  In Lab 1, the local profile's YAML points Account Service at PostgreSQL on host port 5433, and Lab 2 uses transaction_db on 5434.</a:t>
            </a:r>
          </a:p>
          <a:p>
            <a:endParaRPr/>
          </a:p>
          <a:p>
            <a:r>
              <a:t>  Test or QA needs an isolated database.</a:t>
            </a:r>
          </a:p>
          <a:p>
            <a:endParaRPr/>
          </a:p>
          <a:p>
            <a:r>
              <a:t>  Automation should be able to reset it without hurting anyone.</a:t>
            </a:r>
          </a:p>
          <a:p>
            <a:endParaRPr/>
          </a:p>
          <a:p>
            <a:r>
              <a:t>  Staging or UAT mirrors production's database version, schema, and configuration shape.</a:t>
            </a:r>
          </a:p>
          <a:p>
            <a:endParaRPr/>
          </a:p>
          <a:p>
            <a:r>
              <a:t>  So migration or performance surprises appear before release.</a:t>
            </a:r>
          </a:p>
          <a:p>
            <a:endParaRPr/>
          </a:p>
          <a:p>
            <a:r>
              <a:t>  Production adds high availability, backups, encryption, and tightly restricted access.</a:t>
            </a:r>
          </a:p>
          <a:p>
            <a:endParaRPr/>
          </a:p>
          <a:p>
            <a:r>
              <a:t>  It is the only place real customer data should exist.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Connection URLs and credentials differ per environment, and they are sensitive.</a:t>
            </a:r>
          </a:p>
          <a:p>
            <a:endParaRPr/>
          </a:p>
          <a:p>
            <a:r>
              <a:t>  So the YAML holds placeholders.</a:t>
            </a:r>
          </a:p>
          <a:p>
            <a:endParaRPr/>
          </a:p>
          <a:p>
            <a:r>
              <a:t>  The real values arrive from environment variables, an OpenShift Secret, or a vault.</a:t>
            </a:r>
          </a:p>
          <a:p>
            <a:endParaRPr/>
          </a:p>
          <a:p>
            <a:r>
              <a:t>  Least privilege means the application's user can read and write its own tables.</a:t>
            </a:r>
          </a:p>
          <a:p>
            <a:endParaRPr/>
          </a:p>
          <a:p>
            <a:r>
              <a:t>  It cannot drop the schema.</a:t>
            </a:r>
          </a:p>
          <a:p>
            <a:endParaRPr/>
          </a:p>
          <a:p>
            <a:r>
              <a:t>  Flyway can run with a separate, more privileged user.</a:t>
            </a:r>
          </a:p>
          <a:p>
            <a:endParaRPr/>
          </a:p>
          <a:p>
            <a:r>
              <a:t>  Validating at startup means failing fast.</a:t>
            </a:r>
          </a:p>
          <a:p>
            <a:endParaRPr/>
          </a:p>
          <a:p>
            <a:r>
              <a:t>  Flyway validation, ddl-auto validate, and @Validated configuration properties all stop a misconfigured pod before it takes traffic.</a:t>
            </a:r>
          </a:p>
          <a:p>
            <a:endParaRPr/>
          </a:p>
          <a:p>
            <a:r>
              <a:t>  That fits the readiness probes learners wire on Day 4.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Banks typically enforce a separation between production and non-production data.</a:t>
            </a:r>
          </a:p>
          <a:p>
            <a:endParaRPr/>
          </a:p>
          <a:p>
            <a:r>
              <a:t>  A common control is that production database credentials exist only in the production secrets store.</a:t>
            </a:r>
          </a:p>
          <a:p>
            <a:endParaRPr/>
          </a:p>
          <a:p>
            <a:r>
              <a:t>  So a developer laptop or a QA pipeline cannot reach production, even if someone selects the wrong profile.</a:t>
            </a:r>
          </a:p>
          <a:p>
            <a:endParaRPr/>
          </a:p>
          <a:p>
            <a:r>
              <a:t>- Credentials committed to source repositories are a recurring cause of security incidents.</a:t>
            </a:r>
          </a:p>
          <a:p>
            <a:endParaRPr/>
          </a:p>
          <a:p>
            <a:r>
              <a:t>  That is why GitHub offers secret scanning, which flags committed keys and passwords.</a:t>
            </a:r>
          </a:p>
          <a:p>
            <a:endParaRPr/>
          </a:p>
          <a:p>
            <a:r>
              <a:t>  When application YAML holds only placeholders, a scan of the repository finds nothing worth stealing.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Transaction Service has to run in three places.</a:t>
            </a:r>
          </a:p>
          <a:p>
            <a:endParaRPr/>
          </a:p>
          <a:p>
            <a:r>
              <a:t>The first is a laptop.</a:t>
            </a:r>
          </a:p>
          <a:p>
            <a:endParaRPr/>
          </a:p>
          <a:p>
            <a:r>
              <a:t>There it uses port 5434 for transaction_db and localhost:8081 for Account Service.</a:t>
            </a:r>
          </a:p>
          <a:p>
            <a:endParaRPr/>
          </a:p>
          <a:p>
            <a:r>
              <a:t>The second is a QA namespace, and the third is production on OpenShift.</a:t>
            </a:r>
          </a:p>
          <a:p>
            <a:endParaRPr/>
          </a:p>
          <a:p>
            <a:r>
              <a:t>A teammate hardcodes the JDBC URL and password in application.yml to save time.</a:t>
            </a:r>
          </a:p>
          <a:p>
            <a:endParaRPr/>
          </a:p>
          <a:p>
            <a:r>
              <a:t>The QA deployment tries to reach localhost and crashes.</a:t>
            </a:r>
          </a:p>
          <a:p>
            <a:endParaRPr/>
          </a:p>
          <a:p>
            <a:r>
              <a:t>The password now sits in Git history too.</a:t>
            </a:r>
          </a:p>
          <a:p>
            <a:endParaRPr/>
          </a:p>
          <a:p>
            <a:r>
              <a:t>The fix keeps one application.yml with placeholders.</a:t>
            </a:r>
          </a:p>
          <a:p>
            <a:endParaRPr/>
          </a:p>
          <a:p>
            <a:r>
              <a:t>Each environment supplies SPRING_DATASOURCE_URL, plus the username and password from a Secret.</a:t>
            </a:r>
          </a:p>
          <a:p>
            <a:endParaRPr/>
          </a:p>
          <a:p>
            <a:r>
              <a:t>It also supplies the Account Service base URL through an environment variable.</a:t>
            </a:r>
          </a:p>
          <a:p>
            <a:endParaRPr/>
          </a:p>
          <a:p>
            <a:r>
              <a:t>The build artifact never changes between environments.</a:t>
            </a:r>
          </a:p>
          <a:p>
            <a:endParaRPr/>
          </a:p>
          <a:p>
            <a:endParaRPr/>
          </a:p>
          <a:p>
            <a:r>
              <a:t>TOPIC 2 OF 2: Local Transactions with Spring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A LOCAL TRANSACTION WORKS</a:t>
            </a:r>
          </a:p>
          <a:p>
            <a:endParaRPr/>
          </a:p>
          <a:p>
            <a:r>
              <a:t>  @Transactional puts a proxy around the service bean.</a:t>
            </a:r>
          </a:p>
          <a:p>
            <a:endParaRPr/>
          </a:p>
          <a:p>
            <a:r>
              <a:t>  A proxy is a wrapper that runs code before and after each call.</a:t>
            </a:r>
          </a:p>
          <a:p>
            <a:endParaRPr/>
          </a:p>
          <a:p>
            <a:r>
              <a:t>  When a call enters, the proxy asks the PlatformTransactionManager to begin a transaction.</a:t>
            </a:r>
          </a:p>
          <a:p>
            <a:endParaRPr/>
          </a:p>
          <a:p>
            <a:r>
              <a:t>  In a JPA application, that manager is JpaTransactionManager.</a:t>
            </a:r>
          </a:p>
          <a:p>
            <a:endParaRPr/>
          </a:p>
          <a:p>
            <a:r>
              <a:t>  It binds a connection to the thread, and repository calls reuse it.</a:t>
            </a:r>
          </a:p>
          <a:p>
            <a:endParaRPr/>
          </a:p>
          <a:p>
            <a:r>
              <a:t>  A normal return commits.</a:t>
            </a:r>
          </a:p>
          <a:p>
            <a:endParaRPr/>
          </a:p>
          <a:p>
            <a:r>
              <a:t>  An unchecked exception, meaning RuntimeException or Error, rolls back.</a:t>
            </a:r>
          </a:p>
          <a:p>
            <a:endParaRPr/>
          </a:p>
          <a:p>
            <a:r>
              <a:t>  Checked exceptions commit unless rollbackFor says otherwise.</a:t>
            </a:r>
          </a:p>
          <a:p>
            <a:endParaRPr/>
          </a:p>
          <a:p>
            <a:r>
              <a:t>  REQUIRED means an inner @Transactional call joins the outer transaction.</a:t>
            </a:r>
          </a:p>
          <a:p>
            <a:endParaRPr/>
          </a:p>
          <a:p>
            <a:r>
              <a:t>  This is all proxy-based.</a:t>
            </a:r>
          </a:p>
          <a:p>
            <a:endParaRPr/>
          </a:p>
          <a:p>
            <a:r>
              <a:t>  So if one method calls a @Transactional method in the same class, the call skips the proxy entirely.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The service layer knows the business unit of work.</a:t>
            </a:r>
          </a:p>
          <a:p>
            <a:endParaRPr/>
          </a:p>
          <a:p>
            <a:r>
              <a:t>  So the annotation belongs there, not on controllers.</a:t>
            </a:r>
          </a:p>
          <a:p>
            <a:endParaRPr/>
          </a:p>
          <a:p>
            <a:r>
              <a:t>  Short transactions release row locks and pooled connections quickly.</a:t>
            </a:r>
          </a:p>
          <a:p>
            <a:endParaRPr/>
          </a:p>
          <a:p>
            <a:r>
              <a:t>  Remote calls inside a transaction hurt twice.</a:t>
            </a:r>
          </a:p>
          <a:p>
            <a:endParaRPr/>
          </a:p>
          <a:p>
            <a:r>
              <a:t>  First, a slow dependency holds the connection for its whole latency.</a:t>
            </a:r>
          </a:p>
          <a:p>
            <a:endParaRPr/>
          </a:p>
          <a:p>
            <a:r>
              <a:t>  Second, a rollback cannot undo a REST call or published event that already happened.</a:t>
            </a:r>
          </a:p>
          <a:p>
            <a:endParaRPr/>
          </a:p>
          <a:p>
            <a:r>
              <a:t>  Be ready to explain that Lab 2's create method simplifies this on purpose.</a:t>
            </a:r>
          </a:p>
          <a:p>
            <a:endParaRPr/>
          </a:p>
          <a:p>
            <a:r>
              <a:t>  It calls Account Service and waits for the Kafka acknowledgement inside the transaction.</a:t>
            </a:r>
          </a:p>
          <a:p>
            <a:endParaRPr/>
          </a:p>
          <a:p>
            <a:r>
              <a:t>  It relies on client timeouts and a 5 second publish limit.</a:t>
            </a:r>
          </a:p>
          <a:p>
            <a:endParaRPr/>
          </a:p>
          <a:p>
            <a:r>
              <a:t>  The production-grade answer is the transactional outbox.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An internal transfer between two accounts in the same ledger database is the textbook local transaction.</a:t>
            </a:r>
          </a:p>
          <a:p>
            <a:endParaRPr/>
          </a:p>
          <a:p>
            <a:r>
              <a:t>  Debit one balance, credit the other, and write an audit row.</a:t>
            </a:r>
          </a:p>
          <a:p>
            <a:endParaRPr/>
          </a:p>
          <a:p>
            <a:r>
              <a:t>  If the credit fails, the debit must not survive.</a:t>
            </a:r>
          </a:p>
          <a:p>
            <a:endParaRPr/>
          </a:p>
          <a:p>
            <a:r>
              <a:t>  One @Transactional service method guarantees that, with no coordination protocol.</a:t>
            </a:r>
          </a:p>
          <a:p>
            <a:endParaRPr/>
          </a:p>
          <a:p>
            <a:r>
              <a:t>- Here is a frequent production bug.</a:t>
            </a:r>
          </a:p>
          <a:p>
            <a:endParaRPr/>
          </a:p>
          <a:p>
            <a:r>
              <a:t>  A service catches an exception inside a @Transactional method, logs it, and returns normally.</a:t>
            </a:r>
          </a:p>
          <a:p>
            <a:endParaRPr/>
          </a:p>
          <a:p>
            <a:r>
              <a:t>  Spring sees no exception, so it commits the half-finished work.</a:t>
            </a:r>
          </a:p>
          <a:p>
            <a:endParaRPr/>
          </a:p>
          <a:p>
            <a:r>
              <a:t>  When the business operation has failed, rethrow the exception.</a:t>
            </a:r>
          </a:p>
          <a:p>
            <a:endParaRPr/>
          </a:p>
          <a:p>
            <a:r>
              <a:t>  Or mark the transaction rollback-only.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Walk through Lab 2's create method.</a:t>
            </a:r>
          </a:p>
          <a:p>
            <a:endParaRPr/>
          </a:p>
          <a:p>
            <a:r>
              <a:t>It inserts the transaction row with status RECEIVED.</a:t>
            </a:r>
          </a:p>
          <a:p>
            <a:endParaRPr/>
          </a:p>
          <a:p>
            <a:r>
              <a:t>Then it publishes TransactionSubmitted and waits for the broker.</a:t>
            </a:r>
          </a:p>
          <a:p>
            <a:endParaRPr/>
          </a:p>
          <a:p>
            <a:r>
              <a:t>Suppose Kafka is down.</a:t>
            </a:r>
          </a:p>
          <a:p>
            <a:endParaRPr/>
          </a:p>
          <a:p>
            <a:r>
              <a:t>The publisher throws IllegalStateException, which is a runtime exception, so Spring rolls back the insert.</a:t>
            </a:r>
          </a:p>
          <a:p>
            <a:endParaRPr/>
          </a:p>
          <a:p>
            <a:r>
              <a:t>The client gets an error, and no silent RECEIVED row is left behind.</a:t>
            </a:r>
          </a:p>
          <a:p>
            <a:endParaRPr/>
          </a:p>
          <a:p>
            <a:r>
              <a:t>That is exactly what the lab guide intends.</a:t>
            </a:r>
          </a:p>
          <a:p>
            <a:endParaRPr/>
          </a:p>
          <a:p>
            <a:r>
              <a:t>Then ask about the opposite gap.</a:t>
            </a:r>
          </a:p>
          <a:p>
            <a:endParaRPr/>
          </a:p>
          <a:p>
            <a:r>
              <a:t>The broker acknowledges the event, but the commit fails afterward.</a:t>
            </a:r>
          </a:p>
          <a:p>
            <a:endParaRPr/>
          </a:p>
          <a:p>
            <a:r>
              <a:t>Now an event exists for a row that does not.</a:t>
            </a:r>
          </a:p>
          <a:p>
            <a:endParaRPr/>
          </a:p>
          <a:p>
            <a:r>
              <a:t>The consumer cannot find the transactionId.</a:t>
            </a:r>
          </a:p>
          <a:p>
            <a:endParaRPr/>
          </a:p>
          <a:p>
            <a:r>
              <a:t>It retries twice, and the message lands on the dead-letter topic, a holding topic for failed messages.</a:t>
            </a:r>
          </a:p>
          <a:p>
            <a:endParaRPr/>
          </a:p>
          <a:p>
            <a:r>
              <a:t>That dual-write gap is what the transactional outbox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Application</a:t>
            </a:r>
          </a:p>
          <a:p>
            <a:endParaRPr/>
          </a:p>
          <a:p>
            <a:r>
              <a:t>  The left box stands for a Spring service method annotated with @Transactional.</a:t>
            </a:r>
          </a:p>
          <a:p>
            <a:endParaRPr/>
          </a:p>
          <a:p>
            <a:r>
              <a:t>  Examples are create in Lab 2's TransactionService, or an account status change in Lab 1.</a:t>
            </a:r>
          </a:p>
          <a:p>
            <a:endParaRPr/>
          </a:p>
          <a:p>
            <a:r>
              <a:t>  Stress that the application decides when to begin, commit, or roll back.</a:t>
            </a:r>
          </a:p>
          <a:p>
            <a:endParaRPr/>
          </a:p>
          <a:p>
            <a:r>
              <a:t>  It does this through Spring's transaction manager.</a:t>
            </a:r>
          </a:p>
          <a:p>
            <a:endParaRPr/>
          </a:p>
          <a:p>
            <a:r>
              <a:t>  The database does not decide on its own when a business operation is finished.</a:t>
            </a:r>
          </a:p>
          <a:p>
            <a:endParaRPr/>
          </a:p>
          <a:p>
            <a:r>
              <a:t>  It runs statements and reports errors, such as a constraint violation or deadlock.</a:t>
            </a:r>
          </a:p>
          <a:p>
            <a:endParaRPr/>
          </a:p>
          <a:p>
            <a:r>
              <a:t>  The application then reacts to them.</a:t>
            </a:r>
          </a:p>
          <a:p>
            <a:endParaRPr/>
          </a:p>
          <a:p>
            <a:r>
              <a:t>- Database and Operations</a:t>
            </a:r>
          </a:p>
          <a:p>
            <a:endParaRPr/>
          </a:p>
          <a:p>
            <a:r>
              <a:t>  The centre box shows the statements that run on one connection within one transaction.</a:t>
            </a:r>
          </a:p>
          <a:p>
            <a:endParaRPr/>
          </a:p>
          <a:p>
            <a:r>
              <a:t>  Until commit, other sessions cannot see these changes at PostgreSQL's default Read Committed level.</a:t>
            </a:r>
          </a:p>
          <a:p>
            <a:endParaRPr/>
          </a:p>
          <a:p>
            <a:r>
              <a:t>  The INSERT, UPDATE, and DELETE list is generic SQL.</a:t>
            </a:r>
          </a:p>
          <a:p>
            <a:endParaRPr/>
          </a:p>
          <a:p>
            <a:r>
              <a:t>  Remind learners that the capstone never physically deletes an account.</a:t>
            </a:r>
          </a:p>
          <a:p>
            <a:endParaRPr/>
          </a:p>
          <a:p>
            <a:r>
              <a:t>  Lab 1 closes it by status, because banking audit needs the record.</a:t>
            </a:r>
          </a:p>
          <a:p>
            <a:endParaRPr/>
          </a:p>
          <a:p>
            <a:r>
              <a:t>  The key point is that all listed operations share a single fate.</a:t>
            </a:r>
          </a:p>
          <a:p>
            <a:endParaRPr/>
          </a:p>
          <a:p>
            <a:r>
              <a:t>- Commit path</a:t>
            </a:r>
          </a:p>
          <a:p>
            <a:endParaRPr/>
          </a:p>
          <a:p>
            <a:r>
              <a:t>  The green outcome means every statement is now durable and visible to other transactions.</a:t>
            </a:r>
          </a:p>
          <a:p>
            <a:endParaRPr/>
          </a:p>
          <a:p>
            <a:r>
              <a:t>  Only after commit should anything downstream rely on the data.</a:t>
            </a:r>
          </a:p>
          <a:p>
            <a:endParaRPr/>
          </a:p>
          <a:p>
            <a:r>
              <a:t>  In Lab 2, that is why the event consumer looks up the transaction row.</a:t>
            </a:r>
          </a:p>
          <a:p>
            <a:endParaRPr/>
          </a:p>
          <a:p>
            <a:r>
              <a:t>  A row that never committed does not exist from any other connection's point of view.</a:t>
            </a:r>
          </a:p>
          <a:p>
            <a:endParaRPr/>
          </a:p>
          <a:p>
            <a:r>
              <a:t>  Commit is also when JPA flushes pending entity changes, meaning it sends them to the database.</a:t>
            </a:r>
          </a:p>
          <a:p>
            <a:endParaRPr/>
          </a:p>
          <a:p>
            <a:r>
              <a:t>  That is why Lab 1 needs no explicit save after changing a field.</a:t>
            </a:r>
          </a:p>
          <a:p>
            <a:endParaRPr/>
          </a:p>
          <a:p>
            <a:r>
              <a:t>- Rollback path</a:t>
            </a:r>
          </a:p>
          <a:p>
            <a:endParaRPr/>
          </a:p>
          <a:p>
            <a:r>
              <a:t>  The red outcome is triggered by a runtime exception in the service method, or by an error from the database.</a:t>
            </a:r>
          </a:p>
          <a:p>
            <a:endParaRPr/>
          </a:p>
          <a:p>
            <a:r>
              <a:t>  The engine discards every change made in the transaction.</a:t>
            </a:r>
          </a:p>
          <a:p>
            <a:endParaRPr/>
          </a:p>
          <a:p>
            <a:r>
              <a:t>  The exception travels back to the application.</a:t>
            </a:r>
          </a:p>
          <a:p>
            <a:endParaRPr/>
          </a:p>
          <a:p>
            <a:r>
              <a:t>  There, a controller advice turns it into an HTTP error response.</a:t>
            </a:r>
          </a:p>
          <a:p>
            <a:endParaRPr/>
          </a:p>
          <a:p>
            <a:r>
              <a:t>  Correct the numbering on the image.</a:t>
            </a:r>
          </a:p>
          <a:p>
            <a:endParaRPr/>
          </a:p>
          <a:p>
            <a:r>
              <a:t>  Commit and rollback are alternative outcomes after the operations run.</a:t>
            </a:r>
          </a:p>
          <a:p>
            <a:endParaRPr/>
          </a:p>
          <a:p>
            <a:r>
              <a:t>  They are not steps two and three of one sequence.</a:t>
            </a:r>
          </a:p>
          <a:p>
            <a:endParaRPr/>
          </a:p>
          <a:p>
            <a:r>
              <a:t>  A transaction ends in exactly one of them.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Opening an account inside one core banking database often means three inserts.</a:t>
            </a:r>
          </a:p>
          <a:p>
            <a:endParaRPr/>
          </a:p>
          <a:p>
            <a:r>
              <a:t>  There is the account record, an opening-balance record, and an audit entry.</a:t>
            </a:r>
          </a:p>
          <a:p>
            <a:endParaRPr/>
          </a:p>
          <a:p>
            <a:r>
              <a:t>  If the audit insert fails, the bank does not want an account with no audit trail.</a:t>
            </a:r>
          </a:p>
          <a:p>
            <a:endParaRPr/>
          </a:p>
          <a:p>
            <a:r>
              <a:t>  So all three statements run in one local transaction.</a:t>
            </a:r>
          </a:p>
          <a:p>
            <a:endParaRPr/>
          </a:p>
          <a:p>
            <a:r>
              <a:t>- At an ATM, the core system posts a withdrawal.</a:t>
            </a:r>
          </a:p>
          <a:p>
            <a:endParaRPr/>
          </a:p>
          <a:p>
            <a:r>
              <a:t>  The posting typically updates the available balance and writes a ledger entry together.</a:t>
            </a:r>
          </a:p>
          <a:p>
            <a:endParaRPr/>
          </a:p>
          <a:p>
            <a:r>
              <a:t>  A failure between those two statements would leave the ledger and the balance disagreeing.</a:t>
            </a:r>
          </a:p>
          <a:p>
            <a:endParaRPr/>
          </a:p>
          <a:p>
            <a:r>
              <a:t>  A single local transaction prevents exactly that.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Lab 2's Kafka consumer is a compact example of this diagram.</a:t>
            </a:r>
          </a:p>
          <a:p>
            <a:endParaRPr/>
          </a:p>
          <a:p>
            <a:r>
              <a:t>Its consume method is @Transactional.</a:t>
            </a:r>
          </a:p>
          <a:p>
            <a:endParaRPr/>
          </a:p>
          <a:p>
            <a:r>
              <a:t>It changes the transaction's status from RECEIVED to SUBMITTED.</a:t>
            </a:r>
          </a:p>
          <a:p>
            <a:endParaRPr/>
          </a:p>
          <a:p>
            <a:r>
              <a:t>It also inserts a row into processed_events keyed by event_id.</a:t>
            </a:r>
          </a:p>
          <a:p>
            <a:endParaRPr/>
          </a:p>
          <a:p>
            <a:r>
              <a:t>Both changes go down the commit arrow together.</a:t>
            </a:r>
          </a:p>
          <a:p>
            <a:endParaRPr/>
          </a:p>
          <a:p>
            <a:r>
              <a:t>Now suppose the processed_events insert fails.</a:t>
            </a:r>
          </a:p>
          <a:p>
            <a:endParaRPr/>
          </a:p>
          <a:p>
            <a:r>
              <a:t>For example, a replay of the same event raced in, and the event_id primary key already exists.</a:t>
            </a:r>
          </a:p>
          <a:p>
            <a:endParaRPr/>
          </a:p>
          <a:p>
            <a:r>
              <a:t>The whole transaction takes the rollback arrow, so the status update disappears too.</a:t>
            </a:r>
          </a:p>
          <a:p>
            <a:endParaRPr/>
          </a:p>
          <a:p>
            <a:r>
              <a:t>Kafka's retry handling then takes over.</a:t>
            </a:r>
          </a:p>
          <a:p>
            <a:endParaRPr/>
          </a:p>
          <a:p>
            <a:r>
              <a:t>Without one local transaction, the row could be marked SUBMITTED with no record that the event was processed.</a:t>
            </a:r>
          </a:p>
          <a:p>
            <a:endParaRPr/>
          </a:p>
          <a:p>
            <a:r>
              <a:t>That would break the lab's idempotency guarantee, the promise that a repeated event has no extra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Transaction Propagation</a:t>
            </a:r>
          </a:p>
          <a:p>
            <a:r>
              <a:t>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KEY PROPAGATION TYPES</a:t>
            </a:r>
          </a:p>
          <a:p>
            <a:endParaRPr/>
          </a:p>
          <a:p>
            <a:r>
              <a:t>  Propagation decides what happens when one transactional method calls another.</a:t>
            </a:r>
          </a:p>
          <a:p>
            <a:endParaRPr/>
          </a:p>
          <a:p>
            <a:r>
              <a:t>  REQUIRED is the default.</a:t>
            </a:r>
          </a:p>
          <a:p>
            <a:endParaRPr/>
          </a:p>
          <a:p>
            <a:r>
              <a:t>  It joins the caller's transaction, so both commit or roll back together.</a:t>
            </a:r>
          </a:p>
          <a:p>
            <a:endParaRPr/>
          </a:p>
          <a:p>
            <a:r>
              <a:t>  REQUIRES_NEW suspends the caller and commits its own work independently.</a:t>
            </a:r>
          </a:p>
          <a:p>
            <a:endParaRPr/>
          </a:p>
          <a:p>
            <a:r>
              <a:t>  That is useful for an audit row that must survive a failed business operation.</a:t>
            </a:r>
          </a:p>
          <a:p>
            <a:endParaRPr/>
          </a:p>
          <a:p>
            <a:r>
              <a:t>  But it holds a second pooled connection at the same time.</a:t>
            </a:r>
          </a:p>
          <a:p>
            <a:endParaRPr/>
          </a:p>
          <a:p>
            <a:r>
              <a:t>  MANDATORY throws if no transaction exists.</a:t>
            </a:r>
          </a:p>
          <a:p>
            <a:endParaRPr/>
          </a:p>
          <a:p>
            <a:r>
              <a:t>  It protects helpers that must never run alone.</a:t>
            </a:r>
          </a:p>
          <a:p>
            <a:endParaRPr/>
          </a:p>
          <a:p>
            <a:r>
              <a:t>  NEVER throws if a transaction does exist, which guards slow remote-call methods.</a:t>
            </a:r>
          </a:p>
          <a:p>
            <a:endParaRPr/>
          </a:p>
          <a:p>
            <a:r>
              <a:t>  Spring defines seven options in total.</a:t>
            </a:r>
          </a:p>
          <a:p>
            <a:endParaRPr/>
          </a:p>
          <a:p>
            <a:r>
              <a:t>  SUPPORTS, NOT_SUPPORTED, and NESTED complete the set.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Security and compliance teams usually want a record of every declined transfer attempt.</a:t>
            </a:r>
          </a:p>
          <a:p>
            <a:endParaRPr/>
          </a:p>
          <a:p>
            <a:r>
              <a:t>  Suppose the transfer rolls back.</a:t>
            </a:r>
          </a:p>
          <a:p>
            <a:endParaRPr/>
          </a:p>
          <a:p>
            <a:r>
              <a:t>  An audit writer using REQUIRED would roll back with it, and the evidence would vanish.</a:t>
            </a:r>
          </a:p>
          <a:p>
            <a:endParaRPr/>
          </a:p>
          <a:p>
            <a:r>
              <a:t>  Running the audit write with REQUIRES_NEW commits the record, whatever the transfer's outcome.</a:t>
            </a:r>
          </a:p>
          <a:p>
            <a:endParaRPr/>
          </a:p>
          <a:p>
            <a:r>
              <a:t>- Here is a known production failure mode.</a:t>
            </a:r>
          </a:p>
          <a:p>
            <a:endParaRPr/>
          </a:p>
          <a:p>
            <a:r>
              <a:t>  Every request holds one connection and then calls a REQUIRES_NEW method that needs a second.</a:t>
            </a:r>
          </a:p>
          <a:p>
            <a:endParaRPr/>
          </a:p>
          <a:p>
            <a:r>
              <a:t>  Under load, all pool connections are held by threads waiting for another connection.</a:t>
            </a:r>
          </a:p>
          <a:p>
            <a:endParaRPr/>
          </a:p>
          <a:p>
            <a:r>
              <a:t>  Requests then fail with connection timeouts, although the database is idle.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2, Transaction Service rejects a non-ACTIVE account with 409 ACCOUNT_NOT_ELIGIBLE and writes no row.</a:t>
            </a:r>
          </a:p>
          <a:p>
            <a:endParaRPr/>
          </a:p>
          <a:p>
            <a:r>
              <a:t>Suppose compliance later asks the team to record every rejected attempt in an attempt_audit table.</a:t>
            </a:r>
          </a:p>
          <a:p>
            <a:endParaRPr/>
          </a:p>
          <a:p>
            <a:r>
              <a:t>This is an extension beyond the lab.</a:t>
            </a:r>
          </a:p>
          <a:p>
            <a:endParaRPr/>
          </a:p>
          <a:p>
            <a:r>
              <a:t>The create method throws AccountNotEligibleException, a runtime exception, so its transaction rolls back.</a:t>
            </a:r>
          </a:p>
          <a:p>
            <a:endParaRPr/>
          </a:p>
          <a:p>
            <a:r>
              <a:t>If the audit writer uses REQUIRED, it joins that transaction.</a:t>
            </a:r>
          </a:p>
          <a:p>
            <a:endParaRPr/>
          </a:p>
          <a:p>
            <a:r>
              <a:t>Then the audit row is rolled back too.</a:t>
            </a:r>
          </a:p>
          <a:p>
            <a:endParaRPr/>
          </a:p>
          <a:p>
            <a:r>
              <a:t>Switching the writer to REQUIRES_NEW commits the audit row independently.</a:t>
            </a:r>
          </a:p>
          <a:p>
            <a:endParaRPr/>
          </a:p>
          <a:p>
            <a:r>
              <a:t>The team then checks the pool.</a:t>
            </a:r>
          </a:p>
          <a:p>
            <a:endParaRPr/>
          </a:p>
          <a:p>
            <a:r>
              <a:t>Every rejected request briefly needs two connections.</a:t>
            </a:r>
          </a:p>
          <a:p>
            <a:endParaRPr/>
          </a:p>
          <a:p>
            <a:r>
              <a:t>So their load test has to confirm the pool can handle that.</a:t>
            </a:r>
          </a:p>
          <a:p>
            <a:endParaRPr/>
          </a:p>
          <a:p>
            <a:endParaRPr/>
          </a:p>
          <a:p>
            <a:r>
              <a:t>TOPIC 2 OF 2: Transaction Isolation Levels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THE FOUR SQL ISOLATION LEVELS</a:t>
            </a:r>
          </a:p>
          <a:p>
            <a:endParaRPr/>
          </a:p>
          <a:p>
            <a:r>
              <a:t>  Define the anomalies in banking terms.</a:t>
            </a:r>
          </a:p>
          <a:p>
            <a:endParaRPr/>
          </a:p>
          <a:p>
            <a:r>
              <a:t>  A dirty read sees another transaction's uncommitted deposit.</a:t>
            </a:r>
          </a:p>
          <a:p>
            <a:endParaRPr/>
          </a:p>
          <a:p>
            <a:r>
              <a:t>  A non-repeatable read gets two different balances for one row within the same transaction.</a:t>
            </a:r>
          </a:p>
          <a:p>
            <a:endParaRPr/>
          </a:p>
          <a:p>
            <a:r>
              <a:t>  A phantom read sees new rows appear when a range query runs twice.</a:t>
            </a:r>
          </a:p>
          <a:p>
            <a:endParaRPr/>
          </a:p>
          <a:p>
            <a:r>
              <a:t>  PostgreSQL, Oracle, and SQL Server default to Read Committed.</a:t>
            </a:r>
          </a:p>
          <a:p>
            <a:endParaRPr/>
          </a:p>
          <a:p>
            <a:r>
              <a:t>  MySQL InnoDB defaults to Repeatable Read.</a:t>
            </a:r>
          </a:p>
          <a:p>
            <a:endParaRPr/>
          </a:p>
          <a:p>
            <a:r>
              <a:t>  Real implementations differ from the standard.</a:t>
            </a:r>
          </a:p>
          <a:p>
            <a:endParaRPr/>
          </a:p>
          <a:p>
            <a:r>
              <a:t>  PostgreSQL treats Read Uncommitted as Read Committed, and its Repeatable Read also blocks phantoms.</a:t>
            </a:r>
          </a:p>
          <a:p>
            <a:endParaRPr/>
          </a:p>
          <a:p>
            <a:r>
              <a:t>  Serializable can abort transactions with serialization failures, and the application must retry them.</a:t>
            </a:r>
          </a:p>
          <a:p>
            <a:endParaRPr/>
          </a:p>
          <a:p>
            <a:r>
              <a:t>  In Spring, set the level with the isolation attribute of @Transactional.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Here is why no bank reads balances at Read Uncommitted.</a:t>
            </a:r>
          </a:p>
          <a:p>
            <a:endParaRPr/>
          </a:p>
          <a:p>
            <a:r>
              <a:t>  A withdrawal check could see a large deposit that is later rolled back.</a:t>
            </a:r>
          </a:p>
          <a:p>
            <a:endParaRPr/>
          </a:p>
          <a:p>
            <a:r>
              <a:t>  It could then approve spending money that never existed.</a:t>
            </a:r>
          </a:p>
          <a:p>
            <a:endParaRPr/>
          </a:p>
          <a:p>
            <a:r>
              <a:t>  Dirty reads turn a failed transaction in one session into a real loss in another.</a:t>
            </a:r>
          </a:p>
          <a:p>
            <a:endParaRPr/>
          </a:p>
          <a:p>
            <a:r>
              <a:t>- Month-end statement or reconciliation reports total many rows.</a:t>
            </a:r>
          </a:p>
          <a:p>
            <a:endParaRPr/>
          </a:p>
          <a:p>
            <a:r>
              <a:t>  On PostgreSQL, they often run in a single Repeatable Read transaction, which gives a consistent snapshot.</a:t>
            </a:r>
          </a:p>
          <a:p>
            <a:endParaRPr/>
          </a:p>
          <a:p>
            <a:r>
              <a:t>  Rows posted while the report runs then cannot make its totals and details disagree.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Transaction Service in Lab 2 runs on PostgreSQL at the default Read Committed level.</a:t>
            </a:r>
          </a:p>
          <a:p>
            <a:endParaRPr/>
          </a:p>
          <a:p>
            <a:r>
              <a:t>Its consumer checks whether processed_events already contains the eventId.</a:t>
            </a:r>
          </a:p>
          <a:p>
            <a:endParaRPr/>
          </a:p>
          <a:p>
            <a:r>
              <a:t>If not, it updates the transaction and inserts the processed_events row.</a:t>
            </a:r>
          </a:p>
          <a:p>
            <a:endParaRPr/>
          </a:p>
          <a:p>
            <a:r>
              <a:t>Ask learners what happens if two deliveries of the same event are processed at the same instant.</a:t>
            </a:r>
          </a:p>
          <a:p>
            <a:endParaRPr/>
          </a:p>
          <a:p>
            <a:r>
              <a:t>Under Read Committed, both checks could see no row.</a:t>
            </a:r>
          </a:p>
          <a:p>
            <a:endParaRPr/>
          </a:p>
          <a:p>
            <a:r>
              <a:t>The event_id primary key then makes the second insert fail.</a:t>
            </a:r>
          </a:p>
          <a:p>
            <a:endParaRPr/>
          </a:p>
          <a:p>
            <a:r>
              <a:t>That rolls back the second transaction, so the duplicate still has no effect.</a:t>
            </a:r>
          </a:p>
          <a:p>
            <a:endParaRPr/>
          </a:p>
          <a:p>
            <a:r>
              <a:t>The lesson: a unique constraint is the real safety net.</a:t>
            </a:r>
          </a:p>
          <a:p>
            <a:endParaRPr/>
          </a:p>
          <a:p>
            <a:r>
              <a:t>Raising isolation to Serializable would add retries and cost throughput.</a:t>
            </a:r>
          </a:p>
          <a:p>
            <a:endParaRPr/>
          </a:p>
          <a:p>
            <a:r>
              <a:t>It would not add meaningful protection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Optimistic and Pessimistic Locking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OPTIMISTIC LOCKING</a:t>
            </a:r>
          </a:p>
          <a:p>
            <a:endParaRPr/>
          </a:p>
          <a:p>
            <a:r>
              <a:t>  Add a numeric or timestamp field annotated with @Version.</a:t>
            </a:r>
          </a:p>
          <a:p>
            <a:endParaRPr/>
          </a:p>
          <a:p>
            <a:r>
              <a:t>  When Hibernate updates the row, it adds the version to the WHERE clause and increments it.</a:t>
            </a:r>
          </a:p>
          <a:p>
            <a:endParaRPr/>
          </a:p>
          <a:p>
            <a:r>
              <a:t>  If another transaction changed the row first, zero rows match.</a:t>
            </a:r>
          </a:p>
          <a:p>
            <a:endParaRPr/>
          </a:p>
          <a:p>
            <a:r>
              <a:t>  JPA then raises an OptimisticLockException.</a:t>
            </a:r>
          </a:p>
          <a:p>
            <a:endParaRPr/>
          </a:p>
          <a:p>
            <a:r>
              <a:t>  Spring translates it into ObjectOptimisticLockingFailureException.</a:t>
            </a:r>
          </a:p>
          <a:p>
            <a:endParaRPr/>
          </a:p>
          <a:p>
            <a:r>
              <a:t>  The caller then has two choices.</a:t>
            </a:r>
          </a:p>
          <a:p>
            <a:endParaRPr/>
          </a:p>
          <a:p>
            <a:r>
              <a:t>  It can reload and reapply the change, or return 409 Conflict so the user can refresh.</a:t>
            </a:r>
          </a:p>
          <a:p>
            <a:endParaRPr/>
          </a:p>
          <a:p>
            <a:r>
              <a:t>  No database lock is held while a user reads or thinks.</a:t>
            </a:r>
          </a:p>
          <a:p>
            <a:endParaRPr/>
          </a:p>
          <a:p>
            <a:r>
              <a:t>  So throughput stays high when real conflicts are rare.</a:t>
            </a:r>
          </a:p>
          <a:p>
            <a:endParaRPr/>
          </a:p>
          <a:p>
            <a:r>
              <a:t>- PESSIMISTIC LOCKING</a:t>
            </a:r>
          </a:p>
          <a:p>
            <a:endParaRPr/>
          </a:p>
          <a:p>
            <a:r>
              <a:t>  PESSIMISTIC_WRITE on a repository method issues SELECT ...</a:t>
            </a:r>
          </a:p>
          <a:p>
            <a:endParaRPr/>
          </a:p>
          <a:p>
            <a:r>
              <a:t>  FOR UPDATE.</a:t>
            </a:r>
          </a:p>
          <a:p>
            <a:endParaRPr/>
          </a:p>
          <a:p>
            <a:r>
              <a:t>  Other transactions that want the row then wait until this one commits.</a:t>
            </a:r>
          </a:p>
          <a:p>
            <a:endParaRPr/>
          </a:p>
          <a:p>
            <a:r>
              <a:t>  It suits hot rows where conflicts are expected and a retry would be expensive.</a:t>
            </a:r>
          </a:p>
          <a:p>
            <a:endParaRPr/>
          </a:p>
          <a:p>
            <a:r>
              <a:t>  Debiting a heavily used balance is one example.</a:t>
            </a:r>
          </a:p>
          <a:p>
            <a:endParaRPr/>
          </a:p>
          <a:p>
            <a:r>
              <a:t>  The costs are waiting threads, held connections, and deadlocks.</a:t>
            </a:r>
          </a:p>
          <a:p>
            <a:endParaRPr/>
          </a:p>
          <a:p>
            <a:r>
              <a:t>  Deadlocks happen when two transactions lock rows in opposite order.</a:t>
            </a:r>
          </a:p>
          <a:p>
            <a:endParaRPr/>
          </a:p>
          <a:p>
            <a:r>
              <a:t>  Set a lock timeout.</a:t>
            </a:r>
          </a:p>
          <a:p>
            <a:endParaRPr/>
          </a:p>
          <a:p>
            <a:r>
              <a:t>  Also lock rows in a consistent order, for example always the lower account identifier first in a transfer.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Two operations analysts open the same account record.</a:t>
            </a:r>
          </a:p>
          <a:p>
            <a:endParaRPr/>
          </a:p>
          <a:p>
            <a:r>
              <a:t>  They change different details a moment apart.</a:t>
            </a:r>
          </a:p>
          <a:p>
            <a:endParaRPr/>
          </a:p>
          <a:p>
            <a:r>
              <a:t>  Without versioning, the second save silently overwrites the first, which is called a lost update.</a:t>
            </a:r>
          </a:p>
          <a:p>
            <a:endParaRPr/>
          </a:p>
          <a:p>
            <a:r>
              <a:t>  With @Version, the second save fails.</a:t>
            </a:r>
          </a:p>
          <a:p>
            <a:endParaRPr/>
          </a:p>
          <a:p>
            <a:r>
              <a:t>  The analyst reloads, sees the new state, and decides again.</a:t>
            </a:r>
          </a:p>
          <a:p>
            <a:endParaRPr/>
          </a:p>
          <a:p>
            <a:r>
              <a:t>- A corporate account used by many cards can receive concurrent debit authorizations.</a:t>
            </a:r>
          </a:p>
          <a:p>
            <a:endParaRPr/>
          </a:p>
          <a:p>
            <a:r>
              <a:t>  Core systems protect such balances with row locks or atomic conditional updates.</a:t>
            </a:r>
          </a:p>
          <a:p>
            <a:endParaRPr/>
          </a:p>
          <a:p>
            <a:r>
              <a:t>  That way, two simultaneous debits cannot both pass a balance check that only one of them should pass.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Use Lab 1's Account Service statuses: PENDING, ACTIVE, FROZEN, and CLOSED.</a:t>
            </a:r>
          </a:p>
          <a:p>
            <a:endParaRPr/>
          </a:p>
          <a:p>
            <a:r>
              <a:t>A fraud analyst freezes an account.</a:t>
            </a:r>
          </a:p>
          <a:p>
            <a:endParaRPr/>
          </a:p>
          <a:p>
            <a:r>
              <a:t>At the same moment, an operations user working from an older screen activates it.</a:t>
            </a:r>
          </a:p>
          <a:p>
            <a:endParaRPr/>
          </a:p>
          <a:p>
            <a:r>
              <a:t>Without versioning, whichever update commits last wins.</a:t>
            </a:r>
          </a:p>
          <a:p>
            <a:endParaRPr/>
          </a:p>
          <a:p>
            <a:r>
              <a:t>The account could end up ACTIVE despite the fraud freeze.</a:t>
            </a:r>
          </a:p>
          <a:p>
            <a:endParaRPr/>
          </a:p>
          <a:p>
            <a:r>
              <a:t>Adding @Version to the account entity makes the second commit fail.</a:t>
            </a:r>
          </a:p>
          <a:p>
            <a:endParaRPr/>
          </a:p>
          <a:p>
            <a:r>
              <a:t>That change is an extension beyond the lab.</a:t>
            </a:r>
          </a:p>
          <a:p>
            <a:endParaRPr/>
          </a:p>
          <a:p>
            <a:r>
              <a:t>The API returns 409, and the operations user reloads and sees FROZEN.</a:t>
            </a:r>
          </a:p>
          <a:p>
            <a:endParaRPr/>
          </a:p>
          <a:p>
            <a:r>
              <a:t>Then point out the limit.</a:t>
            </a:r>
          </a:p>
          <a:p>
            <a:endParaRPr/>
          </a:p>
          <a:p>
            <a:r>
              <a:t>Transaction Service checks ACTIVE over REST at one moment.</a:t>
            </a:r>
          </a:p>
          <a:p>
            <a:endParaRPr/>
          </a:p>
          <a:p>
            <a:r>
              <a:t>No database lock in account_db can stretch across that service boundary.</a:t>
            </a:r>
          </a:p>
          <a:p>
            <a:endParaRPr/>
          </a:p>
          <a:p>
            <a:r>
              <a:t>That is the second topic on this slide.</a:t>
            </a:r>
          </a:p>
          <a:p>
            <a:endParaRPr/>
          </a:p>
          <a:p>
            <a:endParaRPr/>
          </a:p>
          <a:p>
            <a:r>
              <a:t>TOPIC 2 OF 2: Why Distributed Transactions Are Difficult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WHY IT'S HARD</a:t>
            </a:r>
          </a:p>
          <a:p>
            <a:endParaRPr/>
          </a:p>
          <a:p>
            <a:r>
              <a:t>  Inside one database, the engine sees every change and can undo it.</a:t>
            </a:r>
          </a:p>
          <a:p>
            <a:endParaRPr/>
          </a:p>
          <a:p>
            <a:r>
              <a:t>  Across services, each database commits on its own.</a:t>
            </a:r>
          </a:p>
          <a:p>
            <a:endParaRPr/>
          </a:p>
          <a:p>
            <a:r>
              <a:t>  A caller that gets no response cannot tell what happened.</a:t>
            </a:r>
          </a:p>
          <a:p>
            <a:endParaRPr/>
          </a:p>
          <a:p>
            <a:r>
              <a:t>  The other service may have failed, may be slow, or may have succeeded and lost the reply.</a:t>
            </a:r>
          </a:p>
          <a:p>
            <a:endParaRPr/>
          </a:p>
          <a:p>
            <a:r>
              <a:t>  Forcing all-or-nothing would mean every participant holds locks while waiting on the slowest or unreachable one.</a:t>
            </a:r>
          </a:p>
          <a:p>
            <a:endParaRPr/>
          </a:p>
          <a:p>
            <a:r>
              <a:t>  So one struggling service stalls the rest.</a:t>
            </a:r>
          </a:p>
          <a:p>
            <a:endParaRPr/>
          </a:p>
          <a:p>
            <a:r>
              <a:t>  Many modern resources cannot join such a protocol at all.</a:t>
            </a:r>
          </a:p>
          <a:p>
            <a:endParaRPr/>
          </a:p>
          <a:p>
            <a:r>
              <a:t>  Kafka, for example, does not take part in XA transactions, the classic distributed transaction standard.</a:t>
            </a:r>
          </a:p>
          <a:p>
            <a:endParaRPr/>
          </a:p>
          <a:p>
            <a:r>
              <a:t>  A REST API offers no prepare step.</a:t>
            </a:r>
          </a:p>
          <a:p>
            <a:endParaRPr/>
          </a:p>
          <a:p>
            <a:r>
              <a:t>- WHAT MICROSERVICES DO INSTEAD</a:t>
            </a:r>
          </a:p>
          <a:p>
            <a:endParaRPr/>
          </a:p>
          <a:p>
            <a:r>
              <a:t>  Each service commits its own local transaction.</a:t>
            </a:r>
          </a:p>
          <a:p>
            <a:endParaRPr/>
          </a:p>
          <a:p>
            <a:r>
              <a:t>  It tells others what happened through events.</a:t>
            </a:r>
          </a:p>
          <a:p>
            <a:endParaRPr/>
          </a:p>
          <a:p>
            <a:r>
              <a:t>  A saga strings those local steps into a business workflow.</a:t>
            </a:r>
          </a:p>
          <a:p>
            <a:endParaRPr/>
          </a:p>
          <a:p>
            <a:r>
              <a:t>  The outbox pattern writes the event into the same local transaction as the data change, so the two cannot disagree.</a:t>
            </a:r>
          </a:p>
          <a:p>
            <a:endParaRPr/>
          </a:p>
          <a:p>
            <a:r>
              <a:t>  Consumers catch up later, which is eventual consistency.</a:t>
            </a:r>
          </a:p>
          <a:p>
            <a:endParaRPr/>
          </a:p>
          <a:p>
            <a:r>
              <a:t>  When a later step fails, earlier steps are not rewound.</a:t>
            </a:r>
          </a:p>
          <a:p>
            <a:endParaRPr/>
          </a:p>
          <a:p>
            <a:r>
              <a:t>  Instead, they are compensated by a new business action, such as a reversal entry or a status change.</a:t>
            </a:r>
          </a:p>
          <a:p>
            <a:endParaRPr/>
          </a:p>
          <a:p>
            <a:r>
              <a:t>  History is kept.</a:t>
            </a:r>
          </a:p>
          <a:p>
            <a:endParaRPr/>
          </a:p>
          <a:p>
            <a:r>
              <a:t>  Lab 2 states it plainly: Transaction Service never updates Account Service's database.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Card payments already work this way.</a:t>
            </a:r>
          </a:p>
          <a:p>
            <a:endParaRPr/>
          </a:p>
          <a:p>
            <a:r>
              <a:t>  An authorization places a hold on the cardholder's funds.</a:t>
            </a:r>
          </a:p>
          <a:p>
            <a:endParaRPr/>
          </a:p>
          <a:p>
            <a:r>
              <a:t>  Settlement happens later, between different parties' systems.</a:t>
            </a:r>
          </a:p>
          <a:p>
            <a:endParaRPr/>
          </a:p>
          <a:p>
            <a:r>
              <a:t>  If a purchase is cancelled, the hold is released or a refund is posted.</a:t>
            </a:r>
          </a:p>
          <a:p>
            <a:endParaRPr/>
          </a:p>
          <a:p>
            <a:r>
              <a:t>  No single atomic transaction spans merchant, card network, and issuing bank.</a:t>
            </a:r>
          </a:p>
          <a:p>
            <a:endParaRPr/>
          </a:p>
          <a:p>
            <a:r>
              <a:t>- Batch payment networks such as ACH settle debits and credits between banks over time.</a:t>
            </a:r>
          </a:p>
          <a:p>
            <a:endParaRPr/>
          </a:p>
          <a:p>
            <a:r>
              <a:t>  Sometimes something goes wrong, such as a closed receiving account.</a:t>
            </a:r>
          </a:p>
          <a:p>
            <a:endParaRPr/>
          </a:p>
          <a:p>
            <a:r>
              <a:t>  The correction is then a return entry that flows back through the network.</a:t>
            </a:r>
          </a:p>
          <a:p>
            <a:endParaRPr/>
          </a:p>
          <a:p>
            <a:r>
              <a:t>  It is not a rollback of the original transfer.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Trace a capstone transaction.</a:t>
            </a:r>
          </a:p>
          <a:p>
            <a:endParaRPr/>
          </a:p>
          <a:p>
            <a:r>
              <a:t>Transaction Service calls Account Service and confirms the account is ACTIVE.</a:t>
            </a:r>
          </a:p>
          <a:p>
            <a:endParaRPr/>
          </a:p>
          <a:p>
            <a:r>
              <a:t>It inserts a RECEIVED row in transaction_db, commits, and publishes TransactionSubmitted.</a:t>
            </a:r>
          </a:p>
          <a:p>
            <a:endParaRPr/>
          </a:p>
          <a:p>
            <a:r>
              <a:t>In Lab 5, Risk Assessment Service consumes that event and makes its decision.</a:t>
            </a:r>
          </a:p>
          <a:p>
            <a:endParaRPr/>
          </a:p>
          <a:p>
            <a:r>
              <a:t>Now ask learners to picture one global transaction covering account_db, transaction_db, the Kafka topic, and Risk Assessment's data.</a:t>
            </a:r>
          </a:p>
          <a:p>
            <a:endParaRPr/>
          </a:p>
          <a:p>
            <a:r>
              <a:t>Every customer request would wait on all of them.</a:t>
            </a:r>
          </a:p>
          <a:p>
            <a:endParaRPr/>
          </a:p>
          <a:p>
            <a:r>
              <a:t>A slow risk model would hold locks in two databases.</a:t>
            </a:r>
          </a:p>
          <a:p>
            <a:endParaRPr/>
          </a:p>
          <a:p>
            <a:r>
              <a:t>And Kafka cannot join the protocol anyway.</a:t>
            </a:r>
          </a:p>
          <a:p>
            <a:endParaRPr/>
          </a:p>
          <a:p>
            <a:r>
              <a:t>The capstone design commits locally instead.</a:t>
            </a:r>
          </a:p>
          <a:p>
            <a:endParaRPr/>
          </a:p>
          <a:p>
            <a:r>
              <a:t>It carries a correlation ID on the event and handles duplicates with an inbox table.</a:t>
            </a:r>
          </a:p>
          <a:p>
            <a:endParaRPr/>
          </a:p>
          <a:p>
            <a:r>
              <a:t>It routes poison messages, the ones that always fail, to a dead-letter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Client and the service chain</a:t>
            </a:r>
          </a:p>
          <a:p>
            <a:endParaRPr/>
          </a:p>
          <a:p>
            <a:r>
              <a:t>  The client sends a business operation to Service A. Service A calls Service B and then Service C, synchronously, so each waits for the next to answer.</a:t>
            </a:r>
          </a:p>
          <a:p>
            <a:endParaRPr/>
          </a:p>
          <a:p>
            <a:r>
              <a:t>  A response returns only when everything is done.</a:t>
            </a:r>
          </a:p>
          <a:p>
            <a:endParaRPr/>
          </a:p>
          <a:p>
            <a:r>
              <a:t>  Each service has its own database, which is correct database-per-service design.</a:t>
            </a:r>
          </a:p>
          <a:p>
            <a:endParaRPr/>
          </a:p>
          <a:p>
            <a:r>
              <a:t>  To make it concrete, read Service A as Transaction Service, B as Account Service, and C as Risk Assessment.</a:t>
            </a:r>
          </a:p>
          <a:p>
            <a:endParaRPr/>
          </a:p>
          <a:p>
            <a:r>
              <a:t>  Then point out that the capstone does not chain services like this.</a:t>
            </a:r>
          </a:p>
          <a:p>
            <a:endParaRPr/>
          </a:p>
          <a:p>
            <a:r>
              <a:t>  The image shows the design being argued against.</a:t>
            </a:r>
          </a:p>
          <a:p>
            <a:endParaRPr/>
          </a:p>
          <a:p>
            <a:r>
              <a:t>- Global Transaction (2PC) and Transaction Coordinator</a:t>
            </a:r>
          </a:p>
          <a:p>
            <a:endParaRPr/>
          </a:p>
          <a:p>
            <a:r>
              <a:t>  The dashed banner claims all three databases belong to one global transaction.</a:t>
            </a:r>
          </a:p>
          <a:p>
            <a:endParaRPr/>
          </a:p>
          <a:p>
            <a:r>
              <a:t>  The coordinator box at the bottom does the work in two phases.</a:t>
            </a:r>
          </a:p>
          <a:p>
            <a:endParaRPr/>
          </a:p>
          <a:p>
            <a:r>
              <a:t>  First, the dashed Prepare/Vote arrows ask every database whether it can commit.</a:t>
            </a:r>
          </a:p>
          <a:p>
            <a:endParaRPr/>
          </a:p>
          <a:p>
            <a:r>
              <a:t>  Then the Commit/Rollback arrows deliver the final decision.</a:t>
            </a:r>
          </a:p>
          <a:p>
            <a:endParaRPr/>
          </a:p>
          <a:p>
            <a:r>
              <a:t>  Between those phases, every participant holds its locks.</a:t>
            </a:r>
          </a:p>
          <a:p>
            <a:endParaRPr/>
          </a:p>
          <a:p>
            <a:r>
              <a:t>  The coordinator is the only component that knows the outcome.</a:t>
            </a:r>
          </a:p>
          <a:p>
            <a:endParaRPr/>
          </a:p>
          <a:p>
            <a:r>
              <a:t>  That is where the blocking and single-point-of-failure problems come from.</a:t>
            </a:r>
          </a:p>
          <a:p>
            <a:endParaRPr/>
          </a:p>
          <a:p>
            <a:r>
              <a:t>- Why Avoid Distributed Transactions</a:t>
            </a:r>
          </a:p>
          <a:p>
            <a:endParaRPr/>
          </a:p>
          <a:p>
            <a:r>
              <a:t>  Walk the red panel left to right.</a:t>
            </a:r>
          </a:p>
          <a:p>
            <a:endParaRPr/>
          </a:p>
          <a:p>
            <a:r>
              <a:t>  Performance overhead comes from extra prepare and commit round trips.</a:t>
            </a:r>
          </a:p>
          <a:p>
            <a:endParaRPr/>
          </a:p>
          <a:p>
            <a:r>
              <a:t>  Blocking and locks means resources stay locked until the whole protocol finishes.</a:t>
            </a:r>
          </a:p>
          <a:p>
            <a:endParaRPr/>
          </a:p>
          <a:p>
            <a:r>
              <a:t>  The single point of failure is the coordinator.</a:t>
            </a:r>
          </a:p>
          <a:p>
            <a:endParaRPr/>
          </a:p>
          <a:p>
            <a:r>
              <a:t>  Poor scalability follows, because every new participant and every extra request adds coordination.</a:t>
            </a:r>
          </a:p>
          <a:p>
            <a:endParaRPr/>
          </a:p>
          <a:p>
            <a:r>
              <a:t>  Reduced availability means one slow or unavailable participant fails or times out the whole transaction.</a:t>
            </a:r>
          </a:p>
          <a:p>
            <a:endParaRPr/>
          </a:p>
          <a:p>
            <a:r>
              <a:t>  Operational complexity covers implementing, testing, monitoring, and debugging across services.</a:t>
            </a:r>
          </a:p>
          <a:p>
            <a:endParaRPr/>
          </a:p>
          <a:p>
            <a:r>
              <a:t>  That includes resolving in-doubt transactions by hand.</a:t>
            </a:r>
          </a:p>
          <a:p>
            <a:endParaRPr/>
          </a:p>
          <a:p>
            <a:r>
              <a:t>- Better Alternatives</a:t>
            </a:r>
          </a:p>
          <a:p>
            <a:endParaRPr/>
          </a:p>
          <a:p>
            <a:r>
              <a:t>  The green panel is the design that replaces the top half.</a:t>
            </a:r>
          </a:p>
          <a:p>
            <a:endParaRPr/>
          </a:p>
          <a:p>
            <a:r>
              <a:t>  Local transactions keep ACID guarantees, meaning all-or-nothing and durable changes, inside each service.</a:t>
            </a:r>
          </a:p>
          <a:p>
            <a:endParaRPr/>
          </a:p>
          <a:p>
            <a:r>
              <a:t>  Event-driven architecture lets services react to events instead of being called in a chain.</a:t>
            </a:r>
          </a:p>
          <a:p>
            <a:endParaRPr/>
          </a:p>
          <a:p>
            <a:r>
              <a:t>  Sagas split a long operation into local steps with compensation.</a:t>
            </a:r>
          </a:p>
          <a:p>
            <a:endParaRPr/>
          </a:p>
          <a:p>
            <a:r>
              <a:t>  Idempotency and retries make repeated delivery safe without distributed locks.</a:t>
            </a:r>
          </a:p>
          <a:p>
            <a:endParaRPr/>
          </a:p>
          <a:p>
            <a:r>
              <a:t>  The outbox pattern publishes events reliably from a local transaction.</a:t>
            </a:r>
          </a:p>
          <a:p>
            <a:endParaRPr/>
          </a:p>
          <a:p>
            <a:r>
              <a:t>  Lab 2 already applies four of these ideas.</a:t>
            </a:r>
          </a:p>
          <a:p>
            <a:endParaRPr/>
          </a:p>
          <a:p>
            <a:r>
              <a:t>  Only the outbox stays conceptual.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Many older Java EE banking applications used XA transactions through JTA.</a:t>
            </a:r>
          </a:p>
          <a:p>
            <a:endParaRPr/>
          </a:p>
          <a:p>
            <a:r>
              <a:t>  They updated a relational database and an IBM MQ queue together.</a:t>
            </a:r>
          </a:p>
          <a:p>
            <a:endParaRPr/>
          </a:p>
          <a:p>
            <a:r>
              <a:t>  It worked.</a:t>
            </a:r>
          </a:p>
          <a:p>
            <a:endParaRPr/>
          </a:p>
          <a:p>
            <a:r>
              <a:t>  But after a failure, operations teams sometimes had to resolve in-doubt transactions by hand.</a:t>
            </a:r>
          </a:p>
          <a:p>
            <a:endParaRPr/>
          </a:p>
          <a:p>
            <a:r>
              <a:t>  That is the operational complexity box in practice.</a:t>
            </a:r>
          </a:p>
          <a:p>
            <a:endParaRPr/>
          </a:p>
          <a:p>
            <a:r>
              <a:t>- Kafka offers its own transactions for atomic writes across topics.</a:t>
            </a:r>
          </a:p>
          <a:p>
            <a:endParaRPr/>
          </a:p>
          <a:p>
            <a:r>
              <a:t>  But it does not act as an XA participant.</a:t>
            </a:r>
          </a:p>
          <a:p>
            <a:endParaRPr/>
          </a:p>
          <a:p>
            <a:r>
              <a:t>  That is why Spring and Kafka teams rely on local database transactions, idempotent consumers, and the outbox pattern.</a:t>
            </a:r>
          </a:p>
          <a:p>
            <a:endParaRPr/>
          </a:p>
          <a:p>
            <a:r>
              <a:t>  They do not try to include the broker in two-phase commit.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Stage a design review.</a:t>
            </a:r>
          </a:p>
          <a:p>
            <a:endParaRPr/>
          </a:p>
          <a:p>
            <a:r>
              <a:t>A team proposes using a JTA coordinator when creating a capstone transaction.</a:t>
            </a:r>
          </a:p>
          <a:p>
            <a:endParaRPr/>
          </a:p>
          <a:p>
            <a:r>
              <a:t>It would update transaction_db, mark something in account_db, and publish to Kafka atomically.</a:t>
            </a:r>
          </a:p>
          <a:p>
            <a:endParaRPr/>
          </a:p>
          <a:p>
            <a:r>
              <a:t>Walk the red panel with them.</a:t>
            </a:r>
          </a:p>
          <a:p>
            <a:endParaRPr/>
          </a:p>
          <a:p>
            <a:r>
              <a:t>Every POST now waits for two databases and the coordinator.</a:t>
            </a:r>
          </a:p>
          <a:p>
            <a:endParaRPr/>
          </a:p>
          <a:p>
            <a:r>
              <a:t>Account Service rows stay locked during the vote.</a:t>
            </a:r>
          </a:p>
          <a:p>
            <a:endParaRPr/>
          </a:p>
          <a:p>
            <a:r>
              <a:t>And the broker cannot participate at all.</a:t>
            </a:r>
          </a:p>
          <a:p>
            <a:endParaRPr/>
          </a:p>
          <a:p>
            <a:r>
              <a:t>Then redesign with the green panel.</a:t>
            </a:r>
          </a:p>
          <a:p>
            <a:endParaRPr/>
          </a:p>
          <a:p>
            <a:r>
              <a:t>Lab 2 already uses a local transaction in transaction_db and an event on transactions.submitted.</a:t>
            </a:r>
          </a:p>
          <a:p>
            <a:endParaRPr/>
          </a:p>
          <a:p>
            <a:r>
              <a:t>It also has an idempotent consumer backed by processed_events, with two retries before the dead-letter topic.</a:t>
            </a:r>
          </a:p>
          <a:p>
            <a:endParaRPr/>
          </a:p>
          <a:p>
            <a:r>
              <a:t>The outbox is the one remaining gap.</a:t>
            </a:r>
          </a:p>
          <a:p>
            <a:endParaRPr/>
          </a:p>
          <a:p>
            <a:r>
              <a:t>It is exactly what the Lab 2 optional stretch asks learners to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3: Two-Phase Commit and Its Limitations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2PC WORKS</a:t>
            </a:r>
          </a:p>
          <a:p>
            <a:endParaRPr/>
          </a:p>
          <a:p>
            <a:r>
              <a:t>  In the prepare phase, each participant does all the work and writes it durably to its log.</a:t>
            </a:r>
          </a:p>
          <a:p>
            <a:endParaRPr/>
          </a:p>
          <a:p>
            <a:r>
              <a:t>  It keeps its locks.</a:t>
            </a:r>
          </a:p>
          <a:p>
            <a:endParaRPr/>
          </a:p>
          <a:p>
            <a:r>
              <a:t>  It votes yes only if it can definitely commit later.</a:t>
            </a:r>
          </a:p>
          <a:p>
            <a:endParaRPr/>
          </a:p>
          <a:p>
            <a:r>
              <a:t>  Once it has voted yes, it has given up the right to decide alone.</a:t>
            </a:r>
          </a:p>
          <a:p>
            <a:endParaRPr/>
          </a:p>
          <a:p>
            <a:r>
              <a:t>  In the commit phase, the coordinator writes its decision.</a:t>
            </a:r>
          </a:p>
          <a:p>
            <a:endParaRPr/>
          </a:p>
          <a:p>
            <a:r>
              <a:t>  It tells everyone to commit, or to roll back if any vote was no or missing.</a:t>
            </a:r>
          </a:p>
          <a:p>
            <a:endParaRPr/>
          </a:p>
          <a:p>
            <a:r>
              <a:t>  In Java, this is the XA protocol through JTA.</a:t>
            </a:r>
          </a:p>
          <a:p>
            <a:endParaRPr/>
          </a:p>
          <a:p>
            <a:r>
              <a:t>  Spring supports it with JtaTransactionManager.</a:t>
            </a:r>
          </a:p>
          <a:p>
            <a:endParaRPr/>
          </a:p>
          <a:p>
            <a:r>
              <a:t>- LIMITATIONS</a:t>
            </a:r>
          </a:p>
          <a:p>
            <a:endParaRPr/>
          </a:p>
          <a:p>
            <a:r>
              <a:t>  The weak spot is the gap between the phases.</a:t>
            </a:r>
          </a:p>
          <a:p>
            <a:endParaRPr/>
          </a:p>
          <a:p>
            <a:r>
              <a:t>  Suppose the coordinator crashes after participants voted yes.</a:t>
            </a:r>
          </a:p>
          <a:p>
            <a:endParaRPr/>
          </a:p>
          <a:p>
            <a:r>
              <a:t>  They are now in doubt: they cannot commit or abort on their own.</a:t>
            </a:r>
          </a:p>
          <a:p>
            <a:endParaRPr/>
          </a:p>
          <a:p>
            <a:r>
              <a:t>  So their locks stay held until the coordinator recovers or an operator steps in.</a:t>
            </a:r>
          </a:p>
          <a:p>
            <a:endParaRPr/>
          </a:p>
          <a:p>
            <a:r>
              <a:t>  Latency equals the slowest participant plus extra round trips.</a:t>
            </a:r>
          </a:p>
          <a:p>
            <a:endParaRPr/>
          </a:p>
          <a:p>
            <a:r>
              <a:t>  Availability shrinks, because every participant must be reachable.</a:t>
            </a:r>
          </a:p>
          <a:p>
            <a:endParaRPr/>
          </a:p>
          <a:p>
            <a:r>
              <a:t>  And a network partition, where parts of the network cannot reach each other, leaves some participants unable to learn the decision.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PostgreSQL supports the participant side of two-phase commit with PREPARE TRANSACTION.</a:t>
            </a:r>
          </a:p>
          <a:p>
            <a:endParaRPr/>
          </a:p>
          <a:p>
            <a:r>
              <a:t>  But the max_prepared_transactions setting is zero by default, which disables it.</a:t>
            </a:r>
          </a:p>
          <a:p>
            <a:endParaRPr/>
          </a:p>
          <a:p>
            <a:r>
              <a:t>  The documentation warns that a prepared transaction keeps its locks until it is committed or rolled back.</a:t>
            </a:r>
          </a:p>
          <a:p>
            <a:endParaRPr/>
          </a:p>
          <a:p>
            <a:r>
              <a:t>- Enterprise transaction managers in traditional application servers log their decisions.</a:t>
            </a:r>
          </a:p>
          <a:p>
            <a:endParaRPr/>
          </a:p>
          <a:p>
            <a:r>
              <a:t>  That lets them finish in-doubt transactions after a restart.</a:t>
            </a:r>
          </a:p>
          <a:p>
            <a:endParaRPr/>
          </a:p>
          <a:p>
            <a:r>
              <a:t>  Still, operators in organisations running these stacks keep runbooks.</a:t>
            </a:r>
          </a:p>
          <a:p>
            <a:endParaRPr/>
          </a:p>
          <a:p>
            <a:r>
              <a:t>  The runbooks cover resolving stuck transactions by hand when recovery cannot.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Tell it as an incident.</a:t>
            </a:r>
          </a:p>
          <a:p>
            <a:endParaRPr/>
          </a:p>
          <a:p>
            <a:r>
              <a:t>A team has wrapped two changes in one XA transaction: a transaction insert in transaction_db and a related update in account_db.</a:t>
            </a:r>
          </a:p>
          <a:p>
            <a:endParaRPr/>
          </a:p>
          <a:p>
            <a:r>
              <a:t>Both databases vote yes.</a:t>
            </a:r>
          </a:p>
          <a:p>
            <a:endParaRPr/>
          </a:p>
          <a:p>
            <a:r>
              <a:t>Then the coordinator's pod is killed during a node drain.</a:t>
            </a:r>
          </a:p>
          <a:p>
            <a:endParaRPr/>
          </a:p>
          <a:p>
            <a:r>
              <a:t>The account row stays locked, in doubt.</a:t>
            </a:r>
          </a:p>
          <a:p>
            <a:endParaRPr/>
          </a:p>
          <a:p>
            <a:r>
              <a:t>Minutes later, the fraud team tries to freeze that account after a confirmed scam report.</a:t>
            </a:r>
          </a:p>
          <a:p>
            <a:endParaRPr/>
          </a:p>
          <a:p>
            <a:r>
              <a:t>The freeze hangs, waiting for the lock.</a:t>
            </a:r>
          </a:p>
          <a:p>
            <a:endParaRPr/>
          </a:p>
          <a:p>
            <a:r>
              <a:t>No new code bug caused this; the protocol itself did.</a:t>
            </a:r>
          </a:p>
          <a:p>
            <a:endParaRPr/>
          </a:p>
          <a:p>
            <a:r>
              <a:t>Contrast the capstone design.</a:t>
            </a:r>
          </a:p>
          <a:p>
            <a:endParaRPr/>
          </a:p>
          <a:p>
            <a:r>
              <a:t>Transaction Service commits its own row.</a:t>
            </a:r>
          </a:p>
          <a:p>
            <a:endParaRPr/>
          </a:p>
          <a:p>
            <a:r>
              <a:t>Account Service stays free to change status at any time.</a:t>
            </a:r>
          </a:p>
          <a:p>
            <a:endParaRPr/>
          </a:p>
          <a:p>
            <a:r>
              <a:t>And the event flow tolerates either service restarting.</a:t>
            </a:r>
          </a:p>
          <a:p>
            <a:endParaRPr/>
          </a:p>
          <a:p>
            <a:endParaRPr/>
          </a:p>
          <a:p>
            <a:r>
              <a:t>TOPIC 2 OF 3: Eventual Consistency</a:t>
            </a:r>
          </a:p>
          <a:p>
            <a:r>
              <a:t>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IT WORKS</a:t>
            </a:r>
          </a:p>
          <a:p>
            <a:endParaRPr/>
          </a:p>
          <a:p>
            <a:r>
              <a:t>  The panel describes database replicas, but the same shape applies between services.</a:t>
            </a:r>
          </a:p>
          <a:p>
            <a:endParaRPr/>
          </a:p>
          <a:p>
            <a:r>
              <a:t>  Transaction Service commits its write.</a:t>
            </a:r>
          </a:p>
          <a:p>
            <a:endParaRPr/>
          </a:p>
          <a:p>
            <a:r>
              <a:t>  The change then travels asynchronously as an event.</a:t>
            </a:r>
          </a:p>
          <a:p>
            <a:endParaRPr/>
          </a:p>
          <a:p>
            <a:r>
              <a:t>  For a short window, different parts of the system give different answers.</a:t>
            </a:r>
          </a:p>
          <a:p>
            <a:endParaRPr/>
          </a:p>
          <a:p>
            <a:r>
              <a:t>  Transaction Service knows about the transaction, but a consumer has not processed it yet.</a:t>
            </a:r>
          </a:p>
          <a:p>
            <a:endParaRPr/>
          </a:p>
          <a:p>
            <a:r>
              <a:t>  Once the event is consumed, every view agrees.</a:t>
            </a:r>
          </a:p>
          <a:p>
            <a:endParaRPr/>
          </a:p>
          <a:p>
            <a:r>
              <a:t>  Lab 2 shows this on purpose.</a:t>
            </a:r>
          </a:p>
          <a:p>
            <a:endParaRPr/>
          </a:p>
          <a:p>
            <a:r>
              <a:t>  POST returns 201 with RECEIVED, and the guide says to wait two seconds.</a:t>
            </a:r>
          </a:p>
          <a:p>
            <a:endParaRPr/>
          </a:p>
          <a:p>
            <a:r>
              <a:t>  GET then shows SUBMITTED.</a:t>
            </a:r>
          </a:p>
          <a:p>
            <a:endParaRPr/>
          </a:p>
          <a:p>
            <a:r>
              <a:t>- KEY CHARACTERISTICS</a:t>
            </a:r>
          </a:p>
          <a:p>
            <a:endParaRPr/>
          </a:p>
          <a:p>
            <a:r>
              <a:t>  Convergence is guaranteed only if the plumbing earns it.</a:t>
            </a:r>
          </a:p>
          <a:p>
            <a:endParaRPr/>
          </a:p>
          <a:p>
            <a:r>
              <a:t>  That means at-least-once delivery, idempotent consumers, and monitored dead-letter topics.</a:t>
            </a:r>
          </a:p>
          <a:p>
            <a:endParaRPr/>
          </a:p>
          <a:p>
            <a:r>
              <a:t>  It also means reconciliation for anything that still slips through.</a:t>
            </a:r>
          </a:p>
          <a:p>
            <a:endParaRPr/>
          </a:p>
          <a:p>
            <a:r>
              <a:t>  Without those, eventual becomes never.</a:t>
            </a:r>
          </a:p>
          <a:p>
            <a:endParaRPr/>
          </a:p>
          <a:p>
            <a:r>
              <a:t>  The trade is deliberate.</a:t>
            </a:r>
          </a:p>
          <a:p>
            <a:endParaRPr/>
          </a:p>
          <a:p>
            <a:r>
              <a:t>  A service that does not wait for every other service stays available when they are down.</a:t>
            </a:r>
          </a:p>
          <a:p>
            <a:endParaRPr/>
          </a:p>
          <a:p>
            <a:r>
              <a:t>  It also scales on its own.</a:t>
            </a:r>
          </a:p>
          <a:p>
            <a:endParaRPr/>
          </a:p>
          <a:p>
            <a:r>
              <a:t>  But the business must define how much staleness each operation tolerates.</a:t>
            </a:r>
          </a:p>
          <a:p>
            <a:endParaRPr/>
          </a:p>
          <a:p>
            <a:r>
              <a:t>  It must also define what the user sees in the meantime.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Amazon DynamoDB reads are eventually consistent by default.</a:t>
            </a:r>
          </a:p>
          <a:p>
            <a:endParaRPr/>
          </a:p>
          <a:p>
            <a:r>
              <a:t>  Applications can request strongly consistent reads when they need them.</a:t>
            </a:r>
          </a:p>
          <a:p>
            <a:endParaRPr/>
          </a:p>
          <a:p>
            <a:r>
              <a:t>  The option exists because the eventually consistent read is cheaper and more available.</a:t>
            </a:r>
          </a:p>
          <a:p>
            <a:endParaRPr/>
          </a:p>
          <a:p>
            <a:r>
              <a:t>  Many use cases tolerate a brief lag.</a:t>
            </a:r>
          </a:p>
          <a:p>
            <a:endParaRPr/>
          </a:p>
          <a:p>
            <a:r>
              <a:t>- Mobile banking apps commonly show a card purchase as pending before it posts.</a:t>
            </a:r>
          </a:p>
          <a:p>
            <a:endParaRPr/>
          </a:p>
          <a:p>
            <a:r>
              <a:t>  The customer sees an in-between state.</a:t>
            </a:r>
          </a:p>
          <a:p>
            <a:endParaRPr/>
          </a:p>
          <a:p>
            <a:r>
              <a:t>  The systems converge once the transaction settles.</a:t>
            </a:r>
          </a:p>
          <a:p>
            <a:endParaRPr/>
          </a:p>
          <a:p>
            <a:r>
              <a:t>  It is a familiar example of eventual consistency that customers already accept.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Run the Lab 2 flow as a story.</a:t>
            </a:r>
          </a:p>
          <a:p>
            <a:endParaRPr/>
          </a:p>
          <a:p>
            <a:r>
              <a:t>A customer-facing channel posts a transaction.</a:t>
            </a:r>
          </a:p>
          <a:p>
            <a:endParaRPr/>
          </a:p>
          <a:p>
            <a:r>
              <a:t>It immediately receives 201 with status RECEIVED.</a:t>
            </a:r>
          </a:p>
          <a:p>
            <a:endParaRPr/>
          </a:p>
          <a:p>
            <a:r>
              <a:t>The consumer is briefly slow, so a GET a moment later still shows RECEIVED.</a:t>
            </a:r>
          </a:p>
          <a:p>
            <a:endParaRPr/>
          </a:p>
          <a:p>
            <a:r>
              <a:t>A support agent wonders if something is broken.</a:t>
            </a:r>
          </a:p>
          <a:p>
            <a:endParaRPr/>
          </a:p>
          <a:p>
            <a:r>
              <a:t>Nothing is: the system has not converged yet.</a:t>
            </a:r>
          </a:p>
          <a:p>
            <a:endParaRPr/>
          </a:p>
          <a:p>
            <a:r>
              <a:t>Two seconds later, GET shows SUBMITTED.</a:t>
            </a:r>
          </a:p>
          <a:p>
            <a:endParaRPr/>
          </a:p>
          <a:p>
            <a:r>
              <a:t>Now change one thing: the event is malformed.</a:t>
            </a:r>
          </a:p>
          <a:p>
            <a:endParaRPr/>
          </a:p>
          <a:p>
            <a:r>
              <a:t>The consumer retries twice, and the message goes to transactions.submitted.DLT.</a:t>
            </a:r>
          </a:p>
          <a:p>
            <a:endParaRPr/>
          </a:p>
          <a:p>
            <a:r>
              <a:t>That row stays RECEIVED indefinitely.</a:t>
            </a:r>
          </a:p>
          <a:p>
            <a:endParaRPr/>
          </a:p>
          <a:p>
            <a:r>
              <a:t>Convergence depended on someone monitoring the dead-letter topic.</a:t>
            </a:r>
          </a:p>
          <a:p>
            <a:endParaRPr/>
          </a:p>
          <a:p>
            <a:r>
              <a:t>The lab troubleshooting table lists status stuck on RECEIVED for exactly this reason.</a:t>
            </a:r>
          </a:p>
          <a:p>
            <a:endParaRPr/>
          </a:p>
          <a:p>
            <a:endParaRPr/>
          </a:p>
          <a:p>
            <a:r>
              <a:t>TOPIC 3 OF 3: Saga Pattern Overview</a:t>
            </a:r>
          </a:p>
          <a:p>
            <a:r>
              <a:t>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A SAGA WORKS</a:t>
            </a:r>
          </a:p>
          <a:p>
            <a:endParaRPr/>
          </a:p>
          <a:p>
            <a:r>
              <a:t>  A saga is a business workflow built from local transactions.</a:t>
            </a:r>
          </a:p>
          <a:p>
            <a:endParaRPr/>
          </a:p>
          <a:p>
            <a:r>
              <a:t>  Step one commits in its own service.</a:t>
            </a:r>
          </a:p>
          <a:p>
            <a:endParaRPr/>
          </a:p>
          <a:p>
            <a:r>
              <a:t>  Then it signals step two, through an event or a command.</a:t>
            </a:r>
          </a:p>
          <a:p>
            <a:endParaRPr/>
          </a:p>
          <a:p>
            <a:r>
              <a:t>  Suppose step three fails.</a:t>
            </a:r>
          </a:p>
          <a:p>
            <a:endParaRPr/>
          </a:p>
          <a:p>
            <a:r>
              <a:t>  Its own local transaction has already rolled back.</a:t>
            </a:r>
          </a:p>
          <a:p>
            <a:endParaRPr/>
          </a:p>
          <a:p>
            <a:r>
              <a:t>  So only steps one and two need compensation, and they run in reverse order.</a:t>
            </a:r>
          </a:p>
          <a:p>
            <a:endParaRPr/>
          </a:p>
          <a:p>
            <a:r>
              <a:t>  Each compensation is a new local transaction that corrects the earlier one.</a:t>
            </a:r>
          </a:p>
          <a:p>
            <a:endParaRPr/>
          </a:p>
          <a:p>
            <a:r>
              <a:t>  Coordination comes in two styles.</a:t>
            </a:r>
          </a:p>
          <a:p>
            <a:endParaRPr/>
          </a:p>
          <a:p>
            <a:r>
              <a:t>  An orchestrator sends commands and tracks state.</a:t>
            </a:r>
          </a:p>
          <a:p>
            <a:endParaRPr/>
          </a:p>
          <a:p>
            <a:r>
              <a:t>  Or, in choreography, services react to each other's events.</a:t>
            </a:r>
          </a:p>
          <a:p>
            <a:endParaRPr/>
          </a:p>
          <a:p>
            <a:r>
              <a:t>- BENEFITS</a:t>
            </a:r>
          </a:p>
          <a:p>
            <a:endParaRPr/>
          </a:p>
          <a:p>
            <a:r>
              <a:t>  No service holds a lock while waiting for another.</a:t>
            </a:r>
          </a:p>
          <a:p>
            <a:endParaRPr/>
          </a:p>
          <a:p>
            <a:r>
              <a:t>  So a slow or unavailable participant delays its own step instead of freezing the others.</a:t>
            </a:r>
          </a:p>
          <a:p>
            <a:endParaRPr/>
          </a:p>
          <a:p>
            <a:r>
              <a:t>  Each service scales and deploys independently.</a:t>
            </a:r>
          </a:p>
          <a:p>
            <a:endParaRPr/>
          </a:p>
          <a:p>
            <a:r>
              <a:t>  A failure stays contained to one step, with a defined recovery path.</a:t>
            </a:r>
          </a:p>
          <a:p>
            <a:endParaRPr/>
          </a:p>
          <a:p>
            <a:r>
              <a:t>  Be honest about the price.</a:t>
            </a:r>
          </a:p>
          <a:p>
            <a:endParaRPr/>
          </a:p>
          <a:p>
            <a:r>
              <a:t>  Someone must design every compensation and track saga state.</a:t>
            </a:r>
          </a:p>
          <a:p>
            <a:endParaRPr/>
          </a:p>
          <a:p>
            <a:r>
              <a:t>  Handlers must be idempotent.</a:t>
            </a:r>
          </a:p>
          <a:p>
            <a:endParaRPr/>
          </a:p>
          <a:p>
            <a:r>
              <a:t>  And correlation IDs, shared request identifiers, must be carried so the workflow can be traced across services.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Account opening with initial funding is a natural saga.</a:t>
            </a:r>
          </a:p>
          <a:p>
            <a:endParaRPr/>
          </a:p>
          <a:p>
            <a:r>
              <a:t>  Verify the customer, create the account, record the opening deposit, and send the welcome message.</a:t>
            </a:r>
          </a:p>
          <a:p>
            <a:endParaRPr/>
          </a:p>
          <a:p>
            <a:r>
              <a:t>  If the deposit fails, the compensation is to close the unfunded account or leave it pending.</a:t>
            </a:r>
          </a:p>
          <a:p>
            <a:endParaRPr/>
          </a:p>
          <a:p>
            <a:r>
              <a:t>  Either way, the record is kept for audit.</a:t>
            </a:r>
          </a:p>
          <a:p>
            <a:endParaRPr/>
          </a:p>
          <a:p>
            <a:r>
              <a:t>- Picture an ATM withdrawal that debits the account but then fails to dispense cash.</a:t>
            </a:r>
          </a:p>
          <a:p>
            <a:endParaRPr/>
          </a:p>
          <a:p>
            <a:r>
              <a:t>  It is resolved by a reversal posted back to the account.</a:t>
            </a:r>
          </a:p>
          <a:p>
            <a:endParaRPr/>
          </a:p>
          <a:p>
            <a:r>
              <a:t>  The original debit is not erased.</a:t>
            </a:r>
          </a:p>
          <a:p>
            <a:endParaRPr/>
          </a:p>
          <a:p>
            <a:r>
              <a:t>  A compensating entry restores the balance, and both entries remain on the record.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Place the capstone on a saga map.</a:t>
            </a:r>
          </a:p>
          <a:p>
            <a:endParaRPr/>
          </a:p>
          <a:p>
            <a:r>
              <a:t>Step one is Transaction Service committing a RECEIVED transaction and publishing TransactionSubmitted.</a:t>
            </a:r>
          </a:p>
          <a:p>
            <a:endParaRPr/>
          </a:p>
          <a:p>
            <a:r>
              <a:t>Lab 2 builds that step.</a:t>
            </a:r>
          </a:p>
          <a:p>
            <a:endParaRPr/>
          </a:p>
          <a:p>
            <a:r>
              <a:t>In Lab 5, Risk Assessment Service consumes that event and reaches a decision.</a:t>
            </a:r>
          </a:p>
          <a:p>
            <a:endParaRPr/>
          </a:p>
          <a:p>
            <a:r>
              <a:t>The Lab 2 optional stretch asks learners who would produce a TransactionApproved event.</a:t>
            </a:r>
          </a:p>
          <a:p>
            <a:endParaRPr/>
          </a:p>
          <a:p>
            <a:r>
              <a:t>Ask the room to sketch the unhappy path.</a:t>
            </a:r>
          </a:p>
          <a:p>
            <a:endParaRPr/>
          </a:p>
          <a:p>
            <a:r>
              <a:t>If risk declines the transaction, what does Transaction Service do?</a:t>
            </a:r>
          </a:p>
          <a:p>
            <a:endParaRPr/>
          </a:p>
          <a:p>
            <a:r>
              <a:t>It records the outcome as a new status rather than deleting the row.</a:t>
            </a:r>
          </a:p>
          <a:p>
            <a:endParaRPr/>
          </a:p>
          <a:p>
            <a:r>
              <a:t>Anything already announced gets a correcting message.</a:t>
            </a:r>
          </a:p>
          <a:p>
            <a:endParaRPr/>
          </a:p>
          <a:p>
            <a:r>
              <a:t>That is a choreographed saga with a business-level compensation.</a:t>
            </a:r>
          </a:p>
          <a:p>
            <a:endParaRPr/>
          </a:p>
          <a:p>
            <a:r>
              <a:t>It follows the same no-delete principle Lab 1 applies to closed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Top flow and Saga Orchestrator</a:t>
            </a:r>
          </a:p>
          <a:p>
            <a:endParaRPr/>
          </a:p>
          <a:p>
            <a:r>
              <a:t>  Four services each commit a local transaction in turn.</a:t>
            </a:r>
          </a:p>
          <a:p>
            <a:endParaRPr/>
          </a:p>
          <a:p>
            <a:r>
              <a:t>  They create the order, reserve stock, process payment, and arrange shipping.</a:t>
            </a:r>
          </a:p>
          <a:p>
            <a:endParaRPr/>
          </a:p>
          <a:p>
            <a:r>
              <a:t>  The orchestrator bar underneath coordinates them.</a:t>
            </a:r>
          </a:p>
          <a:p>
            <a:endParaRPr/>
          </a:p>
          <a:p>
            <a:r>
              <a:t>  Its label names choreography via events as the alternative.</a:t>
            </a:r>
          </a:p>
          <a:p>
            <a:endParaRPr/>
          </a:p>
          <a:p>
            <a:r>
              <a:t>  Translate it into banking straight away.</a:t>
            </a:r>
          </a:p>
          <a:p>
            <a:endParaRPr/>
          </a:p>
          <a:p>
            <a:r>
              <a:t>  A payment to another bank might record the request, place a hold on funds, send the payment, and confirm to the customer.</a:t>
            </a:r>
          </a:p>
          <a:p>
            <a:endParaRPr/>
          </a:p>
          <a:p>
            <a:r>
              <a:t>  The shape is identical; only the nouns change.</a:t>
            </a:r>
          </a:p>
          <a:p>
            <a:endParaRPr/>
          </a:p>
          <a:p>
            <a:r>
              <a:t>  Each box owns its own database, as the dashed lines to the bar suggest.</a:t>
            </a:r>
          </a:p>
          <a:p>
            <a:endParaRPr/>
          </a:p>
          <a:p>
            <a:r>
              <a:t>- How it works</a:t>
            </a:r>
          </a:p>
          <a:p>
            <a:endParaRPr/>
          </a:p>
          <a:p>
            <a:r>
              <a:t>  Read the six stages as a lifecycle.</a:t>
            </a:r>
          </a:p>
          <a:p>
            <a:endParaRPr/>
          </a:p>
          <a:p>
            <a:r>
              <a:t>  A saga starts for one business operation.</a:t>
            </a:r>
          </a:p>
          <a:p>
            <a:endParaRPr/>
          </a:p>
          <a:p>
            <a:r>
              <a:t>  Each service runs its local step and emits an event or reply.</a:t>
            </a:r>
          </a:p>
          <a:p>
            <a:endParaRPr/>
          </a:p>
          <a:p>
            <a:r>
              <a:t>  If everything succeeds, the saga completes.</a:t>
            </a:r>
          </a:p>
          <a:p>
            <a:endParaRPr/>
          </a:p>
          <a:p>
            <a:r>
              <a:t>  If any step fails, stage four detects it.</a:t>
            </a:r>
          </a:p>
          <a:p>
            <a:endParaRPr/>
          </a:p>
          <a:p>
            <a:r>
              <a:t>  Stage five runs compensating actions in reverse order for the steps that already completed.</a:t>
            </a:r>
          </a:p>
          <a:p>
            <a:endParaRPr/>
          </a:p>
          <a:p>
            <a:r>
              <a:t>  Stage six ends the saga either way.</a:t>
            </a:r>
          </a:p>
          <a:p>
            <a:endParaRPr/>
          </a:p>
          <a:p>
            <a:r>
              <a:t>  Stress that ended does not always mean succeeded.</a:t>
            </a:r>
          </a:p>
          <a:p>
            <a:endParaRPr/>
          </a:p>
          <a:p>
            <a:r>
              <a:t>  A fully compensated saga has also ended correctly.</a:t>
            </a:r>
          </a:p>
          <a:p>
            <a:endParaRPr/>
          </a:p>
          <a:p>
            <a:r>
              <a:t>- Saga Types</a:t>
            </a:r>
          </a:p>
          <a:p>
            <a:endParaRPr/>
          </a:p>
          <a:p>
            <a:r>
              <a:t>  The left half shows orchestration.</a:t>
            </a:r>
          </a:p>
          <a:p>
            <a:endParaRPr/>
          </a:p>
          <a:p>
            <a:r>
              <a:t>  One central node decides the next step, which is easier to monitor.</a:t>
            </a:r>
          </a:p>
          <a:p>
            <a:endParaRPr/>
          </a:p>
          <a:p>
            <a:r>
              <a:t>  The image notes it is a single point of control, not of data.</a:t>
            </a:r>
          </a:p>
          <a:p>
            <a:endParaRPr/>
          </a:p>
          <a:p>
            <a:r>
              <a:t>  The right half shows choreography.</a:t>
            </a:r>
          </a:p>
          <a:p>
            <a:endParaRPr/>
          </a:p>
          <a:p>
            <a:r>
              <a:t>  Services publish and react to events.</a:t>
            </a:r>
          </a:p>
          <a:p>
            <a:endParaRPr/>
          </a:p>
          <a:p>
            <a:r>
              <a:t>  That is more decentralised and scalable, but harder to follow end to end.</a:t>
            </a:r>
          </a:p>
          <a:p>
            <a:endParaRPr/>
          </a:p>
          <a:p>
            <a:r>
              <a:t>  Neither is universally better.</a:t>
            </a:r>
          </a:p>
          <a:p>
            <a:endParaRPr/>
          </a:p>
          <a:p>
            <a:r>
              <a:t>  Short event chains suit choreography.</a:t>
            </a:r>
          </a:p>
          <a:p>
            <a:endParaRPr/>
          </a:p>
          <a:p>
            <a:r>
              <a:t>  Long workflows with many failure branches usually benefit from an orchestrator.</a:t>
            </a:r>
          </a:p>
          <a:p>
            <a:endParaRPr/>
          </a:p>
          <a:p>
            <a:r>
              <a:t>- Key Characteristics</a:t>
            </a:r>
          </a:p>
          <a:p>
            <a:endParaRPr/>
          </a:p>
          <a:p>
            <a:r>
              <a:t>  The table names five properties.</a:t>
            </a:r>
          </a:p>
          <a:p>
            <a:endParaRPr/>
          </a:p>
          <a:p>
            <a:r>
              <a:t>  Local transactions mean each step updates only its own database.</a:t>
            </a:r>
          </a:p>
          <a:p>
            <a:endParaRPr/>
          </a:p>
          <a:p>
            <a:r>
              <a:t>  Event-driven means communication through events or messages.</a:t>
            </a:r>
          </a:p>
          <a:p>
            <a:endParaRPr/>
          </a:p>
          <a:p>
            <a:r>
              <a:t>  Eventual consistency means the system reaches a consistent state over time.</a:t>
            </a:r>
          </a:p>
          <a:p>
            <a:endParaRPr/>
          </a:p>
          <a:p>
            <a:r>
              <a:t>  Compensating actions undo completed steps on failure.</a:t>
            </a:r>
          </a:p>
          <a:p>
            <a:endParaRPr/>
          </a:p>
          <a:p>
            <a:r>
              <a:t>  No locks means no long-running locks across services.</a:t>
            </a:r>
          </a:p>
          <a:p>
            <a:endParaRPr/>
          </a:p>
          <a:p>
            <a:r>
              <a:t>  Tie each row back to earlier slides.</a:t>
            </a:r>
          </a:p>
          <a:p>
            <a:endParaRPr/>
          </a:p>
          <a:p>
            <a:r>
              <a:t>  Link local transactions to slide 21, eventual consistency to slide 25, and the locking problems of two-phase commit to slide 24.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Consumer loan origination is a common banking saga.</a:t>
            </a:r>
          </a:p>
          <a:p>
            <a:endParaRPr/>
          </a:p>
          <a:p>
            <a:r>
              <a:t>  The application is captured, a credit check is requested, an offer is generated, documents are signed, and funds are disbursed.</a:t>
            </a:r>
          </a:p>
          <a:p>
            <a:endParaRPr/>
          </a:p>
          <a:p>
            <a:r>
              <a:t>  If signing never happens, compensation cancels the offer.</a:t>
            </a:r>
          </a:p>
          <a:p>
            <a:endParaRPr/>
          </a:p>
          <a:p>
            <a:r>
              <a:t>  It also releases any provisional credit reservation.</a:t>
            </a:r>
          </a:p>
          <a:p>
            <a:endParaRPr/>
          </a:p>
          <a:p>
            <a:r>
              <a:t>  Each step belongs to a different system or team.</a:t>
            </a:r>
          </a:p>
          <a:p>
            <a:endParaRPr/>
          </a:p>
          <a:p>
            <a:r>
              <a:t>- An outgoing payment from a mobile app often places a hold on the customer's available balance before the payment is sent.</a:t>
            </a:r>
          </a:p>
          <a:p>
            <a:endParaRPr/>
          </a:p>
          <a:p>
            <a:r>
              <a:t>  If sending fails, the compensation releases the hold and notifies the customer.</a:t>
            </a:r>
          </a:p>
          <a:p>
            <a:endParaRPr/>
          </a:p>
          <a:p>
            <a:r>
              <a:t>  It does not delete the payment record, which stays for audit.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Redraw the top row for the capstone on a whiteboard.</a:t>
            </a:r>
          </a:p>
          <a:p>
            <a:endParaRPr/>
          </a:p>
          <a:p>
            <a:r>
              <a:t>Box one: Transaction Service commits a RECEIVED transaction and publishes TransactionSubmitted on transactions.submitted, built in Lab 2.</a:t>
            </a:r>
          </a:p>
          <a:p>
            <a:endParaRPr/>
          </a:p>
          <a:p>
            <a:r>
              <a:t>Box two: Risk Assessment Service consumes the event and scores it, arriving in Lab 5.</a:t>
            </a:r>
          </a:p>
          <a:p>
            <a:endParaRPr/>
          </a:p>
          <a:p>
            <a:r>
              <a:t>Box three is a hypothetical future step.</a:t>
            </a:r>
          </a:p>
          <a:p>
            <a:endParaRPr/>
          </a:p>
          <a:p>
            <a:r>
              <a:t>For example, a downstream posting system could record the approved movement.</a:t>
            </a:r>
          </a:p>
          <a:p>
            <a:endParaRPr/>
          </a:p>
          <a:p>
            <a:r>
              <a:t>Now walk stages four and five.</a:t>
            </a:r>
          </a:p>
          <a:p>
            <a:endParaRPr/>
          </a:p>
          <a:p>
            <a:r>
              <a:t>If the posting step fails after approval, the compensation is a status change and a correcting event, not a delete.</a:t>
            </a:r>
          </a:p>
          <a:p>
            <a:endParaRPr/>
          </a:p>
          <a:p>
            <a:r>
              <a:t>Ask learners whether their saga is orchestrated or choreographed.</a:t>
            </a:r>
          </a:p>
          <a:p>
            <a:endParaRPr/>
          </a:p>
          <a:p>
            <a:r>
              <a:t>The capstone's event flow is choreography, because no central component tells the services what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3: Choreography-Based Sagas</a:t>
            </a:r>
          </a:p>
          <a:p>
            <a:r>
              <a:t>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CHOREOGRAPHY WORKS</a:t>
            </a:r>
          </a:p>
          <a:p>
            <a:endParaRPr/>
          </a:p>
          <a:p>
            <a:r>
              <a:t>  Nobody gives orders.</a:t>
            </a:r>
          </a:p>
          <a:p>
            <a:endParaRPr/>
          </a:p>
          <a:p>
            <a:r>
              <a:t>  Transaction Service commits its row.</a:t>
            </a:r>
          </a:p>
          <a:p>
            <a:endParaRPr/>
          </a:p>
          <a:p>
            <a:r>
              <a:t>  Then it publishes TransactionSubmitted to transactions.submitted.</a:t>
            </a:r>
          </a:p>
          <a:p>
            <a:endParaRPr/>
          </a:p>
          <a:p>
            <a:r>
              <a:t>  The event has an envelope, a set of standard wrapper fields: eventType, eventVersion, eventId, correlationId, occurredAt, and a payload.</a:t>
            </a:r>
          </a:p>
          <a:p>
            <a:endParaRPr/>
          </a:p>
          <a:p>
            <a:r>
              <a:t>  Any service interested in that fact subscribes and runs its own local transaction.</a:t>
            </a:r>
          </a:p>
          <a:p>
            <a:endParaRPr/>
          </a:p>
          <a:p>
            <a:r>
              <a:t>  It may publish a new event, such as a risk decision, for the next participant.</a:t>
            </a:r>
          </a:p>
          <a:p>
            <a:endParaRPr/>
          </a:p>
          <a:p>
            <a:r>
              <a:t>  The workflow emerges from who listens to what.</a:t>
            </a:r>
          </a:p>
          <a:p>
            <a:endParaRPr/>
          </a:p>
          <a:p>
            <a:r>
              <a:t>  In Lab 2, Transaction Service consumes its own event.</a:t>
            </a:r>
          </a:p>
          <a:p>
            <a:endParaRPr/>
          </a:p>
          <a:p>
            <a:r>
              <a:t>  That lets learners practise consuming, duplicates, and the dead-letter topic before Risk Assessment arrives in Lab 5.</a:t>
            </a:r>
          </a:p>
          <a:p>
            <a:endParaRPr/>
          </a:p>
          <a:p>
            <a:r>
              <a:t>- BENEFITS AND CHALLENGES</a:t>
            </a:r>
          </a:p>
          <a:p>
            <a:endParaRPr/>
          </a:p>
          <a:p>
            <a:r>
              <a:t>  Adding a consumer requires no change to the publisher.</a:t>
            </a:r>
          </a:p>
          <a:p>
            <a:endParaRPr/>
          </a:p>
          <a:p>
            <a:r>
              <a:t>  That is why Risk Assessment can join in Lab 5 without touching Transaction Service's publishing code.</a:t>
            </a:r>
          </a:p>
          <a:p>
            <a:endParaRPr/>
          </a:p>
          <a:p>
            <a:r>
              <a:t>  There is no central workflow service to scale or keep available.</a:t>
            </a:r>
          </a:p>
          <a:p>
            <a:endParaRPr/>
          </a:p>
          <a:p>
            <a:r>
              <a:t>  The slide's no single point of failure needs a caveat, though.</a:t>
            </a:r>
          </a:p>
          <a:p>
            <a:endParaRPr/>
          </a:p>
          <a:p>
            <a:r>
              <a:t>  The Kafka cluster is shared critical infrastructure.</a:t>
            </a:r>
          </a:p>
          <a:p>
            <a:endParaRPr/>
          </a:p>
          <a:p>
            <a:r>
              <a:t>  For that reason, it runs highly available on AMQ Streams.</a:t>
            </a:r>
          </a:p>
          <a:p>
            <a:endParaRPr/>
          </a:p>
          <a:p>
            <a:r>
              <a:t>  The challenge is visibility, because the business flow lives in subscriptions, not in one file.</a:t>
            </a:r>
          </a:p>
          <a:p>
            <a:endParaRPr/>
          </a:p>
          <a:p>
            <a:r>
              <a:t>  Correlation IDs, tracing, and a documented event catalogue are how teams keep it understandable.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When a card authorization is approved, several bank systems can react to the same authorization event independently.</a:t>
            </a:r>
          </a:p>
          <a:p>
            <a:endParaRPr/>
          </a:p>
          <a:p>
            <a:r>
              <a:t>  Fraud monitoring, customer notifications, and rewards tracking each do their own work.</a:t>
            </a:r>
          </a:p>
          <a:p>
            <a:endParaRPr/>
          </a:p>
          <a:p>
            <a:r>
              <a:t>  The authorization system does not call any of them.</a:t>
            </a:r>
          </a:p>
          <a:p>
            <a:endParaRPr/>
          </a:p>
          <a:p>
            <a:r>
              <a:t>  So a slow rewards system never delays the customer at the checkout.</a:t>
            </a:r>
          </a:p>
          <a:p>
            <a:endParaRPr/>
          </a:p>
          <a:p>
            <a:r>
              <a:t>- A new analytics team that needs payment data can subscribe to existing payment events.</a:t>
            </a:r>
          </a:p>
          <a:p>
            <a:endParaRPr/>
          </a:p>
          <a:p>
            <a:r>
              <a:t>  It does not have to ask the payments team to change its code.</a:t>
            </a:r>
          </a:p>
          <a:p>
            <a:endParaRPr/>
          </a:p>
          <a:p>
            <a:r>
              <a:t>  That loose coupling is choreography's biggest selling point.</a:t>
            </a:r>
          </a:p>
          <a:p>
            <a:endParaRPr/>
          </a:p>
          <a:p>
            <a:r>
              <a:t>  It is also why nobody can see the whole flow unless it is documented.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Two weeks after Lab 2 ships, a customer reports that a transaction never progressed.</a:t>
            </a:r>
          </a:p>
          <a:p>
            <a:endParaRPr/>
          </a:p>
          <a:p>
            <a:r>
              <a:t>With choreography, there is no orchestrator log to open.</a:t>
            </a:r>
          </a:p>
          <a:p>
            <a:endParaRPr/>
          </a:p>
          <a:p>
            <a:r>
              <a:t>The engineer searches the logs for the correlation ID the client sent in X-Correlation-Id.</a:t>
            </a:r>
          </a:p>
          <a:p>
            <a:endParaRPr/>
          </a:p>
          <a:p>
            <a:r>
              <a:t>Lab 2 copies that ID onto the event and into every log line.</a:t>
            </a:r>
          </a:p>
          <a:p>
            <a:endParaRPr/>
          </a:p>
          <a:p>
            <a:r>
              <a:t>So the REST call, the published event, and the consumer's processing all appear together.</a:t>
            </a:r>
          </a:p>
          <a:p>
            <a:endParaRPr/>
          </a:p>
          <a:p>
            <a:r>
              <a:t>The logs show the consumer threw an error on that event.</a:t>
            </a:r>
          </a:p>
          <a:p>
            <a:endParaRPr/>
          </a:p>
          <a:p>
            <a:r>
              <a:t>It retried twice and then sent the event to the dead-letter topic.</a:t>
            </a:r>
          </a:p>
          <a:p>
            <a:endParaRPr/>
          </a:p>
          <a:p>
            <a:r>
              <a:t>Without that correlation ID, the engineer would be reading several services' logs by timestamp and guessing.</a:t>
            </a:r>
          </a:p>
          <a:p>
            <a:endParaRPr/>
          </a:p>
          <a:p>
            <a:r>
              <a:t>Choreography's visibility cost is paid through this kind of discipline.</a:t>
            </a:r>
          </a:p>
          <a:p>
            <a:endParaRPr/>
          </a:p>
          <a:p>
            <a:endParaRPr/>
          </a:p>
          <a:p>
            <a:r>
              <a:t>TOPIC 2 OF 3: Orchestration-Based Sagas</a:t>
            </a:r>
          </a:p>
          <a:p>
            <a:r>
              <a:t>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ORCHESTRATION WORKS</a:t>
            </a:r>
          </a:p>
          <a:p>
            <a:endParaRPr/>
          </a:p>
          <a:p>
            <a:r>
              <a:t>  The orchestrator is a component that owns the workflow definition.</a:t>
            </a:r>
          </a:p>
          <a:p>
            <a:endParaRPr/>
          </a:p>
          <a:p>
            <a:r>
              <a:t>  It also owns the state of every running instance.</a:t>
            </a:r>
          </a:p>
          <a:p>
            <a:endParaRPr/>
          </a:p>
          <a:p>
            <a:r>
              <a:t>  When a request arrives, it creates a saga record.</a:t>
            </a:r>
          </a:p>
          <a:p>
            <a:endParaRPr/>
          </a:p>
          <a:p>
            <a:r>
              <a:t>  It sends a command, such as create account, to the first participant.</a:t>
            </a:r>
          </a:p>
          <a:p>
            <a:endParaRPr/>
          </a:p>
          <a:p>
            <a:r>
              <a:t>  Then it waits for a reply or a timeout.</a:t>
            </a:r>
          </a:p>
          <a:p>
            <a:endParaRPr/>
          </a:p>
          <a:p>
            <a:r>
              <a:t>  It saves each result before sending the next command, so a restart resumes where it stopped.</a:t>
            </a:r>
          </a:p>
          <a:p>
            <a:endParaRPr/>
          </a:p>
          <a:p>
            <a:r>
              <a:t>  On failure, it reads which steps completed.</a:t>
            </a:r>
          </a:p>
          <a:p>
            <a:endParaRPr/>
          </a:p>
          <a:p>
            <a:r>
              <a:t>  It sends their compensation commands in reverse order.</a:t>
            </a:r>
          </a:p>
          <a:p>
            <a:endParaRPr/>
          </a:p>
          <a:p>
            <a:r>
              <a:t>  Participants stay simple.</a:t>
            </a:r>
          </a:p>
          <a:p>
            <a:endParaRPr/>
          </a:p>
          <a:p>
            <a:r>
              <a:t>  Each knows how to do its step and how to undo it.</a:t>
            </a:r>
          </a:p>
          <a:p>
            <a:endParaRPr/>
          </a:p>
          <a:p>
            <a:r>
              <a:t>- ADVANTAGES AND CONSIDERATIONS</a:t>
            </a:r>
          </a:p>
          <a:p>
            <a:endParaRPr/>
          </a:p>
          <a:p>
            <a:r>
              <a:t>  The whole workflow is readable in one place.</a:t>
            </a:r>
          </a:p>
          <a:p>
            <a:endParaRPr/>
          </a:p>
          <a:p>
            <a:r>
              <a:t>  An operator can ask where instance 42 is stuck.</a:t>
            </a:r>
          </a:p>
          <a:p>
            <a:endParaRPr/>
          </a:p>
          <a:p>
            <a:r>
              <a:t>  Timeouts, retries, and compensation logic are centralised rather than scattered across event handlers.</a:t>
            </a:r>
          </a:p>
          <a:p>
            <a:endParaRPr/>
          </a:p>
          <a:p>
            <a:r>
              <a:t>  Now the costs.</a:t>
            </a:r>
          </a:p>
          <a:p>
            <a:endParaRPr/>
          </a:p>
          <a:p>
            <a:r>
              <a:t>  The orchestrator must be highly available and must persist its state.</a:t>
            </a:r>
          </a:p>
          <a:p>
            <a:endParaRPr/>
          </a:p>
          <a:p>
            <a:r>
              <a:t>  Every participant change may require an orchestrator change.</a:t>
            </a:r>
          </a:p>
          <a:p>
            <a:endParaRPr/>
          </a:p>
          <a:p>
            <a:r>
              <a:t>  The biggest design risk is a god service, one that absorbs business rules that belong in the participants.</a:t>
            </a:r>
          </a:p>
          <a:p>
            <a:endParaRPr/>
          </a:p>
          <a:p>
            <a:r>
              <a:t>  Keep the orchestrator focused on sequencing.</a:t>
            </a:r>
          </a:p>
          <a:p>
            <a:endParaRPr/>
          </a:p>
          <a:p>
            <a:r>
              <a:t>  It should not decide account eligibility or risk.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Netflix open-sourced Conductor, a workflow orchestration engine.</a:t>
            </a:r>
          </a:p>
          <a:p>
            <a:endParaRPr/>
          </a:p>
          <a:p>
            <a:r>
              <a:t>  Uber built Cadence, and the Temporal project was later forked from it.</a:t>
            </a:r>
          </a:p>
          <a:p>
            <a:endParaRPr/>
          </a:p>
          <a:p>
            <a:r>
              <a:t>  Both let teams define long-running workflows centrally, with retries, timeouts, and durable state.</a:t>
            </a:r>
          </a:p>
          <a:p>
            <a:endParaRPr/>
          </a:p>
          <a:p>
            <a:r>
              <a:t>  That is orchestration as a platform.</a:t>
            </a:r>
          </a:p>
          <a:p>
            <a:endParaRPr/>
          </a:p>
          <a:p>
            <a:r>
              <a:t>- Banks commonly run loan origination and account opening on workflow or business process engines such as Camunda.</a:t>
            </a:r>
          </a:p>
          <a:p>
            <a:endParaRPr/>
          </a:p>
          <a:p>
            <a:r>
              <a:t>  These processes have many human and system steps, regulatory checkpoints, and failure branches.</a:t>
            </a:r>
          </a:p>
          <a:p>
            <a:endParaRPr/>
          </a:p>
          <a:p>
            <a:r>
              <a:t>  That is exactly the situation where central visibility pays for itself.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Adapt the subtitle's example to what the capstone actually has.</a:t>
            </a:r>
          </a:p>
          <a:p>
            <a:endParaRPr/>
          </a:p>
          <a:p>
            <a:r>
              <a:t>An account-opening orchestrator receives a request with customerId CUST-0001.</a:t>
            </a:r>
          </a:p>
          <a:p>
            <a:endParaRPr/>
          </a:p>
          <a:p>
            <a:r>
              <a:t>It commands Account Service to create the account, which starts PENDING.</a:t>
            </a:r>
          </a:p>
          <a:p>
            <a:endParaRPr/>
          </a:p>
          <a:p>
            <a:r>
              <a:t>It then asks a funding step to record an opening deposit.</a:t>
            </a:r>
          </a:p>
          <a:p>
            <a:endParaRPr/>
          </a:p>
          <a:p>
            <a:r>
              <a:t>On success, it commands Account Service to activate the account.</a:t>
            </a:r>
          </a:p>
          <a:p>
            <a:endParaRPr/>
          </a:p>
          <a:p>
            <a:r>
              <a:t>If funding fails, it sends the compensation.</a:t>
            </a:r>
          </a:p>
          <a:p>
            <a:endParaRPr/>
          </a:p>
          <a:p>
            <a:r>
              <a:t>That means closing the account through Lab 1's close operation, never a delete.</a:t>
            </a:r>
          </a:p>
          <a:p>
            <a:endParaRPr/>
          </a:p>
          <a:p>
            <a:r>
              <a:t>In a real bank, customer verification and notifications would be separate services.</a:t>
            </a:r>
          </a:p>
          <a:p>
            <a:endParaRPr/>
          </a:p>
          <a:p>
            <a:r>
              <a:t>In this capstone, customerId is simply a field on the account.</a:t>
            </a:r>
          </a:p>
          <a:p>
            <a:endParaRPr/>
          </a:p>
          <a:p>
            <a:r>
              <a:t>No Customer or Notification service exists.</a:t>
            </a:r>
          </a:p>
          <a:p>
            <a:endParaRPr/>
          </a:p>
          <a:p>
            <a:endParaRPr/>
          </a:p>
          <a:p>
            <a:r>
              <a:t>TOPIC 3 OF 3: Compensating Transactions</a:t>
            </a:r>
          </a:p>
          <a:p>
            <a:r>
              <a:t>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EXAMPLES OF COMPENSATION</a:t>
            </a:r>
          </a:p>
          <a:p>
            <a:endParaRPr/>
          </a:p>
          <a:p>
            <a:r>
              <a:t>  The panel's examples come from retail, so translate each one.</a:t>
            </a:r>
          </a:p>
          <a:p>
            <a:endParaRPr/>
          </a:p>
          <a:p>
            <a:r>
              <a:t>  Cancel an order becomes cancelling a pending payment instruction.</a:t>
            </a:r>
          </a:p>
          <a:p>
            <a:endParaRPr/>
          </a:p>
          <a:p>
            <a:r>
              <a:t>  Release reserved inventory becomes releasing a hold on available funds.</a:t>
            </a:r>
          </a:p>
          <a:p>
            <a:endParaRPr/>
          </a:p>
          <a:p>
            <a:r>
              <a:t>  Refund a payment becomes posting a reversal entry.</a:t>
            </a:r>
          </a:p>
          <a:p>
            <a:endParaRPr/>
          </a:p>
          <a:p>
            <a:r>
              <a:t>  Compensations run only when a later step fails.</a:t>
            </a:r>
          </a:p>
          <a:p>
            <a:endParaRPr/>
          </a:p>
          <a:p>
            <a:r>
              <a:t>  They run in reverse order: the most recent completed step is corrected first.</a:t>
            </a:r>
          </a:p>
          <a:p>
            <a:endParaRPr/>
          </a:p>
          <a:p>
            <a:r>
              <a:t>  That way each correction sees the state it expects.</a:t>
            </a:r>
          </a:p>
          <a:p>
            <a:endParaRPr/>
          </a:p>
          <a:p>
            <a:r>
              <a:t>  The failed step itself needs no compensation, because its local transaction has already rolled back.</a:t>
            </a:r>
          </a:p>
          <a:p>
            <a:endParaRPr/>
          </a:p>
          <a:p>
            <a:r>
              <a:t>- CONSIDERATIONS</a:t>
            </a:r>
          </a:p>
          <a:p>
            <a:endParaRPr/>
          </a:p>
          <a:p>
            <a:r>
              <a:t>  Compensations are delivered through the same at-least-once messaging as everything else.</a:t>
            </a:r>
          </a:p>
          <a:p>
            <a:endParaRPr/>
          </a:p>
          <a:p>
            <a:r>
              <a:t>  So they may arrive twice.</a:t>
            </a:r>
          </a:p>
          <a:p>
            <a:endParaRPr/>
          </a:p>
          <a:p>
            <a:r>
              <a:t>  Releasing a hold twice must not release money twice.</a:t>
            </a:r>
          </a:p>
          <a:p>
            <a:endParaRPr/>
          </a:p>
          <a:p>
            <a:r>
              <a:t>  That means compensations must be idempotent, so a repeat has no extra effect.</a:t>
            </a:r>
          </a:p>
          <a:p>
            <a:endParaRPr/>
          </a:p>
          <a:p>
            <a:r>
              <a:t>  Key them by an event or saga ID, the way Lab 2's processed_events table works.</a:t>
            </a:r>
          </a:p>
          <a:p>
            <a:endParaRPr/>
          </a:p>
          <a:p>
            <a:r>
              <a:t>  Some actions cannot be undone at all.</a:t>
            </a:r>
          </a:p>
          <a:p>
            <a:endParaRPr/>
          </a:p>
          <a:p>
            <a:r>
              <a:t>  A sent text message stays sent, so the compensation is a correction message.</a:t>
            </a:r>
          </a:p>
          <a:p>
            <a:endParaRPr/>
          </a:p>
          <a:p>
            <a:r>
              <a:t>  Compensations can also fail.</a:t>
            </a:r>
          </a:p>
          <a:p>
            <a:endParaRPr/>
          </a:p>
          <a:p>
            <a:r>
              <a:t>  So they need retries, dead-letter handling, and a manual operations queue.</a:t>
            </a:r>
          </a:p>
          <a:p>
            <a:endParaRPr/>
          </a:p>
          <a:p>
            <a:r>
              <a:t>  Intermediate states, such as PENDING, should be visible and meaningful to users.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Card networks support authorization reversals.</a:t>
            </a:r>
          </a:p>
          <a:p>
            <a:endParaRPr/>
          </a:p>
          <a:p>
            <a:r>
              <a:t>  When a merchant cancels a sale before settlement, a reversal message releases the hold on the cardholder's funds.</a:t>
            </a:r>
          </a:p>
          <a:p>
            <a:endParaRPr/>
          </a:p>
          <a:p>
            <a:r>
              <a:t>  The original authorization stays in the records.</a:t>
            </a:r>
          </a:p>
          <a:p>
            <a:endParaRPr/>
          </a:p>
          <a:p>
            <a:r>
              <a:t>  The compensation is its own recorded event.</a:t>
            </a:r>
          </a:p>
          <a:p>
            <a:endParaRPr/>
          </a:p>
          <a:p>
            <a:r>
              <a:t>- Once a wire transfer has been sent, the sending bank usually cannot pull it back on its own.</a:t>
            </a:r>
          </a:p>
          <a:p>
            <a:endParaRPr/>
          </a:p>
          <a:p>
            <a:r>
              <a:t>  It has to send a recall request, and the receiving bank may or may not honour it.</a:t>
            </a:r>
          </a:p>
          <a:p>
            <a:endParaRPr/>
          </a:p>
          <a:p>
            <a:r>
              <a:t>  This is the real-world version of compensation not always being a perfect undo.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Extend the capstone's unhappy path.</a:t>
            </a:r>
          </a:p>
          <a:p>
            <a:endParaRPr/>
          </a:p>
          <a:p>
            <a:r>
              <a:t>A transaction reaches SUBMITTED.</a:t>
            </a:r>
          </a:p>
          <a:p>
            <a:endParaRPr/>
          </a:p>
          <a:p>
            <a:r>
              <a:t>In a later lab, Risk Assessment declines it, after the customer's channel has already shown it as received.</a:t>
            </a:r>
          </a:p>
          <a:p>
            <a:endParaRPr/>
          </a:p>
          <a:p>
            <a:r>
              <a:t>The team's first idea is to delete the transaction row.</a:t>
            </a:r>
          </a:p>
          <a:p>
            <a:endParaRPr/>
          </a:p>
          <a:p>
            <a:r>
              <a:t>Push back using Lab 1's principle: closed accounts are never physically deleted, because audit needs the record.</a:t>
            </a:r>
          </a:p>
          <a:p>
            <a:endParaRPr/>
          </a:p>
          <a:p>
            <a:r>
              <a:t>The compensation is to record a declined status with a reason and publish a correcting event.</a:t>
            </a:r>
          </a:p>
          <a:p>
            <a:endParaRPr/>
          </a:p>
          <a:p>
            <a:r>
              <a:t>Then any notification sent earlier can be followed by an update.</a:t>
            </a:r>
          </a:p>
          <a:p>
            <a:endParaRPr/>
          </a:p>
          <a:p>
            <a:r>
              <a:t>The decline event could be redelivered.</a:t>
            </a:r>
          </a:p>
          <a:p>
            <a:endParaRPr/>
          </a:p>
          <a:p>
            <a:r>
              <a:t>So the handler first checks an inbox table by eventId, exactly as Lab 2's consumer does.</a:t>
            </a:r>
          </a:p>
          <a:p>
            <a:endParaRPr/>
          </a:p>
          <a:p>
            <a:r>
              <a:t>That way a replay changes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Data Consistency Tradeoffs</a:t>
            </a:r>
          </a:p>
          <a:p>
            <a:r>
              <a:t>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CONSISTENCY REQUIREMENTS BY OPERATION</a:t>
            </a:r>
          </a:p>
          <a:p>
            <a:endParaRPr/>
          </a:p>
          <a:p>
            <a:r>
              <a:t>  Read each row as a business decision.</a:t>
            </a:r>
          </a:p>
          <a:p>
            <a:endParaRPr/>
          </a:p>
          <a:p>
            <a:r>
              <a:t>  Deducting funds must be strongly consistent inside the service that owns the balance.</a:t>
            </a:r>
          </a:p>
          <a:p>
            <a:endParaRPr/>
          </a:p>
          <a:p>
            <a:r>
              <a:t>  Two concurrent debits must never both pass the balance check.</a:t>
            </a:r>
          </a:p>
          <a:p>
            <a:endParaRPr/>
          </a:p>
          <a:p>
            <a:r>
              <a:t>  That calls for a local transaction with locking.</a:t>
            </a:r>
          </a:p>
          <a:p>
            <a:endParaRPr/>
          </a:p>
          <a:p>
            <a:r>
              <a:t>  A notification arriving a few seconds late harms nobody.</a:t>
            </a:r>
          </a:p>
          <a:p>
            <a:endParaRPr/>
          </a:p>
          <a:p>
            <a:r>
              <a:t>  Neither does a dashboard that lags slightly.</a:t>
            </a:r>
          </a:p>
          <a:p>
            <a:endParaRPr/>
          </a:p>
          <a:p>
            <a:r>
              <a:t>  Login validation needs an answer now, while the user waits.</a:t>
            </a:r>
          </a:p>
          <a:p>
            <a:endParaRPr/>
          </a:p>
          <a:p>
            <a:r>
              <a:t>  Note that strong consistency is scoped inside one owning service, not across services.</a:t>
            </a:r>
          </a:p>
          <a:p>
            <a:endParaRPr/>
          </a:p>
          <a:p>
            <a:r>
              <a:t>  Stress the method.</a:t>
            </a:r>
          </a:p>
          <a:p>
            <a:endParaRPr/>
          </a:p>
          <a:p>
            <a:r>
              <a:t>  Classify every operation, write down its tolerated staleness, and then choose the mechanism.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Banks commonly distinguish available balance from ledger balance.</a:t>
            </a:r>
          </a:p>
          <a:p>
            <a:endParaRPr/>
          </a:p>
          <a:p>
            <a:r>
              <a:t>  The available balance must be accurate at the moment a debit is authorised.</a:t>
            </a:r>
          </a:p>
          <a:p>
            <a:endParaRPr/>
          </a:p>
          <a:p>
            <a:r>
              <a:t>  End-of-day ledger positions and statements are produced later, sometimes after overnight batch processing.</a:t>
            </a:r>
          </a:p>
          <a:p>
            <a:endParaRPr/>
          </a:p>
          <a:p>
            <a:r>
              <a:t>  Customers accept that timing.</a:t>
            </a:r>
          </a:p>
          <a:p>
            <a:endParaRPr/>
          </a:p>
          <a:p>
            <a:r>
              <a:t>- Daily reconciliation between internal ledgers and external payment networks is a standard banking control.</a:t>
            </a:r>
          </a:p>
          <a:p>
            <a:endParaRPr/>
          </a:p>
          <a:p>
            <a:r>
              <a:t>  It exists because cross-system consistency is eventual.</a:t>
            </a:r>
          </a:p>
          <a:p>
            <a:endParaRPr/>
          </a:p>
          <a:p>
            <a:r>
              <a:t>  Reconciliation is the mechanism that detects and corrects any differences that retries and events did not resolve.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Run a short classification exercise with the capstone.</a:t>
            </a:r>
          </a:p>
          <a:p>
            <a:endParaRPr/>
          </a:p>
          <a:p>
            <a:r>
              <a:t>Checking that an account is ACTIVE before accepting a transaction needs a current answer.</a:t>
            </a:r>
          </a:p>
          <a:p>
            <a:endParaRPr/>
          </a:p>
          <a:p>
            <a:r>
              <a:t>So Transaction Service calls Account Service synchronously over REST.</a:t>
            </a:r>
          </a:p>
          <a:p>
            <a:endParaRPr/>
          </a:p>
          <a:p>
            <a:r>
              <a:t>Moving the transaction from RECEIVED to SUBMITTED through Kafka tolerates a short delay.</a:t>
            </a:r>
          </a:p>
          <a:p>
            <a:endParaRPr/>
          </a:p>
          <a:p>
            <a:r>
              <a:t>That is eventual consistency.</a:t>
            </a:r>
          </a:p>
          <a:p>
            <a:endParaRPr/>
          </a:p>
          <a:p>
            <a:r>
              <a:t>Risk scoring in Lab 5 also runs asynchronously from the event.</a:t>
            </a:r>
          </a:p>
          <a:p>
            <a:endParaRPr/>
          </a:p>
          <a:p>
            <a:r>
              <a:t>Point out that the capstone accounts table has no balance column, so no service deducts funds here.</a:t>
            </a:r>
          </a:p>
          <a:p>
            <a:endParaRPr/>
          </a:p>
          <a:p>
            <a:r>
              <a:t>Validating status is the capstone's strongly consistent check.</a:t>
            </a:r>
          </a:p>
          <a:p>
            <a:endParaRPr/>
          </a:p>
          <a:p>
            <a:r>
              <a:t>Learners should leave able to say, for each capstone call, why it is synchronous or asynchronous.</a:t>
            </a:r>
          </a:p>
          <a:p>
            <a:endParaRPr/>
          </a:p>
          <a:p>
            <a:endParaRPr/>
          </a:p>
          <a:p>
            <a:r>
              <a:t>TOPIC 2 OF 2: CQRS Pattern Overview</a:t>
            </a:r>
          </a:p>
          <a:p>
            <a:r>
              <a:t>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COMMAND VS. QUERY RESPONSIBILITY SEGREGATION</a:t>
            </a:r>
          </a:p>
          <a:p>
            <a:endParaRPr/>
          </a:p>
          <a:p>
            <a:r>
              <a:t>  The write model is normalised and guarded by business rules.</a:t>
            </a:r>
          </a:p>
          <a:p>
            <a:endParaRPr/>
          </a:p>
          <a:p>
            <a:r>
              <a:t>  In the capstone, that is Transaction Service deciding whether a transaction may be created.</a:t>
            </a:r>
          </a:p>
          <a:p>
            <a:endParaRPr/>
          </a:p>
          <a:p>
            <a:r>
              <a:t>  The read model is shaped for one screen or report.</a:t>
            </a:r>
          </a:p>
          <a:p>
            <a:endParaRPr/>
          </a:p>
          <a:p>
            <a:r>
              <a:t>  It is often flattened, with data from several sources already combined.</a:t>
            </a:r>
          </a:p>
          <a:p>
            <a:endParaRPr/>
          </a:p>
          <a:p>
            <a:r>
              <a:t>  It can be a table in another database, a search index, or a cache.</a:t>
            </a:r>
          </a:p>
          <a:p>
            <a:endParaRPr/>
          </a:p>
          <a:p>
            <a:r>
              <a:t>  It is updated by consuming events, so it lags the write side slightly.</a:t>
            </a:r>
          </a:p>
          <a:p>
            <a:endParaRPr/>
          </a:p>
          <a:p>
            <a:r>
              <a:t>  It can be rebuilt by replaying events or reloading from the owning services.</a:t>
            </a:r>
          </a:p>
          <a:p>
            <a:endParaRPr/>
          </a:p>
          <a:p>
            <a:r>
              <a:t>  Queries never touch the write model's tables.</a:t>
            </a:r>
          </a:p>
          <a:p>
            <a:endParaRPr/>
          </a:p>
          <a:p>
            <a:r>
              <a:t>- WHEN CQRS HELPS</a:t>
            </a:r>
          </a:p>
          <a:p>
            <a:endParaRPr/>
          </a:p>
          <a:p>
            <a:r>
              <a:t>  Database per service forbids SQL joins across account_db and transaction_db.</a:t>
            </a:r>
          </a:p>
          <a:p>
            <a:endParaRPr/>
          </a:p>
          <a:p>
            <a:r>
              <a:t>  So a report combining both needs somewhere else to live, and a read model is that place.</a:t>
            </a:r>
          </a:p>
          <a:p>
            <a:endParaRPr/>
          </a:p>
          <a:p>
            <a:r>
              <a:t>  CQRS, which splits writes from reads, also helps when reads vastly outnumber writes.</a:t>
            </a:r>
          </a:p>
          <a:p>
            <a:endParaRPr/>
          </a:p>
          <a:p>
            <a:r>
              <a:t>  It helps when reads need different indexes or storage, too, so each side scales on its own.</a:t>
            </a:r>
          </a:p>
          <a:p>
            <a:endParaRPr/>
          </a:p>
          <a:p>
            <a:r>
              <a:t>  It is overkill for simple CRUD, meaning basic create, read, update, and delete.</a:t>
            </a:r>
          </a:p>
          <a:p>
            <a:endParaRPr/>
          </a:p>
          <a:p>
            <a:r>
              <a:t>  It adds a second model, event handling, lag, and rebuild procedures.</a:t>
            </a:r>
          </a:p>
          <a:p>
            <a:endParaRPr/>
          </a:p>
          <a:p>
            <a:r>
              <a:t>  So reserve it for real reporting or scale problems.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Online banking transaction search often runs against a search index or reporting store.</a:t>
            </a:r>
          </a:p>
          <a:p>
            <a:endParaRPr/>
          </a:p>
          <a:p>
            <a:r>
              <a:t>  That store is filled from posted transactions, not read from the core ledger.</a:t>
            </a:r>
          </a:p>
          <a:p>
            <a:endParaRPr/>
          </a:p>
          <a:p>
            <a:r>
              <a:t>  The ledger stays optimised for correct writes.</a:t>
            </a:r>
          </a:p>
          <a:p>
            <a:endParaRPr/>
          </a:p>
          <a:p>
            <a:r>
              <a:t>  Customers searching statements do not load the system that posts payments.</a:t>
            </a:r>
          </a:p>
          <a:p>
            <a:endParaRPr/>
          </a:p>
          <a:p>
            <a:r>
              <a:t>- A branch operations dashboard showing account openings and transaction volumes per region is a classic read model.</a:t>
            </a:r>
          </a:p>
          <a:p>
            <a:endParaRPr/>
          </a:p>
          <a:p>
            <a:r>
              <a:t>  It is fed by events from several services and refreshed within seconds or minutes.</a:t>
            </a:r>
          </a:p>
          <a:p>
            <a:endParaRPr/>
          </a:p>
          <a:p>
            <a:r>
              <a:t>  It is never allowed to write back to the owning systems.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Operations asks for a dashboard showing transactions per account status per hour.</a:t>
            </a:r>
          </a:p>
          <a:p>
            <a:endParaRPr/>
          </a:p>
          <a:p>
            <a:r>
              <a:t>Account status lives in account_db, and transactions live in transaction_db.</a:t>
            </a:r>
          </a:p>
          <a:p>
            <a:endParaRPr/>
          </a:p>
          <a:p>
            <a:r>
              <a:t>Exercise 2.1 is explicit that nobody joins across them.</a:t>
            </a:r>
          </a:p>
          <a:p>
            <a:endParaRPr/>
          </a:p>
          <a:p>
            <a:r>
              <a:t>A reporting service could build a read model.</a:t>
            </a:r>
          </a:p>
          <a:p>
            <a:endParaRPr/>
          </a:p>
          <a:p>
            <a:r>
              <a:t>It would consume TransactionSubmitted for transaction counts, and account status-change events for statuses.</a:t>
            </a:r>
          </a:p>
          <a:p>
            <a:endParaRPr/>
          </a:p>
          <a:p>
            <a:r>
              <a:t>Account Service does not publish events in the labs, so that part would be a future extension.</a:t>
            </a:r>
          </a:p>
          <a:p>
            <a:endParaRPr/>
          </a:p>
          <a:p>
            <a:r>
              <a:t>The dashboard reads one denormalised table that lags reality by seconds.</a:t>
            </a:r>
          </a:p>
          <a:p>
            <a:endParaRPr/>
          </a:p>
          <a:p>
            <a:r>
              <a:t>The business has already classified that as acceptable for reporting.</a:t>
            </a:r>
          </a:p>
          <a:p>
            <a:endParaRPr/>
          </a:p>
          <a:p>
            <a:r>
              <a:t>Neither owning service changes how it writes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Consistency Models</a:t>
            </a:r>
          </a:p>
          <a:p>
            <a:endParaRPr/>
          </a:p>
          <a:p>
            <a:r>
              <a:t>  The table is written about replicas of one data store, but the ideas carry over to services.</a:t>
            </a:r>
          </a:p>
          <a:p>
            <a:endParaRPr/>
          </a:p>
          <a:p>
            <a:r>
              <a:t>  Strong consistency means every read sees the latest write.</a:t>
            </a:r>
          </a:p>
          <a:p>
            <a:endParaRPr/>
          </a:p>
          <a:p>
            <a:r>
              <a:t>  Linearizability is the formal definition of that guarantee, not a separate practical option.</a:t>
            </a:r>
          </a:p>
          <a:p>
            <a:endParaRPr/>
          </a:p>
          <a:p>
            <a:r>
              <a:t>  Eventual consistency means copies converge if updates stop.</a:t>
            </a:r>
          </a:p>
          <a:p>
            <a:endParaRPr/>
          </a:p>
          <a:p>
            <a:r>
              <a:t>  Causal consistency keeps cause-and-effect order.</a:t>
            </a:r>
          </a:p>
          <a:p>
            <a:endParaRPr/>
          </a:p>
          <a:p>
            <a:r>
              <a:t>  Session consistency guarantees a user sees their own writes.</a:t>
            </a:r>
          </a:p>
          <a:p>
            <a:endParaRPr/>
          </a:p>
          <a:p>
            <a:r>
              <a:t>  Read-your-own-writes matters in banking.</a:t>
            </a:r>
          </a:p>
          <a:p>
            <a:endParaRPr/>
          </a:p>
          <a:p>
            <a:r>
              <a:t>  A customer who just submitted a transaction must see it.</a:t>
            </a:r>
          </a:p>
          <a:p>
            <a:endParaRPr/>
          </a:p>
          <a:p>
            <a:r>
              <a:t>- Strong vs Eventual Consistency</a:t>
            </a:r>
          </a:p>
          <a:p>
            <a:endParaRPr/>
          </a:p>
          <a:p>
            <a:r>
              <a:t>  The left panel shows a write reaching all three nodes before any read.</a:t>
            </a:r>
          </a:p>
          <a:p>
            <a:endParaRPr/>
          </a:p>
          <a:p>
            <a:r>
              <a:t>  So every node returns X = 1.</a:t>
            </a:r>
          </a:p>
          <a:p>
            <a:endParaRPr/>
          </a:p>
          <a:p>
            <a:r>
              <a:t>  The right panel shows the write landing on Node A first.</a:t>
            </a:r>
          </a:p>
          <a:p>
            <a:endParaRPr/>
          </a:p>
          <a:p>
            <a:r>
              <a:t>  Nodes B and C briefly return the old value 0, then converge.</a:t>
            </a:r>
          </a:p>
          <a:p>
            <a:endParaRPr/>
          </a:p>
          <a:p>
            <a:r>
              <a:t>  Strong consistency buys correctness, at the cost of waiting for coordination.</a:t>
            </a:r>
          </a:p>
          <a:p>
            <a:endParaRPr/>
          </a:p>
          <a:p>
            <a:r>
              <a:t>  Eventual consistency buys availability and independence, at the cost of a short window of stale reads.</a:t>
            </a:r>
          </a:p>
          <a:p>
            <a:endParaRPr/>
          </a:p>
          <a:p>
            <a:r>
              <a:t>- When to Use Which?</a:t>
            </a:r>
          </a:p>
          <a:p>
            <a:endParaRPr/>
          </a:p>
          <a:p>
            <a:r>
              <a:t>  The diagram lists financial transactions under strong consistency, which needs nuance.</a:t>
            </a:r>
          </a:p>
          <a:p>
            <a:endParaRPr/>
          </a:p>
          <a:p>
            <a:r>
              <a:t>  Inside one service's database, a ledger write is strongly consistent through a local ACID transaction, which commits all or nothing.</a:t>
            </a:r>
          </a:p>
          <a:p>
            <a:endParaRPr/>
          </a:p>
          <a:p>
            <a:r>
              <a:t>  Across services, microservices usually accept eventual consistency.</a:t>
            </a:r>
          </a:p>
          <a:p>
            <a:endParaRPr/>
          </a:p>
          <a:p>
            <a:r>
              <a:t>  Lab 2 does exactly that.</a:t>
            </a:r>
          </a:p>
          <a:p>
            <a:endParaRPr/>
          </a:p>
          <a:p>
            <a:r>
              <a:t>  Social feeds and product catalogs on the eventual side are generic web examples.</a:t>
            </a:r>
          </a:p>
          <a:p>
            <a:endParaRPr/>
          </a:p>
          <a:p>
            <a:r>
              <a:t>  The banking equivalents are notifications, reporting dashboards, and analytics.</a:t>
            </a:r>
          </a:p>
          <a:p>
            <a:endParaRPr/>
          </a:p>
          <a:p>
            <a:r>
              <a:t>- Eventual Consistency in Action</a:t>
            </a:r>
          </a:p>
          <a:p>
            <a:endParaRPr/>
          </a:p>
          <a:p>
            <a:r>
              <a:t>  The bottom timeline runs left to right.</a:t>
            </a:r>
          </a:p>
          <a:p>
            <a:endParaRPr/>
          </a:p>
          <a:p>
            <a:r>
              <a:t>  A client writes to Node A, and a read on Node B returns stale data.</a:t>
            </a:r>
          </a:p>
          <a:p>
            <a:endParaRPr/>
          </a:p>
          <a:p>
            <a:r>
              <a:t>  Propagation starts, and some nodes converge.</a:t>
            </a:r>
          </a:p>
          <a:p>
            <a:endParaRPr/>
          </a:p>
          <a:p>
            <a:r>
              <a:t>  Propagation continues, and finally all nodes agree.</a:t>
            </a:r>
          </a:p>
          <a:p>
            <a:endParaRPr/>
          </a:p>
          <a:p>
            <a:r>
              <a:t>  The practical lesson is that stale reads are a normal, temporary state.</a:t>
            </a:r>
          </a:p>
          <a:p>
            <a:endParaRPr/>
          </a:p>
          <a:p>
            <a:r>
              <a:t>  The design must plan for them, with a known window.</a:t>
            </a:r>
          </a:p>
          <a:p>
            <a:endParaRPr/>
          </a:p>
          <a:p>
            <a:r>
              <a:t>  It also needs a way to detect when convergence did not happen.</a:t>
            </a:r>
          </a:p>
          <a:p>
            <a:endParaRPr/>
          </a:p>
          <a:p>
            <a:r>
              <a:t>- Key Characteristics of Eventual Consistency</a:t>
            </a:r>
          </a:p>
          <a:p>
            <a:endParaRPr/>
          </a:p>
          <a:p>
            <a:r>
              <a:t>  The right panel lists these traits: not immediate, converges over time, partition tolerant, high availability, and use with idempotency.</a:t>
            </a:r>
          </a:p>
          <a:p>
            <a:endParaRPr/>
          </a:p>
          <a:p>
            <a:r>
              <a:t>  One wording needs correcting.</a:t>
            </a:r>
          </a:p>
          <a:p>
            <a:endParaRPr/>
          </a:p>
          <a:p>
            <a:r>
              <a:t>  Partition tolerance means the system keeps working during network partitions.</a:t>
            </a:r>
          </a:p>
          <a:p>
            <a:endParaRPr/>
          </a:p>
          <a:p>
            <a:r>
              <a:t>  What trades away immediate consistency is choosing to stay available, rather than refuse requests, during that partition.</a:t>
            </a:r>
          </a:p>
          <a:p>
            <a:endParaRPr/>
          </a:p>
          <a:p>
            <a:r>
              <a:t>  The idempotency point is the bridge to Module 5.</a:t>
            </a:r>
          </a:p>
          <a:p>
            <a:endParaRPr/>
          </a:p>
          <a:p>
            <a:r>
              <a:t>  Duplicates and reordering are expected, so consumers must handle them.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When a card purchase is authorised, the account's available balance updates immediately inside the core system.</a:t>
            </a:r>
          </a:p>
          <a:p>
            <a:endParaRPr/>
          </a:p>
          <a:p>
            <a:r>
              <a:t>  The transaction may appear in the mobile app list and in spending insights a little later.</a:t>
            </a:r>
          </a:p>
          <a:p>
            <a:endParaRPr/>
          </a:p>
          <a:p>
            <a:r>
              <a:t>  Both behaviours are deliberate choices.</a:t>
            </a:r>
          </a:p>
          <a:p>
            <a:endParaRPr/>
          </a:p>
          <a:p>
            <a:r>
              <a:t>- A bank's reporting dashboard of daily account openings is rebuilt from events.</a:t>
            </a:r>
          </a:p>
          <a:p>
            <a:endParaRPr/>
          </a:p>
          <a:p>
            <a:r>
              <a:t>  It may lag the account system by seconds or minutes.</a:t>
            </a:r>
          </a:p>
          <a:p>
            <a:endParaRPr/>
          </a:p>
          <a:p>
            <a:r>
              <a:t>  That is acceptable, because no customer decision depends on that number in real time.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Map the diagram onto Lab 2.</a:t>
            </a:r>
          </a:p>
          <a:p>
            <a:endParaRPr/>
          </a:p>
          <a:p>
            <a:r>
              <a:t>A client POSTs a transaction.</a:t>
            </a:r>
          </a:p>
          <a:p>
            <a:endParaRPr/>
          </a:p>
          <a:p>
            <a:r>
              <a:t>Transaction Service writes the RECEIVED row in a local transaction, so that row is strongly consistent within transaction_db.</a:t>
            </a:r>
          </a:p>
          <a:p>
            <a:endParaRPr/>
          </a:p>
          <a:p>
            <a:r>
              <a:t>It publishes TransactionSubmitted, and the consumer marks the row SUBMITTED shortly after.</a:t>
            </a:r>
          </a:p>
          <a:p>
            <a:endParaRPr/>
          </a:p>
          <a:p>
            <a:r>
              <a:t>For that brief window, a GET returns RECEIVED.</a:t>
            </a:r>
          </a:p>
          <a:p>
            <a:endParaRPr/>
          </a:p>
          <a:p>
            <a:r>
              <a:t>That is eventual consistency in action, like the stale Node B read in box 2.</a:t>
            </a:r>
          </a:p>
          <a:p>
            <a:endParaRPr/>
          </a:p>
          <a:p>
            <a:r>
              <a:t>The lab guide says eventual consistency is enough for this step.</a:t>
            </a:r>
          </a:p>
          <a:p>
            <a:endParaRPr/>
          </a:p>
          <a:p>
            <a:r>
              <a:t>It deliberately avoids updating Account Service's database.</a:t>
            </a:r>
          </a:p>
          <a:p>
            <a:endParaRPr/>
          </a:p>
          <a:p>
            <a:r>
              <a:t>In Lab 5, Risk Assessment will consume the same event, and its decision will follow later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3: API Composition for Distributed Data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IT WORKS</a:t>
            </a:r>
          </a:p>
          <a:p>
            <a:endParaRPr/>
          </a:p>
          <a:p>
            <a:r>
              <a:t>  The composer can be an API gateway, a backend-for-frontend built for one client app, or a small dedicated service.</a:t>
            </a:r>
          </a:p>
          <a:p>
            <a:endParaRPr/>
          </a:p>
          <a:p>
            <a:r>
              <a:t>  It calls each owner through its public API, ideally in parallel.</a:t>
            </a:r>
          </a:p>
          <a:p>
            <a:endParaRPr/>
          </a:p>
          <a:p>
            <a:r>
              <a:t>  Then it joins the responses in memory.</a:t>
            </a:r>
          </a:p>
          <a:p>
            <a:endParaRPr/>
          </a:p>
          <a:p>
            <a:r>
              <a:t>  The join happens in Java, not SQL.</a:t>
            </a:r>
          </a:p>
          <a:p>
            <a:endParaRPr/>
          </a:p>
          <a:p>
            <a:r>
              <a:t>  Its trade-offs are real.</a:t>
            </a:r>
          </a:p>
          <a:p>
            <a:endParaRPr/>
          </a:p>
          <a:p>
            <a:r>
              <a:t>  Total latency is roughly the slowest call.</a:t>
            </a:r>
          </a:p>
          <a:p>
            <a:endParaRPr/>
          </a:p>
          <a:p>
            <a:r>
              <a:t>  One unavailable service forces a choice between failing and returning a partial response.</a:t>
            </a:r>
          </a:p>
          <a:p>
            <a:endParaRPr/>
          </a:p>
          <a:p>
            <a:r>
              <a:t>  And the pieces are not read at the same instant.</a:t>
            </a:r>
          </a:p>
          <a:p>
            <a:endParaRPr/>
          </a:p>
          <a:p>
            <a:r>
              <a:t>  Filtering or paginating across services is hard.</a:t>
            </a:r>
          </a:p>
          <a:p>
            <a:endParaRPr/>
          </a:p>
          <a:p>
            <a:r>
              <a:t>  So large cross-service lists usually belong in a CQRS read model instead.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mobile banking home screen typically needs profile details, account summaries, and recent activity.</a:t>
            </a:r>
          </a:p>
          <a:p>
            <a:endParaRPr/>
          </a:p>
          <a:p>
            <a:r>
              <a:t>  Different systems own each of these.</a:t>
            </a:r>
          </a:p>
          <a:p>
            <a:endParaRPr/>
          </a:p>
          <a:p>
            <a:r>
              <a:t>  A backend-for-frontend fetches them in parallel and returns one payload shaped for the phone.</a:t>
            </a:r>
          </a:p>
          <a:p>
            <a:endParaRPr/>
          </a:p>
          <a:p>
            <a:r>
              <a:t>  That saves the app several round trips over a mobile network.</a:t>
            </a:r>
          </a:p>
          <a:p>
            <a:endParaRPr/>
          </a:p>
          <a:p>
            <a:r>
              <a:t>- In commercial banking, a relationship manager's client view combines deposits, loans, and card exposure from separate platforms.</a:t>
            </a:r>
          </a:p>
          <a:p>
            <a:endParaRPr/>
          </a:p>
          <a:p>
            <a:r>
              <a:t>  Composition keeps each platform the owner of its data.</a:t>
            </a:r>
          </a:p>
          <a:p>
            <a:endParaRPr/>
          </a:p>
          <a:p>
            <a:r>
              <a:t>  When one source does not respond, the view shows a clearly labelled unavailable section.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Build an account detail view for the capstone.</a:t>
            </a:r>
          </a:p>
          <a:p>
            <a:endParaRPr/>
          </a:p>
          <a:p>
            <a:r>
              <a:t>A composer calls Account Service on port 8081 at GET /api/v1/accounts/{accountId}.</a:t>
            </a:r>
          </a:p>
          <a:p>
            <a:endParaRPr/>
          </a:p>
          <a:p>
            <a:r>
              <a:t>In parallel, it calls a transaction listing on Transaction Service at port 8082.</a:t>
            </a:r>
          </a:p>
          <a:p>
            <a:endParaRPr/>
          </a:p>
          <a:p>
            <a:r>
              <a:t>Lab 2 only provides GET by transactionId, so that listing would be an extension.</a:t>
            </a:r>
          </a:p>
          <a:p>
            <a:endParaRPr/>
          </a:p>
          <a:p>
            <a:r>
              <a:t>The composer forwards the incoming X-Correlation-Id to both calls, so the logs line up.</a:t>
            </a:r>
          </a:p>
          <a:p>
            <a:endParaRPr/>
          </a:p>
          <a:p>
            <a:r>
              <a:t>Suppose Transaction Service times out.</a:t>
            </a:r>
          </a:p>
          <a:p>
            <a:endParaRPr/>
          </a:p>
          <a:p>
            <a:r>
              <a:t>The composer returns the account with a transactions-unavailable indicator instead of a 500 error.</a:t>
            </a:r>
          </a:p>
          <a:p>
            <a:endParaRPr/>
          </a:p>
          <a:p>
            <a:r>
              <a:t>The product owner makes that decision in advance.</a:t>
            </a:r>
          </a:p>
          <a:p>
            <a:endParaRPr/>
          </a:p>
          <a:p>
            <a:r>
              <a:t>The composer never opens a connection to either database, because both services keep sole ownership of their data.</a:t>
            </a:r>
          </a:p>
          <a:p>
            <a:endParaRPr/>
          </a:p>
          <a:p>
            <a:endParaRPr/>
          </a:p>
          <a:p>
            <a:r>
              <a:t>TOPIC 2 OF 3: Data Privacy and Service Boundaries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PRIVACY-AWARE DATA DESIGN</a:t>
            </a:r>
          </a:p>
          <a:p>
            <a:endParaRPr/>
          </a:p>
          <a:p>
            <a:r>
              <a:t>  Response DTOs, not entities, define the exposed fields.</a:t>
            </a:r>
          </a:p>
          <a:p>
            <a:endParaRPr/>
          </a:p>
          <a:p>
            <a:r>
              <a:t>  So a new database column never leaks by accident.</a:t>
            </a:r>
          </a:p>
          <a:p>
            <a:endParaRPr/>
          </a:p>
          <a:p>
            <a:r>
              <a:t>  Downstream data is kept to a minimum.</a:t>
            </a:r>
          </a:p>
          <a:p>
            <a:endParaRPr/>
          </a:p>
          <a:p>
            <a:r>
              <a:t>  Account Service stores a synthetic customerId such as CUST-0001, not a name or email.</a:t>
            </a:r>
          </a:p>
          <a:p>
            <a:endParaRPr/>
          </a:p>
          <a:p>
            <a:r>
              <a:t>  Transaction Service stores only account_id.</a:t>
            </a:r>
          </a:p>
          <a:p>
            <a:endParaRPr/>
          </a:p>
          <a:p>
            <a:r>
              <a:t>  Lab 2's TransactionSubmitted payload carries transactionId, accountId, amount, currency, and type, with no personal data.</a:t>
            </a:r>
          </a:p>
          <a:p>
            <a:endParaRPr/>
          </a:p>
          <a:p>
            <a:r>
              <a:t>  Events need extra care.</a:t>
            </a:r>
          </a:p>
          <a:p>
            <a:endParaRPr/>
          </a:p>
          <a:p>
            <a:r>
              <a:t>  A topic keeps and replicates every message for its retention period, which makes erasure hard.</a:t>
            </a:r>
          </a:p>
          <a:p>
            <a:endParaRPr/>
          </a:p>
          <a:p>
            <a:r>
              <a:t>  Logs follow the same rule.</a:t>
            </a:r>
          </a:p>
          <a:p>
            <a:endParaRPr/>
          </a:p>
          <a:p>
            <a:r>
              <a:t>  Lab 2's checklist forbids card numbers, emails, and full request bodies.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Payment systems commonly replace card numbers with tokens.</a:t>
            </a:r>
          </a:p>
          <a:p>
            <a:endParaRPr/>
          </a:p>
          <a:p>
            <a:r>
              <a:t>  That way most internal services never see the real number.</a:t>
            </a:r>
          </a:p>
          <a:p>
            <a:endParaRPr/>
          </a:p>
          <a:p>
            <a:r>
              <a:t>  Under PCI DSS, this shrinks the set of systems in scope for cardholder-data controls.</a:t>
            </a:r>
          </a:p>
          <a:p>
            <a:endParaRPr/>
          </a:p>
          <a:p>
            <a:r>
              <a:t>  It is a privacy benefit and a cost benefit at once.</a:t>
            </a:r>
          </a:p>
          <a:p>
            <a:endParaRPr/>
          </a:p>
          <a:p>
            <a:r>
              <a:t>- Privacy regulations such as the GDPR write data minimisation into law.</a:t>
            </a:r>
          </a:p>
          <a:p>
            <a:endParaRPr/>
          </a:p>
          <a:p>
            <a:r>
              <a:t>  That means collecting and keeping only the personal data needed for a purpose.</a:t>
            </a:r>
          </a:p>
          <a:p>
            <a:endParaRPr/>
          </a:p>
          <a:p>
            <a:r>
              <a:t>  In microservices, the principle becomes storing identifiers downstream.</a:t>
            </a:r>
          </a:p>
          <a:p>
            <a:endParaRPr/>
          </a:p>
          <a:p>
            <a:r>
              <a:t>  Services ask the owning service when more detail is genuinely needed.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During a Lab 2 code review, a learner proposes adding the customer's name and email to TransactionSubmitted.</a:t>
            </a:r>
          </a:p>
          <a:p>
            <a:endParaRPr/>
          </a:p>
          <a:p>
            <a:r>
              <a:t>The goal is to give a future risk model more context.</a:t>
            </a:r>
          </a:p>
          <a:p>
            <a:endParaRPr/>
          </a:p>
          <a:p>
            <a:r>
              <a:t>Walk through the consequences.</a:t>
            </a:r>
          </a:p>
          <a:p>
            <a:endParaRPr/>
          </a:p>
          <a:p>
            <a:r>
              <a:t>That personal data would now be copied into every consumer.</a:t>
            </a:r>
          </a:p>
          <a:p>
            <a:endParaRPr/>
          </a:p>
          <a:p>
            <a:r>
              <a:t>It would be retained on the Kafka topic, and very likely printed in consumer logs.</a:t>
            </a:r>
          </a:p>
          <a:p>
            <a:endParaRPr/>
          </a:p>
          <a:p>
            <a:r>
              <a:t>Then ask what Risk Assessment actually needs to score a transaction.</a:t>
            </a:r>
          </a:p>
          <a:p>
            <a:endParaRPr/>
          </a:p>
          <a:p>
            <a:r>
              <a:t>It needs the accountId, amount, currency, type, and perhaps the account's status or history.</a:t>
            </a:r>
          </a:p>
          <a:p>
            <a:endParaRPr/>
          </a:p>
          <a:p>
            <a:r>
              <a:t>Anything more should come from the owning service through a controlled API call.</a:t>
            </a:r>
          </a:p>
          <a:p>
            <a:endParaRPr/>
          </a:p>
          <a:p>
            <a:r>
              <a:t>There, access can be authorised and audited.</a:t>
            </a:r>
          </a:p>
          <a:p>
            <a:endParaRPr/>
          </a:p>
          <a:p>
            <a:r>
              <a:t>The event stays small, synthetic, and safe to replay.</a:t>
            </a:r>
          </a:p>
          <a:p>
            <a:endParaRPr/>
          </a:p>
          <a:p>
            <a:endParaRPr/>
          </a:p>
          <a:p>
            <a:r>
              <a:t>TOPIC 3 OF 3: Database Performance Considerations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COMMON PERFORMANCE ISSUES</a:t>
            </a:r>
          </a:p>
          <a:p>
            <a:endParaRPr/>
          </a:p>
          <a:p>
            <a:r>
              <a:t>  Missing indexes force PostgreSQL to scan whole tables.</a:t>
            </a:r>
          </a:p>
          <a:p>
            <a:endParaRPr/>
          </a:p>
          <a:p>
            <a:r>
              <a:t>  That is invisible with test data and painful with production volumes.</a:t>
            </a:r>
          </a:p>
          <a:p>
            <a:endParaRPr/>
          </a:p>
          <a:p>
            <a:r>
              <a:t>  EXPLAIN ANALYZE shows it immediately.</a:t>
            </a:r>
          </a:p>
          <a:p>
            <a:endParaRPr/>
          </a:p>
          <a:p>
            <a:r>
              <a:t>  N+1 queries multiply round trips, as the lazy-loading topic showed.</a:t>
            </a:r>
          </a:p>
          <a:p>
            <a:endParaRPr/>
          </a:p>
          <a:p>
            <a:r>
              <a:t>  Loading full entities for a summary screen wastes memory and time.</a:t>
            </a:r>
          </a:p>
          <a:p>
            <a:endParaRPr/>
          </a:p>
          <a:p>
            <a:r>
              <a:t>  Returning thousands of rows in one response hurts everything at once: the database, the service, the network, and the client.</a:t>
            </a:r>
          </a:p>
          <a:p>
            <a:endParaRPr/>
          </a:p>
          <a:p>
            <a:r>
              <a:t>  Pool settings matter too.</a:t>
            </a:r>
          </a:p>
          <a:p>
            <a:endParaRPr/>
          </a:p>
          <a:p>
            <a:r>
              <a:t>  Long transactions or an undersized pool make requests queue for connections, even when the database itself is idle.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Index the columns that queries actually filter and sort on.</a:t>
            </a:r>
          </a:p>
          <a:p>
            <a:endParaRPr/>
          </a:p>
          <a:p>
            <a:r>
              <a:t>  The labs already do this.</a:t>
            </a:r>
          </a:p>
          <a:p>
            <a:endParaRPr/>
          </a:p>
          <a:p>
            <a:r>
              <a:t>  Lab 1 indexes customer_id and status on accounts, and Lab 2 indexes account_id and status on transactions.</a:t>
            </a:r>
          </a:p>
          <a:p>
            <a:endParaRPr/>
          </a:p>
          <a:p>
            <a:r>
              <a:t>  The slide's customer email and account number are generic examples.</a:t>
            </a:r>
          </a:p>
          <a:p>
            <a:endParaRPr/>
          </a:p>
          <a:p>
            <a:r>
              <a:t>  The capstone uses synthetic customerId and accountId values.</a:t>
            </a:r>
          </a:p>
          <a:p>
            <a:endParaRPr/>
          </a:p>
          <a:p>
            <a:r>
              <a:t>  Indexes speed up reads but slow down writes.</a:t>
            </a:r>
          </a:p>
          <a:p>
            <a:endParaRPr/>
          </a:p>
          <a:p>
            <a:r>
              <a:t>  So add them for real query patterns, through a Flyway migration.</a:t>
            </a:r>
          </a:p>
          <a:p>
            <a:endParaRPr/>
          </a:p>
          <a:p>
            <a:r>
              <a:t>  Measure first, with slow-query logs, pg_stat_statements, or Actuator timings.</a:t>
            </a:r>
          </a:p>
          <a:p>
            <a:endParaRPr/>
          </a:p>
          <a:p>
            <a:r>
              <a:t>  Then paginate list endpoints with Spring Data's Pageable, and return DTO projections rather than whole entities.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Transaction history is a classic hot endpoint in online banking.</a:t>
            </a:r>
          </a:p>
          <a:p>
            <a:endParaRPr/>
          </a:p>
          <a:p>
            <a:r>
              <a:t>  Paginate it, for example with page and size parameters.</a:t>
            </a:r>
          </a:p>
          <a:p>
            <a:endParaRPr/>
          </a:p>
          <a:p>
            <a:r>
              <a:t>  Index account and date together, and return a compact summary DTO.</a:t>
            </a:r>
          </a:p>
          <a:p>
            <a:endParaRPr/>
          </a:p>
          <a:p>
            <a:r>
              <a:t>  These steps usually matter more than any cache, because customers mostly look at the most recent page.</a:t>
            </a:r>
          </a:p>
          <a:p>
            <a:endParaRPr/>
          </a:p>
          <a:p>
            <a:r>
              <a:t>- PostgreSQL's pg_stat_statements extension collects execution statistics for each normalised query.</a:t>
            </a:r>
          </a:p>
          <a:p>
            <a:endParaRPr/>
          </a:p>
          <a:p>
            <a:r>
              <a:t>  So teams can rank queries by the total time they consume.</a:t>
            </a:r>
          </a:p>
          <a:p>
            <a:endParaRPr/>
          </a:p>
          <a:p>
            <a:r>
              <a:t>  Working through that list is a measurement-driven way to decide which index or rewrite to do first.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 teammate extends Transaction Service with a list endpoint: all transactions for an account, newest first.</a:t>
            </a:r>
          </a:p>
          <a:p>
            <a:endParaRPr/>
          </a:p>
          <a:p>
            <a:r>
              <a:t>In testing, it is instant.</a:t>
            </a:r>
          </a:p>
          <a:p>
            <a:endParaRPr/>
          </a:p>
          <a:p>
            <a:r>
              <a:t>With realistic volume, it slows down.</a:t>
            </a:r>
          </a:p>
          <a:p>
            <a:endParaRPr/>
          </a:p>
          <a:p>
            <a:r>
              <a:t>The query filters by account_id but sorts by created_at, and the existing single-column index does not cover the sort.</a:t>
            </a:r>
          </a:p>
          <a:p>
            <a:endParaRPr/>
          </a:p>
          <a:p>
            <a:r>
              <a:t>EXPLAIN ANALYZE shows the sort step.</a:t>
            </a:r>
          </a:p>
          <a:p>
            <a:endParaRPr/>
          </a:p>
          <a:p>
            <a:r>
              <a:t>The team adds V2__idx_transactions_account_created.sql with a composite index on account_id and created_at.</a:t>
            </a:r>
          </a:p>
          <a:p>
            <a:endParaRPr/>
          </a:p>
          <a:p>
            <a:r>
              <a:t>They switch the method to take a Pageable and return a slim DTO.</a:t>
            </a:r>
          </a:p>
          <a:p>
            <a:endParaRPr/>
          </a:p>
          <a:p>
            <a:r>
              <a:t>Only after measuring again do they discuss caching.</a:t>
            </a:r>
          </a:p>
          <a:p>
            <a:endParaRPr/>
          </a:p>
          <a:p>
            <a:r>
              <a:t>Redis stays lecture-only for this course.</a:t>
            </a:r>
          </a:p>
          <a:p>
            <a:endParaRPr/>
          </a:p>
          <a:p>
            <a:r>
              <a:t>The fix came from query design, not from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3: Data Persistence Anti-Patterns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ANTI-PATTERNS TO AVOID</a:t>
            </a:r>
          </a:p>
          <a:p>
            <a:endParaRPr/>
          </a:p>
          <a:p>
            <a:r>
              <a:t>  Returning entities ties your public JSON contract to your table layout.</a:t>
            </a:r>
          </a:p>
          <a:p>
            <a:endParaRPr/>
          </a:p>
          <a:p>
            <a:r>
              <a:t>  It can leak internal columns.</a:t>
            </a:r>
          </a:p>
          <a:p>
            <a:endParaRPr/>
          </a:p>
          <a:p>
            <a:r>
              <a:t>  It can also cause lazy-loading exceptions during serialization, when the object is turned into JSON.</a:t>
            </a:r>
          </a:p>
          <a:p>
            <a:endParaRPr/>
          </a:p>
          <a:p>
            <a:r>
              <a:t>  That is why the labs return response DTOs, which are simple objects built for the API.</a:t>
            </a:r>
          </a:p>
          <a:p>
            <a:endParaRPr/>
          </a:p>
          <a:p>
            <a:r>
              <a:t>  Sharing a database brings the monolith back through the back door.</a:t>
            </a:r>
          </a:p>
          <a:p>
            <a:endParaRPr/>
          </a:p>
          <a:p>
            <a:r>
              <a:t>  And ddl-auto: update lets Hibernate change the production schema with no review.</a:t>
            </a:r>
          </a:p>
          <a:p>
            <a:endParaRPr/>
          </a:p>
          <a:p>
            <a:r>
              <a:t>  Lab 2 uses Flyway plus ddl-auto: validate instead.</a:t>
            </a:r>
          </a:p>
          <a:p>
            <a:endParaRPr/>
          </a:p>
          <a:p>
            <a:r>
              <a:t>  Eager loading everywhere pulls whole object graphs for a simple lookup.</a:t>
            </a:r>
          </a:p>
          <a:p>
            <a:endParaRPr/>
          </a:p>
          <a:p>
            <a:r>
              <a:t>  Deep graphs cause N+1 queries and recursive JSON.</a:t>
            </a:r>
          </a:p>
          <a:p>
            <a:endParaRPr/>
          </a:p>
          <a:p>
            <a:r>
              <a:t>  Keep entities flat, and refer to other services by ID.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Picture a card-servicing API that returns its Card entity directly.</a:t>
            </a:r>
          </a:p>
          <a:p>
            <a:endParaRPr/>
          </a:p>
          <a:p>
            <a:r>
              <a:t>  Someone adds internal columns, such as risk flags or audit fields, to the table.</a:t>
            </a:r>
          </a:p>
          <a:p>
            <a:endParaRPr/>
          </a:p>
          <a:p>
            <a:r>
              <a:t>  Those columns show up in the API at once, because the JSON contract silently follows the schema.</a:t>
            </a:r>
          </a:p>
          <a:p>
            <a:endParaRPr/>
          </a:p>
          <a:p>
            <a:r>
              <a:t>- Some teams let Hibernate auto-update production schemas.</a:t>
            </a:r>
          </a:p>
          <a:p>
            <a:endParaRPr/>
          </a:p>
          <a:p>
            <a:r>
              <a:t>  They often find a renamed field became a new empty column, while the old data stayed behind.</a:t>
            </a:r>
          </a:p>
          <a:p>
            <a:endParaRPr/>
          </a:p>
          <a:p>
            <a:r>
              <a:t>  That is exactly the drift that versioned Flyway migrations and schema validation prevent.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the capstone, imagine Transaction Service had a JPA @ManyToOne link from Transaction to the Account entity, pointing at account_db.</a:t>
            </a:r>
          </a:p>
          <a:p>
            <a:endParaRPr/>
          </a:p>
          <a:p>
            <a:r>
              <a:t>Every GET of a transaction would reach into another team's database.</a:t>
            </a:r>
          </a:p>
          <a:p>
            <a:endParaRPr/>
          </a:p>
          <a:p>
            <a:r>
              <a:t>The Account team could not rename a column without breaking Transaction Service.</a:t>
            </a:r>
          </a:p>
          <a:p>
            <a:endParaRPr/>
          </a:p>
          <a:p>
            <a:r>
              <a:t>Returning that entity as JSON would dump account internals into a transaction response.</a:t>
            </a:r>
          </a:p>
          <a:p>
            <a:endParaRPr/>
          </a:p>
          <a:p>
            <a:r>
              <a:t>Lab 2 avoids all of it.</a:t>
            </a:r>
          </a:p>
          <a:p>
            <a:endParaRPr/>
          </a:p>
          <a:p>
            <a:r>
              <a:t>The transactions table stores account_id as a plain string.</a:t>
            </a:r>
          </a:p>
          <a:p>
            <a:endParaRPr/>
          </a:p>
          <a:p>
            <a:r>
              <a:t>The API returns a TransactionResponse DTO.</a:t>
            </a:r>
          </a:p>
          <a:p>
            <a:endParaRPr/>
          </a:p>
          <a:p>
            <a:r>
              <a:t>Flyway V1 creates the schema.</a:t>
            </a:r>
          </a:p>
          <a:p>
            <a:endParaRPr/>
          </a:p>
          <a:p>
            <a:r>
              <a:t>And ddl-auto: validate fails startup if the entity and the table disagree.</a:t>
            </a:r>
          </a:p>
          <a:p>
            <a:endParaRPr/>
          </a:p>
          <a:p>
            <a:endParaRPr/>
          </a:p>
          <a:p>
            <a:r>
              <a:t>TOPIC 2 OF 3: Caching Fundamentals</a:t>
            </a:r>
          </a:p>
          <a:p>
            <a:r>
              <a:t>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WHAT A CACHE STRATEGY MUST DEFINE</a:t>
            </a:r>
          </a:p>
          <a:p>
            <a:endParaRPr/>
          </a:p>
          <a:p>
            <a:r>
              <a:t>  Start with what and where.</a:t>
            </a:r>
          </a:p>
          <a:p>
            <a:endParaRPr/>
          </a:p>
          <a:p>
            <a:r>
              <a:t>  A local in-memory cache is fastest, but each pod holds its own copy.</a:t>
            </a:r>
          </a:p>
          <a:p>
            <a:endParaRPr/>
          </a:p>
          <a:p>
            <a:r>
              <a:t>  A distributed cache such as Redis is shared across pods, but it adds a network hop.</a:t>
            </a:r>
          </a:p>
          <a:p>
            <a:endParaRPr/>
          </a:p>
          <a:p>
            <a:r>
              <a:t>  Next comes how long and when invalidated.</a:t>
            </a:r>
          </a:p>
          <a:p>
            <a:endParaRPr/>
          </a:p>
          <a:p>
            <a:r>
              <a:t>  TTL, or time to live, limits how stale data can get.</a:t>
            </a:r>
          </a:p>
          <a:p>
            <a:endParaRPr/>
          </a:p>
          <a:p>
            <a:r>
              <a:t>  Eviction on write removes entries you know are stale.</a:t>
            </a:r>
          </a:p>
          <a:p>
            <a:endParaRPr/>
          </a:p>
          <a:p>
            <a:r>
              <a:t>  Last comes unavailability.</a:t>
            </a:r>
          </a:p>
          <a:p>
            <a:endParaRPr/>
          </a:p>
          <a:p>
            <a:r>
              <a:t>  Decide in advance whether the service falls back to the database, degrades gracefully, or fails.</a:t>
            </a:r>
          </a:p>
          <a:p>
            <a:endParaRPr/>
          </a:p>
          <a:p>
            <a:r>
              <a:t>  A cache outage should slow the service down.</a:t>
            </a:r>
          </a:p>
          <a:p>
            <a:endParaRPr/>
          </a:p>
          <a:p>
            <a:r>
              <a:t>  It should not take it down or return wrong answers.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bank's branch and ATM locator reads the same location list constantly, and the list changes rarely.</a:t>
            </a:r>
          </a:p>
          <a:p>
            <a:endParaRPr/>
          </a:p>
          <a:p>
            <a:r>
              <a:t>  So a distributed cache with a TTL measured in minutes works well.</a:t>
            </a:r>
          </a:p>
          <a:p>
            <a:endParaRPr/>
          </a:p>
          <a:p>
            <a:r>
              <a:t>  If the cache goes down, it simply falls back to the database.</a:t>
            </a:r>
          </a:p>
          <a:p>
            <a:endParaRPr/>
          </a:p>
          <a:p>
            <a:r>
              <a:t>- Exchange-rate lookups for a payments screen are cached briefly, with a short TTL.</a:t>
            </a:r>
          </a:p>
          <a:p>
            <a:endParaRPr/>
          </a:p>
          <a:p>
            <a:r>
              <a:t>  Showing a rate a few minutes old for display is acceptable.</a:t>
            </a:r>
          </a:p>
          <a:p>
            <a:endParaRPr/>
          </a:p>
          <a:p>
            <a:r>
              <a:t>  Using that old rate to settle a payment is not.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Suppose a later team wants to cache account status in front of Account Service, so Transaction Service can validate faster.</a:t>
            </a:r>
          </a:p>
          <a:p>
            <a:endParaRPr/>
          </a:p>
          <a:p>
            <a:r>
              <a:t>Before writing @Cacheable, they must answer the four questions.</a:t>
            </a:r>
          </a:p>
          <a:p>
            <a:endParaRPr/>
          </a:p>
          <a:p>
            <a:r>
              <a:t>Where?</a:t>
            </a:r>
          </a:p>
          <a:p>
            <a:endParaRPr/>
          </a:p>
          <a:p>
            <a:r>
              <a:t>A shared cache, since Transaction Service runs several pods on OpenShift.</a:t>
            </a:r>
          </a:p>
          <a:p>
            <a:endParaRPr/>
          </a:p>
          <a:p>
            <a:r>
              <a:t>How long?</a:t>
            </a:r>
          </a:p>
          <a:p>
            <a:endParaRPr/>
          </a:p>
          <a:p>
            <a:r>
              <a:t>Very short, because a frozen account must stop transacting quickly.</a:t>
            </a:r>
          </a:p>
          <a:p>
            <a:endParaRPr/>
          </a:p>
          <a:p>
            <a:r>
              <a:t>Invalidation?</a:t>
            </a:r>
          </a:p>
          <a:p>
            <a:endParaRPr/>
          </a:p>
          <a:p>
            <a:r>
              <a:t>Account Service must evict the entry when it freezes or closes an account.</a:t>
            </a:r>
          </a:p>
          <a:p>
            <a:endParaRPr/>
          </a:p>
          <a:p>
            <a:r>
              <a:t>Outage?</a:t>
            </a:r>
          </a:p>
          <a:p>
            <a:endParaRPr/>
          </a:p>
          <a:p>
            <a:r>
              <a:t>Fall back to the live REST GET.</a:t>
            </a:r>
          </a:p>
          <a:p>
            <a:endParaRPr/>
          </a:p>
          <a:p>
            <a:r>
              <a:t>Walking through this shows the room why Lab 2 skips the cache entirely.</a:t>
            </a:r>
          </a:p>
          <a:p>
            <a:endParaRPr/>
          </a:p>
          <a:p>
            <a:r>
              <a:t>It always asks Account Service directly.</a:t>
            </a:r>
          </a:p>
          <a:p>
            <a:endParaRPr/>
          </a:p>
          <a:p>
            <a:endParaRPr/>
          </a:p>
          <a:p>
            <a:r>
              <a:t>TOPIC 3 OF 3: When Caching Helps-and When It Does Not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GOOD CANDIDATES</a:t>
            </a:r>
          </a:p>
          <a:p>
            <a:endParaRPr/>
          </a:p>
          <a:p>
            <a:r>
              <a:t>  Caching pays off when many reads hit the same value and a slightly old copy is harmless.</a:t>
            </a:r>
          </a:p>
          <a:p>
            <a:endParaRPr/>
          </a:p>
          <a:p>
            <a:r>
              <a:t>  Reference data changes rarely and is read constantly.</a:t>
            </a:r>
          </a:p>
          <a:p>
            <a:endParaRPr/>
          </a:p>
          <a:p>
            <a:r>
              <a:t>  Examples are currency codes, branch lists, and product definitions.</a:t>
            </a:r>
          </a:p>
          <a:p>
            <a:endParaRPr/>
          </a:p>
          <a:p>
            <a:r>
              <a:t>  Aggregated read models are expensive to compute.</a:t>
            </a:r>
          </a:p>
          <a:p>
            <a:endParaRPr/>
          </a:p>
          <a:p>
            <a:r>
              <a:t>  A monthly spending summary built from many rows is one example.</a:t>
            </a:r>
          </a:p>
          <a:p>
            <a:endParaRPr/>
          </a:p>
          <a:p>
            <a:r>
              <a:t>  Caching the finished result saves real database work.</a:t>
            </a:r>
          </a:p>
          <a:p>
            <a:endParaRPr/>
          </a:p>
          <a:p>
            <a:r>
              <a:t>  The test is simple.</a:t>
            </a:r>
          </a:p>
          <a:p>
            <a:endParaRPr/>
          </a:p>
          <a:p>
            <a:r>
              <a:t>  Multiply read frequency by recompute cost, then weigh that against the business cost of a stale answer.</a:t>
            </a:r>
          </a:p>
          <a:p>
            <a:endParaRPr/>
          </a:p>
          <a:p>
            <a:r>
              <a:t>- POOR CANDIDATES</a:t>
            </a:r>
          </a:p>
          <a:p>
            <a:endParaRPr/>
          </a:p>
          <a:p>
            <a:r>
              <a:t>  Sensitive data in a cache is another copy to secure, encrypt, and audit.</a:t>
            </a:r>
          </a:p>
          <a:p>
            <a:endParaRPr/>
          </a:p>
          <a:p>
            <a:r>
              <a:t>  That copy often has weaker controls than the database.</a:t>
            </a:r>
          </a:p>
          <a:p>
            <a:endParaRPr/>
          </a:p>
          <a:p>
            <a:r>
              <a:t>  Balances change with every posting.</a:t>
            </a:r>
          </a:p>
          <a:p>
            <a:endParaRPr/>
          </a:p>
          <a:p>
            <a:r>
              <a:t>  So a cached balance is wrong exactly when a customer is watching it.</a:t>
            </a:r>
          </a:p>
          <a:p>
            <a:endParaRPr/>
          </a:p>
          <a:p>
            <a:r>
              <a:t>  Anything used for an authorization or risk decision needs the current value.</a:t>
            </a:r>
          </a:p>
          <a:p>
            <a:endParaRPr/>
          </a:p>
          <a:p>
            <a:r>
              <a:t>  Large unbounded result sets, such as full transaction history, waste memory.</a:t>
            </a:r>
          </a:p>
          <a:p>
            <a:endParaRPr/>
          </a:p>
          <a:p>
            <a:r>
              <a:t>  They are also rarely requested twice with the same parameters.</a:t>
            </a:r>
          </a:p>
          <a:p>
            <a:endParaRPr/>
          </a:p>
          <a:p>
            <a:r>
              <a:t>  Paginate and index those instead of caching them.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card product catalog lists rewards tiers and annual fees, and it is ideal for caching.</a:t>
            </a:r>
          </a:p>
          <a:p>
            <a:endParaRPr/>
          </a:p>
          <a:p>
            <a:r>
              <a:t>  It gets thousands of reads per minute.</a:t>
            </a:r>
          </a:p>
          <a:p>
            <a:endParaRPr/>
          </a:p>
          <a:p>
            <a:r>
              <a:t>  It is updated only when marketing publishes a change.</a:t>
            </a:r>
          </a:p>
          <a:p>
            <a:endParaRPr/>
          </a:p>
          <a:p>
            <a:r>
              <a:t>  A brief delay in showing a new tier harms nobody.</a:t>
            </a:r>
          </a:p>
          <a:p>
            <a:endParaRPr/>
          </a:p>
          <a:p>
            <a:r>
              <a:t>- An available-balance check before a debit card authorization must read the authoritative ledger.</a:t>
            </a:r>
          </a:p>
          <a:p>
            <a:endParaRPr/>
          </a:p>
          <a:p>
            <a:r>
              <a:t>  Approving a purchase against a cached balance from a minute ago is how an account ends up overdrawn.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Take the capstone's three services.</a:t>
            </a:r>
          </a:p>
          <a:p>
            <a:endParaRPr/>
          </a:p>
          <a:p>
            <a:r>
              <a:t>Risk Assessment Service, added in Lab 5, might reasonably cache static reference data.</a:t>
            </a:r>
          </a:p>
          <a:p>
            <a:endParaRPr/>
          </a:p>
          <a:p>
            <a:r>
              <a:t>Examples are a list of supported currencies or merchant category descriptions.</a:t>
            </a:r>
          </a:p>
          <a:p>
            <a:endParaRPr/>
          </a:p>
          <a:p>
            <a:r>
              <a:t>It should not cache a risk score for a transaction and reuse it.</a:t>
            </a:r>
          </a:p>
          <a:p>
            <a:endParaRPr/>
          </a:p>
          <a:p>
            <a:r>
              <a:t>Each new transaction changes the picture.</a:t>
            </a:r>
          </a:p>
          <a:p>
            <a:endParaRPr/>
          </a:p>
          <a:p>
            <a:r>
              <a:t>Transaction Service should never cache an account's eligibility for long.</a:t>
            </a:r>
          </a:p>
          <a:p>
            <a:endParaRPr/>
          </a:p>
          <a:p>
            <a:r>
              <a:t>Account Service can freeze an account at any moment.</a:t>
            </a:r>
          </a:p>
          <a:p>
            <a:endParaRPr/>
          </a:p>
          <a:p>
            <a:r>
              <a:t>Ask the room to classify each item.</a:t>
            </a:r>
          </a:p>
          <a:p>
            <a:endParaRPr/>
          </a:p>
          <a:p>
            <a:r>
              <a:t>Have them justify each choice with the good and poor lists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3: Cache-Aside Pattern</a:t>
            </a:r>
          </a:p>
          <a:p>
            <a:r>
              <a:t>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CACHE-ASIDE FLOW</a:t>
            </a:r>
          </a:p>
          <a:p>
            <a:endParaRPr/>
          </a:p>
          <a:p>
            <a:r>
              <a:t>  The application sits in the middle.</a:t>
            </a:r>
          </a:p>
          <a:p>
            <a:endParaRPr/>
          </a:p>
          <a:p>
            <a:r>
              <a:t>  On a hit, it skips the database entirely.</a:t>
            </a:r>
          </a:p>
          <a:p>
            <a:endParaRPr/>
          </a:p>
          <a:p>
            <a:r>
              <a:t>  On a miss, it loads from the database and writes the result into the cache for next time.</a:t>
            </a:r>
          </a:p>
          <a:p>
            <a:endParaRPr/>
          </a:p>
          <a:p>
            <a:r>
              <a:t>  The cache only holds data someone actually asked for, which keeps memory focused.</a:t>
            </a:r>
          </a:p>
          <a:p>
            <a:endParaRPr/>
          </a:p>
          <a:p>
            <a:r>
              <a:t>  There are costs.</a:t>
            </a:r>
          </a:p>
          <a:p>
            <a:endParaRPr/>
          </a:p>
          <a:p>
            <a:r>
              <a:t>  The first request after a miss or eviction is slow.</a:t>
            </a:r>
          </a:p>
          <a:p>
            <a:endParaRPr/>
          </a:p>
          <a:p>
            <a:r>
              <a:t>  And nothing updates the cache when data changes, unless the application evicts the entry.</a:t>
            </a:r>
          </a:p>
          <a:p>
            <a:endParaRPr/>
          </a:p>
          <a:p>
            <a:r>
              <a:t>  @Cacheable wraps a method with exactly this check, load, and store logic.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mobile banking app's product-details screen calls a service method annotated with @Cacheable.</a:t>
            </a:r>
          </a:p>
          <a:p>
            <a:endParaRPr/>
          </a:p>
          <a:p>
            <a:r>
              <a:t>  The first customer to open a product page triggers a database query.</a:t>
            </a:r>
          </a:p>
          <a:p>
            <a:endParaRPr/>
          </a:p>
          <a:p>
            <a:r>
              <a:t>  Later customers get the cached copy until it expires.</a:t>
            </a:r>
          </a:p>
          <a:p>
            <a:endParaRPr/>
          </a:p>
          <a:p>
            <a:r>
              <a:t>- Online retail and streaming platforms often put cache-aside in front of catalog or metadata lookups.</a:t>
            </a:r>
          </a:p>
          <a:p>
            <a:endParaRPr/>
          </a:p>
          <a:p>
            <a:r>
              <a:t>  The pattern is simple, and the database stays authoritative.</a:t>
            </a:r>
          </a:p>
          <a:p>
            <a:endParaRPr/>
          </a:p>
          <a:p>
            <a:r>
              <a:t>  If the cache fails, the system just falls back to slower database reads.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Picture a lecture-only extension where Account Service caches its GET /api/v1/accounts/{accountId} response.</a:t>
            </a:r>
          </a:p>
          <a:p>
            <a:endParaRPr/>
          </a:p>
          <a:p>
            <a:r>
              <a:t>The first call from Transaction Service misses.</a:t>
            </a:r>
          </a:p>
          <a:p>
            <a:endParaRPr/>
          </a:p>
          <a:p>
            <a:r>
              <a:t>It reads account_db, stores the DTO, and returns ACTIVE.</a:t>
            </a:r>
          </a:p>
          <a:p>
            <a:endParaRPr/>
          </a:p>
          <a:p>
            <a:r>
              <a:t>The next calls are hits.</a:t>
            </a:r>
          </a:p>
          <a:p>
            <a:endParaRPr/>
          </a:p>
          <a:p>
            <a:r>
              <a:t>Then an operator freezes the account.</a:t>
            </a:r>
          </a:p>
          <a:p>
            <a:endParaRPr/>
          </a:p>
          <a:p>
            <a:r>
              <a:t>With plain cache-aside and no eviction, Transaction Service keeps seeing ACTIVE until the TTL expires.</a:t>
            </a:r>
          </a:p>
          <a:p>
            <a:endParaRPr/>
          </a:p>
          <a:p>
            <a:r>
              <a:t>It could accept a transaction that Lab 2 would reject with 409 ACCOUNT_NOT_ELIGIBLE.</a:t>
            </a:r>
          </a:p>
          <a:p>
            <a:endParaRPr/>
          </a:p>
          <a:p>
            <a:r>
              <a:t>This is why the freeze path would need an eviction.</a:t>
            </a:r>
          </a:p>
          <a:p>
            <a:endParaRPr/>
          </a:p>
          <a:p>
            <a:r>
              <a:t>It is also why the lab calls the live service instead.</a:t>
            </a:r>
          </a:p>
          <a:p>
            <a:endParaRPr/>
          </a:p>
          <a:p>
            <a:endParaRPr/>
          </a:p>
          <a:p>
            <a:r>
              <a:t>TOPIC 2 OF 3: Read-Through and Write-Through Caching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READ-THROUGH</a:t>
            </a:r>
          </a:p>
          <a:p>
            <a:endParaRPr/>
          </a:p>
          <a:p>
            <a:r>
              <a:t>  The difference from cache-aside is who loads the data on a miss.</a:t>
            </a:r>
          </a:p>
          <a:p>
            <a:endParaRPr/>
          </a:p>
          <a:p>
            <a:r>
              <a:t>  In read-through, the cache is set up with a loader.</a:t>
            </a:r>
          </a:p>
          <a:p>
            <a:endParaRPr/>
          </a:p>
          <a:p>
            <a:r>
              <a:t>  The application just asks the cache, and the cache fetches from the database when needed.</a:t>
            </a:r>
          </a:p>
          <a:p>
            <a:endParaRPr/>
          </a:p>
          <a:p>
            <a:r>
              <a:t>  Application code gets simpler, and loading logic lives in one place.</a:t>
            </a:r>
          </a:p>
          <a:p>
            <a:endParaRPr/>
          </a:p>
          <a:p>
            <a:r>
              <a:t>  In practice, this comes from the cache product or a library-level loading cache.</a:t>
            </a:r>
          </a:p>
          <a:p>
            <a:endParaRPr/>
          </a:p>
          <a:p>
            <a:r>
              <a:t>  Plain Redis does not do it by itself.</a:t>
            </a:r>
          </a:p>
          <a:p>
            <a:endParaRPr/>
          </a:p>
          <a:p>
            <a:r>
              <a:t>  Many teams say @Cacheable feels like read-through.</a:t>
            </a:r>
          </a:p>
          <a:p>
            <a:endParaRPr/>
          </a:p>
          <a:p>
            <a:r>
              <a:t>  But the loading still happens in your method.</a:t>
            </a:r>
          </a:p>
          <a:p>
            <a:endParaRPr/>
          </a:p>
          <a:p>
            <a:r>
              <a:t>- WRITE-THROUGH</a:t>
            </a:r>
          </a:p>
          <a:p>
            <a:endParaRPr/>
          </a:p>
          <a:p>
            <a:r>
              <a:t>  Every write goes to the cache.</a:t>
            </a:r>
          </a:p>
          <a:p>
            <a:endParaRPr/>
          </a:p>
          <a:p>
            <a:r>
              <a:t>  The cache writes to the database before returning, so a successful write means both copies match.</a:t>
            </a:r>
          </a:p>
          <a:p>
            <a:endParaRPr/>
          </a:p>
          <a:p>
            <a:r>
              <a:t>  The trade-off is latency, because each write now updates two stores.</a:t>
            </a:r>
          </a:p>
          <a:p>
            <a:endParaRPr/>
          </a:p>
          <a:p>
            <a:r>
              <a:t>  The cache layer also needs its own database access and error handling.</a:t>
            </a:r>
          </a:p>
          <a:p>
            <a:endParaRPr/>
          </a:p>
          <a:p>
            <a:r>
              <a:t>  Write-through suits data that is read far more than written.</a:t>
            </a:r>
          </a:p>
          <a:p>
            <a:endParaRPr/>
          </a:p>
          <a:p>
            <a:r>
              <a:t>  It also suits data that must never be stale right after a change.</a:t>
            </a:r>
          </a:p>
          <a:p>
            <a:endParaRPr/>
          </a:p>
          <a:p>
            <a:r>
              <a:t>  It is more common with dedicated data-grid products than with a simple Redis cache.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Some banks use enterprise in-memory data grids for session or reference data.</a:t>
            </a:r>
          </a:p>
          <a:p>
            <a:endParaRPr/>
          </a:p>
          <a:p>
            <a:r>
              <a:t>  These grids are set up with loader and writer plugins.</a:t>
            </a:r>
          </a:p>
          <a:p>
            <a:endParaRPr/>
          </a:p>
          <a:p>
            <a:r>
              <a:t>  Applications read and write the grid, and the grid keeps its backing database aligned.</a:t>
            </a:r>
          </a:p>
          <a:p>
            <a:endParaRPr/>
          </a:p>
          <a:p>
            <a:r>
              <a:t>- Picture a product-pricing store where marketing updates rates a few times a day.</a:t>
            </a:r>
          </a:p>
          <a:p>
            <a:endParaRPr/>
          </a:p>
          <a:p>
            <a:r>
              <a:t>  Web channels read those rates constantly.</a:t>
            </a:r>
          </a:p>
          <a:p>
            <a:endParaRPr/>
          </a:p>
          <a:p>
            <a:r>
              <a:t>  The store can use write-through, so the next read after an update is guaranteed fresh.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Explain it with the capstone team's future reference data.</a:t>
            </a:r>
          </a:p>
          <a:p>
            <a:endParaRPr/>
          </a:p>
          <a:p>
            <a:r>
              <a:t>Say Risk Assessment Service kept a table of merchant category codes.</a:t>
            </a:r>
          </a:p>
          <a:p>
            <a:endParaRPr/>
          </a:p>
          <a:p>
            <a:r>
              <a:t>A read-through cache would let every scoring call ask the cache for a code description.</a:t>
            </a:r>
          </a:p>
          <a:p>
            <a:endParaRPr/>
          </a:p>
          <a:p>
            <a:r>
              <a:t>The cache would load any missing code from the database.</a:t>
            </a:r>
          </a:p>
          <a:p>
            <a:endParaRPr/>
          </a:p>
          <a:p>
            <a:r>
              <a:t>Now say the compliance team updated a category.</a:t>
            </a:r>
          </a:p>
          <a:p>
            <a:endParaRPr/>
          </a:p>
          <a:p>
            <a:r>
              <a:t>A write-through cache would push the change to the database and hold the new value in one step.</a:t>
            </a:r>
          </a:p>
          <a:p>
            <a:endParaRPr/>
          </a:p>
          <a:p>
            <a:r>
              <a:t>The team would accept slightly slower updates, which happen rarely.</a:t>
            </a:r>
          </a:p>
          <a:p>
            <a:endParaRPr/>
          </a:p>
          <a:p>
            <a:r>
              <a:t>In exchange, they would never score against an outdated description.</a:t>
            </a:r>
          </a:p>
          <a:p>
            <a:endParaRPr/>
          </a:p>
          <a:p>
            <a:endParaRPr/>
          </a:p>
          <a:p>
            <a:r>
              <a:t>TOPIC 3 OF 3: Write-Behind Caching</a:t>
            </a:r>
          </a:p>
          <a:p>
            <a:r>
              <a:t>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WRITE-BEHIND WORKS</a:t>
            </a:r>
          </a:p>
          <a:p>
            <a:endParaRPr/>
          </a:p>
          <a:p>
            <a:r>
              <a:t>  The application treats the cache as the write target.</a:t>
            </a:r>
          </a:p>
          <a:p>
            <a:endParaRPr/>
          </a:p>
          <a:p>
            <a:r>
              <a:t>  It gets an instant acknowledgement and moves on.</a:t>
            </a:r>
          </a:p>
          <a:p>
            <a:endParaRPr/>
          </a:p>
          <a:p>
            <a:r>
              <a:t>  A background process gathers pending writes and applies them to the database.</a:t>
            </a:r>
          </a:p>
          <a:p>
            <a:endParaRPr/>
          </a:p>
          <a:p>
            <a:r>
              <a:t>  Sometimes it combines many writes into one batch.</a:t>
            </a:r>
          </a:p>
          <a:p>
            <a:endParaRPr/>
          </a:p>
          <a:p>
            <a:r>
              <a:t>  This suits high-volume data where some loss is tolerable, such as counters or telemetry.</a:t>
            </a:r>
          </a:p>
          <a:p>
            <a:endParaRPr/>
          </a:p>
          <a:p>
            <a:r>
              <a:t>  For anything with money or legal meaning, it is dangerous.</a:t>
            </a:r>
          </a:p>
          <a:p>
            <a:endParaRPr/>
          </a:p>
          <a:p>
            <a:r>
              <a:t>  A crash between acknowledgement and flush loses writes the caller believes were saved.</a:t>
            </a:r>
          </a:p>
          <a:p>
            <a:endParaRPr/>
          </a:p>
          <a:p>
            <a:r>
              <a:t>  In banking, the system of record must receive the write before success is reported.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Page-view or click counters for a bank's marketing site can be incremented in memory and flushed in batches.</a:t>
            </a:r>
          </a:p>
          <a:p>
            <a:endParaRPr/>
          </a:p>
          <a:p>
            <a:r>
              <a:t>  Losing a few increments in a crash has no customer or regulatory impact.</a:t>
            </a:r>
          </a:p>
          <a:p>
            <a:endParaRPr/>
          </a:p>
          <a:p>
            <a:r>
              <a:t>- A payment instruction must never use write-behind.</a:t>
            </a:r>
          </a:p>
          <a:p>
            <a:endParaRPr/>
          </a:p>
          <a:p>
            <a:r>
              <a:t>  Picture telling a customer a transfer was accepted, then losing it because a cache node restarted before flushing.</a:t>
            </a:r>
          </a:p>
          <a:p>
            <a:endParaRPr/>
          </a:p>
          <a:p>
            <a:r>
              <a:t>  That would be a customer-facing failure and an audit failure.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Ask the room to imagine speeding up Lab 2 with a cache.</a:t>
            </a:r>
          </a:p>
          <a:p>
            <a:endParaRPr/>
          </a:p>
          <a:p>
            <a:r>
              <a:t>New transactions go to the cache and flush to transaction_db every few seconds.</a:t>
            </a:r>
          </a:p>
          <a:p>
            <a:endParaRPr/>
          </a:p>
          <a:p>
            <a:r>
              <a:t>The POST would return 201 faster.</a:t>
            </a:r>
          </a:p>
          <a:p>
            <a:endParaRPr/>
          </a:p>
          <a:p>
            <a:r>
              <a:t>But if the pod restarted before the flush, the customer would hold a transactionId that exists nowhere.</a:t>
            </a:r>
          </a:p>
          <a:p>
            <a:endParaRPr/>
          </a:p>
          <a:p>
            <a:r>
              <a:t>A TransactionSubmitted event might already be on Kafka for a row that never landed.</a:t>
            </a:r>
          </a:p>
          <a:p>
            <a:endParaRPr/>
          </a:p>
          <a:p>
            <a:r>
              <a:t>Lab 2 instead saves the row in PostgreSQL inside a local transaction before anything else happens.</a:t>
            </a:r>
          </a:p>
          <a:p>
            <a:endParaRPr/>
          </a:p>
          <a:p>
            <a:r>
              <a:t>That contrast makes the risk of write-behind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3: Redis Architecture and Data Structures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REDIS DATA STRUCTURES</a:t>
            </a:r>
          </a:p>
          <a:p>
            <a:endParaRPr/>
          </a:p>
          <a:p>
            <a:r>
              <a:t>  Strings hold a serialized value, such as a JSON DTO.</a:t>
            </a:r>
          </a:p>
          <a:p>
            <a:endParaRPr/>
          </a:p>
          <a:p>
            <a:r>
              <a:t>  Hashes hold field-value pairs, so you can read or update one field without rewriting the whole object.</a:t>
            </a:r>
          </a:p>
          <a:p>
            <a:endParaRPr/>
          </a:p>
          <a:p>
            <a:r>
              <a:t>  Lists work as simple queues.</a:t>
            </a:r>
          </a:p>
          <a:p>
            <a:endParaRPr/>
          </a:p>
          <a:p>
            <a:r>
              <a:t>  Sets answer 'have we seen this before'.</a:t>
            </a:r>
          </a:p>
          <a:p>
            <a:endParaRPr/>
          </a:p>
          <a:p>
            <a:r>
              <a:t>  Sorted sets keep members ordered by a score, which is useful for rankings or time windows.</a:t>
            </a:r>
          </a:p>
          <a:p>
            <a:endParaRPr/>
          </a:p>
          <a:p>
            <a:r>
              <a:t>  Streams are append-only logs with consumer groups.</a:t>
            </a:r>
          </a:p>
          <a:p>
            <a:endParaRPr/>
          </a:p>
          <a:p>
            <a:r>
              <a:t>  Redis streams are handy for small jobs.</a:t>
            </a:r>
          </a:p>
          <a:p>
            <a:endParaRPr/>
          </a:p>
          <a:p>
            <a:r>
              <a:t>  But in this course the event backbone is Kafka on Red Hat AMQ Streams, not Redis.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An API gateway rate limiter can keep a per-client counter in a Redis string with an expiry.</a:t>
            </a:r>
          </a:p>
          <a:p>
            <a:endParaRPr/>
          </a:p>
          <a:p>
            <a:r>
              <a:t>  Once the counter passes the allowed calls for that time window, it rejects requests.</a:t>
            </a:r>
          </a:p>
          <a:p>
            <a:endParaRPr/>
          </a:p>
          <a:p>
            <a:r>
              <a:t>- A fraud team can use a Redis sorted set scored by timestamp.</a:t>
            </a:r>
          </a:p>
          <a:p>
            <a:endParaRPr/>
          </a:p>
          <a:p>
            <a:r>
              <a:t>  It counts how many card attempts a device made in the last few minutes.</a:t>
            </a:r>
          </a:p>
          <a:p>
            <a:endParaRPr/>
          </a:p>
          <a:p>
            <a:r>
              <a:t>  Old entries are trimmed as the window moves.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Describe how a bank might use several Redis structures around the capstone without making Redis a system of record.</a:t>
            </a:r>
          </a:p>
          <a:p>
            <a:endParaRPr/>
          </a:p>
          <a:p>
            <a:r>
              <a:t>A hash could hold a cached account-status DTO.</a:t>
            </a:r>
          </a:p>
          <a:p>
            <a:endParaRPr/>
          </a:p>
          <a:p>
            <a:r>
              <a:t>A set could remember recently seen correlation IDs for quick diagnostics.</a:t>
            </a:r>
          </a:p>
          <a:p>
            <a:endParaRPr/>
          </a:p>
          <a:p>
            <a:r>
              <a:t>A sorted set could track recent transaction attempts per account.</a:t>
            </a:r>
          </a:p>
          <a:p>
            <a:endParaRPr/>
          </a:p>
          <a:p>
            <a:r>
              <a:t>That would feed a velocity rule in Risk Assessment Service.</a:t>
            </a:r>
          </a:p>
          <a:p>
            <a:endParaRPr/>
          </a:p>
          <a:p>
            <a:r>
              <a:t>In every case, PostgreSQL and Kafka stay authoritative.</a:t>
            </a:r>
          </a:p>
          <a:p>
            <a:endParaRPr/>
          </a:p>
          <a:p>
            <a:r>
              <a:t>Redis only speeds up reads or short-lived checks.</a:t>
            </a:r>
          </a:p>
          <a:p>
            <a:endParaRPr/>
          </a:p>
          <a:p>
            <a:r>
              <a:t>Then remind the room that none of this is built in Labs 1 to 5.</a:t>
            </a:r>
          </a:p>
          <a:p>
            <a:endParaRPr/>
          </a:p>
          <a:p>
            <a:endParaRPr/>
          </a:p>
          <a:p>
            <a:r>
              <a:t>TOPIC 2 OF 3: Spring Cache Abstraction</a:t>
            </a:r>
          </a:p>
          <a:p>
            <a:r>
              <a:t>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CORE CACHING ANNOTATIONS</a:t>
            </a:r>
          </a:p>
          <a:p>
            <a:endParaRPr/>
          </a:p>
          <a:p>
            <a:r>
              <a:t>  @Cacheable is the read side.</a:t>
            </a:r>
          </a:p>
          <a:p>
            <a:endParaRPr/>
          </a:p>
          <a:p>
            <a:r>
              <a:t>  On a hit, the method body never runs.</a:t>
            </a:r>
          </a:p>
          <a:p>
            <a:endParaRPr/>
          </a:p>
          <a:p>
            <a:r>
              <a:t>  @CachePut is for write methods that return the updated object, so the cache gets the new value.</a:t>
            </a:r>
          </a:p>
          <a:p>
            <a:endParaRPr/>
          </a:p>
          <a:p>
            <a:r>
              <a:t>  @CacheEvict is for writes where it is simpler to drop the entry.</a:t>
            </a:r>
          </a:p>
          <a:p>
            <a:endParaRPr/>
          </a:p>
          <a:p>
            <a:r>
              <a:t>  The next read then reloads it.</a:t>
            </a:r>
          </a:p>
          <a:p>
            <a:endParaRPr/>
          </a:p>
          <a:p>
            <a:r>
              <a:t>  Setting allEntries = true clears a whole cache.</a:t>
            </a:r>
          </a:p>
          <a:p>
            <a:endParaRPr/>
          </a:p>
          <a:p>
            <a:r>
              <a:t>  These annotations work through Spring proxies, which are wrappers around your bean.</a:t>
            </a:r>
          </a:p>
          <a:p>
            <a:endParaRPr/>
          </a:p>
          <a:p>
            <a:r>
              <a:t>  So calling an annotated method from another method in the same class skips the cache.</a:t>
            </a:r>
          </a:p>
          <a:p>
            <a:endParaRPr/>
          </a:p>
          <a:p>
            <a:r>
              <a:t>  That is a common surprise when caching seems not to work.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customer-profile service can put @Cacheable on getProfile.</a:t>
            </a:r>
          </a:p>
          <a:p>
            <a:endParaRPr/>
          </a:p>
          <a:p>
            <a:r>
              <a:t>  It can put @CachePut on updateProfile, so the refreshed profile is cached immediately.</a:t>
            </a:r>
          </a:p>
          <a:p>
            <a:endParaRPr/>
          </a:p>
          <a:p>
            <a:r>
              <a:t>  And it can put @CacheEvict on a delete-style closure method.</a:t>
            </a:r>
          </a:p>
          <a:p>
            <a:endParaRPr/>
          </a:p>
          <a:p>
            <a:r>
              <a:t>- Teams often develop against a simple in-memory cache.</a:t>
            </a:r>
          </a:p>
          <a:p>
            <a:endParaRPr/>
          </a:p>
          <a:p>
            <a:r>
              <a:t>  They switch to Redis in shared environments by changing only dependencies and configuration.</a:t>
            </a:r>
          </a:p>
          <a:p>
            <a:endParaRPr/>
          </a:p>
          <a:p>
            <a:r>
              <a:t>  The annotated service code does not change at all.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Walk through a lecture-only version of Account Service.</a:t>
            </a:r>
          </a:p>
          <a:p>
            <a:endParaRPr/>
          </a:p>
          <a:p>
            <a:r>
              <a:t>GET account by ID gets @Cacheable, with the accountId as the key.</a:t>
            </a:r>
          </a:p>
          <a:p>
            <a:endParaRPr/>
          </a:p>
          <a:p>
            <a:r>
              <a:t>The activate, freeze, and close methods from Lab 1 each get @CacheEvict for the same key.</a:t>
            </a:r>
          </a:p>
          <a:p>
            <a:endParaRPr/>
          </a:p>
          <a:p>
            <a:r>
              <a:t>So the next GET reloads the new status.</a:t>
            </a:r>
          </a:p>
          <a:p>
            <a:endParaRPr/>
          </a:p>
          <a:p>
            <a:r>
              <a:t>Someone proposes @CachePut on update nickname, because it returns the updated DTO.</a:t>
            </a:r>
          </a:p>
          <a:p>
            <a:endParaRPr/>
          </a:p>
          <a:p>
            <a:r>
              <a:t>That works too.</a:t>
            </a:r>
          </a:p>
          <a:p>
            <a:endParaRPr/>
          </a:p>
          <a:p>
            <a:r>
              <a:t>Then ask what happens if freeze forgets its @CacheEvict.</a:t>
            </a:r>
          </a:p>
          <a:p>
            <a:endParaRPr/>
          </a:p>
          <a:p>
            <a:r>
              <a:t>Transaction Service could see a frozen account as ACTIVE.</a:t>
            </a:r>
          </a:p>
          <a:p>
            <a:endParaRPr/>
          </a:p>
          <a:p>
            <a:r>
              <a:t>The annotation pairing is the real design work.</a:t>
            </a:r>
          </a:p>
          <a:p>
            <a:endParaRPr/>
          </a:p>
          <a:p>
            <a:endParaRPr/>
          </a:p>
          <a:p>
            <a:r>
              <a:t>TOPIC 3 OF 3: Integrating Redis with Spring Boot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TYPICAL SETUP</a:t>
            </a:r>
          </a:p>
          <a:p>
            <a:endParaRPr/>
          </a:p>
          <a:p>
            <a:r>
              <a:t>  With the Redis starter on the classpath, Spring Boot sets up a connection from spring.data.redis.host and port.</a:t>
            </a:r>
          </a:p>
          <a:p>
            <a:endParaRPr/>
          </a:p>
          <a:p>
            <a:r>
              <a:t>  In Spring Boot 3 the prefix is spring.data.redis, not the older spring.redis.</a:t>
            </a:r>
          </a:p>
          <a:p>
            <a:endParaRPr/>
          </a:p>
          <a:p>
            <a:r>
              <a:t>  @EnableCaching turns on annotation processing.</a:t>
            </a:r>
          </a:p>
          <a:p>
            <a:endParaRPr/>
          </a:p>
          <a:p>
            <a:r>
              <a:t>  Spring Boot then provides a Redis-backed cache manager.</a:t>
            </a:r>
          </a:p>
          <a:p>
            <a:endParaRPr/>
          </a:p>
          <a:p>
            <a:r>
              <a:t>  You can set a global TTL with spring.cache.redis.time-to-live.</a:t>
            </a:r>
          </a:p>
          <a:p>
            <a:endParaRPr/>
          </a:p>
          <a:p>
            <a:r>
              <a:t>  One caution on the slide example.</a:t>
            </a:r>
          </a:p>
          <a:p>
            <a:endParaRPr/>
          </a:p>
          <a:p>
            <a:r>
              <a:t>  Cache the service method that returns a DTO, not a repository method that returns an entity.</a:t>
            </a:r>
          </a:p>
          <a:p>
            <a:endParaRPr/>
          </a:p>
          <a:p>
            <a:r>
              <a:t>  That matches the later guidance to cache DTOs, not entity graphs.</a:t>
            </a:r>
          </a:p>
          <a:p>
            <a:endParaRPr/>
          </a:p>
          <a:p>
            <a:r>
              <a:t>- IMPORTANT CAUTION</a:t>
            </a:r>
          </a:p>
          <a:p>
            <a:endParaRPr/>
          </a:p>
          <a:p>
            <a:r>
              <a:t>  Redis keeps data in memory.</a:t>
            </a:r>
          </a:p>
          <a:p>
            <a:endParaRPr/>
          </a:p>
          <a:p>
            <a:r>
              <a:t>  It can have persistence options turned on.</a:t>
            </a:r>
          </a:p>
          <a:p>
            <a:endParaRPr/>
          </a:p>
          <a:p>
            <a:r>
              <a:t>  Even so, it is not built to give the transactional guarantees, constraints, and audit history a ledger needs.</a:t>
            </a:r>
          </a:p>
          <a:p>
            <a:endParaRPr/>
          </a:p>
          <a:p>
            <a:r>
              <a:t>  Suppose Redis becomes the only copy of important data.</a:t>
            </a:r>
          </a:p>
          <a:p>
            <a:endParaRPr/>
          </a:p>
          <a:p>
            <a:r>
              <a:t>  A restart could lose it.</a:t>
            </a:r>
          </a:p>
          <a:p>
            <a:endParaRPr/>
          </a:p>
          <a:p>
            <a:r>
              <a:t>  So could eviction under memory pressure, or a failover.</a:t>
            </a:r>
          </a:p>
          <a:p>
            <a:endParaRPr/>
          </a:p>
          <a:p>
            <a:r>
              <a:t>  The rule for this course is clear.</a:t>
            </a:r>
          </a:p>
          <a:p>
            <a:endParaRPr/>
          </a:p>
          <a:p>
            <a:r>
              <a:t>  PostgreSQL owns the truth, and each service owns its own database.</a:t>
            </a:r>
          </a:p>
          <a:p>
            <a:endParaRPr/>
          </a:p>
          <a:p>
            <a:r>
              <a:t>  Redis, when used, only holds copies that can be rebuilt from that truth.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Teams upgrading from Spring Boot 2 to 3 often find their Redis connection silently falling back to localhost.</a:t>
            </a:r>
          </a:p>
          <a:p>
            <a:endParaRPr/>
          </a:p>
          <a:p>
            <a:r>
              <a:t>  The cause is configuration that still uses the old spring.redis prefix instead of spring.data.redis.</a:t>
            </a:r>
          </a:p>
          <a:p>
            <a:endParaRPr/>
          </a:p>
          <a:p>
            <a:r>
              <a:t>- Banks commonly use Redis for session data and short-lived tokens that can be reissued.</a:t>
            </a:r>
          </a:p>
          <a:p>
            <a:endParaRPr/>
          </a:p>
          <a:p>
            <a:r>
              <a:t>  They keep balances, payments, and customer records in relational systems with backups and audit trails.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 developer on the capstone team suggests storing transaction status in Redis.</a:t>
            </a:r>
          </a:p>
          <a:p>
            <a:endParaRPr/>
          </a:p>
          <a:p>
            <a:r>
              <a:t>The consumer updates it, and reads would be faster.</a:t>
            </a:r>
          </a:p>
          <a:p>
            <a:endParaRPr/>
          </a:p>
          <a:p>
            <a:r>
              <a:t>Walk the room through the caution panel.</a:t>
            </a:r>
          </a:p>
          <a:p>
            <a:endParaRPr/>
          </a:p>
          <a:p>
            <a:r>
              <a:t>Transaction status is business data that auditors may query.</a:t>
            </a:r>
          </a:p>
          <a:p>
            <a:endParaRPr/>
          </a:p>
          <a:p>
            <a:r>
              <a:t>The SUBMITTED update must be tied to the processed_events record in one local transaction for idempotency, meaning a repeated event is safely ignored.</a:t>
            </a:r>
          </a:p>
          <a:p>
            <a:endParaRPr/>
          </a:p>
          <a:p>
            <a:r>
              <a:t>A Redis eviction could make a transaction disappear.</a:t>
            </a:r>
          </a:p>
          <a:p>
            <a:endParaRPr/>
          </a:p>
          <a:p>
            <a:r>
              <a:t>The correct answer is what Lab 2 does.</a:t>
            </a:r>
          </a:p>
          <a:p>
            <a:endParaRPr/>
          </a:p>
          <a:p>
            <a:r>
              <a:t>Status lives in transaction_db and is updated inside a @Transactional consumer.</a:t>
            </a:r>
          </a:p>
          <a:p>
            <a:endParaRPr/>
          </a:p>
          <a:p>
            <a:r>
              <a:t>Any cache would be a rebuildable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3: Cache Keys and Value Design</a:t>
            </a:r>
          </a:p>
          <a:p>
            <a:r>
              <a:t>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CACHE KEY DESIGN PRINCIPLES</a:t>
            </a:r>
          </a:p>
          <a:p>
            <a:endParaRPr/>
          </a:p>
          <a:p>
            <a:r>
              <a:t>  A shared Redis may serve several services, so a key like 101 could mean a customer, an account, or a branch.</a:t>
            </a:r>
          </a:p>
          <a:p>
            <a:endParaRPr/>
          </a:p>
          <a:p>
            <a:r>
              <a:t>  Adding the entity and purpose as a prefix makes keys unambiguous.</a:t>
            </a:r>
          </a:p>
          <a:p>
            <a:endParaRPr/>
          </a:p>
          <a:p>
            <a:r>
              <a:t>  It also lets operations find or clear one family of keys by prefix.</a:t>
            </a:r>
          </a:p>
          <a:p>
            <a:endParaRPr/>
          </a:p>
          <a:p>
            <a:r>
              <a:t>  Small DTO values serialize quickly and use less memory.</a:t>
            </a:r>
          </a:p>
          <a:p>
            <a:endParaRPr/>
          </a:p>
          <a:p>
            <a:r>
              <a:t>  They also do not break when an entity gains a lazy relationship.</a:t>
            </a:r>
          </a:p>
          <a:p>
            <a:endParaRPr/>
          </a:p>
          <a:p>
            <a:r>
              <a:t>  Consistent patterns help security reviews too, because it is obvious which keys might hold sensitive fields.</a:t>
            </a:r>
          </a:p>
          <a:p>
            <a:endParaRPr/>
          </a:p>
          <a:p>
            <a:r>
              <a:t>  Spring's cache name plus key already gives a basic namespace.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Two teams shared one Redis cluster, and both cached records under plain numeric IDs.</a:t>
            </a:r>
          </a:p>
          <a:p>
            <a:endParaRPr/>
          </a:p>
          <a:p>
            <a:r>
              <a:t>  One team's account summary started appearing where the other expected a customer profile.</a:t>
            </a:r>
          </a:p>
          <a:p>
            <a:endParaRPr/>
          </a:p>
          <a:p>
            <a:r>
              <a:t>  Adding service and entity prefixes fixed the collision.</a:t>
            </a:r>
          </a:p>
          <a:p>
            <a:endParaRPr/>
          </a:p>
          <a:p>
            <a:r>
              <a:t>- An operations runbook might say to clear all keys matching account-status for one account after a data fix.</a:t>
            </a:r>
          </a:p>
          <a:p>
            <a:endParaRPr/>
          </a:p>
          <a:p>
            <a:r>
              <a:t>  That only works if every service wrote those keys with the same agreed pattern.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Use the capstone's synthetic IDs.</a:t>
            </a:r>
          </a:p>
          <a:p>
            <a:endParaRPr/>
          </a:p>
          <a:p>
            <a:r>
              <a:t>Account Service uses IDs like ACC- plus 8 hex characters.</a:t>
            </a:r>
          </a:p>
          <a:p>
            <a:endParaRPr/>
          </a:p>
          <a:p>
            <a:r>
              <a:t>Transaction Service uses TXN- plus 8 hex.</a:t>
            </a:r>
          </a:p>
          <a:p>
            <a:endParaRPr/>
          </a:p>
          <a:p>
            <a:r>
              <a:t>If both cached into one Redis with bare IDs, collisions are unlikely thanks to the prefixes.</a:t>
            </a:r>
          </a:p>
          <a:p>
            <a:endParaRPr/>
          </a:p>
          <a:p>
            <a:r>
              <a:t>But a reference-data cache keyed only by a currency code such as USD could clash with another team's key.</a:t>
            </a:r>
          </a:p>
          <a:p>
            <a:endParaRPr/>
          </a:p>
          <a:p>
            <a:r>
              <a:t>A key pattern such as account-service:account:ACC-1A2B3C4D:status leaves no ambiguity.</a:t>
            </a:r>
          </a:p>
          <a:p>
            <a:endParaRPr/>
          </a:p>
          <a:p>
            <a:r>
              <a:t>The value would be a small status DTO with accountId and status.</a:t>
            </a:r>
          </a:p>
          <a:p>
            <a:endParaRPr/>
          </a:p>
          <a:p>
            <a:r>
              <a:t>It would not be the full accounts row with customer_id and timestamps.</a:t>
            </a:r>
          </a:p>
          <a:p>
            <a:endParaRPr/>
          </a:p>
          <a:p>
            <a:endParaRPr/>
          </a:p>
          <a:p>
            <a:r>
              <a:t>TOPIC 2 OF 3: Cache Expiration and Time-to-Live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MATCHING TTL TO DATA</a:t>
            </a:r>
          </a:p>
          <a:p>
            <a:endParaRPr/>
          </a:p>
          <a:p>
            <a:r>
              <a:t>  Account status gets a short TTL, because a freeze or closure must take effect quickly.</a:t>
            </a:r>
          </a:p>
          <a:p>
            <a:endParaRPr/>
          </a:p>
          <a:p>
            <a:r>
              <a:t>  A customer profile changes now and then.</a:t>
            </a:r>
          </a:p>
          <a:p>
            <a:endParaRPr/>
          </a:p>
          <a:p>
            <a:r>
              <a:t>  A slightly old mailing address on a display screen is tolerable, so a moderate TTL works.</a:t>
            </a:r>
          </a:p>
          <a:p>
            <a:endParaRPr/>
          </a:p>
          <a:p>
            <a:r>
              <a:t>  Product configuration changes on a release schedule, so a longer TTL is fine.</a:t>
            </a:r>
          </a:p>
          <a:p>
            <a:endParaRPr/>
          </a:p>
          <a:p>
            <a:r>
              <a:t>  A fraud risk score reflects fast-changing behaviour.</a:t>
            </a:r>
          </a:p>
          <a:p>
            <a:endParaRPr/>
          </a:p>
          <a:p>
            <a:r>
              <a:t>  So it should live very briefly, if it is cached at all.</a:t>
            </a:r>
          </a:p>
          <a:p>
            <a:endParaRPr/>
          </a:p>
          <a:p>
            <a:r>
              <a:t>  TTL is a safety net.</a:t>
            </a:r>
          </a:p>
          <a:p>
            <a:endParaRPr/>
          </a:p>
          <a:p>
            <a:r>
              <a:t>  You still need explicit eviction on write when accuracy matters.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retail bank's savings product page can cache interest-rate display content for a longer period.</a:t>
            </a:r>
          </a:p>
          <a:p>
            <a:endParaRPr/>
          </a:p>
          <a:p>
            <a:r>
              <a:t>  It refreshes the content when a rate change is published.</a:t>
            </a:r>
          </a:p>
          <a:p>
            <a:endParaRPr/>
          </a:p>
          <a:p>
            <a:r>
              <a:t>  The rate change goes through a scheduled approval process anyway.</a:t>
            </a:r>
          </a:p>
          <a:p>
            <a:endParaRPr/>
          </a:p>
          <a:p>
            <a:r>
              <a:t>- Picture a card-controls feature where a customer locks their card.</a:t>
            </a:r>
          </a:p>
          <a:p>
            <a:endParaRPr/>
          </a:p>
          <a:p>
            <a:r>
              <a:t>  The lock must take effect on the next authorization.</a:t>
            </a:r>
          </a:p>
          <a:p>
            <a:endParaRPr/>
          </a:p>
          <a:p>
            <a:r>
              <a:t>  So any cached lock state needs a very short TTL, plus immediate eviction when the customer toggles it.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Ask the room to set TTLs for a lecture-only cache in front of the capstone.</a:t>
            </a:r>
          </a:p>
          <a:p>
            <a:endParaRPr/>
          </a:p>
          <a:p>
            <a:r>
              <a:t>First, account status read by Transaction Service.</a:t>
            </a:r>
          </a:p>
          <a:p>
            <a:endParaRPr/>
          </a:p>
          <a:p>
            <a:r>
              <a:t>Make it short, measured in seconds, plus eviction on freeze.</a:t>
            </a:r>
          </a:p>
          <a:p>
            <a:endParaRPr/>
          </a:p>
          <a:p>
            <a:r>
              <a:t>Next, the supported currency list used for validation, which Lab 2 limits to USD.</a:t>
            </a:r>
          </a:p>
          <a:p>
            <a:endParaRPr/>
          </a:p>
          <a:p>
            <a:r>
              <a:t>Make it long, since it changes only with a release.</a:t>
            </a:r>
          </a:p>
          <a:p>
            <a:endParaRPr/>
          </a:p>
          <a:p>
            <a:r>
              <a:t>Last, Risk Assessment's score for a transaction from Lab 5 gets effectively no cache time, because each transaction is scored on its own facts.</a:t>
            </a:r>
          </a:p>
          <a:p>
            <a:endParaRPr/>
          </a:p>
          <a:p>
            <a:r>
              <a:t>Have them justify each number.</a:t>
            </a:r>
          </a:p>
          <a:p>
            <a:endParaRPr/>
          </a:p>
          <a:p>
            <a:r>
              <a:t>They should describe the business harm if the value were stale for that long.</a:t>
            </a:r>
          </a:p>
          <a:p>
            <a:endParaRPr/>
          </a:p>
          <a:p>
            <a:endParaRPr/>
          </a:p>
          <a:p>
            <a:r>
              <a:t>TOPIC 3 OF 3: Cache Invalidation Strategies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INVALIDATION TRIGGERS</a:t>
            </a:r>
          </a:p>
          <a:p>
            <a:endParaRPr/>
          </a:p>
          <a:p>
            <a:r>
              <a:t>  TTL expiry is passive, and it guarantees an upper bound on staleness.</a:t>
            </a:r>
          </a:p>
          <a:p>
            <a:endParaRPr/>
          </a:p>
          <a:p>
            <a:r>
              <a:t>  Eviction on update is active.</a:t>
            </a:r>
          </a:p>
          <a:p>
            <a:endParaRPr/>
          </a:p>
          <a:p>
            <a:r>
              <a:t>  Every method that changes the data must remove or refresh the cached copy.</a:t>
            </a:r>
          </a:p>
          <a:p>
            <a:endParaRPr/>
          </a:p>
          <a:p>
            <a:r>
              <a:t>  That is why @CacheEvict sits on the write path.</a:t>
            </a:r>
          </a:p>
          <a:p>
            <a:endParaRPr/>
          </a:p>
          <a:p>
            <a:r>
              <a:t>  Memory limits trigger eviction policies, such as removing the least recently used keys.</a:t>
            </a:r>
          </a:p>
          <a:p>
            <a:endParaRPr/>
          </a:p>
          <a:p>
            <a:r>
              <a:t>  So a cache entry can vanish at any time, and code must handle misses.</a:t>
            </a:r>
          </a:p>
          <a:p>
            <a:endParaRPr/>
          </a:p>
          <a:p>
            <a:r>
              <a:t>  Manual invalidation is the operations tool after a data correction or a bad deployment.</a:t>
            </a:r>
          </a:p>
          <a:p>
            <a:endParaRPr/>
          </a:p>
          <a:p>
            <a:r>
              <a:t>  Well-designed systems combine TTL with active eviction.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customer updates their mobile number for one-time passcodes.</a:t>
            </a:r>
          </a:p>
          <a:p>
            <a:endParaRPr/>
          </a:p>
          <a:p>
            <a:r>
              <a:t>  If the profile cache is not evicted, the next login code goes to the old number.</a:t>
            </a:r>
          </a:p>
          <a:p>
            <a:endParaRPr/>
          </a:p>
          <a:p>
            <a:r>
              <a:t>  That is both a service problem and a security problem.</a:t>
            </a:r>
          </a:p>
          <a:p>
            <a:endParaRPr/>
          </a:p>
          <a:p>
            <a:r>
              <a:t>- A batch job corrects a set of mis-coded merchant categories.</a:t>
            </a:r>
          </a:p>
          <a:p>
            <a:endParaRPr/>
          </a:p>
          <a:p>
            <a:r>
              <a:t>  Afterwards, an operator manually clears the category cache.</a:t>
            </a:r>
          </a:p>
          <a:p>
            <a:endParaRPr/>
          </a:p>
          <a:p>
            <a:r>
              <a:t>  Every service then reloads the corrected values instead of waiting for TTL.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Tie it to Lab 1's account lifecycle.</a:t>
            </a:r>
          </a:p>
          <a:p>
            <a:endParaRPr/>
          </a:p>
          <a:p>
            <a:r>
              <a:t>Picture a lecture-only cached Account Service.</a:t>
            </a:r>
          </a:p>
          <a:p>
            <a:endParaRPr/>
          </a:p>
          <a:p>
            <a:r>
              <a:t>The account-status entry needs eviction on activate, freeze, and close, the three state-changing POST endpoints.</a:t>
            </a:r>
          </a:p>
          <a:p>
            <a:endParaRPr/>
          </a:p>
          <a:p>
            <a:r>
              <a:t>Suppose someone later adds a new state-changing endpoint and forgets @CacheEvict.</a:t>
            </a:r>
          </a:p>
          <a:p>
            <a:endParaRPr/>
          </a:p>
          <a:p>
            <a:r>
              <a:t>Ask the room which trigger protects them.</a:t>
            </a:r>
          </a:p>
          <a:p>
            <a:endParaRPr/>
          </a:p>
          <a:p>
            <a:r>
              <a:t>The answer is only TTL.</a:t>
            </a:r>
          </a:p>
          <a:p>
            <a:endParaRPr/>
          </a:p>
          <a:p>
            <a:r>
              <a:t>Next, a support engineer fixes a status directly in the database during an incident.</a:t>
            </a:r>
          </a:p>
          <a:p>
            <a:endParaRPr/>
          </a:p>
          <a:p>
            <a:r>
              <a:t>Ask which trigger they use.</a:t>
            </a:r>
          </a:p>
          <a:p>
            <a:endParaRPr/>
          </a:p>
          <a:p>
            <a:r>
              <a:t>The answer is manual invalidation.</a:t>
            </a:r>
          </a:p>
          <a:p>
            <a:endParaRPr/>
          </a:p>
          <a:p>
            <a:r>
              <a:t>And remind them that memory eviction means Transaction Service must always cope with a miss by calling the live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Preventing Stale Data</a:t>
            </a:r>
          </a:p>
          <a:p>
            <a:r>
              <a:t>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PREVENTING STALE DATA</a:t>
            </a:r>
          </a:p>
          <a:p>
            <a:endParaRPr/>
          </a:p>
          <a:p>
            <a:r>
              <a:t>  Every place that fills the cache needs a matching place that clears it when the data changes.</a:t>
            </a:r>
          </a:p>
          <a:p>
            <a:endParaRPr/>
          </a:p>
          <a:p>
            <a:r>
              <a:t>  One correction to the first bullet.</a:t>
            </a:r>
          </a:p>
          <a:p>
            <a:endParaRPr/>
          </a:p>
          <a:p>
            <a:r>
              <a:t>  Redis does not join the PostgreSQL transaction, so the two cannot commit atomically, as one unit.</a:t>
            </a:r>
          </a:p>
          <a:p>
            <a:endParaRPr/>
          </a:p>
          <a:p>
            <a:r>
              <a:t>  The safe practice is to evict after the database commit succeeds.</a:t>
            </a:r>
          </a:p>
          <a:p>
            <a:endParaRPr/>
          </a:p>
          <a:p>
            <a:r>
              <a:t>  Use a transaction-aware cache manager or an after-commit hook.</a:t>
            </a:r>
          </a:p>
          <a:p>
            <a:endParaRPr/>
          </a:p>
          <a:p>
            <a:r>
              <a:t>  Keep a short TTL as a backstop.</a:t>
            </a:r>
          </a:p>
          <a:p>
            <a:endParaRPr/>
          </a:p>
          <a:p>
            <a:r>
              <a:t>  For balances, an explicit invalidation path means every posting evicts.</a:t>
            </a:r>
          </a:p>
          <a:p>
            <a:endParaRPr/>
          </a:p>
          <a:p>
            <a:r>
              <a:t>  Otherwise, you simply do not cache them.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customer moves money between their own accounts and refreshes the app.</a:t>
            </a:r>
          </a:p>
          <a:p>
            <a:endParaRPr/>
          </a:p>
          <a:p>
            <a:r>
              <a:t>  But a dashboard cache without eviction on transfer still shows the old totals.</a:t>
            </a:r>
          </a:p>
          <a:p>
            <a:endParaRPr/>
          </a:p>
          <a:p>
            <a:r>
              <a:t>  This is a leading source of support calls in digital banking.</a:t>
            </a:r>
          </a:p>
          <a:p>
            <a:endParaRPr/>
          </a:p>
          <a:p>
            <a:r>
              <a:t>- A bank caches credit-limit display values.</a:t>
            </a:r>
          </a:p>
          <a:p>
            <a:endParaRPr/>
          </a:p>
          <a:p>
            <a:r>
              <a:t>  It evicts that entry whenever an underwriter changes the limit.</a:t>
            </a:r>
          </a:p>
          <a:p>
            <a:endParaRPr/>
          </a:p>
          <a:p>
            <a:r>
              <a:t>  It still sets a short TTL, in case a batch process updates limits directly.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Imagine a customer dashboard read model built on top of the capstone.</a:t>
            </a:r>
          </a:p>
          <a:p>
            <a:endParaRPr/>
          </a:p>
          <a:p>
            <a:r>
              <a:t>It caches a summary of recent transactions per account.</a:t>
            </a:r>
          </a:p>
          <a:p>
            <a:endParaRPr/>
          </a:p>
          <a:p>
            <a:r>
              <a:t>When Transaction Service's consumer marks a transaction SUBMITTED, the dashboard must evict that account's summary.</a:t>
            </a:r>
          </a:p>
          <a:p>
            <a:endParaRPr/>
          </a:p>
          <a:p>
            <a:r>
              <a:t>Otherwise, the customer sees the transaction stuck as RECEIVED.</a:t>
            </a:r>
          </a:p>
          <a:p>
            <a:endParaRPr/>
          </a:p>
          <a:p>
            <a:r>
              <a:t>Now suppose the eviction ran before the transaction_db commit.</a:t>
            </a:r>
          </a:p>
          <a:p>
            <a:endParaRPr/>
          </a:p>
          <a:p>
            <a:r>
              <a:t>A concurrent read could re-cache the old RECEIVED state just before the commit lands.</a:t>
            </a:r>
          </a:p>
          <a:p>
            <a:endParaRPr/>
          </a:p>
          <a:p>
            <a:r>
              <a:t>Evicting after commit, with a short TTL as backup, prevents that race.</a:t>
            </a:r>
          </a:p>
          <a:p>
            <a:endParaRPr/>
          </a:p>
          <a:p>
            <a:r>
              <a:t>The pairing rule becomes a checklist item in code review.</a:t>
            </a:r>
          </a:p>
          <a:p>
            <a:endParaRPr/>
          </a:p>
          <a:p>
            <a:endParaRPr/>
          </a:p>
          <a:p>
            <a:r>
              <a:t>TOPIC 2 OF 2: Cache Stampede and Penetration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TWO RELATED FAILURE MODES</a:t>
            </a:r>
          </a:p>
          <a:p>
            <a:endParaRPr/>
          </a:p>
          <a:p>
            <a:r>
              <a:t>  Both failures send load straight past the cache to the database.</a:t>
            </a:r>
          </a:p>
          <a:p>
            <a:endParaRPr/>
          </a:p>
          <a:p>
            <a:r>
              <a:t>  In a stampede, the key is valuable and popular.</a:t>
            </a:r>
          </a:p>
          <a:p>
            <a:endParaRPr/>
          </a:p>
          <a:p>
            <a:r>
              <a:t>  One expiry turns thousands of cheap cache hits into thousands of identical expensive queries in the same second.</a:t>
            </a:r>
          </a:p>
          <a:p>
            <a:endParaRPr/>
          </a:p>
          <a:p>
            <a:r>
              <a:t>  That can overload the database.</a:t>
            </a:r>
          </a:p>
          <a:p>
            <a:endParaRPr/>
          </a:p>
          <a:p>
            <a:r>
              <a:t>  Penetration involves keys that will never exist, such as random or malformed IDs.</a:t>
            </a:r>
          </a:p>
          <a:p>
            <a:endParaRPr/>
          </a:p>
          <a:p>
            <a:r>
              <a:t>  A plain cache-aside setup does not store 'not found', so every request queries the database.</a:t>
            </a:r>
          </a:p>
          <a:p>
            <a:endParaRPr/>
          </a:p>
          <a:p>
            <a:r>
              <a:t>  Penetration is sometimes deliberate probing, which makes it a security concern too.</a:t>
            </a:r>
          </a:p>
          <a:p>
            <a:endParaRPr/>
          </a:p>
          <a:p>
            <a:r>
              <a:t>- MITIGATIONS</a:t>
            </a:r>
          </a:p>
          <a:p>
            <a:endParaRPr/>
          </a:p>
          <a:p>
            <a:r>
              <a:t>  For stampedes, let only one caller rebuild the value.</a:t>
            </a:r>
          </a:p>
          <a:p>
            <a:endParaRPr/>
          </a:p>
          <a:p>
            <a:r>
              <a:t>  Others wait or receive the old value.</a:t>
            </a:r>
          </a:p>
          <a:p>
            <a:endParaRPr/>
          </a:p>
          <a:p>
            <a:r>
              <a:t>  In Spring, @Cacheable(sync = true) does this within one application instance.</a:t>
            </a:r>
          </a:p>
          <a:p>
            <a:endParaRPr/>
          </a:p>
          <a:p>
            <a:r>
              <a:t>  Across many pods, you need a distributed lock.</a:t>
            </a:r>
          </a:p>
          <a:p>
            <a:endParaRPr/>
          </a:p>
          <a:p>
            <a:r>
              <a:t>  Or you use staggered, randomized TTLs so hot keys do not expire together.</a:t>
            </a:r>
          </a:p>
          <a:p>
            <a:endParaRPr/>
          </a:p>
          <a:p>
            <a:r>
              <a:t>  For penetration, cache a not-found marker for a short time.</a:t>
            </a:r>
          </a:p>
          <a:p>
            <a:endParaRPr/>
          </a:p>
          <a:p>
            <a:r>
              <a:t>  You can also validate IDs before lookup.</a:t>
            </a:r>
          </a:p>
          <a:p>
            <a:endParaRPr/>
          </a:p>
          <a:p>
            <a:r>
              <a:t>  Or use a bloom filter, a compact structure that cheaply answers 'definitely does not exist'.</a:t>
            </a:r>
          </a:p>
          <a:p>
            <a:endParaRPr/>
          </a:p>
          <a:p>
            <a:r>
              <a:t>  Keep negative entries brief, so newly created records appear quickly.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popular rates or offers page may have cached content that expires at the top of the hour.</a:t>
            </a:r>
          </a:p>
          <a:p>
            <a:endParaRPr/>
          </a:p>
          <a:p>
            <a:r>
              <a:t>  Every web server can then fire a burst of identical database queries at once.</a:t>
            </a:r>
          </a:p>
          <a:p>
            <a:endParaRPr/>
          </a:p>
          <a:p>
            <a:r>
              <a:t>  Staggered expiry avoids the spike.</a:t>
            </a:r>
          </a:p>
          <a:p>
            <a:endParaRPr/>
          </a:p>
          <a:p>
            <a:r>
              <a:t>- Automated scripts may probe an account-lookup endpoint with random account numbers.</a:t>
            </a:r>
          </a:p>
          <a:p>
            <a:endParaRPr/>
          </a:p>
          <a:p>
            <a:r>
              <a:t>  Each request bypasses the cache.</a:t>
            </a:r>
          </a:p>
          <a:p>
            <a:endParaRPr/>
          </a:p>
          <a:p>
            <a:r>
              <a:t>  Input validation, plus brief caching of not-found results, keeps that load off the database.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Point to Lab 2's input validation as a penetration defence the class will actually build.</a:t>
            </a:r>
          </a:p>
          <a:p>
            <a:endParaRPr/>
          </a:p>
          <a:p>
            <a:r>
              <a:t>CreateTransactionRequest requires accountId to match ACC- followed by 8 hex characters.</a:t>
            </a:r>
          </a:p>
          <a:p>
            <a:endParaRPr/>
          </a:p>
          <a:p>
            <a:r>
              <a:t>So malformed IDs get 400 before any call to Account Service.</a:t>
            </a:r>
          </a:p>
          <a:p>
            <a:endParaRPr/>
          </a:p>
          <a:p>
            <a:r>
              <a:t>A well-formed ID for a missing account still reaches Account Service, which returns 404, and Transaction Service then returns 409 ACCOUNT_NOT_ELIGIBLE.</a:t>
            </a:r>
          </a:p>
          <a:p>
            <a:endParaRPr/>
          </a:p>
          <a:p>
            <a:r>
              <a:t>Now picture a lecture-only cached design.</a:t>
            </a:r>
          </a:p>
          <a:p>
            <a:endParaRPr/>
          </a:p>
          <a:p>
            <a:r>
              <a:t>A short negative cache entry for that missing ID would stop a script from hitting account_db repeatedly.</a:t>
            </a:r>
          </a:p>
          <a:p>
            <a:endParaRPr/>
          </a:p>
          <a:p>
            <a:r>
              <a:t>Stampede protection would matter if many pods cached one popular reference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3: Distributed Caching Considerations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KEY CONSIDERATIONS</a:t>
            </a:r>
          </a:p>
          <a:p>
            <a:endParaRPr/>
          </a:p>
          <a:p>
            <a:r>
              <a:t>  Partitioning spreads keys across nodes, so memory and throughput can grow.</a:t>
            </a:r>
          </a:p>
          <a:p>
            <a:endParaRPr/>
          </a:p>
          <a:p>
            <a:r>
              <a:t>  But multi-key operations then only work when the keys land on the same partition.</a:t>
            </a:r>
          </a:p>
          <a:p>
            <a:endParaRPr/>
          </a:p>
          <a:p>
            <a:r>
              <a:t>  Consistent key design matters because pod 1 and pod 5 of the same service must write and evict identical keys.</a:t>
            </a:r>
          </a:p>
          <a:p>
            <a:endParaRPr/>
          </a:p>
          <a:p>
            <a:r>
              <a:t>  Other services may share them too.</a:t>
            </a:r>
          </a:p>
          <a:p>
            <a:endParaRPr/>
          </a:p>
          <a:p>
            <a:r>
              <a:t>  If the keys differ, evictions miss.</a:t>
            </a:r>
          </a:p>
          <a:p>
            <a:endParaRPr/>
          </a:p>
          <a:p>
            <a:r>
              <a:t>  Fallback behaviour means timeouts on cache calls and a clear rule.</a:t>
            </a:r>
          </a:p>
          <a:p>
            <a:endParaRPr/>
          </a:p>
          <a:p>
            <a:r>
              <a:t>  Either go to the database or degrade features.</a:t>
            </a:r>
          </a:p>
          <a:p>
            <a:endParaRPr/>
          </a:p>
          <a:p>
            <a:r>
              <a:t>  Without a short timeout, a slow cache makes every request slow.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An online banking web tier runs many instances behind a load balancer.</a:t>
            </a:r>
          </a:p>
          <a:p>
            <a:endParaRPr/>
          </a:p>
          <a:p>
            <a:r>
              <a:t>  It needs one shared session or cache store, because a customer's next request may land on a different instance.</a:t>
            </a:r>
          </a:p>
          <a:p>
            <a:endParaRPr/>
          </a:p>
          <a:p>
            <a:r>
              <a:t>- One service set no timeout on its cache client.</a:t>
            </a:r>
          </a:p>
          <a:p>
            <a:endParaRPr/>
          </a:p>
          <a:p>
            <a:r>
              <a:t>  When the cache network path degraded, every request hung, and a cache problem became a full outage.</a:t>
            </a:r>
          </a:p>
          <a:p>
            <a:endParaRPr/>
          </a:p>
          <a:p>
            <a:r>
              <a:t>  Short timeouts with database fallback prevent that.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On Day 4 the capstone services are deployed to OpenShift.</a:t>
            </a:r>
          </a:p>
          <a:p>
            <a:endParaRPr/>
          </a:p>
          <a:p>
            <a:r>
              <a:t>There, Transaction Service could run several pods.</a:t>
            </a:r>
          </a:p>
          <a:p>
            <a:endParaRPr/>
          </a:p>
          <a:p>
            <a:r>
              <a:t>Suppose the team added a shared cache for account status.</a:t>
            </a:r>
          </a:p>
          <a:p>
            <a:endParaRPr/>
          </a:p>
          <a:p>
            <a:r>
              <a:t>A freeze would then need to evict one key that every pod reads.</a:t>
            </a:r>
          </a:p>
          <a:p>
            <a:endParaRPr/>
          </a:p>
          <a:p>
            <a:r>
              <a:t>A local in-memory cache per pod would leave some pods serving stale ACTIVE status.</a:t>
            </a:r>
          </a:p>
          <a:p>
            <a:endParaRPr/>
          </a:p>
          <a:p>
            <a:r>
              <a:t>The team would also need a rule for cache outages.</a:t>
            </a:r>
          </a:p>
          <a:p>
            <a:endParaRPr/>
          </a:p>
          <a:p>
            <a:r>
              <a:t>Call Account Service directly, with the timeouts Lab 2 already configures in RestClientConfig.</a:t>
            </a:r>
          </a:p>
          <a:p>
            <a:endParaRPr/>
          </a:p>
          <a:p>
            <a:r>
              <a:t>Use this to show that a distributed cache is an architectural component.</a:t>
            </a:r>
          </a:p>
          <a:p>
            <a:endParaRPr/>
          </a:p>
          <a:p>
            <a:r>
              <a:t>It needs its own failure design.</a:t>
            </a:r>
          </a:p>
          <a:p>
            <a:endParaRPr/>
          </a:p>
          <a:p>
            <a:endParaRPr/>
          </a:p>
          <a:p>
            <a:r>
              <a:t>TOPIC 2 OF 3: Redis High Availability</a:t>
            </a:r>
          </a:p>
          <a:p>
            <a:r>
              <a:t>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HIGH AVAILABILITY OPTIONS</a:t>
            </a:r>
          </a:p>
          <a:p>
            <a:endParaRPr/>
          </a:p>
          <a:p>
            <a:r>
              <a:t>  With replication, a primary accepts writes and replicas copy them.</a:t>
            </a:r>
          </a:p>
          <a:p>
            <a:endParaRPr/>
          </a:p>
          <a:p>
            <a:r>
              <a:t>  This helps read capacity and gives you a standby.</a:t>
            </a:r>
          </a:p>
          <a:p>
            <a:endParaRPr/>
          </a:p>
          <a:p>
            <a:r>
              <a:t>  Replication is asynchronous, so a failover can lose the most recent writes.</a:t>
            </a:r>
          </a:p>
          <a:p>
            <a:endParaRPr/>
          </a:p>
          <a:p>
            <a:r>
              <a:t>  That is another reason Redis should hold rebuildable data.</a:t>
            </a:r>
          </a:p>
          <a:p>
            <a:endParaRPr/>
          </a:p>
          <a:p>
            <a:r>
              <a:t>  Sentinel runs separate processes that watch the primary.</a:t>
            </a:r>
          </a:p>
          <a:p>
            <a:endParaRPr/>
          </a:p>
          <a:p>
            <a:r>
              <a:t>  They agree it has failed, promote a replica, and tell clients the new address.</a:t>
            </a:r>
          </a:p>
          <a:p>
            <a:endParaRPr/>
          </a:p>
          <a:p>
            <a:r>
              <a:t>  Redis Cluster splits keys across multiple primaries using hash slots, each with replicas.</a:t>
            </a:r>
          </a:p>
          <a:p>
            <a:endParaRPr/>
          </a:p>
          <a:p>
            <a:r>
              <a:t>  That gives scale and failover together.</a:t>
            </a:r>
          </a:p>
          <a:p>
            <a:endParaRPr/>
          </a:p>
          <a:p>
            <a:r>
              <a:t>  Choose Sentinel for availability, and Cluster when data outgrows one node.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bank running a cache for its online channels typically deploys a primary with replicas and Sentinel.</a:t>
            </a:r>
          </a:p>
          <a:p>
            <a:endParaRPr/>
          </a:p>
          <a:p>
            <a:r>
              <a:t>  If a node fails during peak hours, a replica is promoted automatically.</a:t>
            </a:r>
          </a:p>
          <a:p>
            <a:endParaRPr/>
          </a:p>
          <a:p>
            <a:r>
              <a:t>  Nobody has to make a manual call to the operations team.</a:t>
            </a:r>
          </a:p>
          <a:p>
            <a:endParaRPr/>
          </a:p>
          <a:p>
            <a:r>
              <a:t>- Large consumer platforms may have caches too big for one machine.</a:t>
            </a:r>
          </a:p>
          <a:p>
            <a:endParaRPr/>
          </a:p>
          <a:p>
            <a:r>
              <a:t>  They use Redis Cluster so keys are spread across many primaries.</a:t>
            </a:r>
          </a:p>
          <a:p>
            <a:endParaRPr/>
          </a:p>
          <a:p>
            <a:r>
              <a:t>  Each primary has its own replica for failover.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Ask the room to picture the capstone in production on OpenShift.</a:t>
            </a:r>
          </a:p>
          <a:p>
            <a:endParaRPr/>
          </a:p>
          <a:p>
            <a:r>
              <a:t>It has a lecture-only session cache for a customer-facing channel.</a:t>
            </a:r>
          </a:p>
          <a:p>
            <a:endParaRPr/>
          </a:p>
          <a:p>
            <a:r>
              <a:t>A single Redis pod restarts during a node drain, and every logged-in customer is signed out.</a:t>
            </a:r>
          </a:p>
          <a:p>
            <a:endParaRPr/>
          </a:p>
          <a:p>
            <a:r>
              <a:t>With replicas and Sentinel, a replica is promoted and clients reconnect.</a:t>
            </a:r>
          </a:p>
          <a:p>
            <a:endParaRPr/>
          </a:p>
          <a:p>
            <a:r>
              <a:t>Now ask what the replica might be missing.</a:t>
            </a:r>
          </a:p>
          <a:p>
            <a:endParaRPr/>
          </a:p>
          <a:p>
            <a:r>
              <a:t>The answer is the last few writes before failover.</a:t>
            </a:r>
          </a:p>
          <a:p>
            <a:endParaRPr/>
          </a:p>
          <a:p>
            <a:r>
              <a:t>For sessions, that is acceptable.</a:t>
            </a:r>
          </a:p>
          <a:p>
            <a:endParaRPr/>
          </a:p>
          <a:p>
            <a:r>
              <a:t>For transaction status it would not be, which is why Lab 2 keeps status in PostgreSQL.</a:t>
            </a:r>
          </a:p>
          <a:p>
            <a:endParaRPr/>
          </a:p>
          <a:p>
            <a:endParaRPr/>
          </a:p>
          <a:p>
            <a:r>
              <a:t>TOPIC 3 OF 3: Securing Redis</a:t>
            </a:r>
          </a:p>
          <a:p>
            <a:r>
              <a:t>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SECURING REDIS</a:t>
            </a:r>
          </a:p>
          <a:p>
            <a:endParaRPr/>
          </a:p>
          <a:p>
            <a:r>
              <a:t>  Redis instances exposed without authentication have long been a common target for data theft and abuse.</a:t>
            </a:r>
          </a:p>
          <a:p>
            <a:endParaRPr/>
          </a:p>
          <a:p>
            <a:r>
              <a:t>  Anyone who can connect can read every key.</a:t>
            </a:r>
          </a:p>
          <a:p>
            <a:endParaRPr/>
          </a:p>
          <a:p>
            <a:r>
              <a:t>  requirepass sets one shared password.</a:t>
            </a:r>
          </a:p>
          <a:p>
            <a:endParaRPr/>
          </a:p>
          <a:p>
            <a:r>
              <a:t>  ACLs, or access control lists, arrived in Redis 6 and give each application its own user.</a:t>
            </a:r>
          </a:p>
          <a:p>
            <a:endParaRPr/>
          </a:p>
          <a:p>
            <a:r>
              <a:t>  That user is limited to specific commands and key patterns.</a:t>
            </a:r>
          </a:p>
          <a:p>
            <a:endParaRPr/>
          </a:p>
          <a:p>
            <a:r>
              <a:t>  Network restriction means only the owning services can reach the port.</a:t>
            </a:r>
          </a:p>
          <a:p>
            <a:endParaRPr/>
          </a:p>
          <a:p>
            <a:r>
              <a:t>  On OpenShift, that is a NetworkPolicy.</a:t>
            </a:r>
          </a:p>
          <a:p>
            <a:endParaRPr/>
          </a:p>
          <a:p>
            <a:r>
              <a:t>  TLS protects cached data between pods and nodes.</a:t>
            </a:r>
          </a:p>
          <a:p>
            <a:endParaRPr/>
          </a:p>
          <a:p>
            <a:r>
              <a:t>  The last bullet matters most.</a:t>
            </a:r>
          </a:p>
          <a:p>
            <a:endParaRPr/>
          </a:p>
          <a:p>
            <a:r>
              <a:t>  If data is too sensitive to protect well, do not cache it.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Security teams regularly find internal cache servers with no password that are reachable from wide network ranges.</a:t>
            </a:r>
          </a:p>
          <a:p>
            <a:endParaRPr/>
          </a:p>
          <a:p>
            <a:r>
              <a:t>  Any process on those networks could dump cached customer data.</a:t>
            </a:r>
          </a:p>
          <a:p>
            <a:endParaRPr/>
          </a:p>
          <a:p>
            <a:r>
              <a:t>  ACLs plus network policies close that gap.</a:t>
            </a:r>
          </a:p>
          <a:p>
            <a:endParaRPr/>
          </a:p>
          <a:p>
            <a:r>
              <a:t>- A bank that caches profile summaries for its mobile app can mask or drop sensitive fields before caching.</a:t>
            </a:r>
          </a:p>
          <a:p>
            <a:endParaRPr/>
          </a:p>
          <a:p>
            <a:r>
              <a:t>  Examples are full account numbers and government IDs.</a:t>
            </a:r>
          </a:p>
          <a:p>
            <a:endParaRPr/>
          </a:p>
          <a:p>
            <a:r>
              <a:t>  Then the cache never holds data that would be a reportable exposure if leaked.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Connect this to controls the class will see later.</a:t>
            </a:r>
          </a:p>
          <a:p>
            <a:endParaRPr/>
          </a:p>
          <a:p>
            <a:r>
              <a:t>Day 3 adds JWT security, based on signed tokens, to the capstone services, and Day 4 deploys them to OpenShift.</a:t>
            </a:r>
          </a:p>
          <a:p>
            <a:endParaRPr/>
          </a:p>
          <a:p>
            <a:r>
              <a:t>If a cache were added, the same thinking applies.</a:t>
            </a:r>
          </a:p>
          <a:p>
            <a:endParaRPr/>
          </a:p>
          <a:p>
            <a:r>
              <a:t>Spring Boot reads the Redis password from spring.data.redis.password.</a:t>
            </a:r>
          </a:p>
          <a:p>
            <a:endParaRPr/>
          </a:p>
          <a:p>
            <a:r>
              <a:t>That value comes from an OpenShift Secret, not application.yml.</a:t>
            </a:r>
          </a:p>
          <a:p>
            <a:endParaRPr/>
          </a:p>
          <a:p>
            <a:r>
              <a:t>A NetworkPolicy allows only Transaction Service pods to reach the Redis port.</a:t>
            </a:r>
          </a:p>
          <a:p>
            <a:endParaRPr/>
          </a:p>
          <a:p>
            <a:r>
              <a:t>TLS is enabled on the connection.</a:t>
            </a:r>
          </a:p>
          <a:p>
            <a:endParaRPr/>
          </a:p>
          <a:p>
            <a:r>
              <a:t>Then ask whether a cached TransactionResponse should include anything beyond synthetic IDs, amount, and status.</a:t>
            </a:r>
          </a:p>
          <a:p>
            <a:endParaRPr/>
          </a:p>
          <a:p>
            <a:r>
              <a:t>Lab 2's log rules already ban card numbers and emails.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WHAT TO MONITOR</a:t>
            </a:r>
          </a:p>
          <a:p>
            <a:endParaRPr/>
          </a:p>
          <a:p>
            <a:r>
              <a:t>  Hit rate tells you whether the cache is doing its job.</a:t>
            </a:r>
          </a:p>
          <a:p>
            <a:endParaRPr/>
          </a:p>
          <a:p>
            <a:r>
              <a:t>  A low hit rate means keys are poorly chosen, TTLs are too short, or the data should not be cached.</a:t>
            </a:r>
          </a:p>
          <a:p>
            <a:endParaRPr/>
          </a:p>
          <a:p>
            <a:r>
              <a:t>  Latency improvement compares cached reads with direct database reads.</a:t>
            </a:r>
          </a:p>
          <a:p>
            <a:endParaRPr/>
          </a:p>
          <a:p>
            <a:r>
              <a:t>  A cache that adds a network hop for little gain is pure cost.</a:t>
            </a:r>
          </a:p>
          <a:p>
            <a:endParaRPr/>
          </a:p>
          <a:p>
            <a:r>
              <a:t>  Memory usage and eviction rate show whether the cache is undersized.</a:t>
            </a:r>
          </a:p>
          <a:p>
            <a:endParaRPr/>
          </a:p>
          <a:p>
            <a:r>
              <a:t>  Frequent evictions under memory pressure lower the hit rate and cause database spikes.</a:t>
            </a:r>
          </a:p>
          <a:p>
            <a:endParaRPr/>
          </a:p>
          <a:p>
            <a:r>
              <a:t>  In Spring Boot, Micrometer publishes cache metrics through Actuator, the built-in metrics and health endpoints.</a:t>
            </a:r>
          </a:p>
          <a:p>
            <a:endParaRPr/>
          </a:p>
          <a:p>
            <a:r>
              <a:t>  Redis caches also need spring.cache.redis.enable-statistics set to true.</a:t>
            </a:r>
          </a:p>
          <a:p>
            <a:endParaRPr/>
          </a:p>
          <a:p>
            <a:r>
              <a:t>- Key Cache Metrics</a:t>
            </a:r>
          </a:p>
          <a:p>
            <a:endParaRPr/>
          </a:p>
          <a:p>
            <a:r>
              <a:t>  The top band shows six metrics.</a:t>
            </a:r>
          </a:p>
          <a:p>
            <a:endParaRPr/>
          </a:p>
          <a:p>
            <a:r>
              <a:t>  They are hit rate, miss rate, latency at p50, p95, and p99, evictions, memory usage, and throughput.</a:t>
            </a:r>
          </a:p>
          <a:p>
            <a:endParaRPr/>
          </a:p>
          <a:p>
            <a:r>
              <a:t>  The badges print targets, such as above 80 percent hit rate or below 85 percent memory.</a:t>
            </a:r>
          </a:p>
          <a:p>
            <a:endParaRPr/>
          </a:p>
          <a:p>
            <a:r>
              <a:t>  These are illustrative rules of thumb, not course or bank standards.</a:t>
            </a:r>
          </a:p>
          <a:p>
            <a:endParaRPr/>
          </a:p>
          <a:p>
            <a:r>
              <a:t>  Real targets come from the service's SLOs, its service level objectives, and from the business value of the cached data.</a:t>
            </a:r>
          </a:p>
          <a:p>
            <a:endParaRPr/>
          </a:p>
          <a:p>
            <a:r>
              <a:t>- Dashboard Example</a:t>
            </a:r>
          </a:p>
          <a:p>
            <a:endParaRPr/>
          </a:p>
          <a:p>
            <a:r>
              <a:t>  The dark centre panel is a sample dashboard with made-up values.</a:t>
            </a:r>
          </a:p>
          <a:p>
            <a:endParaRPr/>
          </a:p>
          <a:p>
            <a:r>
              <a:t>  It shows hit rate, latency percentiles, memory, evictions per second, hits versus misses, top commands, memory by data type, and connections.</a:t>
            </a:r>
          </a:p>
          <a:p>
            <a:endParaRPr/>
          </a:p>
          <a:p>
            <a:r>
              <a:t>  Use it to show what good looks like.</a:t>
            </a:r>
          </a:p>
          <a:p>
            <a:endParaRPr/>
          </a:p>
          <a:p>
            <a:r>
              <a:t>  That means a steady hit rate, flat latency, and memory with headroom.</a:t>
            </a:r>
          </a:p>
          <a:p>
            <a:endParaRPr/>
          </a:p>
          <a:p>
            <a:r>
              <a:t>  Evictions should be low and explainable.</a:t>
            </a:r>
          </a:p>
          <a:p>
            <a:endParaRPr/>
          </a:p>
          <a:p>
            <a:r>
              <a:t>  The spike pattern in the evictions chart is exactly what should trigger investigation.</a:t>
            </a:r>
          </a:p>
          <a:p>
            <a:endParaRPr/>
          </a:p>
          <a:p>
            <a:r>
              <a:t>- Best Practices and Tools</a:t>
            </a:r>
          </a:p>
          <a:p>
            <a:endParaRPr/>
          </a:p>
          <a:p>
            <a:r>
              <a:t>  The left panel recommends several practices.</a:t>
            </a:r>
          </a:p>
          <a:p>
            <a:endParaRPr/>
          </a:p>
          <a:p>
            <a:r>
              <a:t>  Set SLOs for cache metrics and alert on anomalies.</a:t>
            </a:r>
          </a:p>
          <a:p>
            <a:endParaRPr/>
          </a:p>
          <a:p>
            <a:r>
              <a:t>  Correlate cache metrics with application performance.</a:t>
            </a:r>
          </a:p>
          <a:p>
            <a:endParaRPr/>
          </a:p>
          <a:p>
            <a:r>
              <a:t>  Review eviction causes and fragmentation.</a:t>
            </a:r>
          </a:p>
          <a:p>
            <a:endParaRPr/>
          </a:p>
          <a:p>
            <a:r>
              <a:t>  Analyse key patterns and TTL usage.</a:t>
            </a:r>
          </a:p>
          <a:p>
            <a:endParaRPr/>
          </a:p>
          <a:p>
            <a:r>
              <a:t>  The footer tools are Redis INFO, Prometheus, Grafana, Alertmanager, OpenTelemetry, and application metrics.</a:t>
            </a:r>
          </a:p>
          <a:p>
            <a:endParaRPr/>
          </a:p>
          <a:p>
            <a:r>
              <a:t>  In this course, Micrometer, Actuator, and OpenTelemetry are the observability stack.</a:t>
            </a:r>
          </a:p>
          <a:p>
            <a:endParaRPr/>
          </a:p>
          <a:p>
            <a:r>
              <a:t>  So cache metrics belong on the same dashboards as the service's own metrics.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team adds a cache to a slow account-summary endpoint.</a:t>
            </a:r>
          </a:p>
          <a:p>
            <a:endParaRPr/>
          </a:p>
          <a:p>
            <a:r>
              <a:t>  Monitoring shows a low hit rate, because the key includes a timestamp that changes on every request.</a:t>
            </a:r>
          </a:p>
          <a:p>
            <a:endParaRPr/>
          </a:p>
          <a:p>
            <a:r>
              <a:t>  Fixing the key design raises the hit rate and actually removes database load.</a:t>
            </a:r>
          </a:p>
          <a:p>
            <a:endParaRPr/>
          </a:p>
          <a:p>
            <a:r>
              <a:t>- An operations team sees evictions climb every afternoon during a bank's peak online banking hours.</a:t>
            </a:r>
          </a:p>
          <a:p>
            <a:endParaRPr/>
          </a:p>
          <a:p>
            <a:r>
              <a:t>  They link it to memory reaching the configured limit.</a:t>
            </a:r>
          </a:p>
          <a:p>
            <a:endParaRPr/>
          </a:p>
          <a:p>
            <a:r>
              <a:t>  They resize the cache before customers notice slower pages.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Suppose after the course the team caches supported-currency and merchant reference data in Risk Assessment Service.</a:t>
            </a:r>
          </a:p>
          <a:p>
            <a:endParaRPr/>
          </a:p>
          <a:p>
            <a:r>
              <a:t>They expose cache metrics through Actuator and chart them in Grafana next to scoring latency.</a:t>
            </a:r>
          </a:p>
          <a:p>
            <a:endParaRPr/>
          </a:p>
          <a:p>
            <a:r>
              <a:t>After a week, the hit rate is very high and scoring p95 has dropped, so the cache stays.</a:t>
            </a:r>
          </a:p>
          <a:p>
            <a:endParaRPr/>
          </a:p>
          <a:p>
            <a:r>
              <a:t>A second cache on per-transaction lookups shows a very low hit rate.</a:t>
            </a:r>
          </a:p>
          <a:p>
            <a:endParaRPr/>
          </a:p>
          <a:p>
            <a:r>
              <a:t>Every transaction ID is unique, and memory climbs steadily.</a:t>
            </a:r>
          </a:p>
          <a:p>
            <a:endParaRPr/>
          </a:p>
          <a:p>
            <a:r>
              <a:t>The data says remove it.</a:t>
            </a:r>
          </a:p>
          <a:p>
            <a:endParaRPr/>
          </a:p>
          <a:p>
            <a:r>
              <a:t>That is the slide's subtitle in practice: revisit the strategy instead of leaving it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OBJECTIVE</a:t>
            </a:r>
          </a:p>
          <a:p>
            <a:endParaRPr/>
          </a:p>
          <a:p>
            <a:r>
              <a:t>  The goal is to separate databases or schemas so no table is shared across services.</a:t>
            </a:r>
          </a:p>
          <a:p>
            <a:endParaRPr/>
          </a:p>
          <a:p>
            <a:r>
              <a:t>  It is a ten-minute design checkpoint on paper, not coding.</a:t>
            </a:r>
          </a:p>
          <a:p>
            <a:endParaRPr/>
          </a:p>
          <a:p>
            <a:r>
              <a:t>  The worksheet is curriculum/day-02/exercises/exercise-2.1-data-ownership.md.</a:t>
            </a:r>
          </a:p>
          <a:p>
            <a:endParaRPr/>
          </a:p>
          <a:p>
            <a:r>
              <a:t>  Participants should finish able to answer two things for every table and column in a transaction.</a:t>
            </a:r>
          </a:p>
          <a:p>
            <a:endParaRPr/>
          </a:p>
          <a:p>
            <a:r>
              <a:t>  Which service owns it?</a:t>
            </a:r>
          </a:p>
          <a:p>
            <a:endParaRPr/>
          </a:p>
          <a:p>
            <a:r>
              <a:t>  And how does the other service learn about it?</a:t>
            </a:r>
          </a:p>
          <a:p>
            <a:endParaRPr/>
          </a:p>
          <a:p>
            <a:r>
              <a:t>  This comes last before Module 5, because the integration choices there only make sense once ownership is fixed.</a:t>
            </a:r>
          </a:p>
          <a:p>
            <a:endParaRPr/>
          </a:p>
          <a:p>
            <a:r>
              <a:t>- DO THIS</a:t>
            </a:r>
          </a:p>
          <a:p>
            <a:endParaRPr/>
          </a:p>
          <a:p>
            <a:r>
              <a:t>  The accounts table from Lab 1 lives only in account_db on host port 5433, owned by Account Service on port 8081.</a:t>
            </a:r>
          </a:p>
          <a:p>
            <a:endParaRPr/>
          </a:p>
          <a:p>
            <a:r>
              <a:t>  The transactions and processed_events tables live only in transaction_db on port 5434, owned by Transaction Service on port 8082.</a:t>
            </a:r>
          </a:p>
          <a:p>
            <a:endParaRPr/>
          </a:p>
          <a:p>
            <a:r>
              <a:t>  Transaction stores account_id as a plain value with an index.</a:t>
            </a:r>
          </a:p>
          <a:p>
            <a:endParaRPr/>
          </a:p>
          <a:p>
            <a:r>
              <a:t>  It never uses a foreign key into another database.</a:t>
            </a:r>
          </a:p>
          <a:p>
            <a:endParaRPr/>
          </a:p>
          <a:p>
            <a:r>
              <a:t>  Eligibility is a REST call, GET /api/v1/accounts/{accountId}, and only ACTIVE accounts may transact.</a:t>
            </a:r>
          </a:p>
          <a:p>
            <a:endParaRPr/>
          </a:p>
          <a:p>
            <a:r>
              <a:t>  Redis is lecture-only and must not appear in the design.</a:t>
            </a:r>
          </a:p>
          <a:p>
            <a:endParaRPr/>
          </a:p>
          <a:p>
            <a:r>
              <a:t>- EXPECTED RESULT</a:t>
            </a:r>
          </a:p>
          <a:p>
            <a:endParaRPr/>
          </a:p>
          <a:p>
            <a:r>
              <a:t>  A good map has two columns.</a:t>
            </a:r>
          </a:p>
          <a:p>
            <a:endParaRPr/>
          </a:p>
          <a:p>
            <a:r>
              <a:t>  One is headed Account Service with account_db, and the other Transaction Service with transaction_db.</a:t>
            </a:r>
          </a:p>
          <a:p>
            <a:endParaRPr/>
          </a:p>
          <a:p>
            <a:r>
              <a:t>  The Account column lists the accounts table with account_id, customer_id, account_type, status, currency, nickname, and timestamps.</a:t>
            </a:r>
          </a:p>
          <a:p>
            <a:endParaRPr/>
          </a:p>
          <a:p>
            <a:r>
              <a:t>  The Transaction column lists the transactions table, with account_id marked as a reference, plus processed_events.</a:t>
            </a:r>
          </a:p>
          <a:p>
            <a:endParaRPr/>
          </a:p>
          <a:p>
            <a:r>
              <a:t>  Arrows between the columns are labelled REST GET for eligibility and later Kafka event.</a:t>
            </a:r>
          </a:p>
          <a:p>
            <a:endParaRPr/>
          </a:p>
          <a:p>
            <a:r>
              <a:t>  They are never labelled SQL join or shared table.</a:t>
            </a:r>
          </a:p>
          <a:p>
            <a:endParaRPr/>
          </a:p>
          <a:p>
            <a:r>
              <a:t>  Nothing appears in both columns except the account ID value.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Banks separating a card platform from a core deposit system often find reports that join card and deposit tables directly.</a:t>
            </a:r>
          </a:p>
          <a:p>
            <a:endParaRPr/>
          </a:p>
          <a:p>
            <a:r>
              <a:t>  Mapping ownership first shows which of those joins must become API calls, events, or a reporting read model.</a:t>
            </a:r>
          </a:p>
          <a:p>
            <a:endParaRPr/>
          </a:p>
          <a:p>
            <a:r>
              <a:t>- Say a payments team needs to know whether an account is open.</a:t>
            </a:r>
          </a:p>
          <a:p>
            <a:endParaRPr/>
          </a:p>
          <a:p>
            <a:r>
              <a:t>  The ownership map makes clear that it asks the account system through its API instead of querying the account table.</a:t>
            </a:r>
          </a:p>
          <a:p>
            <a:endParaRPr/>
          </a:p>
          <a:p>
            <a:r>
              <a:t>  Then the account team can change its schema freely.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Run it this way.</a:t>
            </a:r>
          </a:p>
          <a:p>
            <a:endParaRPr/>
          </a:p>
          <a:p>
            <a:r>
              <a:t>Put people in pairs or threes and spend one minute on the brief.</a:t>
            </a:r>
          </a:p>
          <a:p>
            <a:endParaRPr/>
          </a:p>
          <a:p>
            <a:r>
              <a:t>Give six minutes to draw the map on the worksheet or a whiteboard.</a:t>
            </a:r>
          </a:p>
          <a:p>
            <a:endParaRPr/>
          </a:p>
          <a:p>
            <a:r>
              <a:t>Then take three minutes for debrief.</a:t>
            </a:r>
          </a:p>
          <a:p>
            <a:endParaRPr/>
          </a:p>
          <a:p>
            <a:r>
              <a:t>Circulate and look for the common mistakes.</a:t>
            </a:r>
          </a:p>
          <a:p>
            <a:endParaRPr/>
          </a:p>
          <a:p>
            <a:r>
              <a:t>One is a foreign key from transactions to accounts.</a:t>
            </a:r>
          </a:p>
          <a:p>
            <a:endParaRPr/>
          </a:p>
          <a:p>
            <a:r>
              <a:t>Another is a status column copied into transactions as the source of truth.</a:t>
            </a:r>
          </a:p>
          <a:p>
            <a:endParaRPr/>
          </a:p>
          <a:p>
            <a:r>
              <a:t>A third is a proposed shared schema for convenience.</a:t>
            </a:r>
          </a:p>
          <a:p>
            <a:endParaRPr/>
          </a:p>
          <a:p>
            <a:r>
              <a:t>In debrief, pick one strong map and ask three questions.</a:t>
            </a:r>
          </a:p>
          <a:p>
            <a:endParaRPr/>
          </a:p>
          <a:p>
            <a:r>
              <a:t>What happens when Account Service is down?</a:t>
            </a:r>
          </a:p>
          <a:p>
            <a:endParaRPr/>
          </a:p>
          <a:p>
            <a:r>
              <a:t>Lab 2 returns 503 ACCOUNT_SERVICE_UNAVAILABLE.</a:t>
            </a:r>
          </a:p>
          <a:p>
            <a:endParaRPr/>
          </a:p>
          <a:p>
            <a:r>
              <a:t>What if the account is frozen?</a:t>
            </a:r>
          </a:p>
          <a:p>
            <a:endParaRPr/>
          </a:p>
          <a:p>
            <a:r>
              <a:t>409 ACCOUNT_NOT_ELIGIBLE, no row, no event.</a:t>
            </a:r>
          </a:p>
          <a:p>
            <a:endParaRPr/>
          </a:p>
          <a:p>
            <a:r>
              <a:t>Where would Risk Assessment's data live in Lab 5?</a:t>
            </a:r>
          </a:p>
          <a:p>
            <a:endParaRPr/>
          </a:p>
          <a:p>
            <a:r>
              <a:t>In its own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"Data is the hardest coupling — own a store, not a shared schema."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SUPPLEMENTARY  ·  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Microservices Data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and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Give each service a persistence story: JPA and transactions, database-per-service, saga and outbox patterns, and the banking constraints around consistency and audit.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4846320"/>
            <a:ext cx="640080" cy="640080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4846320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4846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🗃️</a:t>
            </a:r>
          </a:p>
        </p:txBody>
      </p:sp>
      <p:sp>
        <p:nvSpPr>
          <p:cNvPr id="12" name="Oval 11"/>
          <p:cNvSpPr/>
          <p:nvPr/>
        </p:nvSpPr>
        <p:spPr>
          <a:xfrm>
            <a:off x="2011680" y="4846320"/>
            <a:ext cx="640080" cy="64008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4846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4" name="Oval 13"/>
          <p:cNvSpPr/>
          <p:nvPr/>
        </p:nvSpPr>
        <p:spPr>
          <a:xfrm>
            <a:off x="2788920" y="484632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88920" y="4846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DAY 2  •  MODULE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01 - Day 2 Objectives and Capstone Progress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 - Day 2 Objectives and Capstone 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DATA OWNERSHIP IN MICROSERVICES  ·  DATABASE PER SERVICE PATTERN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7"/>
            <a:ext cx="371481" cy="37148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7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833" y="1170437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BANKING OWNERSHIP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2103"/>
            <a:ext cx="5568696" cy="1901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Account Service -&gt; account records, status, nickname, customerId field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Account Service -&gt; account records, account status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Transaction Service -&gt; transaction ledger entries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Risk Assessment Service -&gt; risk scores, policy disposition, audit fields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7"/>
            <a:ext cx="371481" cy="37148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7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0257" y="1170437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WHY OWNERSHIP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62103"/>
            <a:ext cx="5568696" cy="111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Supports independent schema evolution and deployment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Other services access data through REST APIs, events, or read models -- never direct queries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2933"/>
            <a:ext cx="371481" cy="37148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672933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833" y="3672933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BAD DESIGN: SHARED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64599"/>
            <a:ext cx="5568696" cy="111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Account Service, Transaction Service, Risk Assessment Service -&gt; shared_bank_db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Services look separate in code but are tightly coupled through data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672933"/>
            <a:ext cx="371481" cy="371481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672933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0257" y="3672933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BETTER DESIGN: DATABASE PER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4164599"/>
            <a:ext cx="5568696" cy="1376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Account Service -&gt; account_db, Transaction Service -&gt; transaction_db, Risk Assessment Service -&gt; risk_db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Services communicate through APIs and events rather than shared 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Account Service owns accounts, Transaction Service owns transactions, Risk Assessment owns scores -- no service reaches into another's tables.   •   Each service gets its own database or schema -- shared tables would silently recreate the coupling microservices exist to remove.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03 - Database per Service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 - Database per Serv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SHARED DATABASE ANTI-PATTERN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schema change made for one service can silently break every other service reading the same shared tables.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874031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874031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2874031"/>
            <a:ext cx="10791327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WHY IT'S AN ANTI-PATTERN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0467"/>
            <a:ext cx="11247120" cy="877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Multiple services become dependent on the same schema, tables, and release timing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Cross-service queries and joins seem convenient but hide real coupling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Designing service boundaries around database tables only leads to the same trap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schema change made for one service can silently break every other service reading the same shared tables.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02 - Why Separate Data Ownership Matters in Banking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 - Why Separate Data Ownership Matters in B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POLYGLOT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No single database is best for every workload -- Order Service, Payment Service, and Analytics Service can each pick their own fit-for-purpose store.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27158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27158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2027158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EXAMPLE DATA STORE CHOICES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33594"/>
            <a:ext cx="5568696" cy="249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Order Service -&gt; PostgreSQL (relational, ACID, transactions, joins)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Lecture only: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some enterprises pick a document store for profiles -- this capstone uses PostgreSQL for every service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Lecture only: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Redis is a common cache -- Labs 1-5 do not install Redis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Analytics Service -&gt; Elasticsearch (full-text search, analytics)</a:t>
            </a:r>
          </a:p>
        </p:txBody>
      </p:sp>
      <p:sp>
        <p:nvSpPr>
          <p:cNvPr id="8" name="Oval 7"/>
          <p:cNvSpPr/>
          <p:nvPr/>
        </p:nvSpPr>
        <p:spPr>
          <a:xfrm>
            <a:off x="6135624" y="2027158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35624" y="2027158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417" y="2027158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CHALLENGES TO MANAGE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2533594"/>
            <a:ext cx="5568696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Increased operational complexity and more skills/tools to manage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Data consistency across different stores; no joins across databases (use APIs or events)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70448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87044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No single database is best for every workload -- Order Service, Payment Service, and Analytics Service can each pick their own fit-for-purpose store.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257 - Relational vs. NoSQL Data Stores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7 - Relational vs. NoSQL Data St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94" y="0"/>
            <a:ext cx="10389612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SPRING DATA ARCHITECTURE  ·  SPRING DATA JPA FUNDAMENTALS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718373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718373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718373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THE SPRING DATA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4809"/>
            <a:ext cx="3675888" cy="276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Your Spring Boot application -&gt; Spring Data abstraction layer -&gt; store-specific module -&gt; data store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Store modules: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Spring Data JPA, Spring Data MongoDB, Spring Data Cassandra, Spring Data Redis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Repository hierarchy: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Repository -&gt; CrudRepository -&gt; PagingAndSortingRepository -&gt; JpaRepository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718373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718373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609" y="1718373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JPA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2224809"/>
            <a:ext cx="3675888" cy="276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Entity: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represents a database table, mapped with @Entity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Primary key: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identifies each entity uniquely, mapped with @Id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Relationships: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@OneToMany, @ManyToOne, @OneToOne map associations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Persistence context: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 first-level cache that tracks entity state within a transaction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718373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718373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4225" y="1718373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BEST PRACTICES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2224809"/>
            <a:ext cx="3675888" cy="14180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Prefer derived queries for simple use cases; use @Transactional on service-layer methods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Avoid exposing repositories outside the service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Repository abstraction, template abstraction, domain mapping, and query derivation work the same way whether the store is JPA, MongoDB, or Redis.   •   Define the entity, extend JpaRepository, and Spring Data JPA generates the SQL -- no boilerplate DAO code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04 - Spring Data JPA and Repository Pattern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 - Spring Data JPA and Repository 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ENTITIES AND OBJECT-RELATIONAL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entity manager, persistence context, dirty checking, and SQL generation together turn changed Java objects into executed SQL statements.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32307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432307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2432307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HOW ORM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8743"/>
            <a:ext cx="5568696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Entity manager manages the persistence context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Persistence context tracks entity states (managed, new, detached, removed)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Dirty checking detects changes in entities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ORM converts changes to SQL statements and executes them against the database</a:t>
            </a:r>
          </a:p>
        </p:txBody>
      </p:sp>
      <p:sp>
        <p:nvSpPr>
          <p:cNvPr id="8" name="Oval 7"/>
          <p:cNvSpPr/>
          <p:nvPr/>
        </p:nvSpPr>
        <p:spPr>
          <a:xfrm>
            <a:off x="6135624" y="2432307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35624" y="2432307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417" y="2432307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BEST PRACTICES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2938743"/>
            <a:ext cx="5568696" cy="14180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Model the domain, not the database; keep entities small and focused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Use appropriate fetch types (LAZY by default); keep business logic in the service layer, not the entity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70448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87044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entity manager, persistence context, dirty checking, and SQL generation together turn changed Java objects into executed SQL statements.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05 - Entity Design and Relationships (within a service)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 - Entity Design and Relationships (within a service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262 - Entity Relationships and Fetch Strategies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2 - Entity Relationships and Fetch Strateg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REPOSITORY ABSTRACTIONS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CrudRepository, PagingAndSortingRepository, and JpaRepository each add a layer of out-of-the-box CRUD, paging, and JPA-specific capability.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837455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837455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2837455"/>
            <a:ext cx="10791327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WHY USE REPOSITORY ABSTRACTIONS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43891"/>
            <a:ext cx="11247120" cy="877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Decouples business logic from data access implementation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Consistent programming model across different data stores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Easier testing with mock repositories; supports automation of common CRUD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70448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587044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CrudRepository, PagingAndSortingRepository, and JpaRepository each add a layer of out-of-the-box CRUD, paging, and JPA-specific capability.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LAZY LOADING AND THE N+1 PROBLEM  ·  QUERY METHODS AND CUSTOM QUERIES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83323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83323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583323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89759"/>
            <a:ext cx="3675888" cy="14180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1 query to load N parents + N queries (one per parent's lazy collection) = N + 1 queries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Common in REST APIs returning lists with nested data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583323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583323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609" y="1583323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HOW TO AVOID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2089759"/>
            <a:ext cx="3675888" cy="2228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JOIN FETCH: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fetch associations in the same query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@EntityGraph, DTO projections, and batch fetching each solve it a different way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Always profile real queries (Hibernate SQL logs, p6spy, Datasource proxy)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583323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583323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4225" y="1583323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FOUR QUERY APPROACHES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2089759"/>
            <a:ext cx="3675888" cy="3038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Derived query methods: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Spring Data parses the method name and builds the query automatically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@Query (custom JPQL):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for when the method name would be too long or unreadable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Native SQL queries: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for database-specific features or complex queries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Named queries: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reusable queries defined with @NamedQuery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Loading N parent records and then accessing a lazy collection on each one issues 1 + N queries -- and performance degrades as N grows.   •   findByEmail, findByStatus, and findByNameContaining are parsed straight from the method name -- no query code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DATABASE CONNECTION POOLING  ·  SCHEMA MIGRATION WITH FLYWAY OR LIQUIBASE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376529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6529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376529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WHY POOLING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2965"/>
            <a:ext cx="5568696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Establishing a DB connection is expensive (network handshake, authentication)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Pooling reuses connections, reducing latency and improving throughput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Prevents exhausting database connections and improves scalability under load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376529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376529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417" y="1376529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KEY HIKARICP 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882965"/>
            <a:ext cx="5568696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maximum-pool-size, minimum-idle, connection-timeout, idle-timeout, max-lifetime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Right-size the pool to match database capacity and workload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80811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680811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993" y="3680811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FLYWAY VS. LIQUIBASE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87247"/>
            <a:ext cx="5568696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Flyway: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SQL-first, simple learning curve, manual (SQL) rollback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Liquibase: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SQL, XML, YAML, or Java changesets; more extensible, built-in rollback support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680811"/>
            <a:ext cx="382641" cy="382641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680811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417" y="3680811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BEST PRACTICES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4187247"/>
            <a:ext cx="5568696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Always version control migration files; make migrations small, atomic, and focused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Never edit a migration that has already been applied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HikariCP, Spring Boot's default pool, cuts latency and prevents connection exhaustion by reusing a right-sized pool of connections.   •   Flyway and Liquibase both track applied migrations in a history table so every environment ends up on the exact same schema version.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06 - Flyway Migrations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 - Flyway Mig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DATABASE CONFIGURATION ACROSS ENVIRONMENTS  ·  LOCAL TRANSACTIONS WITH SPRING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77013"/>
            <a:ext cx="376038" cy="37603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77013"/>
            <a:ext cx="376038" cy="3760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1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6390" y="1277013"/>
            <a:ext cx="5119506" cy="37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2" b="1" i="0">
                <a:solidFill>
                  <a:srgbClr val="D1282E"/>
                </a:solidFill>
                <a:latin typeface="Nirmala UI"/>
              </a:rPr>
              <a:t>TYPICAL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74710"/>
            <a:ext cx="5568696" cy="1393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72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72" b="1" i="0">
                <a:solidFill>
                  <a:srgbClr val="000000"/>
                </a:solidFill>
                <a:latin typeface="Nirmala UI"/>
              </a:rPr>
              <a:t>Development: </a:t>
            </a:r>
            <a:r>
              <a:rPr sz="1572" b="0" i="0">
                <a:solidFill>
                  <a:srgbClr val="000000"/>
                </a:solidFill>
                <a:latin typeface="Nirmala UI"/>
              </a:rPr>
              <a:t>local or shared DB for developer productivity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72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72" b="1" i="0">
                <a:solidFill>
                  <a:srgbClr val="000000"/>
                </a:solidFill>
                <a:latin typeface="Nirmala UI"/>
              </a:rPr>
              <a:t>Test/QA: </a:t>
            </a:r>
            <a:r>
              <a:rPr sz="1572" b="0" i="0">
                <a:solidFill>
                  <a:srgbClr val="000000"/>
                </a:solidFill>
                <a:latin typeface="Nirmala UI"/>
              </a:rPr>
              <a:t>isolated DB for testing and automation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72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72" b="1" i="0">
                <a:solidFill>
                  <a:srgbClr val="000000"/>
                </a:solidFill>
                <a:latin typeface="Nirmala UI"/>
              </a:rPr>
              <a:t>Staging/UAT: </a:t>
            </a:r>
            <a:r>
              <a:rPr sz="1572" b="0" i="0">
                <a:solidFill>
                  <a:srgbClr val="000000"/>
                </a:solidFill>
                <a:latin typeface="Nirmala UI"/>
              </a:rPr>
              <a:t>production-like for final validation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72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72" b="1" i="0">
                <a:solidFill>
                  <a:srgbClr val="000000"/>
                </a:solidFill>
                <a:latin typeface="Nirmala UI"/>
              </a:rPr>
              <a:t>Production: </a:t>
            </a:r>
            <a:r>
              <a:rPr sz="1572" b="0" i="0">
                <a:solidFill>
                  <a:srgbClr val="000000"/>
                </a:solidFill>
                <a:latin typeface="Nirmala UI"/>
              </a:rPr>
              <a:t>highly available and secured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277013"/>
            <a:ext cx="376038" cy="37603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277013"/>
            <a:ext cx="376038" cy="3760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1" b="1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4814" y="1277013"/>
            <a:ext cx="5119506" cy="37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2" b="1" i="0">
                <a:solidFill>
                  <a:srgbClr val="D1282E"/>
                </a:solidFill>
                <a:latin typeface="Nirmala UI"/>
              </a:rPr>
              <a:t>BEST PRACTICES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774710"/>
            <a:ext cx="5568696" cy="112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72" b="0" i="0">
                <a:solidFill>
                  <a:srgbClr val="000000"/>
                </a:solidFill>
                <a:latin typeface="Nirmala UI"/>
              </a:rPr>
              <a:t>•  Never commit passwords or URLs; use environment variables or a secrets manager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72" b="0" i="0">
                <a:solidFill>
                  <a:srgbClr val="000000"/>
                </a:solidFill>
                <a:latin typeface="Nirmala UI"/>
              </a:rPr>
              <a:t>•  Use the least-privilege DB user and validate configuration at startup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277992"/>
            <a:ext cx="376038" cy="376038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277992"/>
            <a:ext cx="376038" cy="3760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1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390" y="3277992"/>
            <a:ext cx="5119506" cy="37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2" b="1" i="0">
                <a:solidFill>
                  <a:srgbClr val="D1282E"/>
                </a:solidFill>
                <a:latin typeface="Nirmala UI"/>
              </a:rPr>
              <a:t>HOW A LOCAL TRANSACTION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75689"/>
            <a:ext cx="5568696" cy="1658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72" b="0" i="0">
                <a:solidFill>
                  <a:srgbClr val="000000"/>
                </a:solidFill>
                <a:latin typeface="Nirmala UI"/>
              </a:rPr>
              <a:t>•  Service layer begins a transaction, executes operations, then commits or rolls back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72" b="0" i="0">
                <a:solidFill>
                  <a:srgbClr val="000000"/>
                </a:solidFill>
                <a:latin typeface="Nirmala UI"/>
              </a:rPr>
              <a:t>•  Default propagation is REQUIRED; runtime exceptions trigger rollback by default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72" b="0" i="0">
                <a:solidFill>
                  <a:srgbClr val="000000"/>
                </a:solidFill>
                <a:latin typeface="Nirmala UI"/>
              </a:rPr>
              <a:t>•  Managed by Spring's PlatformTransactionManager, applied via @Transactional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277992"/>
            <a:ext cx="376038" cy="376038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277992"/>
            <a:ext cx="376038" cy="3760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1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4814" y="3277992"/>
            <a:ext cx="5119506" cy="37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2" b="1" i="0">
                <a:solidFill>
                  <a:srgbClr val="D1282E"/>
                </a:solidFill>
                <a:latin typeface="Nirmala UI"/>
              </a:rPr>
              <a:t>BEST PRACTICES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775689"/>
            <a:ext cx="5568696" cy="112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72" b="0" i="0">
                <a:solidFill>
                  <a:srgbClr val="000000"/>
                </a:solidFill>
                <a:latin typeface="Nirmala UI"/>
              </a:rPr>
              <a:t>•  Keep transactions short and focused; use @Transactional at the service layer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72" b="0" i="0">
                <a:solidFill>
                  <a:srgbClr val="000000"/>
                </a:solidFill>
                <a:latin typeface="Nirmala UI"/>
              </a:rPr>
              <a:t>•  Do not perform remote calls (REST, messaging) inside a transaction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application-dev.yml, application-qa.yml, and application-prod.yml each point at a different database with different pool sizing and logging.   •   If any operation inside a @Transactional service method throws, Spring rolls back every change made earlier in that same method.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07 - Local Transactions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 - Local Trans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TRANSACTION PROPAGATION  ·  TRANSACTION ISOLATION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7715"/>
            <a:ext cx="11247120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D1282E"/>
                </a:solidFill>
              </a:rPr>
              <a:t>📌  </a:t>
            </a:r>
            <a:r>
              <a:rPr sz="1600" b="1" i="0">
                <a:solidFill>
                  <a:srgbClr val="D1282E"/>
                </a:solidFill>
                <a:latin typeface="Nirmala UI"/>
              </a:rPr>
              <a:t>THE FOUR SQL ISOLATION LEVELS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14151"/>
          <a:ext cx="11247120" cy="2025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7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149">
                <a:tc>
                  <a:txBody>
                    <a:bodyPr/>
                    <a:lstStyle/>
                    <a:p>
                      <a:pPr algn="l"/>
                      <a:r>
                        <a:rPr sz="1476" b="1">
                          <a:solidFill>
                            <a:srgbClr val="FFFFFF"/>
                          </a:solidFill>
                          <a:latin typeface="Nirmala UI"/>
                        </a:rPr>
                        <a:t>LEVEL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6" b="1">
                          <a:solidFill>
                            <a:srgbClr val="FFFFFF"/>
                          </a:solidFill>
                          <a:latin typeface="Nirmala UI"/>
                        </a:rPr>
                        <a:t>PREVENTS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76" b="1">
                          <a:solidFill>
                            <a:srgbClr val="FFFFFF"/>
                          </a:solidFill>
                          <a:latin typeface="Nirmala UI"/>
                        </a:rPr>
                        <a:t>CONCURRENCY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149">
                <a:tc>
                  <a:txBody>
                    <a:bodyPr/>
                    <a:lstStyle/>
                    <a:p>
                      <a:r>
                        <a:rPr sz="1476" b="1">
                          <a:solidFill>
                            <a:srgbClr val="000000"/>
                          </a:solidFill>
                          <a:latin typeface="Nirmala UI"/>
                        </a:rPr>
                        <a:t>Read Uncommitted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6" b="0">
                          <a:solidFill>
                            <a:srgbClr val="000000"/>
                          </a:solidFill>
                          <a:latin typeface="Nirmala UI"/>
                        </a:rPr>
                        <a:t>Nothing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6" b="0">
                          <a:solidFill>
                            <a:srgbClr val="000000"/>
                          </a:solidFill>
                          <a:latin typeface="Nirmala UI"/>
                        </a:rPr>
                        <a:t>Highest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149">
                <a:tc>
                  <a:txBody>
                    <a:bodyPr/>
                    <a:lstStyle/>
                    <a:p>
                      <a:r>
                        <a:rPr sz="1476" b="1">
                          <a:solidFill>
                            <a:srgbClr val="000000"/>
                          </a:solidFill>
                          <a:latin typeface="Nirmala UI"/>
                        </a:rPr>
                        <a:t>Read Committed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6" b="0">
                          <a:solidFill>
                            <a:srgbClr val="000000"/>
                          </a:solidFill>
                          <a:latin typeface="Nirmala UI"/>
                        </a:rPr>
                        <a:t>Dirty reads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6" b="0">
                          <a:solidFill>
                            <a:srgbClr val="000000"/>
                          </a:solidFill>
                          <a:latin typeface="Nirmala UI"/>
                        </a:rPr>
                        <a:t>High (most systems' default)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149">
                <a:tc>
                  <a:txBody>
                    <a:bodyPr/>
                    <a:lstStyle/>
                    <a:p>
                      <a:r>
                        <a:rPr sz="1476" b="1">
                          <a:solidFill>
                            <a:srgbClr val="000000"/>
                          </a:solidFill>
                          <a:latin typeface="Nirmala UI"/>
                        </a:rPr>
                        <a:t>Repeatable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6" b="0">
                          <a:solidFill>
                            <a:srgbClr val="000000"/>
                          </a:solidFill>
                          <a:latin typeface="Nirmala UI"/>
                        </a:rPr>
                        <a:t>Dirty + non-repeatable 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6" b="0">
                          <a:solidFill>
                            <a:srgbClr val="000000"/>
                          </a:solidFill>
                          <a:latin typeface="Nirmala U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149">
                <a:tc>
                  <a:txBody>
                    <a:bodyPr/>
                    <a:lstStyle/>
                    <a:p>
                      <a:r>
                        <a:rPr sz="1476" b="1">
                          <a:solidFill>
                            <a:srgbClr val="000000"/>
                          </a:solidFill>
                          <a:latin typeface="Nirmala UI"/>
                        </a:rPr>
                        <a:t>Serializable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6" b="0">
                          <a:solidFill>
                            <a:srgbClr val="000000"/>
                          </a:solidFill>
                          <a:latin typeface="Nirmala UI"/>
                        </a:rPr>
                        <a:t>Dirty + non-repeatable + phantom reads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6" b="0">
                          <a:solidFill>
                            <a:srgbClr val="000000"/>
                          </a:solidFill>
                          <a:latin typeface="Nirmala UI"/>
                        </a:rPr>
                        <a:t>Lowest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457200" y="3849624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84962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2993" y="3849624"/>
            <a:ext cx="10791327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KEY PROPAGATION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56060"/>
            <a:ext cx="11247120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REQUIRED (default):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join the existing transaction, or create a new one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REQUIRES_NEW: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suspend any existing transaction and start an independent one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MANDATORY: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must run inside an existing transaction, or throw an exception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NEVER: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must not run inside a transaction at 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REQUIRED is the sensible default for most business operations; REQUIRES_NEW isolates audit logging or notifications from the main transaction.   •   READ COMMITTED is the default for most systems and balances consistency against concurrency; SERIALIZABLE trades concurrency for full correctness.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OPTIMISTIC AND PESSIMISTIC LOCKING  ·  WHY DISTRIBUTED TRANSACTIONS ARE DIFFICULT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7"/>
            <a:ext cx="371481" cy="37148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7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833" y="1170437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OPTIMISTIC LOCKING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2103"/>
            <a:ext cx="5568696" cy="1638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Assume no conflicts; validate the version at commit time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@Version field on the entity is checked and incremented automatically by JPA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High concurrency, but requires retry logic on conflict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7"/>
            <a:ext cx="371481" cy="37148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7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0257" y="1170437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PESSIMISTIC LOCKING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62103"/>
            <a:ext cx="5568696" cy="111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Assume conflicts; lock the row upfront with @Lock(LockModeType.PESSIMISTIC_WRITE)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Prevents conflicts outright, but reduces concurrency and risks deadlocks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410712"/>
            <a:ext cx="371481" cy="37148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833" y="3410712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WHY IT'S 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02378"/>
            <a:ext cx="5568696" cy="1638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No central coordinator knows the status of every participant at all times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Network latency, partitions, and inevitable service failures make atomicity unreliable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Locking across services hurts availability, performance, and scalability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410712"/>
            <a:ext cx="371481" cy="371481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410712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0257" y="3410712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WHAT MICROSERVICES DO INSTEAD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902378"/>
            <a:ext cx="5568696" cy="852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Avoid distributed transactions where possible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Use patterns like Saga, Outbox, and eventual consistency; design for compensation, not rollback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@Version field enables optimistic locking for read-heavy, low-conflict data; PESSIMISTIC_WRITE locks suit high-conflict, write-heavy updates.   •   Once a service commits, it cannot be rolled back automatically if another downstream service fails -- data is left partially updated.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08 - Distributed Transactions - Why Avoid Them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 - Distributed Transactions - Why Avoid Th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TWO-PHASE COMMIT AND ITS LIMITATIONS  ·  EVENTUAL CONSISTENCY  ·  SAGA PATTERN 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37711"/>
            <a:ext cx="320873" cy="32087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37711"/>
            <a:ext cx="320873" cy="3208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38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1225" y="1237711"/>
            <a:ext cx="3281863" cy="32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1" b="1" i="0">
                <a:solidFill>
                  <a:srgbClr val="D1282E"/>
                </a:solidFill>
                <a:latin typeface="Nirmala UI"/>
              </a:rPr>
              <a:t>HOW 2PC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2395"/>
            <a:ext cx="3675888" cy="1415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41" b="1" i="0">
                <a:solidFill>
                  <a:srgbClr val="000000"/>
                </a:solidFill>
                <a:latin typeface="Nirmala UI"/>
              </a:rPr>
              <a:t>Phase 1 (Prepare): </a:t>
            </a:r>
            <a:r>
              <a:rPr sz="1341" b="0" i="0">
                <a:solidFill>
                  <a:srgbClr val="000000"/>
                </a:solidFill>
                <a:latin typeface="Nirmala UI"/>
              </a:rPr>
              <a:t>coordinator asks all participants if they are ready to commit</a:t>
            </a:r>
          </a:p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41" b="1" i="0">
                <a:solidFill>
                  <a:srgbClr val="000000"/>
                </a:solidFill>
                <a:latin typeface="Nirmala UI"/>
              </a:rPr>
              <a:t>Phase 2 (Commit/Rollback): </a:t>
            </a:r>
            <a:r>
              <a:rPr sz="1341" b="0" i="0">
                <a:solidFill>
                  <a:srgbClr val="000000"/>
                </a:solidFill>
                <a:latin typeface="Nirmala UI"/>
              </a:rPr>
              <a:t>if all voted yes, coordinator tells everyone to commit; otherwise, rollback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237711"/>
            <a:ext cx="320873" cy="320873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237711"/>
            <a:ext cx="320873" cy="3208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38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841" y="1237711"/>
            <a:ext cx="3281863" cy="32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1" b="1" i="0">
                <a:solidFill>
                  <a:srgbClr val="D1282E"/>
                </a:solidFill>
                <a:latin typeface="Nirmala UI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1662395"/>
            <a:ext cx="3675888" cy="1189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41" b="1" i="0">
                <a:solidFill>
                  <a:srgbClr val="000000"/>
                </a:solidFill>
                <a:latin typeface="Nirmala UI"/>
              </a:rPr>
              <a:t>Blocking protocol: </a:t>
            </a:r>
            <a:r>
              <a:rPr sz="1341" b="0" i="0">
                <a:solidFill>
                  <a:srgbClr val="000000"/>
                </a:solidFill>
                <a:latin typeface="Nirmala UI"/>
              </a:rPr>
              <a:t>a coordinator failure after Phase 1 leaves participants stuck</a:t>
            </a:r>
          </a:p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High latency, poor scalability, and not resilient to network partitions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237711"/>
            <a:ext cx="320873" cy="320873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237711"/>
            <a:ext cx="320873" cy="3208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38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2457" y="1237711"/>
            <a:ext cx="3281863" cy="32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1" b="1" i="0">
                <a:solidFill>
                  <a:srgbClr val="D1282E"/>
                </a:solidFill>
                <a:latin typeface="Nirmala UI"/>
              </a:rP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1662395"/>
            <a:ext cx="3675888" cy="1415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A write goes to the primary; the update propagates asynchronously to replicas</a:t>
            </a:r>
          </a:p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For a window of time, different reads may return different values</a:t>
            </a:r>
          </a:p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After propagation completes, all nodes converge to the same value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87735"/>
            <a:ext cx="320873" cy="320873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187735"/>
            <a:ext cx="320873" cy="3208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38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225" y="3187735"/>
            <a:ext cx="3281863" cy="32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1" b="1" i="0">
                <a:solidFill>
                  <a:srgbClr val="D1282E"/>
                </a:solidFill>
                <a:latin typeface="Nirmala UI"/>
              </a:rPr>
              <a:t>KEY CHARACTERISTICS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12419"/>
            <a:ext cx="3675888" cy="1189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No immediate consistency, but guaranteed convergence and tolerance for failures</a:t>
            </a:r>
          </a:p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41" b="1" i="0">
                <a:solidFill>
                  <a:srgbClr val="000000"/>
                </a:solidFill>
                <a:latin typeface="Nirmala UI"/>
              </a:rPr>
              <a:t>Trade-off: </a:t>
            </a:r>
            <a:r>
              <a:rPr sz="1341" b="0" i="0">
                <a:solidFill>
                  <a:srgbClr val="000000"/>
                </a:solidFill>
                <a:latin typeface="Nirmala UI"/>
              </a:rPr>
              <a:t>sacrifices immediate consistency for availability and scalability</a:t>
            </a:r>
          </a:p>
        </p:txBody>
      </p:sp>
      <p:sp>
        <p:nvSpPr>
          <p:cNvPr id="19" name="Oval 18"/>
          <p:cNvSpPr/>
          <p:nvPr/>
        </p:nvSpPr>
        <p:spPr>
          <a:xfrm>
            <a:off x="4242816" y="3187735"/>
            <a:ext cx="320873" cy="320873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42816" y="3187735"/>
            <a:ext cx="320873" cy="3208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38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841" y="3187735"/>
            <a:ext cx="3281863" cy="32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1" b="1" i="0">
                <a:solidFill>
                  <a:srgbClr val="D1282E"/>
                </a:solidFill>
                <a:latin typeface="Nirmala UI"/>
              </a:rPr>
              <a:t>HOW A SAGA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3612419"/>
            <a:ext cx="3675888" cy="1642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Each service completes its own local transaction, then triggers the next step</a:t>
            </a:r>
          </a:p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If a step fails, previously completed steps are compensated in reverse order</a:t>
            </a:r>
          </a:p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Can be implemented via orchestration (central coordinator) or choreography (event-driven)</a:t>
            </a:r>
          </a:p>
        </p:txBody>
      </p:sp>
      <p:sp>
        <p:nvSpPr>
          <p:cNvPr id="23" name="Oval 22"/>
          <p:cNvSpPr/>
          <p:nvPr/>
        </p:nvSpPr>
        <p:spPr>
          <a:xfrm>
            <a:off x="8028432" y="3187735"/>
            <a:ext cx="320873" cy="320873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2" y="3187735"/>
            <a:ext cx="320873" cy="3208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38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2457" y="3187735"/>
            <a:ext cx="3281863" cy="32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1" b="1" i="0">
                <a:solidFill>
                  <a:srgbClr val="D1282E"/>
                </a:solidFill>
                <a:latin typeface="Nirmala UI"/>
              </a:rPr>
              <a:t>BENEFITS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2" y="3612419"/>
            <a:ext cx="3675888" cy="736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09"/>
              </a:spcAft>
            </a:pPr>
            <a:r>
              <a:rPr sz="1341" b="0" i="0">
                <a:solidFill>
                  <a:srgbClr val="000000"/>
                </a:solidFill>
                <a:latin typeface="Nirmala UI"/>
              </a:rPr>
              <a:t>•  No distributed locks or 2PC; better scalability, availability, and fault isolation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31536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54315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If the coordinator fails after the prepare phase, every participant blocks indefinitely waiting for a decision that may never come.   •   Different nodes may briefly disagree after a write, but the system guarantees they converge to the same state once updates stop arriving.   •   If step three of a saga fails, steps one and two are undone in reverse order through their own compensating actions -- not a database rollback.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09 - Saga Pattern Overview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 - Saga Pattern 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CHOREOGRAPHY-BASED SAGAS  ·  ORCHESTRATION-BASED SAGAS  ·  COMPENSATING TRANSACTIONS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6"/>
            <a:ext cx="331923" cy="33192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6"/>
            <a:ext cx="331923" cy="3319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81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2275" y="1170436"/>
            <a:ext cx="3270813" cy="331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7" b="1" i="0">
                <a:solidFill>
                  <a:srgbClr val="D1282E"/>
                </a:solidFill>
                <a:latin typeface="Nirmala UI"/>
              </a:rPr>
              <a:t>HOW CHOREOGRAPHY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9745"/>
            <a:ext cx="3675888" cy="1464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A service performs a local transaction, then publishes an event describing what happened</a:t>
            </a:r>
          </a:p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Other services listen for that event and perform their own local transaction and next event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170436"/>
            <a:ext cx="331923" cy="331923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170436"/>
            <a:ext cx="331923" cy="3319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81" b="1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7891" y="1170436"/>
            <a:ext cx="3270813" cy="331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7" b="1" i="0">
                <a:solidFill>
                  <a:srgbClr val="D1282E"/>
                </a:solidFill>
                <a:latin typeface="Nirmala UI"/>
              </a:rPr>
              <a:t>BENEFITS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1609745"/>
            <a:ext cx="3675888" cy="1464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Decentralized, highly scalable, and loosely coupled -- no single point of failure</a:t>
            </a:r>
          </a:p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Harder to visualize the full business flow and to trace/debug across many services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170436"/>
            <a:ext cx="331923" cy="331923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170436"/>
            <a:ext cx="331923" cy="3319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81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3507" y="1170436"/>
            <a:ext cx="3270813" cy="331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7" b="1" i="0">
                <a:solidFill>
                  <a:srgbClr val="D1282E"/>
                </a:solidFill>
                <a:latin typeface="Nirmala UI"/>
              </a:rPr>
              <a:t>HOW ORCHESTRATION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1609745"/>
            <a:ext cx="3675888" cy="1932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Client requests a business operation; orchestrator starts a saga instance</a:t>
            </a:r>
          </a:p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Orchestrator sends a command to each participant, records progress, and proceeds</a:t>
            </a:r>
          </a:p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On failure, the orchestrator triggers compensating transactions in reverse order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652431"/>
            <a:ext cx="331923" cy="331923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652431"/>
            <a:ext cx="331923" cy="3319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81" b="1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5" y="3652431"/>
            <a:ext cx="3270813" cy="331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7" b="1" i="0">
                <a:solidFill>
                  <a:srgbClr val="D1282E"/>
                </a:solidFill>
                <a:latin typeface="Nirmala UI"/>
              </a:rPr>
              <a:t>ADVANTAGES AND CONSIDERATIONS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91740"/>
            <a:ext cx="3675888" cy="995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Centralized control, visibility, and easier error handling</a:t>
            </a:r>
          </a:p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The orchestrator becomes a critical component and a potential bottleneck</a:t>
            </a:r>
          </a:p>
        </p:txBody>
      </p:sp>
      <p:sp>
        <p:nvSpPr>
          <p:cNvPr id="19" name="Oval 18"/>
          <p:cNvSpPr/>
          <p:nvPr/>
        </p:nvSpPr>
        <p:spPr>
          <a:xfrm>
            <a:off x="4242816" y="3652431"/>
            <a:ext cx="331923" cy="331923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42816" y="3652431"/>
            <a:ext cx="331923" cy="3319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81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7891" y="3652431"/>
            <a:ext cx="3270813" cy="331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7" b="1" i="0">
                <a:solidFill>
                  <a:srgbClr val="D1282E"/>
                </a:solidFill>
                <a:latin typeface="Nirmala UI"/>
              </a:rPr>
              <a:t>EXAMPLES OF COMPENSATION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4091740"/>
            <a:ext cx="3675888" cy="1230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Cancel an order, release reserved inventory, refund a payment</a:t>
            </a:r>
          </a:p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Executed only when a failure occurs, always in reverse order of the completed steps</a:t>
            </a:r>
          </a:p>
        </p:txBody>
      </p:sp>
      <p:sp>
        <p:nvSpPr>
          <p:cNvPr id="23" name="Oval 22"/>
          <p:cNvSpPr/>
          <p:nvPr/>
        </p:nvSpPr>
        <p:spPr>
          <a:xfrm>
            <a:off x="8028432" y="3652431"/>
            <a:ext cx="331923" cy="331923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2" y="3652431"/>
            <a:ext cx="331923" cy="3319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81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3507" y="3652431"/>
            <a:ext cx="3270813" cy="3319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7" b="1" i="0">
                <a:solidFill>
                  <a:srgbClr val="D1282E"/>
                </a:solidFill>
                <a:latin typeface="Nirmala UI"/>
              </a:rPr>
              <a:t>CONSIDERATIONS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2" y="4091740"/>
            <a:ext cx="3675888" cy="1230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Compensation actions must be carefully designed and idempotent</a:t>
            </a:r>
          </a:p>
          <a:p>
            <a:pPr>
              <a:spcBef>
                <a:spcPts val="0"/>
              </a:spcBef>
              <a:spcAft>
                <a:spcPts val="320"/>
              </a:spcAft>
            </a:pPr>
            <a:r>
              <a:rPr sz="1387" b="0" i="0">
                <a:solidFill>
                  <a:srgbClr val="000000"/>
                </a:solidFill>
                <a:latin typeface="Nirmala UI"/>
              </a:rPr>
              <a:t>•  Not always possible to perfectly undo an action -- the business must tolerate temporary inconsistency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31536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54315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TransactionSubmitted is consumed by Transaction Service and later by Risk Assessment -- all without a shared database.   •   AccountOpeningOrchestrator sends commands to Customer, Account, and Notification services and triggers compensations if any step fails.   •   Closing an account that was opened but never funded, or reversing a transaction, brings the system to an acceptable state, not a rewritten history.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DATA CONSISTENCY TRADEOFFS  ·  CQRS PATTERN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0439"/>
            <a:ext cx="11247120" cy="344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42" b="1" i="0">
                <a:solidFill>
                  <a:srgbClr val="D1282E"/>
                </a:solidFill>
              </a:rPr>
              <a:t>📌  </a:t>
            </a:r>
            <a:r>
              <a:rPr sz="1442" b="1" i="0">
                <a:solidFill>
                  <a:srgbClr val="D1282E"/>
                </a:solidFill>
                <a:latin typeface="Nirmala UI"/>
              </a:rPr>
              <a:t>CONSISTENCY REQUIREMENTS BY OPERATION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26985"/>
          <a:ext cx="11247120" cy="182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236">
                <a:tc>
                  <a:txBody>
                    <a:bodyPr/>
                    <a:lstStyle/>
                    <a:p>
                      <a:pPr algn="l"/>
                      <a:r>
                        <a:rPr sz="1331" b="1">
                          <a:solidFill>
                            <a:srgbClr val="FFFFFF"/>
                          </a:solidFill>
                          <a:latin typeface="Nirmala UI"/>
                        </a:rPr>
                        <a:t>OPERATION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31" b="1">
                          <a:solidFill>
                            <a:srgbClr val="FFFFFF"/>
                          </a:solidFill>
                          <a:latin typeface="Nirmala UI"/>
                        </a:rPr>
                        <a:t>CONSISTENCY NEED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236">
                <a:tc>
                  <a:txBody>
                    <a:bodyPr/>
                    <a:lstStyle/>
                    <a:p>
                      <a:r>
                        <a:rPr sz="1331" b="1">
                          <a:solidFill>
                            <a:srgbClr val="000000"/>
                          </a:solidFill>
                          <a:latin typeface="Nirmala UI"/>
                        </a:rPr>
                        <a:t>Deduct funds from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1" b="0">
                          <a:solidFill>
                            <a:srgbClr val="000000"/>
                          </a:solidFill>
                          <a:latin typeface="Nirmala UI"/>
                        </a:rPr>
                        <a:t>Strong consistency inside the owning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236">
                <a:tc>
                  <a:txBody>
                    <a:bodyPr/>
                    <a:lstStyle/>
                    <a:p>
                      <a:r>
                        <a:rPr sz="1331" b="1">
                          <a:solidFill>
                            <a:srgbClr val="000000"/>
                          </a:solidFill>
                          <a:latin typeface="Nirmala UI"/>
                        </a:rPr>
                        <a:t>Send notification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1" b="0">
                          <a:solidFill>
                            <a:srgbClr val="000000"/>
                          </a:solidFill>
                          <a:latin typeface="Nirmala UI"/>
                        </a:rPr>
                        <a:t>Eventual consistency acceptable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236">
                <a:tc>
                  <a:txBody>
                    <a:bodyPr/>
                    <a:lstStyle/>
                    <a:p>
                      <a:r>
                        <a:rPr sz="1331" b="1">
                          <a:solidFill>
                            <a:srgbClr val="000000"/>
                          </a:solidFill>
                          <a:latin typeface="Nirmala UI"/>
                        </a:rPr>
                        <a:t>Update reporting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1" b="0">
                          <a:solidFill>
                            <a:srgbClr val="000000"/>
                          </a:solidFill>
                          <a:latin typeface="Nirmala UI"/>
                        </a:rPr>
                        <a:t>Eventual consistency acceptable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236">
                <a:tc>
                  <a:txBody>
                    <a:bodyPr/>
                    <a:lstStyle/>
                    <a:p>
                      <a:r>
                        <a:rPr sz="1331" b="1">
                          <a:solidFill>
                            <a:srgbClr val="000000"/>
                          </a:solidFill>
                          <a:latin typeface="Nirmala UI"/>
                        </a:rPr>
                        <a:t>Validate login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1" b="0">
                          <a:solidFill>
                            <a:srgbClr val="000000"/>
                          </a:solidFill>
                          <a:latin typeface="Nirmala UI"/>
                        </a:rPr>
                        <a:t>Immediate response required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457200" y="3562893"/>
            <a:ext cx="344946" cy="344946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562893"/>
            <a:ext cx="344946" cy="344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31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5298" y="3562893"/>
            <a:ext cx="5150598" cy="344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42" b="1" i="0">
                <a:solidFill>
                  <a:srgbClr val="D1282E"/>
                </a:solidFill>
                <a:latin typeface="Nirmala UI"/>
              </a:rPr>
              <a:t>COMMAND VS. QUERY RESPONSIBILITY SEGREGATION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19439"/>
            <a:ext cx="5568696" cy="1521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2"/>
              </a:spcAft>
            </a:pPr>
            <a:r>
              <a:rPr sz="1442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42" b="1" i="0">
                <a:solidFill>
                  <a:srgbClr val="000000"/>
                </a:solidFill>
                <a:latin typeface="Nirmala UI"/>
              </a:rPr>
              <a:t>Write side: </a:t>
            </a:r>
            <a:r>
              <a:rPr sz="1442" b="0" i="0">
                <a:solidFill>
                  <a:srgbClr val="000000"/>
                </a:solidFill>
                <a:latin typeface="Nirmala UI"/>
              </a:rPr>
              <a:t>commands validate business rules and update the source-of-truth data model</a:t>
            </a:r>
          </a:p>
          <a:p>
            <a:pPr>
              <a:spcBef>
                <a:spcPts val="0"/>
              </a:spcBef>
              <a:spcAft>
                <a:spcPts val="332"/>
              </a:spcAft>
            </a:pPr>
            <a:r>
              <a:rPr sz="1442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42" b="1" i="0">
                <a:solidFill>
                  <a:srgbClr val="000000"/>
                </a:solidFill>
                <a:latin typeface="Nirmala UI"/>
              </a:rPr>
              <a:t>Read side: </a:t>
            </a:r>
            <a:r>
              <a:rPr sz="1442" b="0" i="0">
                <a:solidFill>
                  <a:srgbClr val="000000"/>
                </a:solidFill>
                <a:latin typeface="Nirmala UI"/>
              </a:rPr>
              <a:t>queries run against a denormalized, purpose-built read model</a:t>
            </a:r>
          </a:p>
          <a:p>
            <a:pPr>
              <a:spcBef>
                <a:spcPts val="0"/>
              </a:spcBef>
              <a:spcAft>
                <a:spcPts val="332"/>
              </a:spcAft>
            </a:pPr>
            <a:r>
              <a:rPr sz="1442" b="0" i="0">
                <a:solidFill>
                  <a:srgbClr val="000000"/>
                </a:solidFill>
                <a:latin typeface="Nirmala UI"/>
              </a:rPr>
              <a:t>•  The read model is updated asynchronously, typically by consuming domain events</a:t>
            </a:r>
          </a:p>
        </p:txBody>
      </p:sp>
      <p:sp>
        <p:nvSpPr>
          <p:cNvPr id="9" name="Oval 8"/>
          <p:cNvSpPr/>
          <p:nvPr/>
        </p:nvSpPr>
        <p:spPr>
          <a:xfrm>
            <a:off x="6135624" y="3562893"/>
            <a:ext cx="344946" cy="344946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35624" y="3562893"/>
            <a:ext cx="344946" cy="344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31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722" y="3562893"/>
            <a:ext cx="5150598" cy="344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42" b="1" i="0">
                <a:solidFill>
                  <a:srgbClr val="D1282E"/>
                </a:solidFill>
                <a:latin typeface="Nirmala UI"/>
              </a:rPr>
              <a:t>WHEN CQRS HELPS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5624" y="4019439"/>
            <a:ext cx="5568696" cy="1034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2"/>
              </a:spcAft>
            </a:pPr>
            <a:r>
              <a:rPr sz="1442" b="0" i="0">
                <a:solidFill>
                  <a:srgbClr val="000000"/>
                </a:solidFill>
                <a:latin typeface="Nirmala UI"/>
              </a:rPr>
              <a:t>•  Reporting and dashboard use cases that would otherwise require expensive cross-service joins</a:t>
            </a:r>
          </a:p>
          <a:p>
            <a:pPr>
              <a:spcBef>
                <a:spcPts val="0"/>
              </a:spcBef>
              <a:spcAft>
                <a:spcPts val="332"/>
              </a:spcAft>
            </a:pPr>
            <a:r>
              <a:rPr sz="1442" b="0" i="0">
                <a:solidFill>
                  <a:srgbClr val="000000"/>
                </a:solidFill>
                <a:latin typeface="Nirmala UI"/>
              </a:rPr>
              <a:t>•  Read and write workloads that need to scale independently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Deducting funds needs strong consistency; updating a reporting dashboard can tolerate eventual consistency -- the business decides which.   •   Commands update the owning service's write model; queries run against a purpose-built read model kept in sync through events.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11 - Consistency Models and Eventual Consistency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 - Consistency Models and Eventual Consis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D1282E"/>
                </a:solidFill>
                <a:latin typeface="Leelawadee"/>
              </a:rPr>
              <a:t>API COMPOSITION FOR DISTRIBUTED DATA  ·  DATA PRIVACY AND SERVICE BOUNDARIES  ·  DATABASE PERFORMANCE CONSIDERATIONS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66801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66801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266801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73237"/>
            <a:ext cx="5568696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 composition layer calls each owning service for its slice of the data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Results are merged in application code to build one client-facing response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Useful for read-heavy views that combine data owned by multiple services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266801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266801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417" y="1266801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PRIVACY-AWARE DATA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773237"/>
            <a:ext cx="5568696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The owning service controls exactly what fields it exposes through its API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Downstream services store only the identifiers they need, not full customer records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Events should avoid carrying sensitive fields unless explicitly required and protected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571083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571083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993" y="3571083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COMMON PERFORMANCE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77519"/>
            <a:ext cx="5568696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Missing indexes, inefficient queries, and N+1 query problems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Loading too much data, large response payloads, poor connection pool settings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571083"/>
            <a:ext cx="382641" cy="382641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571083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417" y="3571083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BEST PRACTICES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4077519"/>
            <a:ext cx="5568696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Add indexes for common lookup fields (customer email, account number, transaction date)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Measure before optimizing; use pagination and DTO projections for large or summary result 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31536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4315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composer calls Customer, Account, and Transaction services in parallel and joins their responses in application code, not in SQL.   •   No Customer Service in this capstone: Account stores customerId as a field; other services keep only accountId and request data through APIs.   •   Missing indexes and N+1 queries are the most common root causes of a slow banking API -- and both are fixable before caching is even considered.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 i="0">
                <a:solidFill>
                  <a:srgbClr val="D1282E"/>
                </a:solidFill>
                <a:latin typeface="Leelawadee"/>
              </a:rPr>
              <a:t>DATA PERSISTENCE ANTI-PATTERNS  ·  CACHING FUNDAMENTALS  ·  WHEN CACHING HELPS-AND WHEN IT DOES NOT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3"/>
            <a:ext cx="375454" cy="37545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3"/>
            <a:ext cx="375454" cy="3754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49" b="1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806" y="1170433"/>
            <a:ext cx="5120090" cy="375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69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7357"/>
            <a:ext cx="5568696" cy="2186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Returning JPA entities directly from APIs instead of DTOs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69" b="1" i="0">
                <a:solidFill>
                  <a:srgbClr val="000000"/>
                </a:solidFill>
                <a:latin typeface="Nirmala UI"/>
              </a:rPr>
              <a:t>Sharing a database across services; using ddl-auto: </a:t>
            </a:r>
            <a:r>
              <a:rPr sz="1569" b="0" i="0">
                <a:solidFill>
                  <a:srgbClr val="000000"/>
                </a:solidFill>
                <a:latin typeface="Nirmala UI"/>
              </a:rPr>
              <a:t>update in production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Ignoring lazy loading behavior and eager-loading everywhere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Creating extremely large, deeply nested entity graphs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3"/>
            <a:ext cx="375454" cy="37545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3"/>
            <a:ext cx="375454" cy="3754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49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4230" y="1170433"/>
            <a:ext cx="5120090" cy="375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69" b="1" i="0">
                <a:solidFill>
                  <a:srgbClr val="D1282E"/>
                </a:solidFill>
                <a:latin typeface="Nirmala UI"/>
              </a:rPr>
              <a:t>WHAT A CACHE STRATEGY MUST 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67357"/>
            <a:ext cx="5568696" cy="1656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What data is cached and where it is cached (local vs. distributed)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How long it lives (TTL) and when it is invalidated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What happens to the application when the cache is unavailable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963549"/>
            <a:ext cx="375454" cy="37545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963549"/>
            <a:ext cx="375454" cy="3754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49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806" y="3963549"/>
            <a:ext cx="5120090" cy="375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69" b="1" i="0">
                <a:solidFill>
                  <a:srgbClr val="D1282E"/>
                </a:solidFill>
                <a:latin typeface="Nirmala UI"/>
              </a:rPr>
              <a:t>GOOD 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60473"/>
            <a:ext cx="5568696" cy="861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Frequently read data that is expensive to compute or changes infrequently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Reference data and aggregated read models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963549"/>
            <a:ext cx="375454" cy="37545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963549"/>
            <a:ext cx="375454" cy="3754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49" b="1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4230" y="3963549"/>
            <a:ext cx="5120090" cy="375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69" b="1" i="0">
                <a:solidFill>
                  <a:srgbClr val="D1282E"/>
                </a:solidFill>
                <a:latin typeface="Nirmala UI"/>
              </a:rPr>
              <a:t>POOR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4460473"/>
            <a:ext cx="5568696" cy="861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Highly sensitive data, rapidly changing balances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Data requiring immediate accuracy, large unbounded result 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31536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4315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Returning JPA entities directly, sharing databases, and skipping migrations are small shortcuts with outsized long-term cost.   •   What to cache, where, for how long, and how to invalidate it are all design decisions, not defaults to accept blindly.   •   Account balances and fraud scores are poor caching candidates; reference data and product configuration are excellent ones.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CACHE-ASIDE PATTERN  ·  READ-THROUGH AND WRITE-THROUGH CACHING  ·  WRITE-BEHIND CACHING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3"/>
            <a:ext cx="375454" cy="37545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3"/>
            <a:ext cx="375454" cy="3754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49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806" y="1170433"/>
            <a:ext cx="5120090" cy="375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69" b="1" i="0">
                <a:solidFill>
                  <a:srgbClr val="D1282E"/>
                </a:solidFill>
                <a:latin typeface="Nirmala UI"/>
              </a:rPr>
              <a:t>CACHE-ASIDE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7357"/>
            <a:ext cx="5568696" cy="1391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569" b="0" i="0">
                <a:solidFill>
                  <a:srgbClr val="000000"/>
                </a:solidFill>
                <a:latin typeface="Nirmala UI"/>
              </a:rPr>
              <a:t>Application checks the cache for the requested key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569" b="0" i="0">
                <a:solidFill>
                  <a:srgbClr val="000000"/>
                </a:solidFill>
                <a:latin typeface="Nirmala UI"/>
              </a:rPr>
              <a:t>If found, return the cached value directly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569" b="0" i="0">
                <a:solidFill>
                  <a:srgbClr val="000000"/>
                </a:solidFill>
                <a:latin typeface="Nirmala UI"/>
              </a:rPr>
              <a:t>If not found, query the database, store the result in the cache, then return it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3"/>
            <a:ext cx="375454" cy="37545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3"/>
            <a:ext cx="375454" cy="3754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49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4230" y="1170433"/>
            <a:ext cx="5120090" cy="375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69" b="1" i="0">
                <a:solidFill>
                  <a:srgbClr val="D1282E"/>
                </a:solidFill>
                <a:latin typeface="Nirmala UI"/>
              </a:rPr>
              <a:t>READ-THROUGH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67357"/>
            <a:ext cx="5568696" cy="1126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On a cache miss, the cache itself loads the value from the database and stores it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Application code always talks to the cache, never directly to the database for reads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68471"/>
            <a:ext cx="375454" cy="37545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168471"/>
            <a:ext cx="375454" cy="3754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49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806" y="3168471"/>
            <a:ext cx="5120090" cy="375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69" b="1" i="0">
                <a:solidFill>
                  <a:srgbClr val="D1282E"/>
                </a:solidFill>
                <a:latin typeface="Nirmala UI"/>
              </a:rPr>
              <a:t>WRITE-THROUGH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65395"/>
            <a:ext cx="5568696" cy="1126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Writes go to the cache first, which synchronously writes through to the database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Keeps cache and database aligned, at the cost of added write latency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168471"/>
            <a:ext cx="375454" cy="37545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168471"/>
            <a:ext cx="375454" cy="3754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49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4230" y="3168471"/>
            <a:ext cx="5120090" cy="375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69" b="1" i="0">
                <a:solidFill>
                  <a:srgbClr val="D1282E"/>
                </a:solidFill>
                <a:latin typeface="Nirmala UI"/>
              </a:rPr>
              <a:t>HOW WRITE-BEHIND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665395"/>
            <a:ext cx="5568696" cy="1656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Write goes to the cache, which returns immediately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The cache asynchronously flushes the write to the database, often batched</a:t>
            </a:r>
          </a:p>
          <a:p>
            <a:pPr>
              <a:spcBef>
                <a:spcPts val="0"/>
              </a:spcBef>
              <a:spcAft>
                <a:spcPts val="362"/>
              </a:spcAft>
            </a:pPr>
            <a:r>
              <a:rPr sz="1569" b="0" i="0">
                <a:solidFill>
                  <a:srgbClr val="000000"/>
                </a:solidFill>
                <a:latin typeface="Nirmala UI"/>
              </a:rPr>
              <a:t>•  Improves write latency and throughput, but risks data loss if the cache fails before flushing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31536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4315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@Cacheable implements cache-aside out of the box -- the application, not the cache, owns the responsibility of keeping data fresh.   •   Instead of the app deciding when to populate the cache, the caching layer itself loads on a miss and writes through on every update.   •   Fast writes come at the cost of a short window where cache and database can disagree if the service fails before the write flushes.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D1282E"/>
                </a:solidFill>
                <a:latin typeface="Leelawadee"/>
              </a:rPr>
              <a:t>REDIS ARCHITECTURE AND DATA STRUCTURES  ·  SPRING CACHE ABSTRACTION  ·  INTEGRATING REDIS WITH SPRING BOOT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7"/>
            <a:ext cx="352349" cy="35234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7"/>
            <a:ext cx="352349" cy="352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6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2701" y="1170437"/>
            <a:ext cx="5143195" cy="352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73" b="1" i="0">
                <a:solidFill>
                  <a:srgbClr val="D1282E"/>
                </a:solidFill>
                <a:latin typeface="Nirmala UI"/>
              </a:rPr>
              <a:t>REDIS DATA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36781"/>
            <a:ext cx="5568696" cy="130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73" b="1" i="0">
                <a:solidFill>
                  <a:srgbClr val="000000"/>
                </a:solidFill>
                <a:latin typeface="Nirmala UI"/>
              </a:rPr>
              <a:t>Strings and hashes: </a:t>
            </a:r>
            <a:r>
              <a:rPr sz="1473" b="0" i="0">
                <a:solidFill>
                  <a:srgbClr val="000000"/>
                </a:solidFill>
                <a:latin typeface="Nirmala UI"/>
              </a:rPr>
              <a:t>common for basic caching of values and objects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73" b="1" i="0">
                <a:solidFill>
                  <a:srgbClr val="000000"/>
                </a:solidFill>
                <a:latin typeface="Nirmala UI"/>
              </a:rPr>
              <a:t>Lists, sets, and sorted sets: </a:t>
            </a:r>
            <a:r>
              <a:rPr sz="1473" b="0" i="0">
                <a:solidFill>
                  <a:srgbClr val="000000"/>
                </a:solidFill>
                <a:latin typeface="Nirmala UI"/>
              </a:rPr>
              <a:t>queues, uniqueness checks, and leaderboards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73" b="1" i="0">
                <a:solidFill>
                  <a:srgbClr val="000000"/>
                </a:solidFill>
                <a:latin typeface="Nirmala UI"/>
              </a:rPr>
              <a:t>Streams: </a:t>
            </a:r>
            <a:r>
              <a:rPr sz="1473" b="0" i="0">
                <a:solidFill>
                  <a:srgbClr val="000000"/>
                </a:solidFill>
                <a:latin typeface="Nirmala UI"/>
              </a:rPr>
              <a:t>lightweight event/message logs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7"/>
            <a:ext cx="352349" cy="352349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7"/>
            <a:ext cx="352349" cy="352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6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1125" y="1170437"/>
            <a:ext cx="5143195" cy="352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73" b="1" i="0">
                <a:solidFill>
                  <a:srgbClr val="D1282E"/>
                </a:solidFill>
                <a:latin typeface="Nirmala UI"/>
              </a:rPr>
              <a:t>CORE CACHING ANNOTATIONS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36781"/>
            <a:ext cx="5568696" cy="1554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73" b="1" i="0">
                <a:solidFill>
                  <a:srgbClr val="000000"/>
                </a:solidFill>
                <a:latin typeface="Nirmala UI"/>
              </a:rPr>
              <a:t>@Cacheable: </a:t>
            </a:r>
            <a:r>
              <a:rPr sz="1473" b="0" i="0">
                <a:solidFill>
                  <a:srgbClr val="000000"/>
                </a:solidFill>
                <a:latin typeface="Nirmala UI"/>
              </a:rPr>
              <a:t>cache the method's return value, keyed by its arguments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73" b="1" i="0">
                <a:solidFill>
                  <a:srgbClr val="000000"/>
                </a:solidFill>
                <a:latin typeface="Nirmala UI"/>
              </a:rPr>
              <a:t>@CachePut: </a:t>
            </a:r>
            <a:r>
              <a:rPr sz="1473" b="0" i="0">
                <a:solidFill>
                  <a:srgbClr val="000000"/>
                </a:solidFill>
                <a:latin typeface="Nirmala UI"/>
              </a:rPr>
              <a:t>always run the method and update the cache with the result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73" b="1" i="0">
                <a:solidFill>
                  <a:srgbClr val="000000"/>
                </a:solidFill>
                <a:latin typeface="Nirmala UI"/>
              </a:rPr>
              <a:t>@CacheEvict: </a:t>
            </a:r>
            <a:r>
              <a:rPr sz="1473" b="0" i="0">
                <a:solidFill>
                  <a:srgbClr val="000000"/>
                </a:solidFill>
                <a:latin typeface="Nirmala UI"/>
              </a:rPr>
              <a:t>remove an entry (or clear a cache) when data changes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300984"/>
            <a:ext cx="352349" cy="352349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300984"/>
            <a:ext cx="352349" cy="352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6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701" y="3300984"/>
            <a:ext cx="5143195" cy="352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73" b="1" i="0">
                <a:solidFill>
                  <a:srgbClr val="D1282E"/>
                </a:solidFill>
                <a:latin typeface="Nirmala UI"/>
              </a:rPr>
              <a:t>TYPICAL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67328"/>
            <a:ext cx="5568696" cy="1554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spring.data.redis.host / port configuration in application.yml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@EnableCaching on the application class activates Spring's cache abstraction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@Cacheable(value = "customers", key = "#id") caches a repository lookup method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300984"/>
            <a:ext cx="352349" cy="352349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300984"/>
            <a:ext cx="352349" cy="352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6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1125" y="3300984"/>
            <a:ext cx="5143195" cy="352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73" b="1" i="0">
                <a:solidFill>
                  <a:srgbClr val="D1282E"/>
                </a:solidFill>
                <a:latin typeface="Nirmala UI"/>
              </a:rPr>
              <a:t>IMPORTANT CAUTION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767328"/>
            <a:ext cx="5568696" cy="10570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Redis should not casually become the system of record for critical banking data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The relational database remains the source of truth; Redis acts as a cache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31536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4315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Strings, hashes, lists, sets, sorted sets, and streams give Redis far more flexibility than a plain cache -- rate limiting, queues, and counters included.   •   @Cacheable, @CachePut, and @CacheEvict express caching intent declaratively -- the actual cache backend is a configuration decision.   •   Lecture only — Labs 1-5 do not install Redis (PostgreSQL is the store). spring.data.redis.host/port plus @Cacheable is enough to cache a lookup method.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 i="0">
                <a:solidFill>
                  <a:srgbClr val="D1282E"/>
                </a:solidFill>
                <a:latin typeface="Leelawadee"/>
              </a:rPr>
              <a:t>CACHE KEYS AND VALUE DESIGN  ·  CACHE EXPIRATION AND TIME-TO-LIVE  ·  CACHE INVALIDATION STRATEGIES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743694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74369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74369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CACHE KEY DESIGN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50130"/>
            <a:ext cx="3675888" cy="249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Namespace keys by service and entity type, e.g. customer:101:profile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Keep values small and focused -- cache DTOs or summaries, not full entity graphs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Use consistent, meaningful key patterns so keys can be found, scanned, or bulk-invalidated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743694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74369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609" y="174369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MATCHING TTL TO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2250130"/>
            <a:ext cx="3675888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Account status: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short TTL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Customer profile: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moderate TTL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Product configuration: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longer TTL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Fraud risk score: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very short TTL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743694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74369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4225" y="174369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INVALIDATION TRIGGERS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2250130"/>
            <a:ext cx="3675888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Time-to-live expired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Underlying data was updated (evict via @CacheEvict on the write path)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Memory limit reached, or manual invalidation was triggered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31536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4315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customer:101:profile beats a bare 101 -- namespacing prevents key collisions and makes bulk invalidation by prefix possible.   •   Account status needs a short TTL, fraud risk score needs a very short TTL, and product configuration can tolerate a much longer one.   •   When a customer updates their phone number, the write must update the database and evict or refresh the cached profile in the same operation.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PREVENTING STALE DATA  ·  CACHE STAMPEDE AND PENETRATION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853422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53422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853422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PREVENTING STALE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59858"/>
            <a:ext cx="3675888" cy="249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Evict or update the cache in the same transaction or operation as the database write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Use short TTLs for data where staleness has real business consequences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Never cache highly volatile data (account balances) without an explicit invalidation path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853422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853422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609" y="1853422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TWO RELATED FAILURE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2359858"/>
            <a:ext cx="3675888" cy="1958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Cache stampede: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 hot key expires and many concurrent requests all recompute it at once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Cache penetration: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repeated requests for a nonexistent key never get cached, always hitting the database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853422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853422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4225" y="1853422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MITIGATIONS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2359858"/>
            <a:ext cx="3675888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Locking or request coalescing on cache-miss recomputation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Cache negative results briefly, or use a bloom filter to short-circuit lookups for known-missing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Pairing every cache-populating read with a cache-evicting write is the single most important discipline in cache design.   •   Cache penetration is the related risk of repeated lookups for keys that don't exist at all, bypassing the cache on every single request.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DISTRIBUTED CACHING CONSIDERATIONS  ·  REDIS HIGH AVAILABILITY  ·  SECURING REDIS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743694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74369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74369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KEY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50130"/>
            <a:ext cx="3675888" cy="249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Partitioning/sharding strategy across the cluster as data volume grows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Consistent key design across every service instance sharing the cache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Defined fallback behavior for the application when the cache cluster is unavailable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743694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74369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609" y="174369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HIGH AVAILABILITY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2250130"/>
            <a:ext cx="3675888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Primary-replica replication for read scaling and failover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Redis Sentinel for automatic failover and monitoring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Redis Cluster for sharded, horizontally scaled deployments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743694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74369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4225" y="174369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SECURING 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2250130"/>
            <a:ext cx="3675888" cy="2228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Require authentication (requirepass or Redis ACLs) -- never run open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Restrict network access to only the services that need it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Enable TLS for data in transit, and avoid caching sensitive data unless explicitly protected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31536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4315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Multiple service instances sharing one Redis cluster must agree on key design, eviction policy, and what happens if the cluster is unreachable.   •   A single Redis instance is a single point of failure -- replication with automatic failover is what makes caching production-safe.   •   Authentication, network isolation, and TLS are not optional extras for Redis in a banking platform -- they're baseline requirements.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301 - Monitoring Cache Performance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1 - Monitoring Cache 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09" y="0"/>
            <a:ext cx="1027498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2.1 — MAP DATA OWNERSHIP FOR ACCOUNT VS TRANSACTION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748" y="1217282"/>
            <a:ext cx="11247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 dirty="0">
                <a:solidFill>
                  <a:srgbClr val="595959"/>
                </a:solidFill>
                <a:latin typeface="Nirmala UI"/>
              </a:rPr>
              <a:t>Module 4 checkpoint A — Separate DBs/schemas; no cross-service tables.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64677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64677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1864677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1113"/>
            <a:ext cx="3675888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Separate DBs/schemas; no cross-service tables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10 min · design checkpoint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Worksheet: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curriculum/day-02/exercises/exercise-2.1-data-ownership.md</a:t>
            </a:r>
          </a:p>
        </p:txBody>
      </p:sp>
      <p:sp>
        <p:nvSpPr>
          <p:cNvPr id="8" name="Oval 7"/>
          <p:cNvSpPr/>
          <p:nvPr/>
        </p:nvSpPr>
        <p:spPr>
          <a:xfrm>
            <a:off x="4242816" y="1864677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2816" y="1864677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8609" y="1864677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DO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2816" y="2371113"/>
            <a:ext cx="3675888" cy="276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Account table lives only in account_db. Transaction table lives only in transaction_db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Transaction stores accountId as a reference, not a foreign key across services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Eligibility is a REST GET to Account Service, not a SQL join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Redis is lecture-only — not part of this capstone</a:t>
            </a:r>
          </a:p>
        </p:txBody>
      </p:sp>
      <p:sp>
        <p:nvSpPr>
          <p:cNvPr id="12" name="Oval 11"/>
          <p:cNvSpPr/>
          <p:nvPr/>
        </p:nvSpPr>
        <p:spPr>
          <a:xfrm>
            <a:off x="8028432" y="1864677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28432" y="1864677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4225" y="1864677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EXPECTED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2" y="2371113"/>
            <a:ext cx="3675888" cy="14180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 two-column ownership map with zero shared tables.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Lab 2 uses transaction_db on host port 5434. Never join to account_db.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two-column ownership map with zero shared tables.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74456</Words>
  <Application>Microsoft Office PowerPoint</Application>
  <PresentationFormat>Widescreen</PresentationFormat>
  <Paragraphs>12783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0" baseType="lpstr">
      <vt:lpstr>Arial</vt:lpstr>
      <vt:lpstr>Calibri</vt:lpstr>
      <vt:lpstr>Leelawadee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Gurinderjeet Kaur</cp:lastModifiedBy>
  <cp:revision>2</cp:revision>
  <dcterms:created xsi:type="dcterms:W3CDTF">2013-01-27T09:14:16Z</dcterms:created>
  <dcterms:modified xsi:type="dcterms:W3CDTF">2026-09-13T22:31:45Z</dcterms:modified>
  <cp:category/>
</cp:coreProperties>
</file>